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handoutMasterIdLst>
    <p:handoutMasterId r:id="rId36"/>
  </p:handoutMasterIdLst>
  <p:sldIdLst>
    <p:sldId id="256" r:id="rId5"/>
    <p:sldId id="1546" r:id="rId6"/>
    <p:sldId id="493" r:id="rId7"/>
    <p:sldId id="439" r:id="rId8"/>
    <p:sldId id="1476" r:id="rId9"/>
    <p:sldId id="1026" r:id="rId10"/>
    <p:sldId id="1543" r:id="rId11"/>
    <p:sldId id="926" r:id="rId12"/>
    <p:sldId id="1548" r:id="rId13"/>
    <p:sldId id="887" r:id="rId14"/>
    <p:sldId id="888" r:id="rId15"/>
    <p:sldId id="889" r:id="rId16"/>
    <p:sldId id="890" r:id="rId17"/>
    <p:sldId id="891" r:id="rId18"/>
    <p:sldId id="892" r:id="rId19"/>
    <p:sldId id="894" r:id="rId20"/>
    <p:sldId id="895" r:id="rId21"/>
    <p:sldId id="896" r:id="rId22"/>
    <p:sldId id="897" r:id="rId23"/>
    <p:sldId id="898" r:id="rId24"/>
    <p:sldId id="899" r:id="rId25"/>
    <p:sldId id="900" r:id="rId26"/>
    <p:sldId id="901" r:id="rId27"/>
    <p:sldId id="902" r:id="rId28"/>
    <p:sldId id="903" r:id="rId29"/>
    <p:sldId id="904" r:id="rId30"/>
    <p:sldId id="906" r:id="rId31"/>
    <p:sldId id="907" r:id="rId32"/>
    <p:sldId id="298" r:id="rId33"/>
    <p:sldId id="15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3" autoAdjust="0"/>
    <p:restoredTop sz="94601" autoAdjust="0"/>
  </p:normalViewPr>
  <p:slideViewPr>
    <p:cSldViewPr snapToGrid="0">
      <p:cViewPr>
        <p:scale>
          <a:sx n="69" d="100"/>
          <a:sy n="69" d="100"/>
        </p:scale>
        <p:origin x="708" y="-52"/>
      </p:cViewPr>
      <p:guideLst>
        <p:guide orient="horz" pos="572"/>
        <p:guide pos="665"/>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5/21/2024</a:t>
            </a:fld>
            <a:endParaRPr lang="en-US"/>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5/21/2024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2</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Introduction. Also an opportunity to talk a bit about </a:t>
            </a:r>
            <a:r>
              <a:rPr lang="en-ZA" altLang="zh-CN" dirty="0" err="1"/>
              <a:t>Demix</a:t>
            </a:r>
            <a:endParaRPr lang="en-ZA" altLang="zh-CN" dirty="0"/>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err="1"/>
              <a:t>Demix</a:t>
            </a:r>
            <a:r>
              <a:rPr lang="en-ZA" altLang="zh-CN" dirty="0"/>
              <a:t> has </a:t>
            </a:r>
            <a:r>
              <a:rPr lang="en-ZA" altLang="zh-CN" dirty="0" err="1"/>
              <a:t>LAs</a:t>
            </a:r>
            <a:r>
              <a:rPr lang="en-ZA" altLang="zh-CN" dirty="0"/>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dirty="0"/>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p:txBody>
      </p:sp>
    </p:spTree>
    <p:extLst>
      <p:ext uri="{BB962C8B-B14F-4D97-AF65-F5344CB8AC3E}">
        <p14:creationId xmlns:p14="http://schemas.microsoft.com/office/powerpoint/2010/main" val="3008295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dirty="0"/>
              <a:t>1, what ever you share</a:t>
            </a:r>
            <a:r>
              <a:rPr lang="en-ZA" altLang="zh-CN" baseline="0" dirty="0"/>
              <a:t> is confidential with the ATM’s and </a:t>
            </a:r>
          </a:p>
          <a:p>
            <a:r>
              <a:rPr lang="en-ZA" altLang="zh-CN" baseline="0"/>
              <a:t>2</a:t>
            </a:r>
            <a:r>
              <a:rPr lang="en-ZA" altLang="zh-CN" baseline="0" dirty="0"/>
              <a:t>, non – your </a:t>
            </a:r>
            <a:r>
              <a:rPr lang="en-ZA" altLang="zh-CN" baseline="0"/>
              <a:t>name will </a:t>
            </a:r>
            <a:r>
              <a:rPr lang="en-ZA" altLang="zh-CN" baseline="0" dirty="0"/>
              <a:t>not appear in any </a:t>
            </a:r>
            <a:r>
              <a:rPr lang="en-ZA" altLang="zh-CN" baseline="0"/>
              <a:t>reports        </a:t>
            </a:r>
          </a:p>
          <a:p>
            <a:r>
              <a:rPr lang="en-ZA" altLang="zh-CN" baseline="0"/>
              <a:t>collaboratively </a:t>
            </a:r>
            <a:r>
              <a:rPr lang="en-ZA" altLang="zh-CN" baseline="0" dirty="0"/>
              <a:t>– we have representation from your side as well as ours  last at the end there are always weaknesses and from there an improvement action is always undertaken</a:t>
            </a:r>
            <a:endParaRPr lang="zh-CN" altLang="zh-CN" dirty="0"/>
          </a:p>
        </p:txBody>
      </p:sp>
    </p:spTree>
    <p:extLst>
      <p:ext uri="{BB962C8B-B14F-4D97-AF65-F5344CB8AC3E}">
        <p14:creationId xmlns:p14="http://schemas.microsoft.com/office/powerpoint/2010/main" val="2865418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C13DA5-2DE0-6D49-B0F1-8E4B6A1CBA23}" type="slidenum">
              <a:rPr lang="en-US" smtClean="0"/>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292100"/>
            <a:ext cx="6362700" cy="3579813"/>
          </a:xfrm>
        </p:spPr>
      </p:sp>
      <p:sp>
        <p:nvSpPr>
          <p:cNvPr id="3" name="Notes Placeholder 2"/>
          <p:cNvSpPr>
            <a:spLocks noGrp="1"/>
          </p:cNvSpPr>
          <p:nvPr>
            <p:ph type="body" idx="1"/>
          </p:nvPr>
        </p:nvSpPr>
        <p:spPr>
          <a:xfrm>
            <a:off x="731194" y="4620205"/>
            <a:ext cx="5852814" cy="3780845"/>
          </a:xfrm>
          <a:prstGeom prst="rect">
            <a:avLst/>
          </a:prstGeom>
        </p:spPr>
        <p:txBody>
          <a:bodyPr/>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CE611DA0-981B-B047-981C-E490A72360DD}" type="slidenum">
              <a:rPr lang="en-US" altLang="en-US" sz="1200" b="0">
                <a:solidFill>
                  <a:schemeClr val="tx1"/>
                </a:solidFill>
              </a:rPr>
              <a:pPr/>
              <a:t>29</a:t>
            </a:fld>
            <a:endParaRPr lang="en-US" altLang="en-US" sz="1200" b="0">
              <a:solidFill>
                <a:schemeClr val="tx1"/>
              </a:solidFill>
            </a:endParaRPr>
          </a:p>
        </p:txBody>
      </p:sp>
      <p:sp>
        <p:nvSpPr>
          <p:cNvPr id="66562" name="Rectangle 2"/>
          <p:cNvSpPr>
            <a:spLocks noGrp="1" noRot="1" noChangeAspect="1" noChangeArrowheads="1" noTextEdit="1"/>
          </p:cNvSpPr>
          <p:nvPr>
            <p:ph type="sldImg"/>
          </p:nvPr>
        </p:nvSpPr>
        <p:spPr>
          <a:xfrm>
            <a:off x="1025525" y="231775"/>
            <a:ext cx="4959350" cy="2790825"/>
          </a:xfrm>
          <a:ln/>
        </p:spPr>
      </p:sp>
      <p:sp>
        <p:nvSpPr>
          <p:cNvPr id="66563" name="Rectangle 3"/>
          <p:cNvSpPr>
            <a:spLocks noGrp="1" noChangeArrowheads="1"/>
          </p:cNvSpPr>
          <p:nvPr>
            <p:ph type="body" idx="1"/>
          </p:nvPr>
        </p:nvSpPr>
        <p:spPr>
          <a:xfrm>
            <a:off x="546100" y="3098800"/>
            <a:ext cx="6075363" cy="5576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ea typeface="ＭＳ Ｐゴシック" charset="-128"/>
            </a:endParaRPr>
          </a:p>
        </p:txBody>
      </p:sp>
    </p:spTree>
    <p:extLst>
      <p:ext uri="{BB962C8B-B14F-4D97-AF65-F5344CB8AC3E}">
        <p14:creationId xmlns:p14="http://schemas.microsoft.com/office/powerpoint/2010/main" val="355928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FC13DA5-2DE0-6D49-B0F1-8E4B6A1CBA23}" type="slidenum">
              <a:rPr lang="en-US" smtClean="0"/>
              <a:t>30</a:t>
            </a:fld>
            <a:endParaRPr lang="en-US"/>
          </a:p>
        </p:txBody>
      </p:sp>
    </p:spTree>
    <p:extLst>
      <p:ext uri="{BB962C8B-B14F-4D97-AF65-F5344CB8AC3E}">
        <p14:creationId xmlns:p14="http://schemas.microsoft.com/office/powerpoint/2010/main" val="3896035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dirty="0"/>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5">
            <a:extLst>
              <a:ext uri="{FF2B5EF4-FFF2-40B4-BE49-F238E27FC236}">
                <a16:creationId xmlns:a16="http://schemas.microsoft.com/office/drawing/2014/main" id="{4715B51E-F992-4C20-A31E-2C828A5DAA5F}"/>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2024. All Rights Reserved.​</a:t>
            </a:r>
            <a:r>
              <a:rPr lang="en-US" dirty="0"/>
              <a:t>  |  </a:t>
            </a:r>
            <a:fld id="{85F78CEA-3B00-9E49-94E0-DC9AF1E86765}" type="slidenum">
              <a:rPr lang="en-US" smtClean="0"/>
              <a:pPr/>
              <a:t>‹#›</a:t>
            </a:fld>
            <a:endParaRPr lang="en-US" dirty="0"/>
          </a:p>
        </p:txBody>
      </p:sp>
      <p:pic>
        <p:nvPicPr>
          <p:cNvPr id="12" name="Picture 11">
            <a:extLst>
              <a:ext uri="{FF2B5EF4-FFF2-40B4-BE49-F238E27FC236}">
                <a16:creationId xmlns:a16="http://schemas.microsoft.com/office/drawing/2014/main" id="{627B859E-7AE1-42C5-91B0-C99C8B2E8022}"/>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4039BE4B-7FAE-4D96-AE72-33674D67ECB2}"/>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a:extLst>
              <a:ext uri="{FF2B5EF4-FFF2-40B4-BE49-F238E27FC236}">
                <a16:creationId xmlns:a16="http://schemas.microsoft.com/office/drawing/2014/main" id="{87164027-697A-4253-8B65-BBBC5DAB0269}"/>
              </a:ext>
            </a:extLst>
          </p:cNvPr>
          <p:cNvSpPr txBox="1"/>
          <p:nvPr userDrawn="1"/>
        </p:nvSpPr>
        <p:spPr>
          <a:xfrm>
            <a:off x="10316993" y="614825"/>
            <a:ext cx="1610551" cy="261610"/>
          </a:xfrm>
          <a:prstGeom prst="rect">
            <a:avLst/>
          </a:prstGeom>
          <a:noFill/>
        </p:spPr>
        <p:txBody>
          <a:bodyPr wrap="square" rtlCol="0">
            <a:spAutoFit/>
          </a:bodyPr>
          <a:lstStyle/>
          <a:p>
            <a:r>
              <a:rPr lang="en-ZA" sz="1100" dirty="0">
                <a:solidFill>
                  <a:schemeClr val="bg1"/>
                </a:solidFill>
              </a:rPr>
              <a:t>Create | Evolve | Perfect</a:t>
            </a:r>
          </a:p>
        </p:txBody>
      </p:sp>
      <p:sp>
        <p:nvSpPr>
          <p:cNvPr id="15" name="TextBox 14">
            <a:extLst>
              <a:ext uri="{FF2B5EF4-FFF2-40B4-BE49-F238E27FC236}">
                <a16:creationId xmlns:a16="http://schemas.microsoft.com/office/drawing/2014/main" id="{1B270D06-440C-4CC1-B029-90833AC8221F}"/>
              </a:ext>
            </a:extLst>
          </p:cNvPr>
          <p:cNvSpPr txBox="1"/>
          <p:nvPr userDrawn="1"/>
        </p:nvSpPr>
        <p:spPr>
          <a:xfrm>
            <a:off x="11832867" y="533486"/>
            <a:ext cx="333925" cy="169277"/>
          </a:xfrm>
          <a:prstGeom prst="rect">
            <a:avLst/>
          </a:prstGeom>
          <a:noFill/>
        </p:spPr>
        <p:txBody>
          <a:bodyPr wrap="square" rtlCol="0">
            <a:spAutoFit/>
          </a:bodyPr>
          <a:lstStyle/>
          <a:p>
            <a:r>
              <a:rPr lang="en-ZA" sz="500" b="1" dirty="0">
                <a:solidFill>
                  <a:schemeClr val="bg1"/>
                </a:solidFill>
              </a:rPr>
              <a:t>TM</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5.emf"/><Relationship Id="rId2" Type="http://schemas.openxmlformats.org/officeDocument/2006/relationships/oleObject" Target="file:///G:\2024-05-04to05-10 (A5) C384400 NASA\00_Data_Reference.xlsm!pptxCover!R4C2:R12C2" TargetMode="External"/><Relationship Id="rId1" Type="http://schemas.openxmlformats.org/officeDocument/2006/relationships/slideLayout" Target="../slideLayouts/slideLayout1.xml"/><Relationship Id="rId6" Type="http://schemas.openxmlformats.org/officeDocument/2006/relationships/oleObject" Target="file:///G:\2024-05-04to05-10 (A5) C384400 NASA\00_Data_Reference.xlsm!pptxCover!R21C2" TargetMode="External"/><Relationship Id="rId5" Type="http://schemas.openxmlformats.org/officeDocument/2006/relationships/image" Target="../media/image4.emf"/><Relationship Id="rId4" Type="http://schemas.openxmlformats.org/officeDocument/2006/relationships/oleObject" Target="file:///G:\2024-05-04to05-10 (A5) C384400 NASA\00_Data_Reference.xlsm!pptxCover!R15C2:R17C2"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21.jpe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gif"/><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0.gif"/><Relationship Id="rId25" Type="http://schemas.openxmlformats.org/officeDocument/2006/relationships/image" Target="../media/image28.png"/><Relationship Id="rId33" Type="http://schemas.openxmlformats.org/officeDocument/2006/relationships/image" Target="../media/image36.png"/><Relationship Id="rId2" Type="http://schemas.openxmlformats.org/officeDocument/2006/relationships/notesSlide" Target="../notesSlides/notesSlide2.xml"/><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jpg"/><Relationship Id="rId24" Type="http://schemas.openxmlformats.org/officeDocument/2006/relationships/image" Target="../media/image27.png"/><Relationship Id="rId32" Type="http://schemas.openxmlformats.org/officeDocument/2006/relationships/image" Target="../media/image35.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10" Type="http://schemas.openxmlformats.org/officeDocument/2006/relationships/image" Target="../media/image13.jpg"/><Relationship Id="rId19" Type="http://schemas.openxmlformats.org/officeDocument/2006/relationships/image" Target="../media/image22.png"/><Relationship Id="rId31" Type="http://schemas.openxmlformats.org/officeDocument/2006/relationships/image" Target="../media/image34.png"/><Relationship Id="rId4" Type="http://schemas.openxmlformats.org/officeDocument/2006/relationships/image" Target="../media/image7.jpeg"/><Relationship Id="rId9" Type="http://schemas.openxmlformats.org/officeDocument/2006/relationships/image" Target="../media/image12.sv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3.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8.svg"/></Relationships>
</file>

<file path=ppt/slides/_rels/slide30.xml.rels><?xml version="1.0" encoding="UTF-8" standalone="yes"?>
<Relationships xmlns="http://schemas.openxmlformats.org/package/2006/relationships"><Relationship Id="rId3" Type="http://schemas.openxmlformats.org/officeDocument/2006/relationships/hyperlink" Target="http://www.demix.org/tool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a:t>Preliminary Findings</a:t>
            </a:r>
            <a:endParaRPr lang="en-US" sz="4800" dirty="0"/>
          </a:p>
        </p:txBody>
      </p:sp>
      <p:graphicFrame>
        <p:nvGraphicFramePr>
          <p:cNvPr id="9" name="Object 8">
            <a:extLst>
              <a:ext uri="{FF2B5EF4-FFF2-40B4-BE49-F238E27FC236}">
                <a16:creationId xmlns:a16="http://schemas.microsoft.com/office/drawing/2014/main" id="{336609E4-9291-48F4-B53A-32D535DF0715}"/>
              </a:ext>
            </a:extLst>
          </p:cNvPr>
          <p:cNvGraphicFramePr>
            <a:graphicFrameLocks noChangeAspect="1"/>
          </p:cNvGraphicFramePr>
          <p:nvPr>
            <p:extLst>
              <p:ext uri="{D42A27DB-BD31-4B8C-83A1-F6EECF244321}">
                <p14:modId xmlns:p14="http://schemas.microsoft.com/office/powerpoint/2010/main" val="586125844"/>
              </p:ext>
            </p:extLst>
          </p:nvPr>
        </p:nvGraphicFramePr>
        <p:xfrm>
          <a:off x="3327400" y="2047875"/>
          <a:ext cx="5537200" cy="2895600"/>
        </p:xfrm>
        <a:graphic>
          <a:graphicData uri="http://schemas.openxmlformats.org/presentationml/2006/ole">
            <mc:AlternateContent xmlns:mc="http://schemas.openxmlformats.org/markup-compatibility/2006">
              <mc:Choice xmlns:v="urn:schemas-microsoft-com:vml" Requires="v">
                <p:oleObj name="Macro-Enabled Worksheet" r:id="rId2" imgW="5289698" imgH="2927376" progId="Excel.SheetMacroEnabled.12">
                  <p:link updateAutomatic="1"/>
                </p:oleObj>
              </mc:Choice>
              <mc:Fallback>
                <p:oleObj name="Macro-Enabled Worksheet" r:id="rId2" imgW="5289698" imgH="2927376" progId="Excel.SheetMacroEnabled.12">
                  <p:link updateAutomatic="1"/>
                  <p:pic>
                    <p:nvPicPr>
                      <p:cNvPr id="9" name="Object 8">
                        <a:extLst>
                          <a:ext uri="{FF2B5EF4-FFF2-40B4-BE49-F238E27FC236}">
                            <a16:creationId xmlns:a16="http://schemas.microsoft.com/office/drawing/2014/main" id="{336609E4-9291-48F4-B53A-32D535DF0715}"/>
                          </a:ext>
                        </a:extLst>
                      </p:cNvPr>
                      <p:cNvPicPr/>
                      <p:nvPr/>
                    </p:nvPicPr>
                    <p:blipFill>
                      <a:blip r:embed="rId3"/>
                      <a:stretch>
                        <a:fillRect/>
                      </a:stretch>
                    </p:blipFill>
                    <p:spPr>
                      <a:xfrm>
                        <a:off x="3327400" y="2047875"/>
                        <a:ext cx="5537200" cy="28956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759065655"/>
              </p:ext>
            </p:extLst>
          </p:nvPr>
        </p:nvGraphicFramePr>
        <p:xfrm>
          <a:off x="3327400" y="5384800"/>
          <a:ext cx="5537200" cy="657225"/>
        </p:xfrm>
        <a:graphic>
          <a:graphicData uri="http://schemas.openxmlformats.org/presentationml/2006/ole">
            <mc:AlternateContent xmlns:mc="http://schemas.openxmlformats.org/markup-compatibility/2006">
              <mc:Choice xmlns:v="urn:schemas-microsoft-com:vml" Requires="v">
                <p:oleObj name="Macro-Enabled Worksheet" r:id="rId4" imgW="5289698" imgH="666711" progId="Excel.SheetMacroEnabled.12">
                  <p:link updateAutomatic="1"/>
                </p:oleObj>
              </mc:Choice>
              <mc:Fallback>
                <p:oleObj name="Macro-Enabled Worksheet" r:id="rId4" imgW="5289698" imgH="666711" progId="Excel.SheetMacroEnabled.12">
                  <p:link updateAutomatic="1"/>
                  <p:pic>
                    <p:nvPicPr>
                      <p:cNvPr id="11" name="Object 10">
                        <a:extLst>
                          <a:ext uri="{FF2B5EF4-FFF2-40B4-BE49-F238E27FC236}">
                            <a16:creationId xmlns:a16="http://schemas.microsoft.com/office/drawing/2014/main" id="{6376B0D6-A6B1-4DF8-BDB4-D2848D89586A}"/>
                          </a:ext>
                        </a:extLst>
                      </p:cNvPr>
                      <p:cNvPicPr/>
                      <p:nvPr/>
                    </p:nvPicPr>
                    <p:blipFill>
                      <a:blip r:embed="rId5"/>
                      <a:stretch>
                        <a:fillRect/>
                      </a:stretch>
                    </p:blipFill>
                    <p:spPr>
                      <a:xfrm>
                        <a:off x="3327400" y="5384800"/>
                        <a:ext cx="5537200" cy="657225"/>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7D6EF492-3AD5-420C-95A3-EF7381239FB7}"/>
              </a:ext>
            </a:extLst>
          </p:cNvPr>
          <p:cNvGraphicFramePr>
            <a:graphicFrameLocks noChangeAspect="1"/>
          </p:cNvGraphicFramePr>
          <p:nvPr>
            <p:extLst>
              <p:ext uri="{D42A27DB-BD31-4B8C-83A1-F6EECF244321}">
                <p14:modId xmlns:p14="http://schemas.microsoft.com/office/powerpoint/2010/main" val="615719002"/>
              </p:ext>
            </p:extLst>
          </p:nvPr>
        </p:nvGraphicFramePr>
        <p:xfrm>
          <a:off x="3451225" y="5108575"/>
          <a:ext cx="5289550" cy="273050"/>
        </p:xfrm>
        <a:graphic>
          <a:graphicData uri="http://schemas.openxmlformats.org/presentationml/2006/ole">
            <mc:AlternateContent xmlns:mc="http://schemas.openxmlformats.org/markup-compatibility/2006">
              <mc:Choice xmlns:v="urn:schemas-microsoft-com:vml" Requires="v">
                <p:oleObj name="Macro-Enabled Worksheet" r:id="rId6" imgW="5289698" imgH="272906" progId="Excel.SheetMacroEnabled.12">
                  <p:link updateAutomatic="1"/>
                </p:oleObj>
              </mc:Choice>
              <mc:Fallback>
                <p:oleObj name="Macro-Enabled Worksheet" r:id="rId6" imgW="5289698" imgH="272906" progId="Excel.SheetMacroEnabled.12">
                  <p:link updateAutomatic="1"/>
                  <p:pic>
                    <p:nvPicPr>
                      <p:cNvPr id="2" name="Object 1">
                        <a:extLst>
                          <a:ext uri="{FF2B5EF4-FFF2-40B4-BE49-F238E27FC236}">
                            <a16:creationId xmlns:a16="http://schemas.microsoft.com/office/drawing/2014/main" id="{7D6EF492-3AD5-420C-95A3-EF7381239FB7}"/>
                          </a:ext>
                        </a:extLst>
                      </p:cNvPr>
                      <p:cNvPicPr/>
                      <p:nvPr/>
                    </p:nvPicPr>
                    <p:blipFill>
                      <a:blip r:embed="rId7"/>
                      <a:stretch>
                        <a:fillRect/>
                      </a:stretch>
                    </p:blipFill>
                    <p:spPr>
                      <a:xfrm>
                        <a:off x="3451225" y="5108575"/>
                        <a:ext cx="5289550" cy="273050"/>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dirty="0">
                <a:latin typeface="+mn-lt"/>
              </a:rPr>
              <a:t>Appraisal Overview </a:t>
            </a:r>
            <a:br>
              <a:rPr lang="en-US" b="1" dirty="0">
                <a:latin typeface="+mn-lt"/>
              </a:rPr>
            </a:br>
            <a:r>
              <a:rPr lang="zh-CN" altLang="en-US" sz="6000" b="1" dirty="0">
                <a:solidFill>
                  <a:srgbClr val="1F497D"/>
                </a:solidFill>
                <a:latin typeface="+mn-ea"/>
                <a:ea typeface="+mn-ea"/>
              </a:rPr>
              <a:t>评估概述</a:t>
            </a:r>
            <a:endParaRPr lang="en-US" b="1" dirty="0">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3BC500A-BFD5-4AA6-A547-A5D9086C048B}"/>
              </a:ext>
            </a:extLst>
          </p:cNvPr>
          <p:cNvPicPr>
            <a:picLocks noChangeAspect="1"/>
          </p:cNvPicPr>
          <p:nvPr/>
        </p:nvPicPr>
        <p:blipFill>
          <a:blip r:embed="rId3"/>
          <a:stretch>
            <a:fillRect/>
          </a:stretch>
        </p:blipFill>
        <p:spPr>
          <a:xfrm>
            <a:off x="5770018" y="5136108"/>
            <a:ext cx="2294990" cy="547267"/>
          </a:xfrm>
          <a:prstGeom prst="rect">
            <a:avLst/>
          </a:prstGeom>
        </p:spPr>
      </p:pic>
      <p:pic>
        <p:nvPicPr>
          <p:cNvPr id="28" name="Picture 27">
            <a:extLst>
              <a:ext uri="{FF2B5EF4-FFF2-40B4-BE49-F238E27FC236}">
                <a16:creationId xmlns:a16="http://schemas.microsoft.com/office/drawing/2014/main" id="{A6954CA7-005C-4F39-92CE-D8155080ED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3824" y="4999368"/>
            <a:ext cx="728200" cy="810578"/>
          </a:xfrm>
          <a:prstGeom prst="rect">
            <a:avLst/>
          </a:prstGeom>
        </p:spPr>
      </p:pic>
      <p:pic>
        <p:nvPicPr>
          <p:cNvPr id="32" name="Picture 31" descr="A close up of a sign&#10;&#10;Description automatically generated">
            <a:extLst>
              <a:ext uri="{FF2B5EF4-FFF2-40B4-BE49-F238E27FC236}">
                <a16:creationId xmlns:a16="http://schemas.microsoft.com/office/drawing/2014/main" id="{3E788F89-59DA-4112-8599-0FCF45176E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15851" y="5011695"/>
            <a:ext cx="812573" cy="785927"/>
          </a:xfrm>
          <a:prstGeom prst="rect">
            <a:avLst/>
          </a:prstGeom>
        </p:spPr>
      </p:pic>
      <p:pic>
        <p:nvPicPr>
          <p:cNvPr id="33" name="Picture 32">
            <a:extLst>
              <a:ext uri="{FF2B5EF4-FFF2-40B4-BE49-F238E27FC236}">
                <a16:creationId xmlns:a16="http://schemas.microsoft.com/office/drawing/2014/main" id="{81B2B80C-7265-40EB-97CE-CE0C4FE7D99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030" t="2007" r="14562" b="-2007"/>
          <a:stretch/>
        </p:blipFill>
        <p:spPr>
          <a:xfrm>
            <a:off x="9478501" y="4999368"/>
            <a:ext cx="1116817" cy="810578"/>
          </a:xfrm>
          <a:prstGeom prst="rect">
            <a:avLst/>
          </a:prstGeom>
        </p:spPr>
      </p:pic>
      <p:grpSp>
        <p:nvGrpSpPr>
          <p:cNvPr id="34" name="Group 33">
            <a:extLst>
              <a:ext uri="{FF2B5EF4-FFF2-40B4-BE49-F238E27FC236}">
                <a16:creationId xmlns:a16="http://schemas.microsoft.com/office/drawing/2014/main" id="{EEBEE5F4-012C-410B-AC0D-D34E631EDC0C}"/>
              </a:ext>
            </a:extLst>
          </p:cNvPr>
          <p:cNvGrpSpPr/>
          <p:nvPr/>
        </p:nvGrpSpPr>
        <p:grpSpPr>
          <a:xfrm>
            <a:off x="10669668" y="5099783"/>
            <a:ext cx="846120" cy="609751"/>
            <a:chOff x="152400" y="4012035"/>
            <a:chExt cx="1986438" cy="1179745"/>
          </a:xfrm>
        </p:grpSpPr>
        <p:pic>
          <p:nvPicPr>
            <p:cNvPr id="35" name="Picture 34">
              <a:extLst>
                <a:ext uri="{FF2B5EF4-FFF2-40B4-BE49-F238E27FC236}">
                  <a16:creationId xmlns:a16="http://schemas.microsoft.com/office/drawing/2014/main" id="{C02AEB9D-8841-45F7-8CAB-1B38968DF35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1920" b="21052"/>
            <a:stretch/>
          </p:blipFill>
          <p:spPr>
            <a:xfrm>
              <a:off x="152400" y="4058960"/>
              <a:ext cx="1986438" cy="1132820"/>
            </a:xfrm>
            <a:prstGeom prst="rect">
              <a:avLst/>
            </a:prstGeom>
          </p:spPr>
        </p:pic>
        <p:grpSp>
          <p:nvGrpSpPr>
            <p:cNvPr id="36" name="Group 35">
              <a:extLst>
                <a:ext uri="{FF2B5EF4-FFF2-40B4-BE49-F238E27FC236}">
                  <a16:creationId xmlns:a16="http://schemas.microsoft.com/office/drawing/2014/main" id="{FD9B4C94-FB3C-43D3-BABE-98A6FFD0C43F}"/>
                </a:ext>
              </a:extLst>
            </p:cNvPr>
            <p:cNvGrpSpPr/>
            <p:nvPr/>
          </p:nvGrpSpPr>
          <p:grpSpPr>
            <a:xfrm>
              <a:off x="252395" y="4012035"/>
              <a:ext cx="1756513" cy="441334"/>
              <a:chOff x="3505200" y="5861931"/>
              <a:chExt cx="1754272" cy="584757"/>
            </a:xfrm>
          </p:grpSpPr>
          <p:sp>
            <p:nvSpPr>
              <p:cNvPr id="37" name="Rectangle 36">
                <a:extLst>
                  <a:ext uri="{FF2B5EF4-FFF2-40B4-BE49-F238E27FC236}">
                    <a16:creationId xmlns:a16="http://schemas.microsoft.com/office/drawing/2014/main" id="{648A3EA6-FBEC-43F7-A250-298AFED49EDC}"/>
                  </a:ext>
                </a:extLst>
              </p:cNvPr>
              <p:cNvSpPr/>
              <p:nvPr/>
            </p:nvSpPr>
            <p:spPr>
              <a:xfrm>
                <a:off x="3505200" y="5861931"/>
                <a:ext cx="1754272" cy="5847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8" name="Graphic 37">
                <a:extLst>
                  <a:ext uri="{FF2B5EF4-FFF2-40B4-BE49-F238E27FC236}">
                    <a16:creationId xmlns:a16="http://schemas.microsoft.com/office/drawing/2014/main" id="{638D3C24-2693-4B6E-8918-A946A332AB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05200" y="5861931"/>
                <a:ext cx="1754272" cy="584757"/>
              </a:xfrm>
              <a:prstGeom prst="rect">
                <a:avLst/>
              </a:prstGeom>
            </p:spPr>
          </p:pic>
        </p:grpSp>
      </p:grpSp>
      <p:pic>
        <p:nvPicPr>
          <p:cNvPr id="39" name="Picture 38" descr="A picture containing clipart&#10;&#10;Description automatically generated">
            <a:extLst>
              <a:ext uri="{FF2B5EF4-FFF2-40B4-BE49-F238E27FC236}">
                <a16:creationId xmlns:a16="http://schemas.microsoft.com/office/drawing/2014/main" id="{528DADE8-D1C4-46AD-8EA1-39B725B1FB4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37517" y="5036857"/>
            <a:ext cx="1266632" cy="735603"/>
          </a:xfrm>
          <a:prstGeom prst="rect">
            <a:avLst/>
          </a:prstGeom>
        </p:spPr>
      </p:pic>
      <p:pic>
        <p:nvPicPr>
          <p:cNvPr id="40" name="Picture 39">
            <a:extLst>
              <a:ext uri="{FF2B5EF4-FFF2-40B4-BE49-F238E27FC236}">
                <a16:creationId xmlns:a16="http://schemas.microsoft.com/office/drawing/2014/main" id="{B30F9EC6-7007-442F-9B14-472D791273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526375" y="5036857"/>
            <a:ext cx="728200" cy="735603"/>
          </a:xfrm>
          <a:prstGeom prst="rect">
            <a:avLst/>
          </a:prstGeom>
        </p:spPr>
      </p:pic>
      <p:pic>
        <p:nvPicPr>
          <p:cNvPr id="41" name="Picture 40">
            <a:extLst>
              <a:ext uri="{FF2B5EF4-FFF2-40B4-BE49-F238E27FC236}">
                <a16:creationId xmlns:a16="http://schemas.microsoft.com/office/drawing/2014/main" id="{4FC067E0-B1E2-4ABB-954D-E36139045FC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02774" y="5148463"/>
            <a:ext cx="592894" cy="512391"/>
          </a:xfrm>
          <a:prstGeom prst="rect">
            <a:avLst/>
          </a:prstGeom>
        </p:spPr>
      </p:pic>
      <p:pic>
        <p:nvPicPr>
          <p:cNvPr id="42" name="Picture 41">
            <a:extLst>
              <a:ext uri="{FF2B5EF4-FFF2-40B4-BE49-F238E27FC236}">
                <a16:creationId xmlns:a16="http://schemas.microsoft.com/office/drawing/2014/main" id="{DA8C5C63-6380-45A7-84FE-5E6876A17586}"/>
              </a:ext>
            </a:extLst>
          </p:cNvPr>
          <p:cNvPicPr>
            <a:picLocks noChangeAspect="1"/>
          </p:cNvPicPr>
          <p:nvPr/>
        </p:nvPicPr>
        <p:blipFill>
          <a:blip r:embed="rId13"/>
          <a:stretch>
            <a:fillRect/>
          </a:stretch>
        </p:blipFill>
        <p:spPr>
          <a:xfrm>
            <a:off x="979285" y="5054186"/>
            <a:ext cx="670188" cy="700942"/>
          </a:xfrm>
          <a:prstGeom prst="rect">
            <a:avLst/>
          </a:prstGeom>
        </p:spPr>
      </p:pic>
      <p:pic>
        <p:nvPicPr>
          <p:cNvPr id="43" name="Picture 42" descr="A close up of a logo&#10;&#10;Description automatically generated">
            <a:extLst>
              <a:ext uri="{FF2B5EF4-FFF2-40B4-BE49-F238E27FC236}">
                <a16:creationId xmlns:a16="http://schemas.microsoft.com/office/drawing/2014/main" id="{194C16C1-AB6D-486E-B218-635DBF4B8FA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328927" y="4983314"/>
            <a:ext cx="812573" cy="842689"/>
          </a:xfrm>
          <a:prstGeom prst="rect">
            <a:avLst/>
          </a:prstGeom>
        </p:spPr>
      </p:pic>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solidFill>
              <a:schemeClr val="bg1"/>
            </a:solidFill>
            <a:prstDash val="solid"/>
            <a:miter lim="800000"/>
            <a:headEnd type="none" w="sm" len="sm"/>
            <a:tailEnd type="none" w="sm" len="sm"/>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20"/>
          <a:stretch>
            <a:fillRect/>
          </a:stretch>
        </p:blipFill>
        <p:spPr>
          <a:xfrm>
            <a:off x="8000113" y="1041906"/>
            <a:ext cx="1080000" cy="629853"/>
          </a:xfrm>
          <a:prstGeom prst="rect">
            <a:avLst/>
          </a:prstGeom>
          <a:ln>
            <a:solidFill>
              <a:schemeClr val="bg1"/>
            </a:solidFill>
          </a:ln>
          <a:effectLst>
            <a:outerShdw blurRad="50800" dist="38100" dir="8100000" algn="tr" rotWithShape="0">
              <a:prstClr val="black">
                <a:alpha val="40000"/>
              </a:prstClr>
            </a:outerShdw>
          </a:effectLst>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solidFill>
              <a:schemeClr val="bg1"/>
            </a:solidFill>
          </a:ln>
          <a:effectLst>
            <a:outerShdw blurRad="50800" dist="38100" dir="8100000" algn="tr" rotWithShape="0">
              <a:prstClr val="black">
                <a:alpha val="40000"/>
              </a:prstClr>
            </a:outerShdw>
          </a:effectLst>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24"/>
          <a:stretch>
            <a:fillRect/>
          </a:stretch>
        </p:blipFill>
        <p:spPr>
          <a:xfrm>
            <a:off x="2687402" y="2651707"/>
            <a:ext cx="1080000" cy="706365"/>
          </a:xfrm>
          <a:prstGeom prst="rect">
            <a:avLst/>
          </a:prstGeom>
          <a:ln>
            <a:solidFill>
              <a:schemeClr val="bg1"/>
            </a:solidFill>
          </a:ln>
          <a:effectLst>
            <a:outerShdw blurRad="50800" dist="38100" dir="8100000" algn="tr" rotWithShape="0">
              <a:prstClr val="black">
                <a:alpha val="40000"/>
              </a:prstClr>
            </a:outerShdw>
          </a:effectLst>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27"/>
          <a:stretch>
            <a:fillRect/>
          </a:stretch>
        </p:blipFill>
        <p:spPr>
          <a:xfrm>
            <a:off x="1353377"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28"/>
          <a:stretch>
            <a:fillRect/>
          </a:stretch>
        </p:blipFill>
        <p:spPr>
          <a:xfrm>
            <a:off x="1362529" y="1870870"/>
            <a:ext cx="1080000" cy="644357"/>
          </a:xfrm>
          <a:prstGeom prst="rect">
            <a:avLst/>
          </a:prstGeom>
          <a:ln>
            <a:solidFill>
              <a:schemeClr val="bg1"/>
            </a:solidFill>
          </a:ln>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29"/>
          <a:stretch>
            <a:fillRect/>
          </a:stretch>
        </p:blipFill>
        <p:spPr>
          <a:xfrm>
            <a:off x="9339663"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30"/>
          <a:stretch>
            <a:fillRect/>
          </a:stretch>
        </p:blipFill>
        <p:spPr>
          <a:xfrm>
            <a:off x="8000111"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31"/>
          <a:srcRect b="6395"/>
          <a:stretch/>
        </p:blipFill>
        <p:spPr>
          <a:xfrm>
            <a:off x="6694728" y="1040336"/>
            <a:ext cx="1080000" cy="656775"/>
          </a:xfrm>
          <a:prstGeom prst="rect">
            <a:avLst/>
          </a:prstGeom>
          <a:ln w="9525">
            <a:solidFill>
              <a:schemeClr val="bg1"/>
            </a:solidFill>
          </a:ln>
          <a:effectLst>
            <a:outerShdw blurRad="50800" dist="38100" dir="8100000" algn="tr" rotWithShape="0">
              <a:prstClr val="black">
                <a:alpha val="40000"/>
              </a:prstClr>
            </a:outerShdw>
          </a:effectLst>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32"/>
          <a:stretch>
            <a:fillRect/>
          </a:stretch>
        </p:blipFill>
        <p:spPr>
          <a:xfrm>
            <a:off x="4025456" y="2644070"/>
            <a:ext cx="1080000" cy="706364"/>
          </a:xfrm>
          <a:prstGeom prst="rect">
            <a:avLst/>
          </a:prstGeom>
          <a:ln w="9525">
            <a:solidFill>
              <a:schemeClr val="bg1"/>
            </a:solidFill>
          </a:ln>
          <a:effectLst>
            <a:outerShdw blurRad="50800" dist="38100" dir="8100000" algn="tr" rotWithShape="0">
              <a:prstClr val="black">
                <a:alpha val="40000"/>
              </a:prstClr>
            </a:outerShdw>
          </a:effectLst>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33"/>
          <a:stretch>
            <a:fillRect/>
          </a:stretch>
        </p:blipFill>
        <p:spPr>
          <a:xfrm>
            <a:off x="6683311" y="1839722"/>
            <a:ext cx="1080000" cy="656775"/>
          </a:xfrm>
          <a:prstGeom prst="rect">
            <a:avLst/>
          </a:prstGeom>
          <a:ln w="9525">
            <a:solidFill>
              <a:schemeClr val="bg1"/>
            </a:solidFill>
          </a:ln>
          <a:effectLst>
            <a:outerShdw blurRad="50800" dist="38100" dir="8100000" algn="tr" rotWithShape="0">
              <a:prstClr val="black">
                <a:alpha val="40000"/>
              </a:prstClr>
            </a:outerShdw>
          </a:effectLst>
        </p:spPr>
      </p:pic>
      <p:sp>
        <p:nvSpPr>
          <p:cNvPr id="9" name="TextBox 4">
            <a:extLst>
              <a:ext uri="{FF2B5EF4-FFF2-40B4-BE49-F238E27FC236}">
                <a16:creationId xmlns:a16="http://schemas.microsoft.com/office/drawing/2014/main" id="{CB425F2D-C583-0A76-4E83-380A21373754}"/>
              </a:ext>
            </a:extLst>
          </p:cNvPr>
          <p:cNvSpPr txBox="1">
            <a:spLocks noChangeArrowheads="1"/>
          </p:cNvSpPr>
          <p:nvPr/>
        </p:nvSpPr>
        <p:spPr bwMode="auto">
          <a:xfrm>
            <a:off x="2057399" y="3725464"/>
            <a:ext cx="807720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zh-CN" sz="2000" dirty="0">
                <a:latin typeface="+mn-lt"/>
              </a:rPr>
              <a:t>It has been a pleasure working with you. </a:t>
            </a:r>
          </a:p>
          <a:p>
            <a:pPr algn="ctr" eaLnBrk="1" hangingPunct="1"/>
            <a:r>
              <a:rPr lang="en-GB" altLang="zh-CN" sz="2000" dirty="0">
                <a:latin typeface="+mn-lt"/>
              </a:rPr>
              <a:t>We look forward to present the preliminary findings for your validation.</a:t>
            </a:r>
          </a:p>
          <a:p>
            <a:pPr algn="ctr" eaLnBrk="1" hangingPunct="1"/>
            <a:r>
              <a:rPr lang="zh-CN" altLang="en-US" sz="2000" dirty="0">
                <a:solidFill>
                  <a:srgbClr val="1F497D"/>
                </a:solidFill>
                <a:latin typeface="宋体" panose="02010600030101010101" pitchFamily="2" charset="-122"/>
                <a:ea typeface="宋体" panose="02010600030101010101" pitchFamily="2" charset="-122"/>
              </a:rPr>
              <a:t>很荣幸这段时间与您共事，现在向您展示初步结果，供您确认</a:t>
            </a:r>
          </a:p>
        </p:txBody>
      </p:sp>
    </p:spTree>
    <p:extLst>
      <p:ext uri="{BB962C8B-B14F-4D97-AF65-F5344CB8AC3E}">
        <p14:creationId xmlns:p14="http://schemas.microsoft.com/office/powerpoint/2010/main" val="2860053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dirty="0">
                <a:latin typeface="Arial" charset="0"/>
              </a:rPr>
              <a:t>Appraisal Principles</a:t>
            </a:r>
          </a:p>
        </p:txBody>
      </p:sp>
      <p:sp>
        <p:nvSpPr>
          <p:cNvPr id="6147" name="Rectangle 3"/>
          <p:cNvSpPr>
            <a:spLocks noGrp="1" noChangeArrowheads="1"/>
          </p:cNvSpPr>
          <p:nvPr>
            <p:ph idx="1"/>
          </p:nvPr>
        </p:nvSpPr>
        <p:spPr>
          <a:xfrm>
            <a:off x="1055688" y="1848439"/>
            <a:ext cx="7772400" cy="3809248"/>
          </a:xfrm>
        </p:spPr>
        <p:txBody>
          <a:bodyPr vert="horz" lIns="63500" tIns="25400" rIns="63500" bIns="25400" rtlCol="0">
            <a:spAutoFit/>
          </a:bodyPr>
          <a:lstStyle/>
          <a:p>
            <a:r>
              <a:rPr lang="en-ZA" sz="1800" dirty="0">
                <a:solidFill>
                  <a:srgbClr val="000000"/>
                </a:solidFill>
                <a:effectLst/>
                <a:latin typeface="Arial" panose="020B0604020202020204" pitchFamily="34" charset="0"/>
                <a:ea typeface="Calibri" panose="020F0502020204030204" pitchFamily="34" charset="0"/>
              </a:rPr>
              <a:t>Start with a process framework</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以一个过程框架作为开始</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Observe strict confidentiality and non-attribution</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严格遵循保密性和不归因性</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Involve senior management as appraisal sponsor</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把高层作为评估发起人</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Approach appraisal collaboratively to the extent possible</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评估需要协调合作进行</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Focus on action</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关注行动</a:t>
            </a:r>
            <a:endParaRPr lang="en-ZA" sz="1800" dirty="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southcentralus1-mediap.svc.ms/transform/thumbnail?provider=spo&amp;inputFormat=png&amp;cs=fFNQTw&amp;docid=https%3A%2F%2Fcmmiinstitute951.sharepoint.com%3A443%2F_api%2Fv2.0%2Fdrives%2Fb!7IlM4k3Pp025a_nAxmhlEBq9nP-OpJ5AgP4b4gCMSh3CEvcsbH28S460E4Uj24da%2Fitems%2F01RKHJKOJEXI5QX7ODNFH372QO6YW54JXJ%3Fversion%3DPublished&amp;access_token=eyJ0eXAiOiJKV1QiLCJhbGciOiJub25lIn0.eyJhdWQiOiIwMDAwMDAwMy0wMDAwLTBmZjEtY2UwMC0wMDAwMDAwMDAwMDAvY21taWluc3RpdHV0ZTk1MS5zaGFyZXBvaW50LmNvbUA5YTdmYmIyMS0xMTI0LTQ0NGUtODI3Ni01Y2NiNmYxOTYxN2EiLCJpc3MiOiIwMDAwMDAwMy0wMDAwLTBmZjEtY2UwMC0wMDAwMDAwMDAwMDAiLCJuYmYiOiIxNTM1Mzc4MjExIiwiZXhwIjoiMTUzNTM5OTgxMSIsImVuZHBvaW50dXJsIjoiWnNYQm5ab1JBcDJXeGdpSkdkOXVWdkNmL1pBY2llODVsR2ovUkNqZHBXVT0iLCJlbmRwb2ludHVybExlbmd0aCI6IjEyMyIsImlzbG9vcGJhY2siOiJUcnVlIiwiY2lkIjoiT1RGa1pEZzRPV1V0TkRBME9TMDJNREF3TFRsaVlXRXRPVFptTnpabVptTmlZMkZtIiwidmVyIjoiaGFzaGVkcHJvb2Z0b2tlbiIsInNpdGVpZCI6IlpUSTBZemc1WldNdFkyWTBaQzAwWkdFM0xXSTVObUl0Wmpsak1HTTJOamcyTlRFdyIsInNpZ25pbl9zdGF0ZSI6IltcImttc2lcIl0iLCJuYW1laWQiOiIwIy5mfG1lbWJlcnNoaXB8c25hdGhAY21taWluc3RpdHV0ZS5jb20iLCJuaWkiOiJtaWNyb3NvZnQuc2hhcmVwb2ludCIsImlzdXNlciI6InRydWUiLCJjYWNoZWtleSI6IjBoLmZ8bWVtYmVyc2hpcHwxMDAzM2ZmZjk2NjY3ODUzQGxpdmUuY29tIiwidHQiOiIwIiwidXNlUGVyc2lzdGVudENvb2tpZSI6IjMifQ.V21CS21McWlOQ3JNdjhaMEFMQm9qcEFsaU9sM2N1VzBndE9NWUJ2ck53OD0&amp;encodeFailures=1&amp;width=1000&amp;height=583&amp;srcWidth=1000&amp;srcHeight=58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904798"/>
            <a:ext cx="9296400" cy="541980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267200" y="4114800"/>
            <a:ext cx="1676400" cy="1066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About Preliminary Findings</a:t>
            </a:r>
          </a:p>
        </p:txBody>
      </p:sp>
      <p:sp>
        <p:nvSpPr>
          <p:cNvPr id="3" name="Content Placeholder 2"/>
          <p:cNvSpPr>
            <a:spLocks noGrp="1"/>
          </p:cNvSpPr>
          <p:nvPr>
            <p:ph idx="1"/>
          </p:nvPr>
        </p:nvSpPr>
        <p:spPr/>
        <p:txBody>
          <a:bodyPr>
            <a:normAutofit/>
          </a:bodyPr>
          <a:lstStyle/>
          <a:p>
            <a:r>
              <a:rPr lang="en-ZA" sz="1800" dirty="0"/>
              <a:t>These are the preliminary findings. They are not the final findings. We encourage you to provide feedback on what is presented.</a:t>
            </a:r>
            <a:br>
              <a:rPr lang="en-ZA" sz="1800" dirty="0"/>
            </a:br>
            <a:r>
              <a:rPr lang="ja-JP" altLang="en-US" sz="1800" dirty="0">
                <a:solidFill>
                  <a:srgbClr val="1F497D"/>
                </a:solidFill>
                <a:latin typeface="宋体" panose="02010600030101010101" pitchFamily="2" charset="-122"/>
                <a:ea typeface="宋体" panose="02010600030101010101" pitchFamily="2" charset="-122"/>
              </a:rPr>
              <a:t>我们现在所进行的是初步发现，还没有到最终发布阶段，</a:t>
            </a:r>
            <a:r>
              <a:rPr lang="zh-CN" altLang="ja-JP" sz="1800" dirty="0">
                <a:solidFill>
                  <a:srgbClr val="1F497D"/>
                </a:solidFill>
                <a:latin typeface="宋体" panose="02010600030101010101" pitchFamily="2" charset="-122"/>
                <a:ea typeface="宋体" panose="02010600030101010101" pitchFamily="2" charset="-122"/>
              </a:rPr>
              <a:t>欢迎你们对</a:t>
            </a:r>
            <a:r>
              <a:rPr lang="ja-JP" altLang="en-US" sz="1800" dirty="0">
                <a:solidFill>
                  <a:srgbClr val="1F497D"/>
                </a:solidFill>
                <a:latin typeface="宋体" panose="02010600030101010101" pitchFamily="2" charset="-122"/>
                <a:ea typeface="宋体" panose="02010600030101010101" pitchFamily="2" charset="-122"/>
              </a:rPr>
              <a:t>发现</a:t>
            </a:r>
            <a:r>
              <a:rPr lang="zh-CN" altLang="ja-JP" sz="1800" dirty="0">
                <a:solidFill>
                  <a:srgbClr val="1F497D"/>
                </a:solidFill>
                <a:latin typeface="宋体" panose="02010600030101010101" pitchFamily="2" charset="-122"/>
                <a:ea typeface="宋体" panose="02010600030101010101" pitchFamily="2" charset="-122"/>
              </a:rPr>
              <a:t>结果</a:t>
            </a:r>
            <a:r>
              <a:rPr lang="ja-JP" altLang="en-US" sz="1800" dirty="0">
                <a:solidFill>
                  <a:srgbClr val="1F497D"/>
                </a:solidFill>
                <a:latin typeface="宋体" panose="02010600030101010101" pitchFamily="2" charset="-122"/>
                <a:ea typeface="宋体" panose="02010600030101010101" pitchFamily="2" charset="-122"/>
              </a:rPr>
              <a:t>提供反馈</a:t>
            </a:r>
          </a:p>
          <a:p>
            <a:r>
              <a:rPr lang="en-ZA" sz="1800" dirty="0"/>
              <a:t>It is recommended that the presenter reads the findings verbatim.</a:t>
            </a:r>
            <a:br>
              <a:rPr lang="en-ZA" sz="1800" dirty="0"/>
            </a:br>
            <a:r>
              <a:rPr lang="zh-CN" altLang="en-US" sz="1800">
                <a:solidFill>
                  <a:srgbClr val="1F497D"/>
                </a:solidFill>
                <a:latin typeface="宋体" panose="02010600030101010101" pitchFamily="2" charset="-122"/>
                <a:ea typeface="宋体" panose="02010600030101010101" pitchFamily="2" charset="-122"/>
              </a:rPr>
              <a:t>建议演讲者逐字逐句子表达调查发现的内容</a:t>
            </a:r>
          </a:p>
          <a:p>
            <a:r>
              <a:rPr lang="en-ZA" sz="1800"/>
              <a:t>The </a:t>
            </a:r>
            <a:r>
              <a:rPr lang="en-ZA" sz="1800" dirty="0"/>
              <a:t>appraisal team CANNOT commit to making changes, we will collect your input and evaluate it after the presentation.</a:t>
            </a:r>
            <a:br>
              <a:rPr lang="en-ZA" sz="1800" dirty="0"/>
            </a:br>
            <a:r>
              <a:rPr lang="ja-JP" altLang="en-US" sz="1800" dirty="0">
                <a:solidFill>
                  <a:srgbClr val="1F497D"/>
                </a:solidFill>
                <a:latin typeface="宋体" panose="02010600030101010101" pitchFamily="2" charset="-122"/>
                <a:ea typeface="宋体" panose="02010600030101010101" pitchFamily="2" charset="-122"/>
              </a:rPr>
              <a:t>评估小组成员不能</a:t>
            </a:r>
            <a:r>
              <a:rPr lang="zh-CN" altLang="ja-JP" sz="1800" dirty="0">
                <a:solidFill>
                  <a:srgbClr val="1F497D"/>
                </a:solidFill>
                <a:latin typeface="宋体" panose="02010600030101010101" pitchFamily="2" charset="-122"/>
                <a:ea typeface="宋体" panose="02010600030101010101" pitchFamily="2" charset="-122"/>
              </a:rPr>
              <a:t>向你们</a:t>
            </a:r>
            <a:r>
              <a:rPr lang="ja-JP" altLang="en-US" sz="1800" dirty="0">
                <a:solidFill>
                  <a:srgbClr val="1F497D"/>
                </a:solidFill>
                <a:latin typeface="宋体" panose="02010600030101010101" pitchFamily="2" charset="-122"/>
                <a:ea typeface="宋体" panose="02010600030101010101" pitchFamily="2" charset="-122"/>
              </a:rPr>
              <a:t>承诺对发现进行修改，我们会把你们的反馈记录下来</a:t>
            </a:r>
          </a:p>
          <a:p>
            <a:r>
              <a:rPr lang="en-ZA" sz="1800" dirty="0"/>
              <a:t>Confidentiality and non-attribution remain in effect.</a:t>
            </a:r>
            <a:br>
              <a:rPr lang="en-ZA" sz="1800" dirty="0"/>
            </a:br>
            <a:r>
              <a:rPr lang="ja-JP" altLang="en-US" sz="1800" dirty="0">
                <a:solidFill>
                  <a:srgbClr val="1F497D"/>
                </a:solidFill>
                <a:latin typeface="宋体" panose="02010600030101010101" pitchFamily="2" charset="-122"/>
                <a:ea typeface="宋体" panose="02010600030101010101" pitchFamily="2" charset="-122"/>
              </a:rPr>
              <a:t>保密原则和</a:t>
            </a:r>
            <a:r>
              <a:rPr lang="zh-CN" altLang="ja-JP" sz="1800" dirty="0">
                <a:solidFill>
                  <a:srgbClr val="1F497D"/>
                </a:solidFill>
                <a:latin typeface="宋体" panose="02010600030101010101" pitchFamily="2" charset="-122"/>
                <a:ea typeface="宋体" panose="02010600030101010101" pitchFamily="2" charset="-122"/>
              </a:rPr>
              <a:t>非归因</a:t>
            </a:r>
            <a:r>
              <a:rPr lang="ja-JP" altLang="en-US" sz="1800" dirty="0">
                <a:solidFill>
                  <a:srgbClr val="1F497D"/>
                </a:solidFill>
                <a:latin typeface="宋体" panose="02010600030101010101" pitchFamily="2" charset="-122"/>
                <a:ea typeface="宋体" panose="02010600030101010101" pitchFamily="2" charset="-122"/>
              </a:rPr>
              <a:t>原则依然有效</a:t>
            </a:r>
          </a:p>
          <a:p>
            <a:r>
              <a:rPr lang="en-ZA" sz="1800" dirty="0"/>
              <a:t>Strengths are only noted if they are significant strengths.</a:t>
            </a:r>
            <a:br>
              <a:rPr lang="en-ZA" sz="1800" dirty="0"/>
            </a:br>
            <a:r>
              <a:rPr lang="ja-JP" altLang="en-US" sz="1800" dirty="0">
                <a:solidFill>
                  <a:srgbClr val="1F497D"/>
                </a:solidFill>
                <a:latin typeface="宋体" panose="02010600030101010101" pitchFamily="2" charset="-122"/>
                <a:ea typeface="宋体" panose="02010600030101010101" pitchFamily="2" charset="-122"/>
              </a:rPr>
              <a:t>只有发现特别</a:t>
            </a:r>
            <a:r>
              <a:rPr lang="zh-CN" altLang="ja-JP" sz="1800" dirty="0">
                <a:solidFill>
                  <a:srgbClr val="1F497D"/>
                </a:solidFill>
                <a:latin typeface="宋体" panose="02010600030101010101" pitchFamily="2" charset="-122"/>
                <a:ea typeface="宋体" panose="02010600030101010101" pitchFamily="2" charset="-122"/>
              </a:rPr>
              <a:t>明显</a:t>
            </a:r>
            <a:r>
              <a:rPr lang="ja-JP" altLang="en-US" sz="1800" dirty="0">
                <a:solidFill>
                  <a:srgbClr val="1F497D"/>
                </a:solidFill>
                <a:latin typeface="宋体" panose="02010600030101010101" pitchFamily="2" charset="-122"/>
                <a:ea typeface="宋体" panose="02010600030101010101" pitchFamily="2" charset="-122"/>
              </a:rPr>
              <a:t>的强项时才会反映出来</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dirty="0"/>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562793"/>
            <a:ext cx="10397837" cy="4531043"/>
          </a:xfrm>
        </p:spPr>
        <p:txBody>
          <a:bodyPr>
            <a:noAutofit/>
          </a:bodyPr>
          <a:lstStyle/>
          <a:p>
            <a:pPr marL="0" indent="0">
              <a:spcBef>
                <a:spcPts val="300"/>
              </a:spcBef>
              <a:buNone/>
            </a:pPr>
            <a:r>
              <a:rPr lang="en-ZA" sz="1600" dirty="0"/>
              <a:t>A virtual appraisal code of conduct must include the following rules at a minimum: (ISACA MDD v2.2)</a:t>
            </a:r>
          </a:p>
          <a:p>
            <a:pPr marL="0" indent="0">
              <a:spcBef>
                <a:spcPts val="300"/>
              </a:spcBef>
              <a:buNone/>
            </a:pPr>
            <a:r>
              <a:rPr lang="zh-CN" altLang="en-US" sz="1600" dirty="0">
                <a:solidFill>
                  <a:srgbClr val="1F497D"/>
                </a:solidFill>
              </a:rPr>
              <a:t>远程评估行为准则必须包括以下规则：</a:t>
            </a:r>
            <a:r>
              <a:rPr lang="en-US" altLang="zh-CN" sz="1600" dirty="0">
                <a:solidFill>
                  <a:srgbClr val="1F497D"/>
                </a:solidFill>
              </a:rPr>
              <a:t>(</a:t>
            </a:r>
            <a:r>
              <a:rPr lang="en-US" altLang="zh-CN" sz="1600" dirty="0" err="1">
                <a:solidFill>
                  <a:srgbClr val="1F497D"/>
                </a:solidFill>
              </a:rPr>
              <a:t>ISACA</a:t>
            </a:r>
            <a:r>
              <a:rPr lang="en-US" altLang="zh-CN" sz="1600" dirty="0">
                <a:solidFill>
                  <a:srgbClr val="1F497D"/>
                </a:solidFill>
              </a:rPr>
              <a:t> </a:t>
            </a:r>
            <a:r>
              <a:rPr lang="en-US" altLang="zh-CN" sz="1600" dirty="0" err="1">
                <a:solidFill>
                  <a:srgbClr val="1F497D"/>
                </a:solidFill>
              </a:rPr>
              <a:t>MDD</a:t>
            </a:r>
            <a:r>
              <a:rPr lang="en-US" altLang="zh-CN" sz="1600" dirty="0">
                <a:solidFill>
                  <a:srgbClr val="1F497D"/>
                </a:solidFill>
              </a:rPr>
              <a:t> v2.2)</a:t>
            </a:r>
            <a:endParaRPr lang="en-ZA" sz="1600" dirty="0">
              <a:solidFill>
                <a:srgbClr val="1F497D"/>
              </a:solidFill>
            </a:endParaRPr>
          </a:p>
          <a:p>
            <a:pPr>
              <a:spcBef>
                <a:spcPts val="300"/>
              </a:spcBef>
            </a:pPr>
            <a:r>
              <a:rPr lang="en-ZA" sz="1600" dirty="0"/>
              <a:t>Participate actively in appraisal activities</a:t>
            </a:r>
            <a:br>
              <a:rPr lang="en-ZA" sz="1600" dirty="0"/>
            </a:br>
            <a:r>
              <a:rPr lang="zh-CN" altLang="en-US" sz="1600" dirty="0">
                <a:solidFill>
                  <a:srgbClr val="1F497D"/>
                </a:solidFill>
              </a:rPr>
              <a:t>积极参与评估活动。</a:t>
            </a:r>
            <a:endParaRPr lang="en-ZA" altLang="zh-CN" sz="1600" dirty="0">
              <a:solidFill>
                <a:srgbClr val="1F497D"/>
              </a:solidFill>
            </a:endParaRPr>
          </a:p>
          <a:p>
            <a:pPr>
              <a:spcBef>
                <a:spcPts val="300"/>
              </a:spcBef>
            </a:pPr>
            <a:r>
              <a:rPr lang="en-ZA" sz="1600" dirty="0"/>
              <a:t>No sleeping, multitasking, etc.</a:t>
            </a:r>
            <a:br>
              <a:rPr lang="en-ZA" sz="1600" dirty="0"/>
            </a:br>
            <a:r>
              <a:rPr lang="zh-CN" altLang="en-US" sz="1600" dirty="0">
                <a:solidFill>
                  <a:srgbClr val="1F497D"/>
                </a:solidFill>
              </a:rPr>
              <a:t>不允许睡觉，或进行其他工作等。</a:t>
            </a:r>
            <a:endParaRPr lang="en-ZA" sz="1600" dirty="0">
              <a:solidFill>
                <a:srgbClr val="1F497D"/>
              </a:solidFill>
            </a:endParaRPr>
          </a:p>
          <a:p>
            <a:pPr>
              <a:spcBef>
                <a:spcPts val="300"/>
              </a:spcBef>
            </a:pPr>
            <a:r>
              <a:rPr lang="en-ZA" sz="1600" dirty="0"/>
              <a:t>To meet confidentiality requirements, ATL may require no additional media or writing materials, laptops, or mobile devices other than those agreed as necessary for conducting virtual activities for some or all interviews</a:t>
            </a:r>
            <a:br>
              <a:rPr lang="en-ZA" sz="1600" dirty="0"/>
            </a:br>
            <a:r>
              <a:rPr lang="zh-CN" altLang="en-US" sz="1600" dirty="0">
                <a:solidFill>
                  <a:srgbClr val="1F497D"/>
                </a:solidFill>
              </a:rPr>
              <a:t>为了满足保密需求，除了评估所需的设备和材料外，主任评估师可能不需要其他设备或材料：包括纸质材料，其他笔记本电脑，移动设备等。</a:t>
            </a:r>
            <a:endParaRPr lang="en-ZA" sz="1600" dirty="0">
              <a:solidFill>
                <a:srgbClr val="1F497D"/>
              </a:solidFill>
            </a:endParaRPr>
          </a:p>
          <a:p>
            <a:pPr>
              <a:spcBef>
                <a:spcPts val="300"/>
              </a:spcBef>
            </a:pPr>
            <a:r>
              <a:rPr lang="en-ZA" sz="1600" dirty="0"/>
              <a:t>One person speaks at a time </a:t>
            </a:r>
            <a:br>
              <a:rPr lang="en-ZA" sz="1600" dirty="0"/>
            </a:br>
            <a:r>
              <a:rPr lang="zh-CN" altLang="en-US" sz="1600" dirty="0">
                <a:solidFill>
                  <a:schemeClr val="accent1"/>
                </a:solidFill>
              </a:rPr>
              <a:t>每次只允许一个人说话。</a:t>
            </a:r>
            <a:endParaRPr lang="en-ZA" sz="1600" dirty="0">
              <a:solidFill>
                <a:schemeClr val="accent1"/>
              </a:solidFill>
            </a:endParaRPr>
          </a:p>
          <a:p>
            <a:pPr>
              <a:spcBef>
                <a:spcPts val="300"/>
              </a:spcBef>
            </a:pPr>
            <a:r>
              <a:rPr lang="en-ZA" sz="1600" b="1" dirty="0"/>
              <a:t>All participants identify themselves when needed, including when asked by ATL, to verify their identity with a government issued photo ID.</a:t>
            </a:r>
            <a:br>
              <a:rPr lang="en-ZA" sz="1600" b="1" dirty="0"/>
            </a:br>
            <a:r>
              <a:rPr lang="zh-CN" altLang="en-US" sz="1600" b="1" dirty="0">
                <a:solidFill>
                  <a:srgbClr val="1F497D"/>
                </a:solidFill>
              </a:rPr>
              <a:t>评估师要求时，所有访谈人员需要出示身份证验证身份，身份证由政府发放且附带个人照片。</a:t>
            </a:r>
            <a:endParaRPr lang="en-ZA" sz="1600" b="1" dirty="0">
              <a:solidFill>
                <a:srgbClr val="1F497D"/>
              </a:solidFill>
            </a:endParaRPr>
          </a:p>
          <a:p>
            <a:pPr>
              <a:spcBef>
                <a:spcPts val="300"/>
              </a:spcBef>
            </a:pPr>
            <a:endParaRPr lang="en-ZA" sz="1600" dirty="0"/>
          </a:p>
          <a:p>
            <a:pPr marL="0" indent="0">
              <a:spcBef>
                <a:spcPts val="300"/>
              </a:spcBef>
              <a:buNone/>
            </a:pPr>
            <a:r>
              <a:rPr lang="en-ZA" sz="1600" dirty="0"/>
              <a:t>Additional required actions </a:t>
            </a:r>
            <a:r>
              <a:rPr lang="zh-CN" altLang="en-US" sz="1600" dirty="0">
                <a:solidFill>
                  <a:srgbClr val="1F497D"/>
                </a:solidFill>
              </a:rPr>
              <a:t>其他行为准则：</a:t>
            </a:r>
            <a:endParaRPr lang="en-ZA" sz="1600" dirty="0">
              <a:solidFill>
                <a:srgbClr val="1F497D"/>
              </a:solidFill>
            </a:endParaRPr>
          </a:p>
          <a:p>
            <a:pPr>
              <a:spcBef>
                <a:spcPts val="300"/>
              </a:spcBef>
            </a:pPr>
            <a:r>
              <a:rPr lang="en-ZA" sz="1600" dirty="0"/>
              <a:t>Video cameras should be on at all time.</a:t>
            </a:r>
            <a:br>
              <a:rPr lang="en-ZA" sz="1600" dirty="0"/>
            </a:br>
            <a:r>
              <a:rPr lang="zh-CN" altLang="en-US" sz="1600" dirty="0">
                <a:solidFill>
                  <a:srgbClr val="1F497D"/>
                </a:solidFill>
              </a:rPr>
              <a:t>摄像机需要一直保持开启状态。</a:t>
            </a:r>
            <a:endParaRPr lang="en-ZA" sz="1600" dirty="0">
              <a:solidFill>
                <a:srgbClr val="1F497D"/>
              </a:solidFill>
            </a:endParaRPr>
          </a:p>
        </p:txBody>
      </p:sp>
    </p:spTree>
    <p:extLst>
      <p:ext uri="{BB962C8B-B14F-4D97-AF65-F5344CB8AC3E}">
        <p14:creationId xmlns:p14="http://schemas.microsoft.com/office/powerpoint/2010/main" val="2957226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a:xfrm>
            <a:off x="955962" y="1645919"/>
            <a:ext cx="10397837" cy="4646726"/>
          </a:xfrm>
        </p:spPr>
        <p:txBody>
          <a:bodyPr>
            <a:normAutofit/>
          </a:bodyPr>
          <a:lstStyle/>
          <a:p>
            <a:pPr lvl="0"/>
            <a:r>
              <a:rPr lang="en-US" sz="1800" dirty="0"/>
              <a:t>Required Findings Categories:</a:t>
            </a:r>
          </a:p>
          <a:p>
            <a:pPr lvl="1"/>
            <a:r>
              <a:rPr lang="en-US" sz="1600" u="sng" dirty="0"/>
              <a:t>Weaknesses</a:t>
            </a:r>
            <a:r>
              <a:rPr lang="en-US" sz="1600" dirty="0"/>
              <a:t> - A type of preliminary or final finding, which is an ineffective, or lack of implementation of one or more processes that meet the intent and value of a practice based on verified objective evidence, and applicable across the project(s) and organizational support functions or Organizational Unit as a whole. This is realized either by a) the process itself does not address a CMMI practice requirement, or b) the project(s) or organizational support functions are not following their process that IS compliant with the intent and value of the applicable CMMI practice.</a:t>
            </a:r>
            <a:endParaRPr lang="en-US" sz="1600" b="1" dirty="0"/>
          </a:p>
          <a:p>
            <a:pPr lvl="1"/>
            <a:endParaRPr lang="en-US" sz="1600" dirty="0"/>
          </a:p>
          <a:p>
            <a:pPr lvl="1"/>
            <a:r>
              <a:rPr lang="en-US" sz="1600" u="sng" dirty="0"/>
              <a:t>Strengths</a:t>
            </a:r>
            <a:r>
              <a:rPr lang="en-US" sz="1600" dirty="0"/>
              <a:t> - A type of preliminary or final finding, which is an exemplary or noteworthy implementation of a process that meets the intent and value of a CMMI model practice.</a:t>
            </a:r>
            <a:endParaRPr lang="en-US" sz="1600" b="1" dirty="0"/>
          </a:p>
          <a:p>
            <a:r>
              <a:rPr lang="zh-CN" altLang="en-US" sz="1600" dirty="0">
                <a:solidFill>
                  <a:srgbClr val="1F497D"/>
                </a:solidFill>
              </a:rPr>
              <a:t>所需结果类别：</a:t>
            </a:r>
          </a:p>
          <a:p>
            <a:pPr lvl="1"/>
            <a:r>
              <a:rPr lang="zh-CN" altLang="en-US" sz="1400" dirty="0">
                <a:solidFill>
                  <a:srgbClr val="1F497D"/>
                </a:solidFill>
              </a:rPr>
              <a:t>弱项</a:t>
            </a:r>
            <a:r>
              <a:rPr lang="en-US" altLang="zh-CN" sz="1400" dirty="0">
                <a:solidFill>
                  <a:srgbClr val="1F497D"/>
                </a:solidFill>
              </a:rPr>
              <a:t>——</a:t>
            </a:r>
            <a:r>
              <a:rPr lang="zh-CN" altLang="en-US" sz="1400" dirty="0">
                <a:solidFill>
                  <a:srgbClr val="1F497D"/>
                </a:solidFill>
              </a:rPr>
              <a:t>一种初步或最终的发现，是指一个或多个过程实施无效或缺乏实施，这些过程基于已验证的客观证据，符合实践的意图和价值，适用于整个项目和组织支持职能组或组织单元。这可以通过以下两种方式实现：</a:t>
            </a:r>
            <a:r>
              <a:rPr lang="en-US" altLang="zh-CN" sz="1400" dirty="0">
                <a:solidFill>
                  <a:srgbClr val="1F497D"/>
                </a:solidFill>
              </a:rPr>
              <a:t>a</a:t>
            </a:r>
            <a:r>
              <a:rPr lang="zh-CN" altLang="en-US" sz="1400" dirty="0">
                <a:solidFill>
                  <a:srgbClr val="1F497D"/>
                </a:solidFill>
              </a:rPr>
              <a:t>）过程本身没有满足</a:t>
            </a:r>
            <a:r>
              <a:rPr lang="en-US" altLang="zh-CN" sz="1400" dirty="0">
                <a:solidFill>
                  <a:srgbClr val="1F497D"/>
                </a:solidFill>
              </a:rPr>
              <a:t>CMMI</a:t>
            </a:r>
            <a:r>
              <a:rPr lang="zh-CN" altLang="en-US" sz="1400" dirty="0">
                <a:solidFill>
                  <a:srgbClr val="1F497D"/>
                </a:solidFill>
              </a:rPr>
              <a:t>实践需求，或者</a:t>
            </a:r>
            <a:r>
              <a:rPr lang="en-US" altLang="zh-CN" sz="1400" dirty="0">
                <a:solidFill>
                  <a:srgbClr val="1F497D"/>
                </a:solidFill>
              </a:rPr>
              <a:t>b</a:t>
            </a:r>
            <a:r>
              <a:rPr lang="zh-CN" altLang="en-US" sz="1400" dirty="0">
                <a:solidFill>
                  <a:srgbClr val="1F497D"/>
                </a:solidFill>
              </a:rPr>
              <a:t>）项目或组织支持职能组没有遵循符合适用</a:t>
            </a:r>
            <a:r>
              <a:rPr lang="en-US" altLang="zh-CN" sz="1400" dirty="0">
                <a:solidFill>
                  <a:srgbClr val="1F497D"/>
                </a:solidFill>
              </a:rPr>
              <a:t>CMMI</a:t>
            </a:r>
            <a:r>
              <a:rPr lang="zh-CN" altLang="en-US" sz="1400" dirty="0">
                <a:solidFill>
                  <a:srgbClr val="1F497D"/>
                </a:solidFill>
              </a:rPr>
              <a:t>实践意图和价值的过程。</a:t>
            </a:r>
            <a:endParaRPr lang="en-ZA" altLang="zh-CN" sz="1400" dirty="0">
              <a:solidFill>
                <a:srgbClr val="1F497D"/>
              </a:solidFill>
            </a:endParaRPr>
          </a:p>
          <a:p>
            <a:pPr lvl="1"/>
            <a:r>
              <a:rPr lang="zh-CN" altLang="en-US" sz="1400" dirty="0">
                <a:solidFill>
                  <a:srgbClr val="1F497D"/>
                </a:solidFill>
              </a:rPr>
              <a:t>强项</a:t>
            </a:r>
            <a:r>
              <a:rPr lang="en-US" altLang="zh-CN" sz="1400" dirty="0">
                <a:solidFill>
                  <a:srgbClr val="1F497D"/>
                </a:solidFill>
              </a:rPr>
              <a:t>——</a:t>
            </a:r>
            <a:r>
              <a:rPr lang="zh-CN" altLang="en-US" sz="1400" dirty="0">
                <a:solidFill>
                  <a:srgbClr val="1F497D"/>
                </a:solidFill>
              </a:rPr>
              <a:t>一种初步或最终的发现，是一个模范性或值得注意的过程实现，其符合</a:t>
            </a:r>
            <a:r>
              <a:rPr lang="en-US" altLang="zh-CN" sz="1400" dirty="0">
                <a:solidFill>
                  <a:srgbClr val="1F497D"/>
                </a:solidFill>
              </a:rPr>
              <a:t>CMMI</a:t>
            </a:r>
            <a:r>
              <a:rPr lang="zh-CN" altLang="en-US" sz="1400" dirty="0">
                <a:solidFill>
                  <a:srgbClr val="1F497D"/>
                </a:solidFill>
              </a:rPr>
              <a:t>模型实践的意图和价值。</a:t>
            </a:r>
          </a:p>
        </p:txBody>
      </p:sp>
    </p:spTree>
    <p:extLst>
      <p:ext uri="{BB962C8B-B14F-4D97-AF65-F5344CB8AC3E}">
        <p14:creationId xmlns:p14="http://schemas.microsoft.com/office/powerpoint/2010/main" val="723158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dirty="0">
                <a:latin typeface="+mn-lt"/>
              </a:rPr>
              <a:t>Practice Area Findings</a:t>
            </a:r>
            <a:br>
              <a:rPr lang="en-US" b="1" dirty="0">
                <a:latin typeface="+mn-lt"/>
              </a:rPr>
            </a:br>
            <a:r>
              <a:rPr lang="zh-CN" altLang="en-US" sz="6000" b="1" dirty="0">
                <a:solidFill>
                  <a:srgbClr val="1F497D"/>
                </a:solidFill>
                <a:latin typeface="+mn-lt"/>
              </a:rPr>
              <a:t>实践域发现</a:t>
            </a:r>
            <a:endParaRPr lang="en-US" b="1" dirty="0">
              <a:solidFill>
                <a:srgbClr val="1F497D"/>
              </a:solidFill>
              <a:latin typeface="+mn-lt"/>
            </a:endParaRPr>
          </a:p>
        </p:txBody>
      </p:sp>
    </p:spTree>
    <p:extLst>
      <p:ext uri="{BB962C8B-B14F-4D97-AF65-F5344CB8AC3E}">
        <p14:creationId xmlns:p14="http://schemas.microsoft.com/office/powerpoint/2010/main" val="1002676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dirty="0"/>
              <a:t>Causal Analysis and Resolution (CAR) </a:t>
            </a:r>
            <a:r>
              <a:rPr lang="zh-CN" altLang="en-US" sz="2800" dirty="0">
                <a:solidFill>
                  <a:schemeClr val="accent1">
                    <a:lumMod val="75000"/>
                  </a:schemeClr>
                </a:solidFill>
              </a:rPr>
              <a:t>原因分析与解决</a:t>
            </a:r>
            <a:endParaRPr lang="en-US" sz="2800" dirty="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dirty="0">
                <a:solidFill>
                  <a:srgbClr val="0D0D0D"/>
                </a:solidFill>
                <a:effectLst/>
                <a:highlight>
                  <a:srgbClr val="FFFFFF"/>
                </a:highlight>
                <a:latin typeface="Söhne"/>
              </a:rPr>
              <a:t>。</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Addresses causes of issues, eliminating rework and directly improving quality and productivity.</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3051602"/>
            <a:ext cx="11265408" cy="3097485"/>
          </a:xfrm>
        </p:spPr>
        <p:txBody>
          <a:bodyPr>
            <a:noAutofit/>
          </a:bodyPr>
          <a:lstStyle/>
          <a:p>
            <a:pPr marL="0" indent="0">
              <a:buNone/>
            </a:pPr>
            <a:r>
              <a:rPr lang="en-US" sz="1800" b="1" dirty="0"/>
              <a:t>Strengths </a:t>
            </a:r>
            <a:r>
              <a:rPr lang="ja-JP" altLang="en-US" sz="1800" b="1" dirty="0">
                <a:solidFill>
                  <a:srgbClr val="1F497D"/>
                </a:solidFill>
                <a:latin typeface="DengXian" panose="02010600030101010101" pitchFamily="2" charset="-122"/>
                <a:ea typeface="DengXian" panose="02010600030101010101" pitchFamily="2" charset="-122"/>
              </a:rPr>
              <a:t>强项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pPr marL="0" indent="0">
              <a:buNone/>
            </a:pPr>
            <a:r>
              <a:rPr lang="en-US" sz="1800" b="1"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dirty="0"/>
              <a:t>Configuration Management (CM) </a:t>
            </a:r>
            <a:r>
              <a:rPr lang="ja-JP" altLang="en-US" sz="2800" dirty="0">
                <a:solidFill>
                  <a:schemeClr val="accent1">
                    <a:lumMod val="75000"/>
                  </a:schemeClr>
                </a:solidFill>
              </a:rPr>
              <a:t>配置管理</a:t>
            </a:r>
            <a:endParaRPr lang="en-US" sz="2800" dirty="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Manages the integrity of work products using configuration identification, version control, change control, and audits.</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通过配置识别、版本控制、变更控制和审计来管理工作产品的完整性。</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Reduces loss of work and increases the ability to deliver the correct version of the solution to the customer.</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减少工作丢失并提高向客户交付正确版本解决方案的能力。</a:t>
            </a:r>
            <a:endParaRPr lang="en-US" sz="1400" dirty="0">
              <a:solidFill>
                <a:srgbClr val="1F497D"/>
              </a:solidFill>
            </a:endParaRPr>
          </a:p>
          <a:p>
            <a:endParaRPr lang="en-US" sz="1400" dirty="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212394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dirty="0"/>
              <a:t>Decision Analysis and Resolution (DAR) </a:t>
            </a:r>
            <a:r>
              <a:rPr lang="zh-CN" altLang="en-US" sz="2800" dirty="0">
                <a:solidFill>
                  <a:srgbClr val="1F497D"/>
                </a:solidFill>
              </a:rPr>
              <a:t>决策分析与解决</a:t>
            </a:r>
            <a:endParaRPr lang="en-US" sz="2800" dirty="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Makes and records decisions using a recorded process that </a:t>
            </a:r>
            <a:r>
              <a:rPr lang="en-GB" sz="1400" b="0" i="0" dirty="0" err="1">
                <a:solidFill>
                  <a:srgbClr val="505050"/>
                </a:solidFill>
                <a:effectLst/>
                <a:highlight>
                  <a:srgbClr val="FFFFFF"/>
                </a:highlight>
                <a:latin typeface="Gotham A"/>
              </a:rPr>
              <a:t>analyzes</a:t>
            </a:r>
            <a:r>
              <a:rPr lang="en-GB" sz="1400" b="0" i="0" dirty="0">
                <a:solidFill>
                  <a:srgbClr val="505050"/>
                </a:solidFill>
                <a:effectLst/>
                <a:highlight>
                  <a:srgbClr val="FFFFFF"/>
                </a:highlight>
                <a:latin typeface="Gotham A"/>
              </a:rPr>
              <a:t> alternatives.</a:t>
            </a:r>
            <a:r>
              <a:rPr lang="en-US" sz="1400" dirty="0"/>
              <a:t>	</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objectivity of decision-making and the probability of selecting the optimal solution.</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dirty="0"/>
          </a:p>
          <a:p>
            <a:endParaRPr lang="en-US" sz="1400" dirty="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01728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dirty="0"/>
              <a:t>Estimating (EST) </a:t>
            </a:r>
            <a:r>
              <a:rPr lang="ja-JP" altLang="en-US" sz="2800" dirty="0">
                <a:solidFill>
                  <a:srgbClr val="1F497D"/>
                </a:solidFill>
              </a:rPr>
              <a:t>估算</a:t>
            </a:r>
            <a:endParaRPr lang="en-US" sz="2800" dirty="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29184"/>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113113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dirty="0"/>
              <a:t>Governance (GOV) </a:t>
            </a:r>
            <a:r>
              <a:rPr lang="ja-JP" altLang="en-US" sz="2800" dirty="0">
                <a:solidFill>
                  <a:srgbClr val="1F497D"/>
                </a:solidFill>
              </a:rPr>
              <a:t>管治</a:t>
            </a:r>
            <a:endParaRPr lang="en-US" sz="2800" dirty="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dirty="0">
                <a:solidFill>
                  <a:srgbClr val="505050"/>
                </a:solidFill>
                <a:highlight>
                  <a:srgbClr val="FFFFFF"/>
                </a:highlight>
                <a:latin typeface="Gotham A"/>
              </a:rPr>
            </a:br>
            <a:r>
              <a:rPr lang="en-US" sz="1400" dirty="0">
                <a:solidFill>
                  <a:srgbClr val="505050"/>
                </a:solidFill>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379169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15390" cy="1207008"/>
          </a:xfrm>
          <a:prstGeom prst="rect">
            <a:avLst/>
          </a:prstGeom>
        </p:spPr>
      </p:pic>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dirty="0"/>
              <a:t>Implementation Infrastructure (II) </a:t>
            </a:r>
            <a:r>
              <a:rPr lang="zh-CN" altLang="en-US" sz="2800" dirty="0">
                <a:solidFill>
                  <a:srgbClr val="1F497D"/>
                </a:solidFill>
              </a:rPr>
              <a:t>实施基础条件</a:t>
            </a:r>
            <a:endParaRPr lang="en-ZA" sz="2800" dirty="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	Intent: </a:t>
            </a:r>
            <a:r>
              <a:rPr lang="en-GB" sz="1400" b="0" i="0" dirty="0">
                <a:solidFill>
                  <a:srgbClr val="505050"/>
                </a:solidFill>
                <a:effectLst/>
                <a:highlight>
                  <a:srgbClr val="FFFFFF"/>
                </a:highlight>
                <a:latin typeface="Gotham A"/>
              </a:rPr>
              <a:t>Ensures that the processes and assets important to an organization’s performance are habitually and persistently followed, used, and</a:t>
            </a:r>
            <a:r>
              <a:rPr lang="en-GB" sz="1400" dirty="0">
                <a:solidFill>
                  <a:srgbClr val="505050"/>
                </a:solidFill>
                <a:highlight>
                  <a:srgbClr val="FFFFFF"/>
                </a:highlight>
                <a:latin typeface="Gotham A"/>
              </a:rPr>
              <a:t> 	</a:t>
            </a:r>
            <a:r>
              <a:rPr lang="en-GB" sz="1400" b="0" i="0" dirty="0">
                <a:solidFill>
                  <a:srgbClr val="505050"/>
                </a:solidFill>
                <a:effectLst/>
                <a:highlight>
                  <a:srgbClr val="FFFFFF"/>
                </a:highlight>
                <a:latin typeface="Gotham A"/>
              </a:rPr>
              <a:t>improved. </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确保对组织绩效重要的流程和资产得到习惯性和持久的遵循、使用和改进。</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Sustains the ability to consistently achieve goals and objectives efficiently and effectively.</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维持高效且有效地持续实现目标和任务的能力。</a:t>
            </a:r>
            <a:endParaRPr lang="en-US" sz="1400" dirty="0">
              <a:solidFill>
                <a:srgbClr val="1F497D"/>
              </a:solidFill>
              <a:latin typeface="DengXian" panose="02010600030101010101" pitchFamily="2" charset="-122"/>
              <a:ea typeface="DengXian" panose="02010600030101010101" pitchFamily="2" charset="-122"/>
            </a:endParaRPr>
          </a:p>
          <a:p>
            <a:endParaRPr lang="en-US" sz="1400" dirty="0"/>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699119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10896"/>
            <a:ext cx="1352550" cy="1028700"/>
          </a:xfrm>
          <a:prstGeom prst="rect">
            <a:avLst/>
          </a:prstGeom>
        </p:spPr>
      </p:pic>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dirty="0"/>
              <a:t>Managing Performance and Measurement (</a:t>
            </a:r>
            <a:r>
              <a:rPr lang="en-US" sz="2800" dirty="0" err="1"/>
              <a:t>MPM</a:t>
            </a:r>
            <a:r>
              <a:rPr lang="en-US" sz="2800" dirty="0"/>
              <a:t>) </a:t>
            </a:r>
            <a:r>
              <a:rPr lang="zh-CN" altLang="en-US" sz="2800" dirty="0">
                <a:solidFill>
                  <a:srgbClr val="1F497D"/>
                </a:solidFill>
              </a:rPr>
              <a:t>管理绩效与度量</a:t>
            </a:r>
            <a:endParaRPr lang="en-ZA" sz="2800" dirty="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	Intent: </a:t>
            </a:r>
            <a:r>
              <a:rPr lang="en-GB" sz="1400" b="0" i="0" dirty="0">
                <a:solidFill>
                  <a:srgbClr val="505050"/>
                </a:solidFill>
                <a:effectLst/>
                <a:highlight>
                  <a:srgbClr val="FFFFFF"/>
                </a:highlight>
                <a:latin typeface="Gotham A"/>
              </a:rPr>
              <a:t>Manages performance using measurement and analysis to achieve business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使用测量和分析来管理绩效，以实现业务目标。</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Maximizes business return on investment by focusing management and improvement efforts on cost, schedule, and quality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578273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dirty="0"/>
              <a:t>Monitor and Control (MC) </a:t>
            </a:r>
            <a:r>
              <a:rPr lang="zh-CN" altLang="en-US" sz="2800" dirty="0">
                <a:solidFill>
                  <a:srgbClr val="1F497D"/>
                </a:solidFill>
              </a:rPr>
              <a:t>控制与监督</a:t>
            </a:r>
            <a:endParaRPr lang="en-US" sz="2000" dirty="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946911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dirty="0"/>
              <a:t>Organizational Training (OT) </a:t>
            </a:r>
            <a:r>
              <a:rPr lang="ja-JP" altLang="en-US" sz="2800" dirty="0">
                <a:solidFill>
                  <a:srgbClr val="1F497D"/>
                </a:solidFill>
                <a:latin typeface="DengXian Light" panose="02010600030101010101" pitchFamily="2" charset="-122"/>
                <a:ea typeface="DengXian Light" panose="02010600030101010101" pitchFamily="2" charset="-122"/>
              </a:rPr>
              <a:t>组织级培训</a:t>
            </a:r>
            <a:endParaRPr lang="en-US" sz="2800" dirty="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Develops the skills and knowledge of personnel so they perform their roles efficiently and effectively.</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Enhances individuals' skills and knowledge to improve organizational work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38" y="237744"/>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396288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dirty="0"/>
              <a:t>Peer Reviews (PR) </a:t>
            </a:r>
            <a:r>
              <a:rPr lang="ja-JP" altLang="en-US" sz="2800" dirty="0">
                <a:solidFill>
                  <a:srgbClr val="1F497D"/>
                </a:solidFill>
                <a:latin typeface="DengXian Light" panose="02010600030101010101" pitchFamily="2" charset="-122"/>
                <a:ea typeface="DengXian Light" panose="02010600030101010101" pitchFamily="2" charset="-122"/>
              </a:rPr>
              <a:t>同行评审</a:t>
            </a:r>
            <a:endParaRPr lang="en-US" sz="2800" dirty="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a:lnSpc>
                <a:spcPct val="90000"/>
              </a:lnSpc>
              <a:spcBef>
                <a:spcPts val="1000"/>
              </a:spcBef>
            </a:pPr>
            <a:r>
              <a:rPr lang="en-US" sz="1400" b="1" dirty="0"/>
              <a:t>	Intent: </a:t>
            </a:r>
            <a:r>
              <a:rPr lang="en-GB" sz="1400" dirty="0"/>
              <a:t>Identifies and addresses process performance and work product issues through reviews by the producer's peers or Subject Matter 	Experts (SMEs).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通过由生产者的同行或专家进行的审查，识别和解决过程绩效和工作产品问题。</a:t>
            </a:r>
            <a:endParaRPr lang="en-ZA" altLang="zh-CN" sz="1400" dirty="0">
              <a:solidFill>
                <a:srgbClr val="1F497D"/>
              </a:solidFill>
              <a:latin typeface="DengXian" panose="02010600030101010101" pitchFamily="2" charset="-122"/>
              <a:ea typeface="DengXian" panose="02010600030101010101" pitchFamily="2" charset="-122"/>
            </a:endParaRPr>
          </a:p>
          <a:p>
            <a:pPr>
              <a:lnSpc>
                <a:spcPct val="90000"/>
              </a:lnSpc>
              <a:spcBef>
                <a:spcPts val="1000"/>
              </a:spcBef>
            </a:pPr>
            <a:r>
              <a:rPr lang="en-ZA" sz="1400" b="1" dirty="0">
                <a:solidFill>
                  <a:srgbClr val="1F497D"/>
                </a:solidFill>
                <a:latin typeface="DengXian" panose="02010600030101010101" pitchFamily="2" charset="-122"/>
                <a:ea typeface="DengXian" panose="02010600030101010101" pitchFamily="2" charset="-122"/>
              </a:rPr>
              <a:t>	</a:t>
            </a:r>
            <a:r>
              <a:rPr lang="en-US" sz="1400" b="1" dirty="0"/>
              <a:t>Value:</a:t>
            </a:r>
            <a:r>
              <a:rPr lang="en-US" sz="1400" dirty="0"/>
              <a:t> </a:t>
            </a:r>
            <a:r>
              <a:rPr lang="en-GB" sz="1400" dirty="0"/>
              <a:t>Reduces cost and rework by uncovering issues or defects early.</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通过及早发现问题或缺陷，降低成本和返工。</a:t>
            </a:r>
            <a:endParaRPr lang="en-US" sz="1400" dirty="0">
              <a:solidFill>
                <a:srgbClr val="1F497D"/>
              </a:solidFill>
              <a:latin typeface="DengXian" panose="02010600030101010101" pitchFamily="2" charset="-122"/>
              <a:ea typeface="DengXian" panose="02010600030101010101" pitchFamily="2" charset="-122"/>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180998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dirty="0"/>
              <a:t>	Intent: </a:t>
            </a:r>
            <a:r>
              <a:rPr lang="en-GB" sz="1400" dirty="0"/>
              <a:t>Develop plans to describe what is needed to accomplish the work within the standards and constraints of the organization.</a:t>
            </a:r>
            <a:br>
              <a:rPr lang="en-US" sz="1400" dirty="0">
                <a:effectLst/>
              </a:rPr>
            </a:br>
            <a:r>
              <a:rPr lang="en-US" sz="1400" dirty="0">
                <a:effectLst/>
              </a:rPr>
              <a:t>	</a:t>
            </a:r>
            <a:r>
              <a:rPr lang="zh-CN" altLang="en-US" sz="1400" dirty="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Optimizes cost, functionality, and quality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Planning (PLAN) </a:t>
            </a:r>
            <a:r>
              <a:rPr lang="ja-JP" altLang="en-US" dirty="0">
                <a:solidFill>
                  <a:srgbClr val="1F497D"/>
                </a:solidFill>
                <a:latin typeface="DengXian Light" panose="02010600030101010101" pitchFamily="2" charset="-122"/>
                <a:ea typeface="DengXian Light" panose="02010600030101010101" pitchFamily="2" charset="-122"/>
              </a:rPr>
              <a:t>策划</a:t>
            </a:r>
            <a:endParaRPr lang="en-US" dirty="0">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409033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Asset Development (PAD) </a:t>
            </a:r>
            <a:r>
              <a:rPr lang="zh-CN" altLang="en-US" dirty="0">
                <a:solidFill>
                  <a:srgbClr val="1F497D"/>
                </a:solidFill>
                <a:latin typeface="+mj-ea"/>
                <a:ea typeface="+mj-ea"/>
              </a:rPr>
              <a:t>过程资产开发</a:t>
            </a:r>
            <a:endParaRPr lang="en-US" dirty="0">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dirty="0"/>
              <a:t>	Intent: </a:t>
            </a:r>
            <a:r>
              <a:rPr lang="en-GB" sz="1400" dirty="0"/>
              <a:t>Develops the process assets necessary to perform the work and keeps them updated.</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capability to understand and repeat successful performance.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提供理解和重复成功绩效的能力。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3772339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Management (PCM) </a:t>
            </a:r>
            <a:r>
              <a:rPr lang="ja-JP" altLang="en-US" dirty="0">
                <a:solidFill>
                  <a:srgbClr val="1F497D"/>
                </a:solidFill>
                <a:latin typeface="DengXian Light" panose="02010600030101010101" pitchFamily="2" charset="-122"/>
                <a:ea typeface="DengXian Light" panose="02010600030101010101" pitchFamily="2" charset="-122"/>
              </a:rPr>
              <a:t>过程管理</a:t>
            </a:r>
            <a:endParaRPr lang="en-US" dirty="0">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dirty="0"/>
              <a:t>	Intent: </a:t>
            </a:r>
            <a:r>
              <a:rPr lang="en-GB" sz="1400" dirty="0"/>
              <a:t>Manages and implements the continuous performance improvement of processes and infrastructure to meet business 	objectives by 	identifying and implementing the most beneficial process improvements and making performance results visible, accessible, and sustainable.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的持续绩效改进，以实现业</a:t>
            </a:r>
            <a:r>
              <a:rPr lang="en-ZA"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务目标</a:t>
            </a:r>
            <a:endParaRPr lang="en-ZA"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Ensures that processes, infrastructure, and their improvement contribute to successfully meeting business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3758761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Quality Assurance (PQA) </a:t>
            </a:r>
            <a:r>
              <a:rPr lang="zh-CN" altLang="en-US" dirty="0">
                <a:solidFill>
                  <a:srgbClr val="1F497D"/>
                </a:solidFill>
                <a:latin typeface="+mj-ea"/>
                <a:ea typeface="+mj-ea"/>
              </a:rPr>
              <a:t>过程质量保证</a:t>
            </a:r>
            <a:endParaRPr lang="en-US" dirty="0">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275702" y="1373440"/>
            <a:ext cx="11640595" cy="996170"/>
          </a:xfrm>
          <a:prstGeom prst="rect">
            <a:avLst/>
          </a:prstGeom>
          <a:noFill/>
        </p:spPr>
        <p:txBody>
          <a:bodyPr wrap="square" rtlCol="0">
            <a:spAutoFit/>
          </a:bodyPr>
          <a:lstStyle/>
          <a:p>
            <a:pPr marL="0" indent="0">
              <a:buNone/>
            </a:pPr>
            <a:r>
              <a:rPr lang="en-US" sz="1400" b="1" dirty="0"/>
              <a:t>	Intent: </a:t>
            </a:r>
            <a:r>
              <a:rPr lang="en-GB" sz="1400" dirty="0"/>
              <a:t>Verifies and enables improvement of the quality of the processes performed and resulting work products.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dirty="0"/>
              <a:t>	</a:t>
            </a:r>
          </a:p>
          <a:p>
            <a:pPr marL="0" indent="0">
              <a:buNone/>
            </a:pPr>
            <a:r>
              <a:rPr lang="en-US" sz="1400" b="1" dirty="0"/>
              <a:t>	Value:</a:t>
            </a:r>
            <a:r>
              <a:rPr lang="en-US" sz="1400" dirty="0"/>
              <a:t> </a:t>
            </a:r>
            <a:r>
              <a:rPr lang="en-GB" sz="1400" dirty="0"/>
              <a:t>Increases the consistent use and improvement of the processes to maximize business benefit and customer satisfaction.</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3357685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Product Integration (PI) </a:t>
            </a:r>
            <a:r>
              <a:rPr lang="ja-JP" altLang="en-US" dirty="0">
                <a:solidFill>
                  <a:srgbClr val="1F497D"/>
                </a:solidFill>
                <a:latin typeface="DengXian Light" panose="02010600030101010101" pitchFamily="2" charset="-122"/>
                <a:ea typeface="DengXian Light" panose="02010600030101010101" pitchFamily="2" charset="-122"/>
              </a:rPr>
              <a:t>产品集成</a:t>
            </a:r>
            <a:endParaRPr lang="en-US" dirty="0">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dirty="0"/>
              <a:t>	Intent: </a:t>
            </a:r>
            <a:r>
              <a:rPr lang="en-GB" sz="1400" dirty="0"/>
              <a:t>Integrates and delivers the solution that addresses functionality, performance,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customers' satisfaction by giving them a solution that meets or exceeds their functionality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894669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64" y="35052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Requirements Development and Management (RDM) </a:t>
            </a:r>
            <a:r>
              <a:rPr lang="zh-CN" altLang="en-US" dirty="0">
                <a:solidFill>
                  <a:srgbClr val="1F497D"/>
                </a:solidFill>
                <a:latin typeface="+mj-ea"/>
                <a:ea typeface="+mj-ea"/>
              </a:rPr>
              <a:t>需求开发与管理</a:t>
            </a:r>
            <a:endParaRPr lang="en-US" dirty="0">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dirty="0"/>
              <a:t>	Intent: </a:t>
            </a:r>
            <a:r>
              <a:rPr lang="en-GB" sz="1400" dirty="0"/>
              <a:t>Elicits requirements, confirms common understanding by stakeholders, and aligns requirements, plans, and work products.</a:t>
            </a:r>
            <a:br>
              <a:rPr lang="en-US" sz="1400" dirty="0"/>
            </a:br>
            <a:r>
              <a:rPr lang="en-US" sz="1400" dirty="0"/>
              <a:t>	</a:t>
            </a:r>
            <a:r>
              <a:rPr lang="zh-CN" altLang="en-US" sz="1400" dirty="0">
                <a:solidFill>
                  <a:srgbClr val="1F497D"/>
                </a:solidFill>
              </a:rPr>
              <a:t>引发需求，通过利益相关者确认共同理解，并将需求、计划和工作产品对齐。</a:t>
            </a:r>
            <a:r>
              <a:rPr lang="en-US" sz="1400" b="1" dirty="0"/>
              <a:t>	</a:t>
            </a:r>
          </a:p>
          <a:p>
            <a:pPr marL="0" indent="0">
              <a:buNone/>
            </a:pPr>
            <a:r>
              <a:rPr lang="en-US" sz="1400" b="1" dirty="0"/>
              <a:t>	Value:</a:t>
            </a:r>
            <a:r>
              <a:rPr lang="en-US" sz="1400" dirty="0"/>
              <a:t> </a:t>
            </a:r>
            <a:r>
              <a:rPr lang="en-GB" sz="1400" dirty="0"/>
              <a:t>Increases likelihood that the solution meets or exceeds customer expectations and needs.</a:t>
            </a:r>
            <a:br>
              <a:rPr lang="en-US" sz="1400" dirty="0"/>
            </a:br>
            <a:r>
              <a:rPr lang="en-US" sz="1400" dirty="0"/>
              <a:t>	</a:t>
            </a:r>
            <a:r>
              <a:rPr lang="zh-CN" altLang="en-US" sz="1400" dirty="0">
                <a:solidFill>
                  <a:srgbClr val="1F497D"/>
                </a:solidFill>
              </a:rPr>
              <a:t>增加解决方案满足或超出客户期望和需求的可能性。</a:t>
            </a:r>
            <a:endParaRPr lang="en-US" sz="1400" dirty="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383232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Risk and Opportunity Management (</a:t>
            </a:r>
            <a:r>
              <a:rPr lang="en-US" dirty="0" err="1"/>
              <a:t>RSK</a:t>
            </a:r>
            <a:r>
              <a:rPr lang="en-US" dirty="0"/>
              <a:t>) </a:t>
            </a:r>
            <a:r>
              <a:rPr lang="zh-CN" altLang="en-US" dirty="0">
                <a:solidFill>
                  <a:srgbClr val="1F497D"/>
                </a:solidFill>
                <a:latin typeface="+mj-ea"/>
                <a:ea typeface="+mj-ea"/>
              </a:rPr>
              <a:t>风险与机会管理</a:t>
            </a:r>
            <a:endParaRPr lang="en-US" dirty="0">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dirty="0"/>
              <a:t>	Intent: </a:t>
            </a:r>
            <a:r>
              <a:rPr lang="en-GB" sz="1400" dirty="0"/>
              <a:t>Identifies, records, </a:t>
            </a:r>
            <a:r>
              <a:rPr lang="en-GB" sz="1400" dirty="0" err="1"/>
              <a:t>analyzes</a:t>
            </a:r>
            <a:r>
              <a:rPr lang="en-GB" sz="1400" dirty="0"/>
              <a:t>, and manages potential risks or opportunities.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dirty="0"/>
              <a:t>	</a:t>
            </a:r>
          </a:p>
          <a:p>
            <a:pPr marL="0" indent="0">
              <a:buNone/>
            </a:pPr>
            <a:r>
              <a:rPr lang="en-US" sz="1400" b="1" dirty="0"/>
              <a:t>	Value:</a:t>
            </a:r>
            <a:r>
              <a:rPr lang="en-US" sz="1400" dirty="0"/>
              <a:t> </a:t>
            </a:r>
            <a:r>
              <a:rPr lang="en-GB" sz="1400" dirty="0"/>
              <a:t>Mitigates adverse impacts or capitalizes on positive impacts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868376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Technical Solution (TS) </a:t>
            </a:r>
            <a:r>
              <a:rPr lang="zh-CN" altLang="en-US" dirty="0">
                <a:solidFill>
                  <a:srgbClr val="1F497D"/>
                </a:solidFill>
                <a:latin typeface="+mj-ea"/>
                <a:ea typeface="+mj-ea"/>
              </a:rPr>
              <a:t>技术解决方案</a:t>
            </a:r>
            <a:endParaRPr lang="en-US" dirty="0">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dirty="0"/>
              <a:t>	Intent: </a:t>
            </a:r>
            <a:r>
              <a:rPr lang="en-GB" sz="1400" dirty="0"/>
              <a:t>Designs and builds solutions that meet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cost-effective design and solution that meets customer requirements and reduces rework.</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4164749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Verification and Validation (VV) </a:t>
            </a:r>
            <a:r>
              <a:rPr lang="ja-JP" altLang="en-US" dirty="0">
                <a:solidFill>
                  <a:srgbClr val="1F497D"/>
                </a:solidFill>
                <a:latin typeface="DengXian Light" panose="02010600030101010101" pitchFamily="2" charset="-122"/>
                <a:ea typeface="DengXian Light" panose="02010600030101010101" pitchFamily="2" charset="-122"/>
              </a:rPr>
              <a:t>验证与确认</a:t>
            </a:r>
            <a:endParaRPr lang="en-US" dirty="0">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dirty="0"/>
              <a:t>	Intent: </a:t>
            </a:r>
            <a:r>
              <a:rPr lang="en-GB" sz="1400" dirty="0"/>
              <a:t>Confirms selected solutions and components meet their requirements, and demonstrates selected solutions and components </a:t>
            </a:r>
            <a:r>
              <a:rPr lang="en-GB" sz="1400" dirty="0" err="1"/>
              <a:t>fulfill</a:t>
            </a:r>
            <a:r>
              <a:rPr lang="en-GB" sz="1400" dirty="0"/>
              <a:t> 	their intended use in their target environment.</a:t>
            </a:r>
            <a:br>
              <a:rPr lang="en-US" sz="1400" dirty="0"/>
            </a:br>
            <a:r>
              <a:rPr lang="zh-CN" altLang="en-US" sz="1400" b="0" i="0" dirty="0">
                <a:solidFill>
                  <a:srgbClr val="0D0D0D"/>
                </a:solidFill>
                <a:effectLst/>
                <a:highlight>
                  <a:srgbClr val="FFFFFF"/>
                </a:highlight>
                <a:latin typeface="Söhne"/>
              </a:rPr>
              <a:t> </a:t>
            </a:r>
            <a:r>
              <a:rPr lang="en-ZA" altLang="zh-CN" sz="1400" b="0" i="0" dirty="0">
                <a:solidFill>
                  <a:srgbClr val="0D0D0D"/>
                </a:solidFill>
                <a:effectLst/>
                <a:highlight>
                  <a:srgbClr val="FFFFFF"/>
                </a:highlight>
                <a:latin typeface="Söhne"/>
              </a:rPr>
              <a:t>	</a:t>
            </a:r>
            <a:r>
              <a:rPr lang="zh-CN" altLang="en-US" sz="1400" dirty="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the likelihood that the solution will satisfy the customer.</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增加解决方案能够满足客户的可能性。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318327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5"/>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3382510" y="1113693"/>
            <a:ext cx="5154613" cy="51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7672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Notice</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a:bodyPr>
          <a:lstStyle/>
          <a:p>
            <a:r>
              <a:rPr lang="en-US" sz="2000" dirty="0"/>
              <a:t>This pptx has embedded links to </a:t>
            </a:r>
            <a:r>
              <a:rPr lang="en-US" sz="2000" dirty="0" err="1"/>
              <a:t>00_Data_Reference.xlsm</a:t>
            </a:r>
            <a:endParaRPr lang="en-US" sz="2000" dirty="0"/>
          </a:p>
          <a:p>
            <a:r>
              <a:rPr lang="en-US" sz="2000" dirty="0"/>
              <a:t>The latest information and version of the Benchmark Appraiser Support Environment (BASE) can be accessed at </a:t>
            </a:r>
            <a:r>
              <a:rPr lang="en-US" sz="2000" dirty="0" err="1">
                <a:hlinkClick r:id="rId3"/>
              </a:rPr>
              <a:t>www.demix.org</a:t>
            </a:r>
            <a:r>
              <a:rPr lang="en-US" sz="2000" dirty="0">
                <a:hlinkClick r:id="rId3"/>
              </a:rPr>
              <a:t>/tools</a:t>
            </a:r>
            <a:r>
              <a:rPr lang="en-US" sz="2000" dirty="0"/>
              <a:t> </a:t>
            </a:r>
          </a:p>
        </p:txBody>
      </p:sp>
    </p:spTree>
    <p:extLst>
      <p:ext uri="{BB962C8B-B14F-4D97-AF65-F5344CB8AC3E}">
        <p14:creationId xmlns:p14="http://schemas.microsoft.com/office/powerpoint/2010/main" val="4138373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B49826-D5EE-4D24-B649-7C3A19B527D2}">
  <ds:schemaRefs>
    <ds:schemaRef ds:uri="http://schemas.microsoft.com/sharepoint/v3/contenttype/forms"/>
  </ds:schemaRefs>
</ds:datastoreItem>
</file>

<file path=customXml/itemProps2.xml><?xml version="1.0" encoding="utf-8"?>
<ds:datastoreItem xmlns:ds="http://schemas.openxmlformats.org/officeDocument/2006/customXml" ds:itemID="{5F07B0D7-F930-4230-933E-ABA84959494E}">
  <ds:schemaRefs>
    <ds:schemaRef ds:uri="http://purl.org/dc/elements/1.1/"/>
    <ds:schemaRef ds:uri="http://www.w3.org/XML/1998/namespace"/>
    <ds:schemaRef ds:uri="http://schemas.openxmlformats.org/package/2006/metadata/core-properties"/>
    <ds:schemaRef ds:uri="72e3a154-4955-46c3-9573-e9dec3e1f195"/>
    <ds:schemaRef ds:uri="http://schemas.microsoft.com/office/2006/metadata/properties"/>
    <ds:schemaRef ds:uri="http://schemas.microsoft.com/office/infopath/2007/PartnerControls"/>
    <ds:schemaRef ds:uri="http://schemas.microsoft.com/office/2006/documentManagement/types"/>
    <ds:schemaRef ds:uri="ec500478-62e0-46fc-87f1-cfa988e486b4"/>
    <ds:schemaRef ds:uri="http://purl.org/dc/dcmitype/"/>
    <ds:schemaRef ds:uri="http://purl.org/dc/terms/"/>
  </ds:schemaRefs>
</ds:datastoreItem>
</file>

<file path=customXml/itemProps3.xml><?xml version="1.0" encoding="utf-8"?>
<ds:datastoreItem xmlns:ds="http://schemas.openxmlformats.org/officeDocument/2006/customXml" ds:itemID="{290590C6-42E3-46BC-B3CE-D7935B16FA4E}"/>
</file>

<file path=docProps/app.xml><?xml version="1.0" encoding="utf-8"?>
<Properties xmlns="http://schemas.openxmlformats.org/officeDocument/2006/extended-properties" xmlns:vt="http://schemas.openxmlformats.org/officeDocument/2006/docPropsVTypes">
  <TotalTime>798</TotalTime>
  <Words>3705</Words>
  <Application>Microsoft Office PowerPoint</Application>
  <PresentationFormat>Widescreen</PresentationFormat>
  <Paragraphs>214</Paragraphs>
  <Slides>30</Slides>
  <Notes>7</Notes>
  <HiddenSlides>1</HiddenSlides>
  <MMClips>0</MMClips>
  <ScaleCrop>false</ScaleCrop>
  <HeadingPairs>
    <vt:vector size="8" baseType="variant">
      <vt:variant>
        <vt:lpstr>Fonts Used</vt:lpstr>
      </vt:variant>
      <vt:variant>
        <vt:i4>9</vt:i4>
      </vt:variant>
      <vt:variant>
        <vt:lpstr>Theme</vt:lpstr>
      </vt:variant>
      <vt:variant>
        <vt:i4>1</vt:i4>
      </vt:variant>
      <vt:variant>
        <vt:lpstr>Links</vt:lpstr>
      </vt:variant>
      <vt:variant>
        <vt:i4>3</vt:i4>
      </vt:variant>
      <vt:variant>
        <vt:lpstr>Slide Titles</vt:lpstr>
      </vt:variant>
      <vt:variant>
        <vt:i4>30</vt:i4>
      </vt:variant>
    </vt:vector>
  </HeadingPairs>
  <TitlesOfParts>
    <vt:vector size="43" baseType="lpstr">
      <vt:lpstr>DengXian</vt:lpstr>
      <vt:lpstr>DengXian Light</vt:lpstr>
      <vt:lpstr>ＭＳ Ｐゴシック</vt:lpstr>
      <vt:lpstr>宋体</vt:lpstr>
      <vt:lpstr>Arial</vt:lpstr>
      <vt:lpstr>Calibri</vt:lpstr>
      <vt:lpstr>Calibri Light</vt:lpstr>
      <vt:lpstr>Gotham A</vt:lpstr>
      <vt:lpstr>Söhne</vt:lpstr>
      <vt:lpstr>Office Theme</vt:lpstr>
      <vt:lpstr>file:///G:\2024-05-04to05-10 (A5) C384400 NASA\00_Data_Reference.xlsm!pptxCover!R4C2:R12C2</vt:lpstr>
      <vt:lpstr>file:///G:\2024-05-04to05-10 (A5) C384400 NASA\00_Data_Reference.xlsm!pptxCover!R15C2:R17C2</vt:lpstr>
      <vt:lpstr>file:///G:\2024-05-04to05-10 (A5) C384400 NASA\00_Data_Reference.xlsm!pptxCover!R21C2</vt:lpstr>
      <vt:lpstr>PowerPoint Presentation</vt:lpstr>
      <vt:lpstr>Appraisal Overview  评估概述</vt:lpstr>
      <vt:lpstr>PowerPoint Presentation</vt:lpstr>
      <vt:lpstr>Appraisal Principles</vt:lpstr>
      <vt:lpstr>PowerPoint Presentation</vt:lpstr>
      <vt:lpstr>About Preliminary Findings</vt:lpstr>
      <vt:lpstr>Virtual appraisals – code of conduct</vt:lpstr>
      <vt:lpstr>Findings Definitions – Required Categories</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PowerPoint Presentation</vt:lpstr>
      <vt:lpstr>Notice</vt:lpstr>
    </vt:vector>
  </TitlesOfParts>
  <Company>ISACA-CMMI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MDD-Toolkit-Appraisal Final Findings Template</dc:title>
  <dc:creator>ISACA-CMMI</dc:creator>
  <cp:lastModifiedBy>Melanie Van Zyl</cp:lastModifiedBy>
  <cp:revision>92</cp:revision>
  <dcterms:created xsi:type="dcterms:W3CDTF">2018-03-14T12:19:45Z</dcterms:created>
  <dcterms:modified xsi:type="dcterms:W3CDTF">2024-05-21T07:47:23Z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y fmtid="{D5CDD505-2E9C-101B-9397-08002B2CF9AE}" pid="3" name="xd_Signature">
    <vt:bool>false</vt:bool>
  </property>
  <property fmtid="{D5CDD505-2E9C-101B-9397-08002B2CF9AE}" pid="4" name="xd_ProgID">
    <vt:lpwstr/>
  </property>
  <property fmtid="{D5CDD505-2E9C-101B-9397-08002B2CF9AE}" pid="5" name="TemplateUrl">
    <vt:lpwstr/>
  </property>
  <property fmtid="{D5CDD505-2E9C-101B-9397-08002B2CF9AE}" pid="6" name="ComplianceAssetId">
    <vt:lpwstr/>
  </property>
  <property fmtid="{D5CDD505-2E9C-101B-9397-08002B2CF9AE}" pid="7" name="AuthorIds_UIVersion_3601">
    <vt:lpwstr>40</vt:lpwstr>
  </property>
  <property fmtid="{D5CDD505-2E9C-101B-9397-08002B2CF9AE}" pid="8" name="_ShortcutWebId">
    <vt:lpwstr/>
  </property>
  <property fmtid="{D5CDD505-2E9C-101B-9397-08002B2CF9AE}" pid="9" name="_ShortcutUniqueId">
    <vt:lpwstr/>
  </property>
  <property fmtid="{D5CDD505-2E9C-101B-9397-08002B2CF9AE}" pid="10" name="_ShortcutSiteId">
    <vt:lpwstr/>
  </property>
  <property fmtid="{D5CDD505-2E9C-101B-9397-08002B2CF9AE}" pid="11" name="Class">
    <vt:lpwstr/>
  </property>
  <property fmtid="{D5CDD505-2E9C-101B-9397-08002B2CF9AE}" pid="12" name="Model Component">
    <vt:lpwstr/>
  </property>
  <property fmtid="{D5CDD505-2E9C-101B-9397-08002B2CF9AE}" pid="13" name="_ShortcutUrl">
    <vt:lpwstr/>
  </property>
  <property fmtid="{D5CDD505-2E9C-101B-9397-08002B2CF9AE}" pid="14" name="Class Component">
    <vt:lpwstr/>
  </property>
</Properties>
</file>