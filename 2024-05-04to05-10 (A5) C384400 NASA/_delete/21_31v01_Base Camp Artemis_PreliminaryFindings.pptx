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6" r:id="rId5"/>
    <p:sldId id="1546" r:id="rId6"/>
    <p:sldId id="493" r:id="rId7"/>
    <p:sldId id="439" r:id="rId8"/>
    <p:sldId id="923" r:id="rId9"/>
    <p:sldId id="1026" r:id="rId10"/>
    <p:sldId id="1543" r:id="rId11"/>
    <p:sldId id="926" r:id="rId12"/>
    <p:sldId id="1548" r:id="rId13"/>
    <p:sldId id="887" r:id="rId14"/>
    <p:sldId id="888" r:id="rId15"/>
    <p:sldId id="889" r:id="rId16"/>
    <p:sldId id="890" r:id="rId17"/>
    <p:sldId id="891" r:id="rId18"/>
    <p:sldId id="892" r:id="rId19"/>
    <p:sldId id="894" r:id="rId20"/>
    <p:sldId id="895" r:id="rId21"/>
    <p:sldId id="896" r:id="rId22"/>
    <p:sldId id="897" r:id="rId23"/>
    <p:sldId id="898" r:id="rId24"/>
    <p:sldId id="899" r:id="rId25"/>
    <p:sldId id="900" r:id="rId26"/>
    <p:sldId id="901" r:id="rId27"/>
    <p:sldId id="902" r:id="rId28"/>
    <p:sldId id="903" r:id="rId29"/>
    <p:sldId id="904" r:id="rId30"/>
    <p:sldId id="906" r:id="rId31"/>
    <p:sldId id="907" r:id="rId32"/>
    <p:sldId id="29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66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een Harrison" initials="KH" lastIdx="5" clrIdx="0">
    <p:extLst>
      <p:ext uri="{19B8F6BF-5375-455C-9EA6-DF929625EA0E}">
        <p15:presenceInfo xmlns:p15="http://schemas.microsoft.com/office/powerpoint/2012/main" userId="S::kharrison@cmmiinstitute.com::066fb363-8edf-4a5b-8ebc-c72612b552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2D28E1-379B-4172-BB53-925003456F9C}" v="1" dt="2026-01-05T05:02:46.5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232" y="264"/>
      </p:cViewPr>
      <p:guideLst>
        <p:guide orient="horz" pos="572"/>
        <p:guide pos="66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anie Spies" userId="ef25dda8-0341-4aab-b4c7-f9ee53be8909" providerId="ADAL" clId="{58349FDB-4F03-45F7-9587-A31371CABC64}"/>
    <pc:docChg chg="custSel modSld modMainMaster">
      <pc:chgData name="Melanie Spies" userId="ef25dda8-0341-4aab-b4c7-f9ee53be8909" providerId="ADAL" clId="{58349FDB-4F03-45F7-9587-A31371CABC64}" dt="2026-01-05T05:02:46.530" v="39"/>
      <pc:docMkLst>
        <pc:docMk/>
      </pc:docMkLst>
      <pc:sldChg chg="modSp">
        <pc:chgData name="Melanie Spies" userId="ef25dda8-0341-4aab-b4c7-f9ee53be8909" providerId="ADAL" clId="{58349FDB-4F03-45F7-9587-A31371CABC64}" dt="2026-01-05T05:02:46.530" v="39"/>
        <pc:sldMkLst>
          <pc:docMk/>
          <pc:sldMk cId="2658625538" sldId="256"/>
        </pc:sldMkLst>
        <pc:graphicFrameChg chg="mod">
          <ac:chgData name="Melanie Spies" userId="ef25dda8-0341-4aab-b4c7-f9ee53be8909" providerId="ADAL" clId="{58349FDB-4F03-45F7-9587-A31371CABC64}" dt="2026-01-05T05:02:46.530" v="39"/>
          <ac:graphicFrameMkLst>
            <pc:docMk/>
            <pc:sldMk cId="2658625538" sldId="256"/>
            <ac:graphicFrameMk id="2" creationId="{7D6EF492-3AD5-420C-95A3-EF7381239FB7}"/>
          </ac:graphicFrameMkLst>
        </pc:graphicFrameChg>
        <pc:graphicFrameChg chg="mod">
          <ac:chgData name="Melanie Spies" userId="ef25dda8-0341-4aab-b4c7-f9ee53be8909" providerId="ADAL" clId="{58349FDB-4F03-45F7-9587-A31371CABC64}" dt="2026-01-05T05:02:46.530" v="39"/>
          <ac:graphicFrameMkLst>
            <pc:docMk/>
            <pc:sldMk cId="2658625538" sldId="256"/>
            <ac:graphicFrameMk id="9" creationId="{336609E4-9291-48F4-B53A-32D535DF0715}"/>
          </ac:graphicFrameMkLst>
        </pc:graphicFrameChg>
        <pc:graphicFrameChg chg="mod">
          <ac:chgData name="Melanie Spies" userId="ef25dda8-0341-4aab-b4c7-f9ee53be8909" providerId="ADAL" clId="{58349FDB-4F03-45F7-9587-A31371CABC64}" dt="2026-01-05T05:02:46.530" v="39"/>
          <ac:graphicFrameMkLst>
            <pc:docMk/>
            <pc:sldMk cId="2658625538" sldId="256"/>
            <ac:graphicFrameMk id="11" creationId="{6376B0D6-A6B1-4DF8-BDB4-D2848D89586A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D12530-4A8B-41BC-A28E-0663BC5734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BDF21-21FA-4508-B148-E15B854EE3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9E496-E8FF-4856-B08F-DBE14D18B23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1EC23-CDF3-4827-AE9E-C49A859BD4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02880-E203-4DFE-B721-9D7EB321BB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40B20-082D-4EEF-8BA5-D9F0CCFBD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869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2F63B-EF0F-9942-98B2-F67CC88AF23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13DA5-2DE0-6D49-B0F1-8E4B6A1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Information in this section should come from the appraisal plan. The idea here is not to duplicate the contents of the plan, but to provide a summary for the Appraisal Sponsor, and the personnel from the OU who will see these findings.</a:t>
            </a:r>
          </a:p>
          <a:p>
            <a:endParaRPr lang="en-US"/>
          </a:p>
          <a:p>
            <a:r>
              <a:rPr lang="en-US"/>
              <a:t>The ATL may add additional information to the final findings presentation, but this minimum content must be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20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919663"/>
            <a:ext cx="5680075" cy="4025900"/>
          </a:xfrm>
          <a:prstGeom prst="rect">
            <a:avLst/>
          </a:prstGeom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/>
              <a:t>Introduction. Also an opportunity to talk a bit about </a:t>
            </a:r>
            <a:r>
              <a:rPr lang="en-ZA" altLang="zh-CN" err="1"/>
              <a:t>Demix</a:t>
            </a:r>
            <a:endParaRPr lang="en-ZA" altLang="zh-CN"/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err="1"/>
              <a:t>Demix</a:t>
            </a:r>
            <a:r>
              <a:rPr lang="en-ZA" altLang="zh-CN"/>
              <a:t> has </a:t>
            </a:r>
            <a:r>
              <a:rPr lang="en-ZA" altLang="zh-CN" err="1"/>
              <a:t>LAs</a:t>
            </a:r>
            <a:r>
              <a:rPr lang="en-ZA" altLang="zh-CN"/>
              <a:t> from across the globe and performs appraisals around the world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/>
              <a:t>Demix is one of the largest CMMI services providers globally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/>
              <a:t>Demix also provide other citification services, such as ISO, COBIT, MAX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/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/>
              <a:t>It is a pleasure and honour to be here with you today. We are looking forward to work with you and your team over the coming days.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/>
              <a:t>早晨好。今天我很高興和榮幸來到這裡，我期待著在未來的几天里與您和您的團隊一起工作。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/>
          </a:p>
        </p:txBody>
      </p:sp>
    </p:spTree>
    <p:extLst>
      <p:ext uri="{BB962C8B-B14F-4D97-AF65-F5344CB8AC3E}">
        <p14:creationId xmlns:p14="http://schemas.microsoft.com/office/powerpoint/2010/main" val="3008295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9613" y="4856163"/>
            <a:ext cx="5680075" cy="4600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84" tIns="49492" rIns="98984" bIns="49492"/>
          <a:lstStyle/>
          <a:p>
            <a:r>
              <a:rPr lang="en-ZA" altLang="zh-CN"/>
              <a:t>1, what ever you share</a:t>
            </a:r>
            <a:r>
              <a:rPr lang="en-ZA" altLang="zh-CN" baseline="0"/>
              <a:t> is confidential with the ATM’s and </a:t>
            </a:r>
          </a:p>
          <a:p>
            <a:r>
              <a:rPr lang="en-ZA" altLang="zh-CN" baseline="0"/>
              <a:t>2, non – your name will not appear in any reports        </a:t>
            </a:r>
          </a:p>
          <a:p>
            <a:r>
              <a:rPr lang="en-ZA" altLang="zh-CN" baseline="0"/>
              <a:t>collaboratively – we have representation from your side as well as ours  last at the end there are always weaknesses and from there an improvement action is always undertaken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65418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91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3863" y="292100"/>
            <a:ext cx="6362700" cy="35798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194" y="4620205"/>
            <a:ext cx="5852814" cy="37808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E611DA0-981B-B047-981C-E490A72360DD}" type="slidenum">
              <a:rPr lang="en-US" altLang="en-US" sz="1200" b="0">
                <a:solidFill>
                  <a:schemeClr val="tx1"/>
                </a:solidFill>
              </a:rPr>
              <a:pPr/>
              <a:t>29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231775"/>
            <a:ext cx="4959350" cy="2790825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3098800"/>
            <a:ext cx="6075363" cy="557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2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8DBD-6861-9443-ABFC-B68F7FC4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8EBE0-674E-E14C-BF5A-2277457EB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9444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82D3-B5B2-604E-8894-27346F937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0509"/>
            <a:ext cx="10397836" cy="602284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33C6-B055-6244-B86B-3C81D067D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962" y="1645919"/>
            <a:ext cx="10397837" cy="45310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04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0A10-6417-4845-A710-C912A19B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E0AD3-2F11-2548-A8B7-E12BBE4F4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15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988F-4DD4-B34F-ACAA-8CEF3DD3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5F42-98CE-024C-AE1D-1D828A0A6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2D5B5-C925-D342-A0BB-7B5AC4381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84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AFD3-29DE-9349-A0DA-3033DCE9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6B9A2-28E2-FC4E-BB3E-D80D55842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8654B-5FDB-DE43-BE9E-C62E6CC2A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11820-D9F0-F84A-8BA7-C696340CA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82BB8-18EA-6F4F-AC36-5A96594F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882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C732-D1A0-3345-8796-9B608802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831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73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CDD0-C745-004E-BBC9-C79A3ABA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35FFB-2029-4641-A69B-2EB72A22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37B1C-5062-C644-8590-D10E966CE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94312"/>
            <a:ext cx="3932237" cy="35746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612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1DDE-5CF8-9147-A11B-0EFC6B81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F5909-A9FE-7341-A8D9-1CB7D35C5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37FC7-DD0D-6141-93DD-4C2B36A2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02624"/>
            <a:ext cx="3932237" cy="35663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86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61E6-C672-9B40-B472-25BC7EE6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E2238-F94B-2141-B1ED-7911EB86C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0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CBEBA-2D10-D04A-9561-8952D30E1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97525"/>
            <a:ext cx="2628900" cy="51794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68D5F-AEB5-1240-BFCF-EF0B50707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527"/>
            <a:ext cx="7734300" cy="517943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316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 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299" y="907750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E75C74-DD57-384F-B628-ADA3B172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63040"/>
            <a:ext cx="11265408" cy="1572768"/>
          </a:xfrm>
        </p:spPr>
        <p:txBody>
          <a:bodyPr/>
          <a:lstStyle>
            <a:lvl3pPr marL="914400" indent="0"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2990088"/>
            <a:ext cx="11265408" cy="3097485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Strengths: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Weaknesses: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Notes: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26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_Additional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916063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1463040"/>
            <a:ext cx="11265408" cy="4417807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&lt;Additional Findings&gt;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2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58735"/>
            <a:ext cx="10363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68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E2FE11-7EFA-4C7B-A5E5-4A66E770BA9E}"/>
              </a:ext>
            </a:extLst>
          </p:cNvPr>
          <p:cNvSpPr/>
          <p:nvPr userDrawn="1"/>
        </p:nvSpPr>
        <p:spPr>
          <a:xfrm>
            <a:off x="0" y="0"/>
            <a:ext cx="12192000" cy="908049"/>
          </a:xfrm>
          <a:prstGeom prst="rect">
            <a:avLst/>
          </a:prstGeom>
          <a:gradFill flip="none" rotWithShape="1">
            <a:gsLst>
              <a:gs pos="0">
                <a:srgbClr val="004D8A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DA56B-DFD6-9B40-BB39-797690CA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8049"/>
            <a:ext cx="10515600" cy="782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AD0E0-2188-A543-BA66-C44F0D724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D14D-7206-614E-9BDE-7A2B1DCC8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715B51E-F992-4C20-A31E-2C828A5DAA5F}"/>
              </a:ext>
            </a:extLst>
          </p:cNvPr>
          <p:cNvSpPr txBox="1">
            <a:spLocks/>
          </p:cNvSpPr>
          <p:nvPr userDrawn="1"/>
        </p:nvSpPr>
        <p:spPr>
          <a:xfrm>
            <a:off x="8229600" y="6403975"/>
            <a:ext cx="3735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© ISACA 2025. All Rights Reserved.​</a:t>
            </a:r>
            <a:r>
              <a:rPr lang="en-US"/>
              <a:t>  |  </a:t>
            </a:r>
            <a:fld id="{85F78CEA-3B00-9E49-94E0-DC9AF1E86765}" type="slidenum">
              <a:rPr lang="en-US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7B859E-7AE1-42C5-91B0-C99C8B2E80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82469" y="6358332"/>
            <a:ext cx="1371600" cy="363143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4039BE4B-7FAE-4D96-AE72-33674D67ECB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8280" b="89809" l="7505" r="89452">
                        <a14:foregroundMark x1="11765" y1="60510" x2="22110" y2="29936"/>
                        <a14:foregroundMark x1="15416" y1="18471" x2="13793" y2="61783"/>
                        <a14:foregroundMark x1="8722" y1="29936" x2="9331" y2="54140"/>
                        <a14:foregroundMark x1="7911" y1="33121" x2="9331" y2="56051"/>
                        <a14:foregroundMark x1="7505" y1="43949" x2="10345" y2="57962"/>
                        <a14:foregroundMark x1="7911" y1="51592" x2="7911" y2="51592"/>
                        <a14:foregroundMark x1="8316" y1="53503" x2="8316" y2="54140"/>
                        <a14:foregroundMark x1="9128" y1="57325" x2="9128" y2="57325"/>
                        <a14:foregroundMark x1="22718" y1="25478" x2="22718" y2="25478"/>
                        <a14:foregroundMark x1="7302" y1="76433" x2="9533" y2="75796"/>
                        <a14:foregroundMark x1="35953" y1="33121" x2="37728" y2="29936"/>
                        <a14:foregroundMark x1="47606" y1="56051" x2="47059" y2="61783"/>
                        <a14:foregroundMark x1="47667" y1="55414" x2="47606" y2="56051"/>
                        <a14:foregroundMark x1="47728" y1="54777" x2="47667" y2="55414"/>
                        <a14:foregroundMark x1="48276" y1="49045" x2="47728" y2="54777"/>
                        <a14:foregroundMark x1="56998" y1="61783" x2="67140" y2="61783"/>
                        <a14:foregroundMark x1="75254" y1="36943" x2="75254" y2="59236"/>
                        <a14:foregroundMark x1="74848" y1="25478" x2="74848" y2="25478"/>
                        <a14:foregroundMark x1="82556" y1="41401" x2="87424" y2="61783"/>
                        <a14:foregroundMark x1="58824" y1="59873" x2="58824" y2="59873"/>
                        <a14:foregroundMark x1="59026" y1="60510" x2="59026" y2="60510"/>
                        <a14:foregroundMark x1="58824" y1="61783" x2="58824" y2="61783"/>
                        <a14:foregroundMark x1="59229" y1="60510" x2="59229" y2="60510"/>
                        <a14:foregroundMark x1="59229" y1="60510" x2="59229" y2="60510"/>
                        <a14:foregroundMark x1="8316" y1="29936" x2="22515" y2="59873"/>
                        <a14:foregroundMark x1="22515" y1="59873" x2="8316" y2="29299"/>
                        <a14:foregroundMark x1="8316" y1="73885" x2="9128" y2="72611"/>
                        <a14:foregroundMark x1="30020" y1="47771" x2="30020" y2="47771"/>
                        <a14:foregroundMark x1="34280" y1="38854" x2="34280" y2="38854"/>
                        <a14:foregroundMark x1="34686" y1="44586" x2="34686" y2="44586"/>
                        <a14:foregroundMark x1="34888" y1="44586" x2="34888" y2="44586"/>
                        <a14:foregroundMark x1="34888" y1="45860" x2="34888" y2="45860"/>
                        <a14:foregroundMark x1="34888" y1="42038" x2="34888" y2="42038"/>
                        <a14:foregroundMark x1="34888" y1="32484" x2="34888" y2="32484"/>
                        <a14:foregroundMark x1="34888" y1="34395" x2="34888" y2="34395"/>
                        <a14:foregroundMark x1="34888" y1="33758" x2="34686" y2="46497"/>
                        <a14:foregroundMark x1="34686" y1="33121" x2="34888" y2="36306"/>
                        <a14:foregroundMark x1="34888" y1="45860" x2="34888" y2="47134"/>
                        <a14:foregroundMark x1="34888" y1="47771" x2="35091" y2="48408"/>
                        <a14:backgroundMark x1="47262" y1="54777" x2="47262" y2="54777"/>
                        <a14:backgroundMark x1="47870" y1="54777" x2="47870" y2="54777"/>
                        <a14:backgroundMark x1="47667" y1="55414" x2="47667" y2="55414"/>
                        <a14:backgroundMark x1="47465" y1="56051" x2="47465" y2="56051"/>
                        <a14:backgroundMark x1="59838" y1="61783" x2="59838" y2="61783"/>
                        <a14:backgroundMark x1="59635" y1="60510" x2="59635" y2="60510"/>
                        <a14:backgroundMark x1="59635" y1="61783" x2="59635" y2="61783"/>
                        <a14:backgroundMark x1="65517" y1="55414" x2="65517" y2="55414"/>
                        <a14:backgroundMark x1="65517" y1="61146" x2="65517" y2="61146"/>
                        <a14:backgroundMark x1="65517" y1="61783" x2="65517" y2="61783"/>
                        <a14:backgroundMark x1="65517" y1="61146" x2="65517" y2="61146"/>
                        <a14:backgroundMark x1="65517" y1="61783" x2="65517" y2="61783"/>
                        <a14:backgroundMark x1="65314" y1="61146" x2="65314" y2="61146"/>
                        <a14:backgroundMark x1="59432" y1="61146" x2="59432" y2="61146"/>
                        <a14:backgroundMark x1="8722" y1="71975" x2="8722" y2="71975"/>
                        <a14:backgroundMark x1="9331" y1="71975" x2="9331" y2="71975"/>
                        <a14:backgroundMark x1="9128" y1="71975" x2="9128" y2="71975"/>
                        <a14:backgroundMark x1="8114" y1="72611" x2="8114" y2="72611"/>
                        <a14:backgroundMark x1="35091" y1="48409" x2="35091" y2="503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258" y="21957"/>
            <a:ext cx="2748742" cy="908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7164027-697A-4253-8B65-BBBC5DAB0269}"/>
              </a:ext>
            </a:extLst>
          </p:cNvPr>
          <p:cNvSpPr txBox="1"/>
          <p:nvPr userDrawn="1"/>
        </p:nvSpPr>
        <p:spPr>
          <a:xfrm>
            <a:off x="10316993" y="614825"/>
            <a:ext cx="1610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100">
                <a:solidFill>
                  <a:schemeClr val="bg1"/>
                </a:solidFill>
              </a:rPr>
              <a:t>Create | Evolve | Perfect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270D06-440C-4CC1-B029-90833AC8221F}"/>
              </a:ext>
            </a:extLst>
          </p:cNvPr>
          <p:cNvSpPr txBox="1"/>
          <p:nvPr userDrawn="1"/>
        </p:nvSpPr>
        <p:spPr>
          <a:xfrm>
            <a:off x="11832867" y="533486"/>
            <a:ext cx="33392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00" b="1">
                <a:solidFill>
                  <a:schemeClr val="bg1"/>
                </a:solidFill>
              </a:rPr>
              <a:t>TM</a:t>
            </a:r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B5B58F14-6E35-6EDF-FA19-DB9B865691BC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-87545" y="-61143"/>
            <a:ext cx="3667507" cy="103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51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oleObject" Target="https://demix365.sharepoint.com/sites/DemixGlobal/Shared%20Documents/10_BASE/2024-05-04to05-10%20(A5)%20C384400%20NASA/00_Data_Reference.xlsm!pptxCover!R4C2:R12C2" TargetMode="External"/><Relationship Id="rId1" Type="http://schemas.openxmlformats.org/officeDocument/2006/relationships/slideLayout" Target="../slideLayouts/slideLayout1.xml"/><Relationship Id="rId6" Type="http://schemas.openxmlformats.org/officeDocument/2006/relationships/oleObject" Target="https://demix365.sharepoint.com/sites/DemixGlobal/Shared%20Documents/10_BASE/2024-05-04to05-10%20(A5)%20C384400%20NASA/00_Data_Reference.xlsm!pptxCover!R21C2" TargetMode="External"/><Relationship Id="rId5" Type="http://schemas.openxmlformats.org/officeDocument/2006/relationships/image" Target="../media/image5.emf"/><Relationship Id="rId4" Type="http://schemas.openxmlformats.org/officeDocument/2006/relationships/oleObject" Target="https://demix365.sharepoint.com/sites/DemixGlobal/Shared%20Documents/10_BASE/2024-05-04to05-10%20(A5)%20C384400%20NASA/00_Data_Reference.xlsm!pptxCover!R15C2:R17C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image" Target="../media/image15.png"/><Relationship Id="rId24" Type="http://schemas.openxmlformats.org/officeDocument/2006/relationships/image" Target="../media/image28.jpeg"/><Relationship Id="rId5" Type="http://schemas.openxmlformats.org/officeDocument/2006/relationships/image" Target="../media/image9.gif"/><Relationship Id="rId15" Type="http://schemas.openxmlformats.org/officeDocument/2006/relationships/image" Target="../media/image19.png"/><Relationship Id="rId23" Type="http://schemas.openxmlformats.org/officeDocument/2006/relationships/image" Target="../media/image27.jpe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gif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60CCB3-17E5-4DE9-9235-B3AD912C038A}"/>
              </a:ext>
            </a:extLst>
          </p:cNvPr>
          <p:cNvSpPr txBox="1">
            <a:spLocks/>
          </p:cNvSpPr>
          <p:nvPr/>
        </p:nvSpPr>
        <p:spPr>
          <a:xfrm>
            <a:off x="1524000" y="922975"/>
            <a:ext cx="9144000" cy="8989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Preliminary Findings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6609E4-9291-48F4-B53A-32D535DF0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83582"/>
              </p:ext>
            </p:extLst>
          </p:nvPr>
        </p:nvGraphicFramePr>
        <p:xfrm>
          <a:off x="3321050" y="2047875"/>
          <a:ext cx="55499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5302139" imgH="2927262" progId="Excel.SheetMacroEnabled.12">
                  <p:link updateAutomatic="1"/>
                </p:oleObj>
              </mc:Choice>
              <mc:Fallback>
                <p:oleObj name="Macro-Enabled Worksheet" r:id="rId2" imgW="5302139" imgH="2927262" progId="Excel.SheetMacroEnabled.12">
                  <p:link updateAutomatic="1"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36609E4-9291-48F4-B53A-32D535DF0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21050" y="2047875"/>
                        <a:ext cx="5549900" cy="289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376B0D6-A6B1-4DF8-BDB4-D2848D8958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58443"/>
              </p:ext>
            </p:extLst>
          </p:nvPr>
        </p:nvGraphicFramePr>
        <p:xfrm>
          <a:off x="3321050" y="5384800"/>
          <a:ext cx="55499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" imgW="5302139" imgH="666881" progId="Excel.SheetMacroEnabled.12">
                  <p:link updateAutomatic="1"/>
                </p:oleObj>
              </mc:Choice>
              <mc:Fallback>
                <p:oleObj name="Macro-Enabled Worksheet" r:id="rId4" imgW="5302139" imgH="666881" progId="Excel.SheetMacroEnabled.12">
                  <p:link updateAutomatic="1"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6376B0D6-A6B1-4DF8-BDB4-D2848D8958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21050" y="5384800"/>
                        <a:ext cx="5549900" cy="657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D6EF492-3AD5-420C-95A3-EF7381239F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613222"/>
              </p:ext>
            </p:extLst>
          </p:nvPr>
        </p:nvGraphicFramePr>
        <p:xfrm>
          <a:off x="3444875" y="5108575"/>
          <a:ext cx="5302250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6" imgW="5302139" imgH="273138" progId="Excel.SheetMacroEnabled.12">
                  <p:link updateAutomatic="1"/>
                </p:oleObj>
              </mc:Choice>
              <mc:Fallback>
                <p:oleObj name="Macro-Enabled Worksheet" r:id="rId6" imgW="5302139" imgH="273138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7D6EF492-3AD5-420C-95A3-EF7381239F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44875" y="5108575"/>
                        <a:ext cx="5302250" cy="273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862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629AD6-E198-3A47-A696-9DF21F27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+mn-lt"/>
              </a:rPr>
              <a:t>Appraisal Overview </a:t>
            </a:r>
            <a:br>
              <a:rPr lang="en-US" b="1">
                <a:latin typeface="+mn-lt"/>
              </a:rPr>
            </a:br>
            <a:r>
              <a:rPr lang="zh-CN" altLang="en-US" sz="6000" b="1">
                <a:solidFill>
                  <a:srgbClr val="1F497D"/>
                </a:solidFill>
                <a:latin typeface="+mn-ea"/>
                <a:ea typeface="+mn-ea"/>
              </a:rPr>
              <a:t>评估概述</a:t>
            </a:r>
            <a:endParaRPr lang="en-US" b="1">
              <a:solidFill>
                <a:srgbClr val="1F497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8322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 descr="http://eurasiangroup.org/clones/photos/photo3/Flag_China.gif">
            <a:extLst>
              <a:ext uri="{FF2B5EF4-FFF2-40B4-BE49-F238E27FC236}">
                <a16:creationId xmlns:a16="http://schemas.microsoft.com/office/drawing/2014/main" id="{0DB3A38A-CE0C-488A-B87F-37FFDD2E1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579" y="1038146"/>
            <a:ext cx="1080000" cy="643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https://www.cia.gov/library/publications/the-world-factbook/graphics/flags/large/sf-lgflag.gif">
            <a:extLst>
              <a:ext uri="{FF2B5EF4-FFF2-40B4-BE49-F238E27FC236}">
                <a16:creationId xmlns:a16="http://schemas.microsoft.com/office/drawing/2014/main" id="{5804FC85-67E1-4C1D-A768-A4E046E7F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863" y="2641935"/>
            <a:ext cx="1080000" cy="706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diabetesmine.com/wp-content/uploads/2011/02/spain-flag.gif">
            <a:extLst>
              <a:ext uri="{FF2B5EF4-FFF2-40B4-BE49-F238E27FC236}">
                <a16:creationId xmlns:a16="http://schemas.microsoft.com/office/drawing/2014/main" id="{5D685488-5751-4610-AE1F-6A7C4BE39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18" y="1849451"/>
            <a:ext cx="1080000" cy="644357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http://1.bp.blogspot.com/-dCG_ru9E2jY/Twy2lX1A4MI/AAAAAAABCVQ/sk5d4dhnIhM/s1600/Switzerland_Flag.jpg">
            <a:extLst>
              <a:ext uri="{FF2B5EF4-FFF2-40B4-BE49-F238E27FC236}">
                <a16:creationId xmlns:a16="http://schemas.microsoft.com/office/drawing/2014/main" id="{1CCB6A1E-9C8F-4CF7-8854-7EAED2AC6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456" y="1844427"/>
            <a:ext cx="1080000" cy="649614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8">
            <a:extLst>
              <a:ext uri="{FF2B5EF4-FFF2-40B4-BE49-F238E27FC236}">
                <a16:creationId xmlns:a16="http://schemas.microsoft.com/office/drawing/2014/main" id="{906DB6B8-FB70-49A9-90A8-CE08CF7A3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111" y="2655335"/>
            <a:ext cx="1080000" cy="695098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9E41C9-1208-4F5B-9B72-C350895017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0113" y="1041906"/>
            <a:ext cx="1080000" cy="62985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9" name="Picture 48" descr="http://www.onlinenewspapers.com/images/germany.gif">
            <a:extLst>
              <a:ext uri="{FF2B5EF4-FFF2-40B4-BE49-F238E27FC236}">
                <a16:creationId xmlns:a16="http://schemas.microsoft.com/office/drawing/2014/main" id="{3F300468-6315-4AAF-9348-32BCBBA8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7" y="1038146"/>
            <a:ext cx="1080000" cy="6430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722CF4D-7FE1-45B8-81FB-B3A16FBB59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402" y="1047201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1" name="Picture 50" descr="A close up of a logo&#10;&#10;Description automatically generated">
            <a:extLst>
              <a:ext uri="{FF2B5EF4-FFF2-40B4-BE49-F238E27FC236}">
                <a16:creationId xmlns:a16="http://schemas.microsoft.com/office/drawing/2014/main" id="{71E22DBF-B29C-4402-8AEA-178EA306352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663" y="1054688"/>
            <a:ext cx="1080000" cy="63556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9C0948D-3FA9-4C7F-8D52-47741C98F9D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87402" y="2651707"/>
            <a:ext cx="1080000" cy="70636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4" name="Picture 2" descr="Flag of the United Arab Emirates.svg">
            <a:extLst>
              <a:ext uri="{FF2B5EF4-FFF2-40B4-BE49-F238E27FC236}">
                <a16:creationId xmlns:a16="http://schemas.microsoft.com/office/drawing/2014/main" id="{F3617B43-1542-4F3C-956C-3E408F634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6" y="1839721"/>
            <a:ext cx="1080000" cy="6430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India - Wikipedia">
            <a:extLst>
              <a:ext uri="{FF2B5EF4-FFF2-40B4-BE49-F238E27FC236}">
                <a16:creationId xmlns:a16="http://schemas.microsoft.com/office/drawing/2014/main" id="{2850122E-32F6-40C4-AEC8-C4B0EC34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11" y="2644070"/>
            <a:ext cx="1080000" cy="706364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EF7BC6-DE2A-1BA8-D162-418AA6F248B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53377" y="1047201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91D709-B59F-05B8-0708-2944651EA14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62529" y="1870870"/>
            <a:ext cx="1080000" cy="64435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5B9EE7-D463-5A58-9C5D-FBEAF1BD6F1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9663" y="1849629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6B6DC8-AFD9-1013-CFA4-A5009EC830E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0111" y="1849629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D91F97-81EF-55DD-1241-7E663D88BFFB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b="6395"/>
          <a:stretch/>
        </p:blipFill>
        <p:spPr>
          <a:xfrm>
            <a:off x="6694728" y="1040336"/>
            <a:ext cx="1080000" cy="656775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4F9AAA-F25B-7B38-EE7D-9D1B63F7470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25456" y="2644070"/>
            <a:ext cx="1080000" cy="706364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5A4E54-8846-BE30-E77E-8EA0B484170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83311" y="1839722"/>
            <a:ext cx="1080000" cy="656775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CB425F2D-C583-0A76-4E83-380A21373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399" y="3912730"/>
            <a:ext cx="807720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GB" altLang="zh-CN" sz="2000">
                <a:latin typeface="+mn-lt"/>
              </a:rPr>
              <a:t>It has been a pleasure working with you. </a:t>
            </a:r>
          </a:p>
          <a:p>
            <a:pPr algn="ctr" eaLnBrk="1" hangingPunct="1"/>
            <a:r>
              <a:rPr lang="en-GB" altLang="zh-CN" sz="2000">
                <a:latin typeface="+mn-lt"/>
              </a:rPr>
              <a:t>We look forward to present the preliminary findings for your validation.</a:t>
            </a:r>
          </a:p>
          <a:p>
            <a:pPr algn="ctr" eaLnBrk="1" hangingPunct="1"/>
            <a:r>
              <a:rPr lang="zh-CN" altLang="en-US" sz="20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很荣幸这段时间与您共事，现在向您展示初步结果，供您确认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2945E9-2F57-4420-BA56-8960D3908F35}"/>
              </a:ext>
            </a:extLst>
          </p:cNvPr>
          <p:cNvSpPr txBox="1"/>
          <p:nvPr/>
        </p:nvSpPr>
        <p:spPr>
          <a:xfrm>
            <a:off x="10628572" y="1054688"/>
            <a:ext cx="1356866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rgbClr val="FF0000"/>
                </a:solidFill>
              </a:rPr>
              <a:t>Registered PRC trademark</a:t>
            </a:r>
          </a:p>
          <a:p>
            <a:pPr algn="ctr"/>
            <a:r>
              <a:rPr lang="en-US" sz="1400" b="1">
                <a:solidFill>
                  <a:srgbClr val="FF0000"/>
                </a:solidFill>
              </a:rPr>
              <a:t>21050449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83F363-8032-AE88-2810-0BA8D55C91D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64245" y="2657268"/>
            <a:ext cx="1080000" cy="70094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050" name="Picture 2" descr="Flag of Costa Rica | Meaning, Colors &amp; History | Britannica">
            <a:extLst>
              <a:ext uri="{FF2B5EF4-FFF2-40B4-BE49-F238E27FC236}">
                <a16:creationId xmlns:a16="http://schemas.microsoft.com/office/drawing/2014/main" id="{53CD89D5-7FF2-D96B-EA13-4AAF73954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911" y="2641935"/>
            <a:ext cx="1080000" cy="676193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picture containing clipart&#10;&#10;Description automatically generated">
            <a:extLst>
              <a:ext uri="{FF2B5EF4-FFF2-40B4-BE49-F238E27FC236}">
                <a16:creationId xmlns:a16="http://schemas.microsoft.com/office/drawing/2014/main" id="{1B3989FE-3028-FF2B-D37A-1990518110A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3" b="22290"/>
          <a:stretch/>
        </p:blipFill>
        <p:spPr>
          <a:xfrm>
            <a:off x="3148202" y="5407792"/>
            <a:ext cx="1734754" cy="5976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6F1108-D344-6696-70BF-A32A4E180A7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080336" y="5261771"/>
            <a:ext cx="2031326" cy="101566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4" name="Picture 13" descr="A close up of a logo&#10;&#10;AI-generated content may be incorrect.">
            <a:extLst>
              <a:ext uri="{FF2B5EF4-FFF2-40B4-BE49-F238E27FC236}">
                <a16:creationId xmlns:a16="http://schemas.microsoft.com/office/drawing/2014/main" id="{1FEF2F0E-3866-3AE6-2001-6F186930616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37473" y="5144159"/>
            <a:ext cx="4269532" cy="119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053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84020" y="995024"/>
            <a:ext cx="7772400" cy="609600"/>
          </a:xfrm>
          <a:noFill/>
        </p:spPr>
        <p:txBody>
          <a:bodyPr vert="horz" wrap="none" lIns="90488" tIns="44450" rIns="90488" bIns="44450" rtlCol="0" anchor="ctr">
            <a:normAutofit/>
          </a:bodyPr>
          <a:lstStyle/>
          <a:p>
            <a:pPr algn="l" eaLnBrk="1" hangingPunct="1">
              <a:lnSpc>
                <a:spcPct val="85000"/>
              </a:lnSpc>
            </a:pPr>
            <a:r>
              <a:rPr lang="en-US" altLang="zh-CN">
                <a:latin typeface="Arial" charset="0"/>
              </a:rPr>
              <a:t>Appraisal Principles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055688" y="1848439"/>
            <a:ext cx="7772400" cy="3809248"/>
          </a:xfrm>
        </p:spPr>
        <p:txBody>
          <a:bodyPr vert="horz" lIns="63500" tIns="25400" rIns="63500" bIns="25400" rtlCol="0">
            <a:spAutoFit/>
          </a:bodyPr>
          <a:lstStyle/>
          <a:p>
            <a:r>
              <a:rPr lang="en-ZA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Start with a process framework</a:t>
            </a:r>
            <a:endParaRPr lang="en-ZA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ZA" sz="180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以一个过程框架作为开始</a:t>
            </a:r>
            <a:endParaRPr lang="en-ZA" sz="180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Observe strict confidentiality and non-attribution</a:t>
            </a:r>
            <a:endParaRPr lang="en-ZA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ZA" sz="180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严格遵循保密性和不归因性</a:t>
            </a:r>
            <a:endParaRPr lang="en-ZA" sz="180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Involve senior management as appraisal sponsor</a:t>
            </a:r>
            <a:endParaRPr lang="en-ZA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ZA" sz="180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把高层作为评估发起人</a:t>
            </a:r>
            <a:endParaRPr lang="en-ZA" sz="180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Approach appraisal collaboratively to the extent possible</a:t>
            </a:r>
            <a:endParaRPr lang="en-ZA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ZA" sz="180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评估需要协调合作进行</a:t>
            </a:r>
            <a:endParaRPr lang="en-ZA" sz="180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Focus on action</a:t>
            </a:r>
            <a:endParaRPr lang="en-ZA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ZA" sz="180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关注行动</a:t>
            </a:r>
            <a:endParaRPr lang="en-ZA" sz="180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FB86F-F314-2808-D124-99FF9729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5811" y="1295264"/>
            <a:ext cx="9040378" cy="4632289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E4158602-CE03-D865-8B96-7884DB0F17A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0228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E2C5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500" b="1">
                <a:latin typeface="+mn-lt"/>
                <a:ea typeface="ＭＳ Ｐゴシック" charset="-128"/>
              </a:rPr>
              <a:t>CMMI</a:t>
            </a:r>
            <a:r>
              <a:rPr lang="en-US" altLang="en-US">
                <a:ea typeface="ＭＳ Ｐゴシック" charset="-128"/>
              </a:rPr>
              <a:t> </a:t>
            </a:r>
            <a:r>
              <a:rPr lang="en-US" altLang="en-US" sz="3500" b="1">
                <a:latin typeface="+mn-lt"/>
                <a:ea typeface="ＭＳ Ｐゴシック" charset="-128"/>
              </a:rPr>
              <a:t>Appraisal Process – Appraisal Phases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BEEC40-A488-4359-91B1-DFB6493F931D}"/>
              </a:ext>
            </a:extLst>
          </p:cNvPr>
          <p:cNvSpPr/>
          <p:nvPr/>
        </p:nvSpPr>
        <p:spPr>
          <a:xfrm>
            <a:off x="4370615" y="3841323"/>
            <a:ext cx="1371600" cy="96394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13447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About Preliminary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sz="1800"/>
              <a:t>These are the preliminary findings. They are not the final findings. We encourage you to provide feedback on what is presented.</a:t>
            </a:r>
            <a:br>
              <a:rPr lang="en-ZA" sz="1800"/>
            </a:b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我们现在所进行的是初步发现，还没有到最终发布阶段，</a:t>
            </a:r>
            <a:r>
              <a:rPr lang="zh-CN" altLang="ja-JP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欢迎你们对</a:t>
            </a: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发现</a:t>
            </a:r>
            <a:r>
              <a:rPr lang="zh-CN" altLang="ja-JP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提供反馈</a:t>
            </a:r>
          </a:p>
          <a:p>
            <a:r>
              <a:rPr lang="en-ZA" sz="1800"/>
              <a:t>It is recommended that the presenter reads the findings verbatim.</a:t>
            </a:r>
            <a:br>
              <a:rPr lang="en-ZA" sz="1800"/>
            </a:br>
            <a:r>
              <a:rPr lang="zh-CN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建议演讲者逐字逐句子表达调查发现的内容</a:t>
            </a:r>
          </a:p>
          <a:p>
            <a:r>
              <a:rPr lang="en-ZA" sz="1800"/>
              <a:t>The appraisal team CANNOT commit to making changes, we will collect your input and evaluate it after the presentation.</a:t>
            </a:r>
            <a:br>
              <a:rPr lang="en-ZA" sz="1800"/>
            </a:b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评估小组成员不能</a:t>
            </a:r>
            <a:r>
              <a:rPr lang="zh-CN" altLang="ja-JP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向你们</a:t>
            </a: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承诺对发现进行修改，我们会把你们的反馈记录下来</a:t>
            </a:r>
          </a:p>
          <a:p>
            <a:r>
              <a:rPr lang="en-ZA" sz="1800"/>
              <a:t>Confidentiality and non-attribution remain in effect.</a:t>
            </a:r>
            <a:br>
              <a:rPr lang="en-ZA" sz="1800"/>
            </a:b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保密原则和</a:t>
            </a:r>
            <a:r>
              <a:rPr lang="zh-CN" altLang="ja-JP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非归因</a:t>
            </a: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原则依然有效</a:t>
            </a:r>
          </a:p>
          <a:p>
            <a:r>
              <a:rPr lang="en-ZA" sz="1800"/>
              <a:t>Strengths are only noted if they are significant strengths.</a:t>
            </a:r>
            <a:br>
              <a:rPr lang="en-ZA" sz="1800"/>
            </a:b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只有发现特别</a:t>
            </a:r>
            <a:r>
              <a:rPr lang="zh-CN" altLang="ja-JP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明显</a:t>
            </a: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的强项时才会反映出来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8F63-43DB-4D03-99F8-9DDEC68E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Virtual appraisals – code of conduct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612D-EFDE-4142-8FD5-20FE5144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562793"/>
            <a:ext cx="10397837" cy="4531043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600"/>
              <a:t>When virtual interviews are planned for the appraisal, then virtual face-to-face (</a:t>
            </a:r>
            <a:r>
              <a:rPr lang="en-GB" sz="1600" err="1"/>
              <a:t>F2F</a:t>
            </a:r>
            <a:r>
              <a:rPr lang="en-GB" sz="1600"/>
              <a:t>) interviews are required to confirm the following:</a:t>
            </a:r>
          </a:p>
          <a:p>
            <a:pPr>
              <a:spcBef>
                <a:spcPts val="300"/>
              </a:spcBef>
            </a:pPr>
            <a:r>
              <a:rPr lang="en-GB" sz="1600"/>
              <a:t>Verifying interviewees are on camera</a:t>
            </a:r>
          </a:p>
          <a:p>
            <a:pPr>
              <a:spcBef>
                <a:spcPts val="300"/>
              </a:spcBef>
            </a:pPr>
            <a:r>
              <a:rPr lang="en-GB" sz="1600"/>
              <a:t>Verifying ATM identities and maximizing their participation</a:t>
            </a:r>
          </a:p>
          <a:p>
            <a:pPr>
              <a:spcBef>
                <a:spcPts val="300"/>
              </a:spcBef>
            </a:pPr>
            <a:r>
              <a:rPr lang="en-GB" sz="1600"/>
              <a:t>Verifying appraisal participant identities, e.g., interviewees, Appraisal Sponsor</a:t>
            </a:r>
          </a:p>
          <a:p>
            <a:pPr>
              <a:spcBef>
                <a:spcPts val="300"/>
              </a:spcBef>
            </a:pPr>
            <a:r>
              <a:rPr lang="en-GB" sz="1600"/>
              <a:t>Verifying only planned appraisal participants are present</a:t>
            </a:r>
          </a:p>
          <a:p>
            <a:pPr>
              <a:spcBef>
                <a:spcPts val="300"/>
              </a:spcBef>
            </a:pPr>
            <a:r>
              <a:rPr lang="en-GB" sz="1600"/>
              <a:t>Verifying that non-attribution and confidentiality rules are being followed, e.g., no other participants are present, physical setting is appropriate</a:t>
            </a:r>
          </a:p>
          <a:p>
            <a:pPr>
              <a:spcBef>
                <a:spcPts val="300"/>
              </a:spcBef>
            </a:pPr>
            <a:r>
              <a:rPr lang="en-GB" sz="1600"/>
              <a:t>Monitoring non-verbal communication and appraisal participant engagement</a:t>
            </a:r>
          </a:p>
          <a:p>
            <a:pPr marL="0" indent="0">
              <a:spcBef>
                <a:spcPts val="300"/>
              </a:spcBef>
              <a:buNone/>
            </a:pPr>
            <a:endParaRPr lang="en-ZA" sz="1600"/>
          </a:p>
          <a:p>
            <a:pPr marL="0" indent="0">
              <a:spcBef>
                <a:spcPts val="300"/>
              </a:spcBef>
              <a:buNone/>
            </a:pPr>
            <a:r>
              <a:rPr lang="zh-CN" altLang="en-US" sz="1600">
                <a:solidFill>
                  <a:srgbClr val="1F497D"/>
                </a:solidFill>
              </a:rPr>
              <a:t>当计划进行虚拟面试以进行评估时，需要进行虚拟面对面（</a:t>
            </a:r>
            <a:r>
              <a:rPr lang="en-US" altLang="zh-CN" sz="1600" err="1">
                <a:solidFill>
                  <a:srgbClr val="1F497D"/>
                </a:solidFill>
              </a:rPr>
              <a:t>F2F</a:t>
            </a:r>
            <a:r>
              <a:rPr lang="zh-CN" altLang="en-US" sz="1600">
                <a:solidFill>
                  <a:srgbClr val="1F497D"/>
                </a:solidFill>
              </a:rPr>
              <a:t>）面试以确认以下内容：</a:t>
            </a:r>
          </a:p>
          <a:p>
            <a:pPr>
              <a:spcBef>
                <a:spcPts val="300"/>
              </a:spcBef>
            </a:pPr>
            <a:r>
              <a:rPr lang="zh-CN" altLang="en-US" sz="1600">
                <a:solidFill>
                  <a:srgbClr val="1F497D"/>
                </a:solidFill>
              </a:rPr>
              <a:t>确认受访者在镜头前</a:t>
            </a:r>
          </a:p>
          <a:p>
            <a:pPr>
              <a:spcBef>
                <a:spcPts val="300"/>
              </a:spcBef>
            </a:pPr>
            <a:r>
              <a:rPr lang="zh-CN" altLang="en-US" sz="1600">
                <a:solidFill>
                  <a:srgbClr val="1F497D"/>
                </a:solidFill>
              </a:rPr>
              <a:t>核实</a:t>
            </a:r>
            <a:r>
              <a:rPr lang="en-US" altLang="zh-CN" sz="1600">
                <a:solidFill>
                  <a:srgbClr val="1F497D"/>
                </a:solidFill>
              </a:rPr>
              <a:t>ATM</a:t>
            </a:r>
            <a:r>
              <a:rPr lang="zh-CN" altLang="en-US" sz="1600">
                <a:solidFill>
                  <a:srgbClr val="1F497D"/>
                </a:solidFill>
              </a:rPr>
              <a:t>身份并最大化他们的参与</a:t>
            </a:r>
          </a:p>
          <a:p>
            <a:pPr>
              <a:spcBef>
                <a:spcPts val="300"/>
              </a:spcBef>
            </a:pPr>
            <a:r>
              <a:rPr lang="zh-CN" altLang="en-US" sz="1600">
                <a:solidFill>
                  <a:srgbClr val="1F497D"/>
                </a:solidFill>
              </a:rPr>
              <a:t>核实评估参与者身份，例如，受访者，评估发起人</a:t>
            </a:r>
          </a:p>
          <a:p>
            <a:pPr>
              <a:spcBef>
                <a:spcPts val="300"/>
              </a:spcBef>
            </a:pPr>
            <a:r>
              <a:rPr lang="zh-CN" altLang="en-US" sz="1600">
                <a:solidFill>
                  <a:srgbClr val="1F497D"/>
                </a:solidFill>
              </a:rPr>
              <a:t>确认只有计划中的评估参与者在场</a:t>
            </a:r>
          </a:p>
          <a:p>
            <a:pPr>
              <a:spcBef>
                <a:spcPts val="300"/>
              </a:spcBef>
            </a:pPr>
            <a:r>
              <a:rPr lang="zh-CN" altLang="en-US" sz="1600">
                <a:solidFill>
                  <a:srgbClr val="1F497D"/>
                </a:solidFill>
              </a:rPr>
              <a:t>确认遵守了非归因和保密规则，例如，没有其他参与者在场，物理环境适当</a:t>
            </a:r>
          </a:p>
          <a:p>
            <a:pPr>
              <a:spcBef>
                <a:spcPts val="300"/>
              </a:spcBef>
            </a:pPr>
            <a:r>
              <a:rPr lang="zh-CN" altLang="en-US" sz="1600">
                <a:solidFill>
                  <a:srgbClr val="1F497D"/>
                </a:solidFill>
              </a:rPr>
              <a:t>监控非语言交流和评估参与者的参与情况</a:t>
            </a:r>
            <a:endParaRPr lang="en-ZA" sz="160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226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47C9-2410-0F46-A0CE-9498896D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Findings Definitions – Required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982AE-496D-8E4C-B62D-137BEFC39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962" y="1645919"/>
            <a:ext cx="10397837" cy="4646726"/>
          </a:xfrm>
        </p:spPr>
        <p:txBody>
          <a:bodyPr>
            <a:normAutofit/>
          </a:bodyPr>
          <a:lstStyle/>
          <a:p>
            <a:pPr lvl="0"/>
            <a:r>
              <a:rPr lang="en-US" sz="1800"/>
              <a:t>Required Findings Categories:</a:t>
            </a:r>
          </a:p>
          <a:p>
            <a:pPr lvl="1"/>
            <a:r>
              <a:rPr lang="en-US" sz="1600" u="sng"/>
              <a:t>Weaknesses</a:t>
            </a:r>
            <a:r>
              <a:rPr lang="en-US" sz="1600"/>
              <a:t> - A type of preliminary or final finding, which is an ineffective, or lack of implementation of one or more processes that meet the intent and value of a practice based on verified objective evidence, and applicable across the project(s) and organizational support functions or Organizational Unit as a whole. This is realized either by a) the process itself does not address a CMMI practice requirement, or b) the project(s) or organizational support functions are not following their process that IS compliant with the intent and value of the applicable CMMI practice.</a:t>
            </a:r>
            <a:endParaRPr lang="en-US" sz="1600" b="1"/>
          </a:p>
          <a:p>
            <a:pPr lvl="1"/>
            <a:endParaRPr lang="en-US" sz="1600"/>
          </a:p>
          <a:p>
            <a:pPr lvl="1"/>
            <a:r>
              <a:rPr lang="en-US" sz="1600" u="sng"/>
              <a:t>Strengths</a:t>
            </a:r>
            <a:r>
              <a:rPr lang="en-US" sz="1600"/>
              <a:t> - A type of preliminary or final finding, which is an exemplary or noteworthy implementation of a process that meets the intent and value of a CMMI model practice.</a:t>
            </a:r>
            <a:endParaRPr lang="en-US" sz="1600" b="1"/>
          </a:p>
          <a:p>
            <a:r>
              <a:rPr lang="zh-CN" altLang="en-US" sz="1600">
                <a:solidFill>
                  <a:srgbClr val="1F497D"/>
                </a:solidFill>
              </a:rPr>
              <a:t>所需结果类别：</a:t>
            </a:r>
          </a:p>
          <a:p>
            <a:pPr lvl="1"/>
            <a:r>
              <a:rPr lang="zh-CN" altLang="en-US" sz="1400">
                <a:solidFill>
                  <a:srgbClr val="1F497D"/>
                </a:solidFill>
              </a:rPr>
              <a:t>弱项</a:t>
            </a:r>
            <a:r>
              <a:rPr lang="en-US" altLang="zh-CN" sz="1400">
                <a:solidFill>
                  <a:srgbClr val="1F497D"/>
                </a:solidFill>
              </a:rPr>
              <a:t>——</a:t>
            </a:r>
            <a:r>
              <a:rPr lang="zh-CN" altLang="en-US" sz="1400">
                <a:solidFill>
                  <a:srgbClr val="1F497D"/>
                </a:solidFill>
              </a:rPr>
              <a:t>一种初步或最终的发现，是指一个或多个过程实施无效或缺乏实施，这些过程基于已验证的客观证据，符合实践的意图和价值，适用于整个项目和组织支持职能组或组织单元。这可以通过以下两种方式实现：</a:t>
            </a:r>
            <a:r>
              <a:rPr lang="en-US" altLang="zh-CN" sz="1400">
                <a:solidFill>
                  <a:srgbClr val="1F497D"/>
                </a:solidFill>
              </a:rPr>
              <a:t>a</a:t>
            </a:r>
            <a:r>
              <a:rPr lang="zh-CN" altLang="en-US" sz="1400">
                <a:solidFill>
                  <a:srgbClr val="1F497D"/>
                </a:solidFill>
              </a:rPr>
              <a:t>）过程本身没有满足</a:t>
            </a:r>
            <a:r>
              <a:rPr lang="en-US" altLang="zh-CN" sz="1400">
                <a:solidFill>
                  <a:srgbClr val="1F497D"/>
                </a:solidFill>
              </a:rPr>
              <a:t>CMMI</a:t>
            </a:r>
            <a:r>
              <a:rPr lang="zh-CN" altLang="en-US" sz="1400">
                <a:solidFill>
                  <a:srgbClr val="1F497D"/>
                </a:solidFill>
              </a:rPr>
              <a:t>实践需求，或者</a:t>
            </a:r>
            <a:r>
              <a:rPr lang="en-US" altLang="zh-CN" sz="1400">
                <a:solidFill>
                  <a:srgbClr val="1F497D"/>
                </a:solidFill>
              </a:rPr>
              <a:t>b</a:t>
            </a:r>
            <a:r>
              <a:rPr lang="zh-CN" altLang="en-US" sz="1400">
                <a:solidFill>
                  <a:srgbClr val="1F497D"/>
                </a:solidFill>
              </a:rPr>
              <a:t>）项目或组织支持职能组没有遵循符合适用</a:t>
            </a:r>
            <a:r>
              <a:rPr lang="en-US" altLang="zh-CN" sz="1400">
                <a:solidFill>
                  <a:srgbClr val="1F497D"/>
                </a:solidFill>
              </a:rPr>
              <a:t>CMMI</a:t>
            </a:r>
            <a:r>
              <a:rPr lang="zh-CN" altLang="en-US" sz="1400">
                <a:solidFill>
                  <a:srgbClr val="1F497D"/>
                </a:solidFill>
              </a:rPr>
              <a:t>实践意图和价值的过程。</a:t>
            </a:r>
            <a:endParaRPr lang="en-ZA" altLang="zh-CN" sz="1400">
              <a:solidFill>
                <a:srgbClr val="1F497D"/>
              </a:solidFill>
            </a:endParaRPr>
          </a:p>
          <a:p>
            <a:pPr lvl="1"/>
            <a:r>
              <a:rPr lang="zh-CN" altLang="en-US" sz="1400">
                <a:solidFill>
                  <a:srgbClr val="1F497D"/>
                </a:solidFill>
              </a:rPr>
              <a:t>强项</a:t>
            </a:r>
            <a:r>
              <a:rPr lang="en-US" altLang="zh-CN" sz="1400">
                <a:solidFill>
                  <a:srgbClr val="1F497D"/>
                </a:solidFill>
              </a:rPr>
              <a:t>——</a:t>
            </a:r>
            <a:r>
              <a:rPr lang="zh-CN" altLang="en-US" sz="1400">
                <a:solidFill>
                  <a:srgbClr val="1F497D"/>
                </a:solidFill>
              </a:rPr>
              <a:t>一种初步或最终的发现，是一个模范性或值得注意的过程实现，其符合</a:t>
            </a:r>
            <a:r>
              <a:rPr lang="en-US" altLang="zh-CN" sz="1400">
                <a:solidFill>
                  <a:srgbClr val="1F497D"/>
                </a:solidFill>
              </a:rPr>
              <a:t>CMMI</a:t>
            </a:r>
            <a:r>
              <a:rPr lang="zh-CN" altLang="en-US" sz="1400">
                <a:solidFill>
                  <a:srgbClr val="1F497D"/>
                </a:solidFill>
              </a:rPr>
              <a:t>模型实践的意图和价值。</a:t>
            </a:r>
          </a:p>
        </p:txBody>
      </p:sp>
    </p:spTree>
    <p:extLst>
      <p:ext uri="{BB962C8B-B14F-4D97-AF65-F5344CB8AC3E}">
        <p14:creationId xmlns:p14="http://schemas.microsoft.com/office/powerpoint/2010/main" val="723158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73C0C2-AEE9-C443-A1B0-65B4A813A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+mn-lt"/>
              </a:rPr>
              <a:t>Practice Area Findings</a:t>
            </a:r>
            <a:br>
              <a:rPr lang="en-US" b="1">
                <a:latin typeface="+mn-lt"/>
              </a:rPr>
            </a:br>
            <a:r>
              <a:rPr lang="zh-CN" altLang="en-US" sz="6000" b="1">
                <a:solidFill>
                  <a:srgbClr val="1F497D"/>
                </a:solidFill>
                <a:latin typeface="+mn-lt"/>
              </a:rPr>
              <a:t>实践域发现</a:t>
            </a:r>
            <a:endParaRPr lang="en-US" b="1">
              <a:solidFill>
                <a:srgbClr val="1F497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02676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2FB12-F514-854C-B510-58EFF3212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9928" y="965640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Causal Analysis and Resolution (CAR) </a:t>
            </a:r>
            <a:r>
              <a:rPr lang="zh-CN" altLang="en-US" sz="2800">
                <a:solidFill>
                  <a:schemeClr val="accent1">
                    <a:lumMod val="75000"/>
                  </a:schemeClr>
                </a:solidFill>
              </a:rPr>
              <a:t>原因分析与解决</a:t>
            </a:r>
            <a:endParaRPr lang="en-US" sz="28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2BCE7-6CE6-6F44-A06D-0ED3A68264D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70149" y="1435400"/>
            <a:ext cx="11265408" cy="15727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Identifies causes of selected outcomes and takes action to either prevent recurrence of undesirable outcomes or ensure recurrence 	of positive outcomes.</a:t>
            </a:r>
            <a:b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确定所选结果的原因，并采取行动防止不良结果的再次发生或确保积极结果的再次出现</a:t>
            </a:r>
            <a:r>
              <a:rPr lang="zh-CN" altLang="en-US" sz="1400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。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Addresses causes of issues, eliminating rework and directly improving quality and productivity.</a:t>
            </a: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 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解决问题的根源，消除返工，直接提高质量和生产力。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74A4B-0169-F64D-A513-9179A27A717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6344" y="3051602"/>
            <a:ext cx="11265408" cy="30974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/>
              <a:t>Strengths </a:t>
            </a:r>
            <a:r>
              <a:rPr lang="ja-JP" altLang="en-US" sz="1800" b="1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 b="1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pPr marL="0" indent="0">
              <a:buNone/>
            </a:pPr>
            <a:r>
              <a:rPr lang="en-US" sz="1800" b="1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 b="1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C89D8-0B55-544B-AD0F-183601DA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49" y="331667"/>
            <a:ext cx="828675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92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C94052-D3D2-1D46-9E1A-87C7462F1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949" y="906860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Configuration Management (CM) </a:t>
            </a:r>
            <a:r>
              <a:rPr lang="ja-JP" altLang="en-US" sz="2800">
                <a:solidFill>
                  <a:schemeClr val="accent1">
                    <a:lumMod val="75000"/>
                  </a:schemeClr>
                </a:solidFill>
              </a:rPr>
              <a:t>配置管理</a:t>
            </a:r>
            <a:endParaRPr lang="en-US" sz="28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851FC6-ACD6-F341-AD7C-83127EFB5A7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6344" y="1446356"/>
            <a:ext cx="11265408" cy="13883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Manages the integrity of work products using configuration identification, version control, change control, and audits.</a:t>
            </a: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 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</a:rPr>
              <a:t>通过配置识别、版本控制、变更控制和审计来管理工作产品的完整性。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Reduces loss of work and increases the ability to deliver the correct version of the solution to the customer.</a:t>
            </a: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 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</a:rPr>
              <a:t>减少工作丢失并提高向客户交付正确版本解决方案的能力。</a:t>
            </a:r>
            <a:endParaRPr lang="en-US" sz="1400">
              <a:solidFill>
                <a:srgbClr val="1F497D"/>
              </a:solidFill>
            </a:endParaRPr>
          </a:p>
          <a:p>
            <a:endParaRPr lang="en-US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B8940F-F466-0C49-BA8F-759D5D68A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" y="329184"/>
            <a:ext cx="828675" cy="1009650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2FD0B6A-7BC7-4091-9C57-AC948DA85EDA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394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D6E7E7-3A78-5E44-89F9-527E3CD98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949" y="926038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Decision Analysis and Resolution (DAR) </a:t>
            </a:r>
            <a:r>
              <a:rPr lang="zh-CN" altLang="en-US" sz="2800">
                <a:solidFill>
                  <a:srgbClr val="1F497D"/>
                </a:solidFill>
              </a:rPr>
              <a:t>决策分析与解决</a:t>
            </a:r>
            <a:endParaRPr lang="en-US" sz="2800">
              <a:solidFill>
                <a:srgbClr val="1F497D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51944C-A577-BE40-86BE-7F08B25152B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0248" y="1465534"/>
            <a:ext cx="11265408" cy="1222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Makes and records decisions using a recorded process that </a:t>
            </a:r>
            <a:r>
              <a:rPr lang="en-GB" sz="1400" b="0" i="0" err="1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analyzes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 alternatives.</a:t>
            </a:r>
            <a:r>
              <a:rPr lang="en-US" sz="1400"/>
              <a:t>	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使用记录的流程来分析备选方案，并做出和记录决策。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Increases the objectivity of decision-making and the probability of selecting the optimal solution.</a:t>
            </a: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 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提高决策的客观性和选择最佳解决方案的可能性。</a:t>
            </a:r>
          </a:p>
          <a:p>
            <a:endParaRPr lang="en-US" sz="1400"/>
          </a:p>
          <a:p>
            <a:endParaRPr lang="en-US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AE4084-C272-D348-A954-332D73CB7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" y="329184"/>
            <a:ext cx="828675" cy="100965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C29C336-857B-42AC-A784-32E0EB287EFC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28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4C635E-FEFA-084F-A1B2-00A355DFF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829" y="878863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Estimating (EST) </a:t>
            </a:r>
            <a:r>
              <a:rPr lang="ja-JP" altLang="en-US" sz="2800">
                <a:solidFill>
                  <a:srgbClr val="1F497D"/>
                </a:solidFill>
              </a:rPr>
              <a:t>估算</a:t>
            </a:r>
            <a:endParaRPr lang="en-US" sz="2800">
              <a:solidFill>
                <a:srgbClr val="1F497D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D27AE0-E333-B84C-AA56-4473247CD36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3296" y="1388121"/>
            <a:ext cx="11265408" cy="15727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Estimates the size, effort, duration, and cost of the work and resources needed to develop, acquire, or deliver the solution.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估算开发、获取或交付解决方案所需的工作和资源的规模、努力、持续时间和成本。</a:t>
            </a:r>
            <a:endParaRPr lang="en-US" altLang="zh-CN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Provides a basis for making commitments, planning, and reducing uncertainty, which allows for early corrective actions and increases 	the likelihood of meeting objectives.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为做出承诺、规划和减少不确定性提供基础，从而允许及早采取纠正措施，并提高实现目标的可能性。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64BB67-B6E2-EA42-8FD0-E0FE58554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04" y="329184"/>
            <a:ext cx="1381125" cy="102870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CACA4C3-CBEF-489E-BB7B-72D841E26512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113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5370A8-0C29-9E4D-B098-2E01281B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52" y="896112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Governance (GOV) </a:t>
            </a:r>
            <a:r>
              <a:rPr lang="ja-JP" altLang="en-US" sz="2800">
                <a:solidFill>
                  <a:srgbClr val="1F497D"/>
                </a:solidFill>
              </a:rPr>
              <a:t>管治</a:t>
            </a:r>
            <a:endParaRPr lang="en-US" sz="2800">
              <a:solidFill>
                <a:srgbClr val="1F497D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447B46-1B43-2341-808A-5B2FCADE403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3296" y="1435608"/>
            <a:ext cx="11265408" cy="15233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Provides guidance to senior management on their role in the sponsorship and governance of performance, processes, and related 	activities.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为高级管理层提供关于其在绩效、流程及相关活动的赞助和治理中的角色的指导。</a:t>
            </a:r>
            <a:endParaRPr lang="en-US" altLang="zh-CN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Minimizes the cost of process implementation, increases the likelihood of meeting objectives, and verifies that the implemented 	processes support and contribute to the success of the business.</a:t>
            </a:r>
            <a:br>
              <a:rPr lang="en-US" sz="1400">
                <a:solidFill>
                  <a:srgbClr val="505050"/>
                </a:solidFill>
                <a:highlight>
                  <a:srgbClr val="FFFFFF"/>
                </a:highlight>
                <a:latin typeface="Gotham A"/>
              </a:rPr>
            </a:br>
            <a:r>
              <a:rPr lang="en-US" sz="1400">
                <a:solidFill>
                  <a:srgbClr val="505050"/>
                </a:solidFill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减少流程实施成本，提高实现目标的可能性，并验证已实施的流程支持并促进业务成功。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9F514497-C5FD-2445-A499-822C31FAC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" y="228600"/>
            <a:ext cx="1207008" cy="1207008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16CC65-C45A-49BD-920B-AFA52DAAB2AE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169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EC4B8E7-E430-0B48-A30F-0DC56283E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" y="228600"/>
            <a:ext cx="1215390" cy="120700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C8BCBD2-BB96-4EFA-B4BA-DD959BC15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734" y="907750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Implementation Infrastructure (II) </a:t>
            </a:r>
            <a:r>
              <a:rPr lang="zh-CN" altLang="en-US" sz="2800">
                <a:solidFill>
                  <a:srgbClr val="1F497D"/>
                </a:solidFill>
              </a:rPr>
              <a:t>实施基础条件</a:t>
            </a:r>
            <a:endParaRPr lang="en-ZA" sz="2800">
              <a:solidFill>
                <a:srgbClr val="1F497D"/>
              </a:solidFill>
            </a:endParaRP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9045050B-D4DF-4E82-A4C1-CE0EBE15B30E}"/>
              </a:ext>
            </a:extLst>
          </p:cNvPr>
          <p:cNvSpPr txBox="1">
            <a:spLocks/>
          </p:cNvSpPr>
          <p:nvPr/>
        </p:nvSpPr>
        <p:spPr>
          <a:xfrm>
            <a:off x="463296" y="1447246"/>
            <a:ext cx="11265408" cy="12070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Ensures that the processes and assets important to an organization’s performance are habitually and persistently followed, used, and</a:t>
            </a:r>
            <a:r>
              <a:rPr lang="en-GB" sz="1400">
                <a:solidFill>
                  <a:srgbClr val="505050"/>
                </a:solidFill>
                <a:highlight>
                  <a:srgbClr val="FFFFFF"/>
                </a:highlight>
                <a:latin typeface="Gotham A"/>
              </a:rPr>
              <a:t> 	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improved. </a:t>
            </a:r>
            <a:b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确保对组织绩效重要的流程和资产得到习惯性和持久的遵循、使用和改进。</a:t>
            </a:r>
            <a:endParaRPr lang="en-US" altLang="zh-CN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Sustains the ability to consistently achieve goals and objectives efficiently and effectively.</a:t>
            </a:r>
            <a:b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维持高效且有效地持续实现目标和任务的能力。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40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1E67682-00B4-4BBF-BF79-4BBA281832A2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119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D917CA8-C953-3D41-BB4D-AE90DA494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04" y="310896"/>
            <a:ext cx="1352550" cy="10287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29B6FBD-CD48-43B2-99F2-DBC6C3011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254" y="923544"/>
            <a:ext cx="10320997" cy="539496"/>
          </a:xfrm>
        </p:spPr>
        <p:txBody>
          <a:bodyPr>
            <a:noAutofit/>
          </a:bodyPr>
          <a:lstStyle/>
          <a:p>
            <a:r>
              <a:rPr lang="en-US" sz="2800"/>
              <a:t>Managing Performance and Measurement (</a:t>
            </a:r>
            <a:r>
              <a:rPr lang="en-US" sz="2800" err="1"/>
              <a:t>MPM</a:t>
            </a:r>
            <a:r>
              <a:rPr lang="en-US" sz="2800"/>
              <a:t>) </a:t>
            </a:r>
            <a:r>
              <a:rPr lang="zh-CN" altLang="en-US" sz="2800">
                <a:solidFill>
                  <a:srgbClr val="1F497D"/>
                </a:solidFill>
              </a:rPr>
              <a:t>管理绩效与度量</a:t>
            </a:r>
            <a:endParaRPr lang="en-ZA" sz="2800">
              <a:solidFill>
                <a:srgbClr val="1F497D"/>
              </a:solidFill>
            </a:endParaRP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1ED947F3-5626-4DC5-883B-9F149E032369}"/>
              </a:ext>
            </a:extLst>
          </p:cNvPr>
          <p:cNvSpPr txBox="1">
            <a:spLocks/>
          </p:cNvSpPr>
          <p:nvPr/>
        </p:nvSpPr>
        <p:spPr>
          <a:xfrm>
            <a:off x="463296" y="1463040"/>
            <a:ext cx="11265408" cy="1419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Manages performance using measurement and analysis to achieve business objectives.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使用测量和分析来管理绩效，以实现业务目标。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Maximizes business return on investment by focusing management and improvement efforts on cost, schedule, and quality 	performance.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通过将管理和改进工作集中在成本、进度和质量绩效上，最大化业务投资回报。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D359478-7EA2-4394-AC0C-E3B891310A84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273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5C0589-D524-8C48-B3B9-B5BA8350A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2021" y="903763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Monitor and Control (MC) </a:t>
            </a:r>
            <a:r>
              <a:rPr lang="zh-CN" altLang="en-US" sz="2800">
                <a:solidFill>
                  <a:srgbClr val="1F497D"/>
                </a:solidFill>
              </a:rPr>
              <a:t>控制与监督</a:t>
            </a:r>
            <a:endParaRPr lang="en-US" sz="2000">
              <a:solidFill>
                <a:srgbClr val="1F497D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786E03-BE8A-F746-8A22-4567409518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648" y="1443259"/>
            <a:ext cx="11728704" cy="15229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Provides an understanding of the project progress so appropriate corrective actions can be taken when performance deviates significantly 	from plans.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提供对项目进展的理解，以便在绩效与计划明显偏离时采取适当的纠正措施。</a:t>
            </a:r>
            <a:endParaRPr lang="en-US" altLang="zh-CN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Increases the probability of meeting objectives by taking early actions to adjust for significant performance deviations.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通过及早采取行动调整重大绩效偏差，增加实现目标的可能性。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859F02-E316-0F49-87DC-CBED75413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96" y="329184"/>
            <a:ext cx="1381125" cy="102870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93FA88A-18FE-4C39-948B-AAA77B320F7E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911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C4BC60-EF81-EB4C-A665-87F237A1A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916548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Organizational Training (OT) </a:t>
            </a:r>
            <a:r>
              <a:rPr lang="ja-JP" altLang="en-US" sz="2800">
                <a:solidFill>
                  <a:srgbClr val="1F497D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组织级培训</a:t>
            </a:r>
            <a:endParaRPr lang="en-US" sz="2800">
              <a:solidFill>
                <a:srgbClr val="1F497D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5684F9-A7D1-9546-96B3-5A91CC5E5FE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6344" y="1456044"/>
            <a:ext cx="11265408" cy="11916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Develops the skills and knowledge of personnel so they perform their roles efficiently and effectively.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培养人员的技能和知识，使他们能够高效、有效地完成自己的角色。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Enhances individuals' skills and knowledge to improve organizational work performance.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提升个人的技能和知识，以改善组织的工作绩效。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4B23BD-7F77-0348-8E21-4C5522D31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38" y="237744"/>
            <a:ext cx="1200150" cy="1076325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A731301-3CCC-4F02-AC81-BE245599CC65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288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AE9ED4-B81C-E643-B0FB-82AA3CD0D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746" y="907750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Peer Reviews (PR) </a:t>
            </a:r>
            <a:r>
              <a:rPr lang="ja-JP" altLang="en-US" sz="2800">
                <a:solidFill>
                  <a:srgbClr val="1F497D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同行评审</a:t>
            </a:r>
            <a:endParaRPr lang="en-US" sz="2800">
              <a:solidFill>
                <a:srgbClr val="1F497D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54BFAC-FF60-1E4C-8144-865105708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" y="320040"/>
            <a:ext cx="1181100" cy="1019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A0ADB3-2913-A34C-998D-46F2649F32A7}"/>
              </a:ext>
            </a:extLst>
          </p:cNvPr>
          <p:cNvSpPr txBox="1"/>
          <p:nvPr/>
        </p:nvSpPr>
        <p:spPr>
          <a:xfrm>
            <a:off x="405236" y="1447246"/>
            <a:ext cx="11381528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400" b="1"/>
              <a:t>	Intent: </a:t>
            </a:r>
            <a:r>
              <a:rPr lang="en-GB" sz="1400"/>
              <a:t>Identifies and addresses process performance and work product issues through reviews by the producer's peers or Subject Matter 	Experts (SMEs).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通过由生产者的同行或专家进行的审查，识别和解决过程绩效和工作产品问题。</a:t>
            </a:r>
            <a:endParaRPr lang="en-ZA" altLang="zh-CN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ZA" sz="1400" b="1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	</a:t>
            </a:r>
            <a:r>
              <a:rPr lang="en-US" sz="1400" b="1"/>
              <a:t>Value:</a:t>
            </a:r>
            <a:r>
              <a:rPr lang="en-US" sz="1400"/>
              <a:t> </a:t>
            </a:r>
            <a:r>
              <a:rPr lang="en-GB" sz="1400"/>
              <a:t>Reduces cost and rework by uncovering issues or defects early.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通过及早发现问题或缺陷，降低成本和返工。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700B825-4B23-41CB-B6E9-8CBDBB9E4337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998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946A40-B0D3-7F42-92B3-A8F1BDFD8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96" y="329184"/>
            <a:ext cx="1381125" cy="102870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EEFC331-18F4-8A46-A869-BA52963D8CE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6344" y="1408368"/>
            <a:ext cx="11265408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Develop plans to describe what is needed to accomplish the work within the standards and constraints of the organization.</a:t>
            </a:r>
            <a:br>
              <a:rPr lang="en-US" sz="1400">
                <a:effectLst/>
              </a:rPr>
            </a:br>
            <a:r>
              <a:rPr lang="en-US" sz="1400">
                <a:effectLst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制定计划，描述在组织的标准和限制条件下完成工作所需的内容。</a:t>
            </a:r>
            <a:endParaRPr lang="en-US" altLang="zh-CN" sz="1400" b="1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Optimizes cost, functionality, and quality to increase the likelihood of meeting objectives.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优化成本、功能和质量，增加实现目标的可能性。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3ADF6F91-5E76-4848-81D9-6C12BBE076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92021" y="877753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Planning (PLAN) </a:t>
            </a:r>
            <a:r>
              <a:rPr lang="ja-JP" altLang="en-US">
                <a:solidFill>
                  <a:srgbClr val="1F497D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策划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A60A1DC-6440-4AEB-BD14-7BFF58BA7603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033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AE3B20-2D39-3C46-BD9A-23D957F99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96" y="310896"/>
            <a:ext cx="1352550" cy="1028700"/>
          </a:xfrm>
          <a:prstGeom prst="rect">
            <a:avLst/>
          </a:prstGeom>
        </p:spPr>
      </p:pic>
      <p:sp>
        <p:nvSpPr>
          <p:cNvPr id="9" name="Title 7">
            <a:extLst>
              <a:ext uri="{FF2B5EF4-FFF2-40B4-BE49-F238E27FC236}">
                <a16:creationId xmlns:a16="http://schemas.microsoft.com/office/drawing/2014/main" id="{D0AECBCD-8363-284B-BB51-55AF3D65C6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3446" y="859465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Process Asset Development (PAD) </a:t>
            </a:r>
            <a:r>
              <a:rPr lang="zh-CN" altLang="en-US">
                <a:solidFill>
                  <a:srgbClr val="1F497D"/>
                </a:solidFill>
                <a:latin typeface="+mj-ea"/>
                <a:ea typeface="+mj-ea"/>
              </a:rPr>
              <a:t>过程资产开发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18A46D4-BE00-814E-8A9B-BD69C49159B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3296" y="1339596"/>
            <a:ext cx="11265408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Develops the process assets necessary to perform the work and keeps them updated.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开发完成工作所需的流程资产，并保持其更新。</a:t>
            </a:r>
            <a:endParaRPr lang="en-US" altLang="zh-CN" sz="1400" b="1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Provides a capability to understand and repeat successful performance.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提供理解和重复成功绩效的能力。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F9F7155-69C5-47DF-B4F8-7A9C296B71B4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339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61F88B-A93B-E44F-A278-9F680C286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96" y="310896"/>
            <a:ext cx="1381125" cy="1050433"/>
          </a:xfrm>
          <a:prstGeom prst="rect">
            <a:avLst/>
          </a:prstGeom>
        </p:spPr>
      </p:pic>
      <p:sp>
        <p:nvSpPr>
          <p:cNvPr id="9" name="Title 7">
            <a:extLst>
              <a:ext uri="{FF2B5EF4-FFF2-40B4-BE49-F238E27FC236}">
                <a16:creationId xmlns:a16="http://schemas.microsoft.com/office/drawing/2014/main" id="{2A97733B-5B53-6D4F-B3A6-238856A5C5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92021" y="881198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Process Management (PCM) </a:t>
            </a:r>
            <a:r>
              <a:rPr lang="ja-JP" altLang="en-US">
                <a:solidFill>
                  <a:srgbClr val="1F497D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过程管理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5A440E3-2399-234F-BAE5-CFDCD8133EE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290641" y="1361329"/>
            <a:ext cx="11610717" cy="1383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 dirty="0"/>
              <a:t>	Intent: </a:t>
            </a:r>
            <a:r>
              <a:rPr lang="en-GB" sz="1400" dirty="0"/>
              <a:t>Manages and implements the continuous performance improvement of processes and infrastructure to </a:t>
            </a:r>
            <a:r>
              <a:rPr lang="en-GB" sz="1400"/>
              <a:t>meet business objectives </a:t>
            </a:r>
            <a:r>
              <a:rPr lang="en-GB" sz="1400" dirty="0"/>
              <a:t>by 	identifying and implementing the most beneficial process improvements and making performance results visible, accessible, and sustainable.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zh-CN" altLang="en-US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通过识别和实施最有益的流程改进，并使绩效结果可见、可访问和可持续，管理和实施流程和基础设施</a:t>
            </a:r>
            <a:r>
              <a:rPr lang="en-GB" altLang="zh-CN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	</a:t>
            </a:r>
            <a:r>
              <a:rPr lang="zh-CN" altLang="en-US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的持续绩效改进，以实现业</a:t>
            </a:r>
            <a:r>
              <a:rPr lang="en-ZA" altLang="zh-CN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	</a:t>
            </a:r>
            <a:r>
              <a:rPr lang="zh-CN" altLang="en-US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务目标</a:t>
            </a:r>
            <a:endParaRPr lang="en-ZA" altLang="zh-CN" sz="1400" dirty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 dirty="0"/>
              <a:t>	Value:</a:t>
            </a:r>
            <a:r>
              <a:rPr lang="en-US" sz="1400" dirty="0"/>
              <a:t> </a:t>
            </a:r>
            <a:r>
              <a:rPr lang="en-GB" sz="1400" dirty="0"/>
              <a:t>Ensures that processes, infrastructure, and their improvement contribute to successfully meeting business objectives.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zh-CN" altLang="en-US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确保流程、基础设施及其改进对成功实现业务目标起到贡献。</a:t>
            </a:r>
            <a:endParaRPr lang="en-US" sz="1400" dirty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BA79F4AB-08BE-F452-D988-77913BD35438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761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46A86D-420C-994B-BB9A-87E1DC9BC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" y="320040"/>
            <a:ext cx="1190625" cy="1019175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DC3611C-0E7E-5845-A472-220CD96F0A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56969" y="893309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Process Quality Assurance (PQA) </a:t>
            </a:r>
            <a:r>
              <a:rPr lang="zh-CN" altLang="en-US">
                <a:solidFill>
                  <a:srgbClr val="1F497D"/>
                </a:solidFill>
                <a:latin typeface="+mj-ea"/>
                <a:ea typeface="+mj-ea"/>
              </a:rPr>
              <a:t>过程质量保证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5E65591-E634-B04A-BC24-D549AAFDA06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275702" y="1373440"/>
            <a:ext cx="11640595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Verifies and enables improvement of the quality of the processes performed and resulting work products.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验证并促进所执行的流程和最终工作产品的质量改进。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Increases the consistent use and improvement of the processes to maximize business benefit and customer satisfaction.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增加对流程的一贯使用和改进，以最大化业务效益和客户满意度。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417183C-1A1D-479B-97E4-9A18F85309FD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685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150284-8292-8D49-BC36-D75E9DDA2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301752"/>
            <a:ext cx="1133475" cy="10287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30BB0C4-F057-5045-890F-0F9D4FAAAC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18107" y="908828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Product Integration (PI) </a:t>
            </a:r>
            <a:r>
              <a:rPr lang="ja-JP" altLang="en-US">
                <a:solidFill>
                  <a:srgbClr val="1F497D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产品集成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5C865DC-106D-8D40-B690-9000D793161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00473" y="1388959"/>
            <a:ext cx="11591053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Integrates and delivers the solution that addresses functionality, performance, and quality requirements.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整合并交付解决方案，满足功能、性能和质量要求。</a:t>
            </a:r>
            <a:endParaRPr lang="en-US" altLang="zh-CN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Increases customers' satisfaction by giving them a solution that meets or exceeds their functionality and quality requirements.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通过为客户提供满足或超出其功能和质量要求的解决方案，提高客户满意度。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153C72C-E5D1-438B-B38F-AEC07EF70B4B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669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5BD358-13C0-704B-AF4F-E0C810DD2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64" y="350520"/>
            <a:ext cx="1190625" cy="10287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A76391E-56A4-1D46-8B16-6C6198C4AD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4089" y="899089"/>
            <a:ext cx="11243825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Requirements Development and Management (RDM) </a:t>
            </a:r>
            <a:r>
              <a:rPr lang="zh-CN" altLang="en-US">
                <a:solidFill>
                  <a:srgbClr val="1F497D"/>
                </a:solidFill>
                <a:latin typeface="+mj-ea"/>
                <a:ea typeface="+mj-ea"/>
              </a:rPr>
              <a:t>需求开发与管理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8877B3D-5089-C64D-BC81-EDE247A1152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283464" y="1379220"/>
            <a:ext cx="11591052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Elicits requirements, confirms common understanding by stakeholders, and aligns requirements, plans, and work products.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</a:rPr>
              <a:t>引发需求，通过利益相关者确认共同理解，并将需求、计划和工作产品对齐。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Increases likelihood that the solution meets or exceeds customer expectations and needs.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</a:rPr>
              <a:t>增加解决方案满足或超出客户期望和需求的可能性。</a:t>
            </a:r>
            <a:endParaRPr lang="en-US" sz="1400">
              <a:solidFill>
                <a:srgbClr val="1F497D"/>
              </a:solidFill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858F2E-4CB5-4A8C-AB8A-89A0749509B7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2326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20B7C4-5A9A-BB42-9F2B-CEC437533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2" y="347472"/>
            <a:ext cx="1381125" cy="9906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F0BE44C-B62C-734E-8D2C-364C3DC4D8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9171" y="866717"/>
            <a:ext cx="10165357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Risk and Opportunity Management (</a:t>
            </a:r>
            <a:r>
              <a:rPr lang="en-US" err="1"/>
              <a:t>RSK</a:t>
            </a:r>
            <a:r>
              <a:rPr lang="en-US"/>
              <a:t>) </a:t>
            </a:r>
            <a:r>
              <a:rPr lang="zh-CN" altLang="en-US">
                <a:solidFill>
                  <a:srgbClr val="1F497D"/>
                </a:solidFill>
                <a:latin typeface="+mj-ea"/>
                <a:ea typeface="+mj-ea"/>
              </a:rPr>
              <a:t>风险与机会管理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D163350-A59C-2947-9EEB-6C00A4F1952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3296" y="1338072"/>
            <a:ext cx="11265408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Identifies, records, </a:t>
            </a:r>
            <a:r>
              <a:rPr lang="en-GB" sz="1400" err="1"/>
              <a:t>analyzes</a:t>
            </a:r>
            <a:r>
              <a:rPr lang="en-GB" sz="1400"/>
              <a:t>, and manages potential risks or opportunities.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识别、记录、分析和管理潜在的风险或机遇。 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Mitigates adverse impacts or capitalizes on positive impacts to increase the likelihood of meeting objectives.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减轻不利影响或利用积极影响，增加实现目标的可能性。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C92CF95-B838-45DF-A813-F4DC0442E84A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376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862143-3951-A64C-B7B7-268C11BD3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301752"/>
            <a:ext cx="1133475" cy="10287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D19D3C6-51DC-3041-B3EC-E426F6CAF2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18107" y="902834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Technical Solution (TS) </a:t>
            </a:r>
            <a:r>
              <a:rPr lang="zh-CN" altLang="en-US">
                <a:solidFill>
                  <a:srgbClr val="1F497D"/>
                </a:solidFill>
                <a:latin typeface="+mj-ea"/>
                <a:ea typeface="+mj-ea"/>
              </a:rPr>
              <a:t>技术解决方案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666E3A6-0A9E-BC46-9A3F-12B3D08BB74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3296" y="1382965"/>
            <a:ext cx="11265408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Designs and builds solutions that meet requirements.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设计并构建满足要求的解决方案。</a:t>
            </a:r>
            <a:endParaRPr lang="en-US" altLang="zh-CN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Provides a cost-effective design and solution that meets customer requirements and reduces rework.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提供符合客户要求并减少返工的成本效益设计和解决方案。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6C68265-BF15-4E56-945E-A154256403BD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749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1B57D4-F6F7-8D4C-92DD-C8E3374CD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" y="320040"/>
            <a:ext cx="1181100" cy="1019175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6B445EF2-3845-7D4E-9686-FCE75374D5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7444" y="928288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Verification and Validation (VV) </a:t>
            </a:r>
            <a:r>
              <a:rPr lang="ja-JP" altLang="en-US">
                <a:solidFill>
                  <a:srgbClr val="1F497D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验证与确认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FA55996-6786-F34A-A68D-AC5A9F594E7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0248" y="1408419"/>
            <a:ext cx="11265408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Confirms selected solutions and components meet their requirements, and demonstrates selected solutions and components </a:t>
            </a:r>
            <a:r>
              <a:rPr lang="en-GB" sz="1400" err="1"/>
              <a:t>fulfill</a:t>
            </a:r>
            <a:r>
              <a:rPr lang="en-GB" sz="1400"/>
              <a:t> 	their intended use in their target environment.</a:t>
            </a:r>
            <a:br>
              <a:rPr lang="en-US" sz="1400"/>
            </a:br>
            <a:r>
              <a:rPr lang="zh-CN" altLang="en-US" sz="1400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ZA" altLang="zh-CN" sz="1400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确认所选解决方案和组件符合其要求，并展示所选解决方案和组件在其目标环境中履行其预期用途。 </a:t>
            </a:r>
            <a:endParaRPr lang="en-US" altLang="zh-CN" sz="1400" b="1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Increases the likelihood that the solution will satisfy the customer.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增加解决方案能够满足客户的可能性。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9D1CE2B-8543-D342-ECCE-6C01C053D7C1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327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3382510" y="1113693"/>
            <a:ext cx="5154613" cy="51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7672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72fbd52210522a8408f90a329fd47929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237627d3f4bea8a4a9a421955b487bc6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B49826-D5EE-4D24-B649-7C3A19B527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07B0D7-F930-4230-933E-ABA84959494E}">
  <ds:schemaRefs>
    <ds:schemaRef ds:uri="25bcabcf-d275-4206-9fb1-2f2d419cd22b"/>
    <ds:schemaRef ds:uri="72e3a154-4955-46c3-9573-e9dec3e1f195"/>
    <ds:schemaRef ds:uri="ec500478-62e0-46fc-87f1-cfa988e486b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4C36C6F-6AB5-4FD2-AB83-93A728E0302D}"/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3613</Words>
  <Application>Microsoft Office PowerPoint</Application>
  <PresentationFormat>Widescreen</PresentationFormat>
  <Paragraphs>218</Paragraphs>
  <Slides>29</Slides>
  <Notes>6</Notes>
  <HiddenSlides>1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Links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DengXian</vt:lpstr>
      <vt:lpstr>DengXian Light</vt:lpstr>
      <vt:lpstr>ＭＳ Ｐゴシック</vt:lpstr>
      <vt:lpstr>宋体</vt:lpstr>
      <vt:lpstr>Arial</vt:lpstr>
      <vt:lpstr>Calibri</vt:lpstr>
      <vt:lpstr>Calibri Light</vt:lpstr>
      <vt:lpstr>Gotham A</vt:lpstr>
      <vt:lpstr>Söhne</vt:lpstr>
      <vt:lpstr>Office Theme</vt:lpstr>
      <vt:lpstr>https://demix365.sharepoint.com/sites/DemixGlobal/Shared Documents/10_BASE/2024-05-04to05-10 (A5) C384400 NASA/00_Data_Reference.xlsm!pptxCover!R4C2:R12C2</vt:lpstr>
      <vt:lpstr>https://demix365.sharepoint.com/sites/DemixGlobal/Shared Documents/10_BASE/2024-05-04to05-10 (A5) C384400 NASA/00_Data_Reference.xlsm!pptxCover!R15C2:R17C2</vt:lpstr>
      <vt:lpstr>https://demix365.sharepoint.com/sites/DemixGlobal/Shared Documents/10_BASE/2024-05-04to05-10 (A5) C384400 NASA/00_Data_Reference.xlsm!pptxCover!R21C2</vt:lpstr>
      <vt:lpstr>PowerPoint Presentation</vt:lpstr>
      <vt:lpstr>Appraisal Overview  评估概述</vt:lpstr>
      <vt:lpstr>PowerPoint Presentation</vt:lpstr>
      <vt:lpstr>Appraisal Principles</vt:lpstr>
      <vt:lpstr>PowerPoint Presentation</vt:lpstr>
      <vt:lpstr>About Preliminary Findings</vt:lpstr>
      <vt:lpstr>Virtual appraisals – code of conduct</vt:lpstr>
      <vt:lpstr>Findings Definitions – Required Categories</vt:lpstr>
      <vt:lpstr>Practice Area Findings 实践域发现</vt:lpstr>
      <vt:lpstr>Causal Analysis and Resolution (CAR) 原因分析与解决</vt:lpstr>
      <vt:lpstr>Configuration Management (CM) 配置管理</vt:lpstr>
      <vt:lpstr>Decision Analysis and Resolution (DAR) 决策分析与解决</vt:lpstr>
      <vt:lpstr>Estimating (EST) 估算</vt:lpstr>
      <vt:lpstr>Governance (GOV) 管治</vt:lpstr>
      <vt:lpstr>Implementation Infrastructure (II) 实施基础条件</vt:lpstr>
      <vt:lpstr>Managing Performance and Measurement (MPM) 管理绩效与度量</vt:lpstr>
      <vt:lpstr>Monitor and Control (MC) 控制与监督</vt:lpstr>
      <vt:lpstr>Organizational Training (OT) 组织级培训</vt:lpstr>
      <vt:lpstr>Peer Reviews (PR) 同行评审</vt:lpstr>
      <vt:lpstr>Planning (PLAN) 策划</vt:lpstr>
      <vt:lpstr>Process Asset Development (PAD) 过程资产开发</vt:lpstr>
      <vt:lpstr>Process Management (PCM) 过程管理</vt:lpstr>
      <vt:lpstr>Process Quality Assurance (PQA) 过程质量保证</vt:lpstr>
      <vt:lpstr>Product Integration (PI) 产品集成</vt:lpstr>
      <vt:lpstr>Requirements Development and Management (RDM) 需求开发与管理</vt:lpstr>
      <vt:lpstr>Risk and Opportunity Management (RSK) 风险与机会管理</vt:lpstr>
      <vt:lpstr>Technical Solution (TS) 技术解决方案</vt:lpstr>
      <vt:lpstr>Verification and Validation (VV) 验证与确认</vt:lpstr>
      <vt:lpstr>PowerPoint Presentation</vt:lpstr>
    </vt:vector>
  </TitlesOfParts>
  <Company>ISACA-CMMI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MDD-Toolkit-Appraisal Final Findings Template</dc:title>
  <dc:creator>ISACA-CMMI</dc:creator>
  <cp:lastModifiedBy>Melanie Van Zyl</cp:lastModifiedBy>
  <cp:revision>2</cp:revision>
  <dcterms:created xsi:type="dcterms:W3CDTF">2018-03-14T12:19:45Z</dcterms:created>
  <dcterms:modified xsi:type="dcterms:W3CDTF">2026-01-05T05:02:57Z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0x010100F041F74863103D4C9C3AA0A07291BB02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TemplateUrl">
    <vt:lpwstr/>
  </property>
  <property fmtid="{D5CDD505-2E9C-101B-9397-08002B2CF9AE}" pid="6" name="ComplianceAssetId">
    <vt:lpwstr/>
  </property>
  <property fmtid="{D5CDD505-2E9C-101B-9397-08002B2CF9AE}" pid="7" name="AuthorIds_UIVersion_3601">
    <vt:lpwstr>40</vt:lpwstr>
  </property>
  <property fmtid="{D5CDD505-2E9C-101B-9397-08002B2CF9AE}" pid="8" name="_ShortcutWebId">
    <vt:lpwstr/>
  </property>
  <property fmtid="{D5CDD505-2E9C-101B-9397-08002B2CF9AE}" pid="9" name="_ShortcutUniqueId">
    <vt:lpwstr/>
  </property>
  <property fmtid="{D5CDD505-2E9C-101B-9397-08002B2CF9AE}" pid="10" name="_ShortcutSiteId">
    <vt:lpwstr/>
  </property>
  <property fmtid="{D5CDD505-2E9C-101B-9397-08002B2CF9AE}" pid="11" name="Class">
    <vt:lpwstr/>
  </property>
  <property fmtid="{D5CDD505-2E9C-101B-9397-08002B2CF9AE}" pid="12" name="Model Component">
    <vt:lpwstr/>
  </property>
  <property fmtid="{D5CDD505-2E9C-101B-9397-08002B2CF9AE}" pid="13" name="_ShortcutUrl">
    <vt:lpwstr/>
  </property>
  <property fmtid="{D5CDD505-2E9C-101B-9397-08002B2CF9AE}" pid="14" name="Class Component">
    <vt:lpwstr/>
  </property>
  <property fmtid="{D5CDD505-2E9C-101B-9397-08002B2CF9AE}" pid="15" name="MediaServiceImageTags">
    <vt:lpwstr/>
  </property>
</Properties>
</file>