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8"/>
  </p:notesMasterIdLst>
  <p:handoutMasterIdLst>
    <p:handoutMasterId r:id="rId59"/>
  </p:handoutMasterIdLst>
  <p:sldIdLst>
    <p:sldId id="256" r:id="rId5"/>
    <p:sldId id="1553" r:id="rId6"/>
    <p:sldId id="1550" r:id="rId7"/>
    <p:sldId id="1541" r:id="rId8"/>
    <p:sldId id="270" r:id="rId9"/>
    <p:sldId id="928" r:id="rId10"/>
    <p:sldId id="913" r:id="rId11"/>
    <p:sldId id="1497" r:id="rId12"/>
    <p:sldId id="1543" r:id="rId13"/>
    <p:sldId id="310" r:id="rId14"/>
    <p:sldId id="274" r:id="rId15"/>
    <p:sldId id="914" r:id="rId16"/>
    <p:sldId id="930" r:id="rId17"/>
    <p:sldId id="1506" r:id="rId18"/>
    <p:sldId id="1507" r:id="rId19"/>
    <p:sldId id="1498" r:id="rId20"/>
    <p:sldId id="923" r:id="rId21"/>
    <p:sldId id="1544" r:id="rId22"/>
    <p:sldId id="887" r:id="rId23"/>
    <p:sldId id="888" r:id="rId24"/>
    <p:sldId id="889" r:id="rId25"/>
    <p:sldId id="890" r:id="rId26"/>
    <p:sldId id="891" r:id="rId27"/>
    <p:sldId id="892" r:id="rId28"/>
    <p:sldId id="894" r:id="rId29"/>
    <p:sldId id="895" r:id="rId30"/>
    <p:sldId id="896" r:id="rId31"/>
    <p:sldId id="897" r:id="rId32"/>
    <p:sldId id="898" r:id="rId33"/>
    <p:sldId id="899" r:id="rId34"/>
    <p:sldId id="900" r:id="rId35"/>
    <p:sldId id="901" r:id="rId36"/>
    <p:sldId id="902" r:id="rId37"/>
    <p:sldId id="903" r:id="rId38"/>
    <p:sldId id="904" r:id="rId39"/>
    <p:sldId id="906" r:id="rId40"/>
    <p:sldId id="907" r:id="rId41"/>
    <p:sldId id="1548" r:id="rId42"/>
    <p:sldId id="910" r:id="rId43"/>
    <p:sldId id="919" r:id="rId44"/>
    <p:sldId id="1538" r:id="rId45"/>
    <p:sldId id="1546" r:id="rId46"/>
    <p:sldId id="360" r:id="rId47"/>
    <p:sldId id="1551" r:id="rId48"/>
    <p:sldId id="1504" r:id="rId49"/>
    <p:sldId id="1500" r:id="rId50"/>
    <p:sldId id="1574" r:id="rId51"/>
    <p:sldId id="1503" r:id="rId52"/>
    <p:sldId id="1510" r:id="rId53"/>
    <p:sldId id="989" r:id="rId54"/>
    <p:sldId id="1575" r:id="rId55"/>
    <p:sldId id="1475" r:id="rId56"/>
    <p:sldId id="1509"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2" pos="665" userDrawn="1">
          <p15:clr>
            <a:srgbClr val="A4A3A4"/>
          </p15:clr>
        </p15:guide>
        <p15:guide id="3" orient="horz" pos="129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een Harrison" initials="KH" lastIdx="5" clrIdx="0">
    <p:extLst>
      <p:ext uri="{19B8F6BF-5375-455C-9EA6-DF929625EA0E}">
        <p15:presenceInfo xmlns:p15="http://schemas.microsoft.com/office/powerpoint/2012/main" userId="S::kharrison@cmmiinstitute.com::066fb363-8edf-4a5b-8ebc-c72612b552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23DAD3-2669-4942-A220-489AF69BEF5B}" v="2" dt="2025-09-15T05:02:49.9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36" autoAdjust="0"/>
    <p:restoredTop sz="91632" autoAdjust="0"/>
  </p:normalViewPr>
  <p:slideViewPr>
    <p:cSldViewPr snapToGrid="0">
      <p:cViewPr varScale="1">
        <p:scale>
          <a:sx n="93" d="100"/>
          <a:sy n="93" d="100"/>
        </p:scale>
        <p:origin x="1350" y="306"/>
      </p:cViewPr>
      <p:guideLst>
        <p:guide orient="horz" pos="572"/>
        <p:guide pos="665"/>
        <p:guide orient="horz" pos="129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66"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commentAuthors" Target="commentAuthors.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anie Spies" userId="S::melanie.spies@demix.org::ef25dda8-0341-4aab-b4c7-f9ee53be8909" providerId="AD" clId="Web-{5AB07490-CEFC-CE00-B4AB-91F0D8851C09}"/>
    <pc:docChg chg="modSld">
      <pc:chgData name="Melanie Spies" userId="S::melanie.spies@demix.org::ef25dda8-0341-4aab-b4c7-f9ee53be8909" providerId="AD" clId="Web-{5AB07490-CEFC-CE00-B4AB-91F0D8851C09}" dt="2025-08-04T09:01:11.634" v="16" actId="20577"/>
      <pc:docMkLst>
        <pc:docMk/>
      </pc:docMkLst>
      <pc:sldChg chg="modSp">
        <pc:chgData name="Melanie Spies" userId="S::melanie.spies@demix.org::ef25dda8-0341-4aab-b4c7-f9ee53be8909" providerId="AD" clId="Web-{5AB07490-CEFC-CE00-B4AB-91F0D8851C09}" dt="2025-08-04T09:01:11.634" v="16" actId="20577"/>
        <pc:sldMkLst>
          <pc:docMk/>
          <pc:sldMk cId="3546818394" sldId="1575"/>
        </pc:sldMkLst>
      </pc:sldChg>
    </pc:docChg>
  </pc:docChgLst>
  <pc:docChgLst>
    <pc:chgData name="Melanie Spies" userId="ef25dda8-0341-4aab-b4c7-f9ee53be8909" providerId="ADAL" clId="{58349FDB-4F03-45F7-9587-A31371CABC64}"/>
    <pc:docChg chg="modSld">
      <pc:chgData name="Melanie Spies" userId="ef25dda8-0341-4aab-b4c7-f9ee53be8909" providerId="ADAL" clId="{58349FDB-4F03-45F7-9587-A31371CABC64}" dt="2025-09-15T05:02:49.995" v="1"/>
      <pc:docMkLst>
        <pc:docMk/>
      </pc:docMkLst>
      <pc:sldChg chg="addSp delSp modSp">
        <pc:chgData name="Melanie Spies" userId="ef25dda8-0341-4aab-b4c7-f9ee53be8909" providerId="ADAL" clId="{58349FDB-4F03-45F7-9587-A31371CABC64}" dt="2025-09-15T05:02:49.995" v="1"/>
        <pc:sldMkLst>
          <pc:docMk/>
          <pc:sldMk cId="979269506" sldId="1553"/>
        </pc:sldMkLst>
        <pc:picChg chg="add mod">
          <ac:chgData name="Melanie Spies" userId="ef25dda8-0341-4aab-b4c7-f9ee53be8909" providerId="ADAL" clId="{58349FDB-4F03-45F7-9587-A31371CABC64}" dt="2025-09-15T05:02:49.995" v="1"/>
          <ac:picMkLst>
            <pc:docMk/>
            <pc:sldMk cId="979269506" sldId="1553"/>
            <ac:picMk id="11" creationId="{C7511AF9-9DDC-D3FE-E2B7-23997BFF7E03}"/>
          </ac:picMkLst>
        </pc:picChg>
        <pc:picChg chg="del">
          <ac:chgData name="Melanie Spies" userId="ef25dda8-0341-4aab-b4c7-f9ee53be8909" providerId="ADAL" clId="{58349FDB-4F03-45F7-9587-A31371CABC64}" dt="2025-09-15T05:02:39.075" v="0" actId="478"/>
          <ac:picMkLst>
            <pc:docMk/>
            <pc:sldMk cId="979269506" sldId="1553"/>
            <ac:picMk id="12" creationId="{418A0F27-07B8-024D-872C-BA34A00A1B7B}"/>
          </ac:picMkLst>
        </pc:picChg>
        <pc:picChg chg="add mod">
          <ac:chgData name="Melanie Spies" userId="ef25dda8-0341-4aab-b4c7-f9ee53be8909" providerId="ADAL" clId="{58349FDB-4F03-45F7-9587-A31371CABC64}" dt="2025-09-15T05:02:49.995" v="1"/>
          <ac:picMkLst>
            <pc:docMk/>
            <pc:sldMk cId="979269506" sldId="1553"/>
            <ac:picMk id="13" creationId="{6ED20F75-AD49-6B89-8D12-E802056B11C7}"/>
          </ac:picMkLst>
        </pc:picChg>
        <pc:picChg chg="add mod">
          <ac:chgData name="Melanie Spies" userId="ef25dda8-0341-4aab-b4c7-f9ee53be8909" providerId="ADAL" clId="{58349FDB-4F03-45F7-9587-A31371CABC64}" dt="2025-09-15T05:02:49.995" v="1"/>
          <ac:picMkLst>
            <pc:docMk/>
            <pc:sldMk cId="979269506" sldId="1553"/>
            <ac:picMk id="14" creationId="{7E5E8D86-C26E-2913-0B3F-91DB52533455}"/>
          </ac:picMkLst>
        </pc:picChg>
        <pc:picChg chg="add mod">
          <ac:chgData name="Melanie Spies" userId="ef25dda8-0341-4aab-b4c7-f9ee53be8909" providerId="ADAL" clId="{58349FDB-4F03-45F7-9587-A31371CABC64}" dt="2025-09-15T05:02:49.995" v="1"/>
          <ac:picMkLst>
            <pc:docMk/>
            <pc:sldMk cId="979269506" sldId="1553"/>
            <ac:picMk id="15" creationId="{AA70989F-A34B-1CEE-79EB-CFFE2B8CFFD1}"/>
          </ac:picMkLst>
        </pc:picChg>
        <pc:picChg chg="del">
          <ac:chgData name="Melanie Spies" userId="ef25dda8-0341-4aab-b4c7-f9ee53be8909" providerId="ADAL" clId="{58349FDB-4F03-45F7-9587-A31371CABC64}" dt="2025-09-15T05:02:39.075" v="0" actId="478"/>
          <ac:picMkLst>
            <pc:docMk/>
            <pc:sldMk cId="979269506" sldId="1553"/>
            <ac:picMk id="39" creationId="{528DADE8-D1C4-46AD-8EA1-39B725B1FB4D}"/>
          </ac:picMkLst>
        </pc:picChg>
        <pc:picChg chg="del">
          <ac:chgData name="Melanie Spies" userId="ef25dda8-0341-4aab-b4c7-f9ee53be8909" providerId="ADAL" clId="{58349FDB-4F03-45F7-9587-A31371CABC64}" dt="2025-09-15T05:02:39.075" v="0" actId="478"/>
          <ac:picMkLst>
            <pc:docMk/>
            <pc:sldMk cId="979269506" sldId="1553"/>
            <ac:picMk id="2052" creationId="{A29F4551-CAAD-E1A3-5ECA-FD1BF7217D01}"/>
          </ac:picMkLst>
        </pc:picChg>
        <pc:picChg chg="del">
          <ac:chgData name="Melanie Spies" userId="ef25dda8-0341-4aab-b4c7-f9ee53be8909" providerId="ADAL" clId="{58349FDB-4F03-45F7-9587-A31371CABC64}" dt="2025-09-15T05:02:39.075" v="0" actId="478"/>
          <ac:picMkLst>
            <pc:docMk/>
            <pc:sldMk cId="979269506" sldId="1553"/>
            <ac:picMk id="2054" creationId="{16CD5BCC-1DFD-47FE-6550-69934F2DFEE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D12530-4A8B-41BC-A28E-0663BC5734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CBDF21-21FA-4508-B148-E15B854EE3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19E496-E8FF-4856-B08F-DBE14D18B236}" type="datetimeFigureOut">
              <a:rPr lang="en-US" smtClean="0"/>
              <a:t>9/15/2025</a:t>
            </a:fld>
            <a:endParaRPr lang="en-US" dirty="0"/>
          </a:p>
        </p:txBody>
      </p:sp>
      <p:sp>
        <p:nvSpPr>
          <p:cNvPr id="4" name="Footer Placeholder 3">
            <a:extLst>
              <a:ext uri="{FF2B5EF4-FFF2-40B4-BE49-F238E27FC236}">
                <a16:creationId xmlns:a16="http://schemas.microsoft.com/office/drawing/2014/main" id="{9B51EC23-CDF3-4827-AE9E-C49A859BD4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0402880-E203-4DFE-B721-9D7EB321BB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940B20-082D-4EEF-8BA5-D9F0CCFBDE79}" type="slidenum">
              <a:rPr lang="en-US" smtClean="0"/>
              <a:t>‹#›</a:t>
            </a:fld>
            <a:endParaRPr lang="en-US" dirty="0"/>
          </a:p>
        </p:txBody>
      </p:sp>
    </p:spTree>
    <p:extLst>
      <p:ext uri="{BB962C8B-B14F-4D97-AF65-F5344CB8AC3E}">
        <p14:creationId xmlns:p14="http://schemas.microsoft.com/office/powerpoint/2010/main" val="3079986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72F63B-EF0F-9942-98B2-F67CC88AF236}" type="datetimeFigureOut">
              <a:rPr lang="en-US" smtClean="0"/>
              <a:t>9/15/2025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13DA5-2DE0-6D49-B0F1-8E4B6A1CBA23}" type="slidenum">
              <a:rPr lang="en-US" smtClean="0"/>
              <a:t>‹#›</a:t>
            </a:fld>
            <a:endParaRPr lang="en-US" dirty="0"/>
          </a:p>
        </p:txBody>
      </p:sp>
    </p:spTree>
    <p:extLst>
      <p:ext uri="{BB962C8B-B14F-4D97-AF65-F5344CB8AC3E}">
        <p14:creationId xmlns:p14="http://schemas.microsoft.com/office/powerpoint/2010/main" val="141208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9613" y="4919663"/>
            <a:ext cx="5680075" cy="4025900"/>
          </a:xfrm>
          <a:prstGeom prst="rect">
            <a:avLst/>
          </a:prstGeom>
        </p:spPr>
        <p:txBody>
          <a:bodyPr/>
          <a:lstStyle/>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Introduction. Also an opportunity to talk a bit about </a:t>
            </a:r>
            <a:r>
              <a:rPr lang="en-ZA" altLang="zh-CN" dirty="0" err="1"/>
              <a:t>Demix</a:t>
            </a:r>
            <a:endParaRPr lang="en-ZA" altLang="zh-CN" dirty="0"/>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err="1"/>
              <a:t>Demix</a:t>
            </a:r>
            <a:r>
              <a:rPr lang="en-ZA" altLang="zh-CN" dirty="0"/>
              <a:t> has </a:t>
            </a:r>
            <a:r>
              <a:rPr lang="en-ZA" altLang="zh-CN" dirty="0" err="1"/>
              <a:t>LAs</a:t>
            </a:r>
            <a:r>
              <a:rPr lang="en-ZA" altLang="zh-CN" dirty="0"/>
              <a:t> from across the globe and performs appraisals around the world</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is one of the largest CMMI services providers globally</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also provide other citification services, such as ISO, COBIT, MAX</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It is a pleasure and honour to be here with you today. We are looking forward to work with you and your team over the coming days.</a:t>
            </a:r>
          </a:p>
          <a:p>
            <a:pPr marL="0" marR="0" indent="0" algn="l" defTabSz="914400" rtl="0" eaLnBrk="0" fontAlgn="base" latinLnBrk="0" hangingPunct="0">
              <a:lnSpc>
                <a:spcPct val="89000"/>
              </a:lnSpc>
              <a:spcBef>
                <a:spcPct val="40000"/>
              </a:spcBef>
              <a:spcAft>
                <a:spcPct val="0"/>
              </a:spcAft>
              <a:buClrTx/>
              <a:buSzTx/>
              <a:buFontTx/>
              <a:buNone/>
              <a:tabLst/>
              <a:defRPr/>
            </a:pPr>
            <a:r>
              <a:rPr lang="zh-TW" altLang="en-US" dirty="0"/>
              <a:t>早晨好。今天我很高興和榮幸來到這裡，我期待著在未來的几天里與您和您的團隊一起工作。</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p:txBody>
      </p:sp>
    </p:spTree>
    <p:extLst>
      <p:ext uri="{BB962C8B-B14F-4D97-AF65-F5344CB8AC3E}">
        <p14:creationId xmlns:p14="http://schemas.microsoft.com/office/powerpoint/2010/main" val="3008295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in this section should come from the appraisal plan. The idea here is not to duplicate the contents of the plan, but to provide a summary for the Appraisal Sponsor, and the personnel from the OU who will see these findings.</a:t>
            </a:r>
          </a:p>
          <a:p>
            <a:endParaRPr lang="en-US" dirty="0"/>
          </a:p>
          <a:p>
            <a:r>
              <a:rPr lang="en-US" dirty="0"/>
              <a:t>The ATL may add additional information to the final findings presentation, but this minimum content must be present.</a:t>
            </a:r>
          </a:p>
        </p:txBody>
      </p:sp>
      <p:sp>
        <p:nvSpPr>
          <p:cNvPr id="4" name="Slide Number Placeholder 3"/>
          <p:cNvSpPr>
            <a:spLocks noGrp="1"/>
          </p:cNvSpPr>
          <p:nvPr>
            <p:ph type="sldNum" sz="quarter" idx="10"/>
          </p:nvPr>
        </p:nvSpPr>
        <p:spPr/>
        <p:txBody>
          <a:bodyPr/>
          <a:lstStyle/>
          <a:p>
            <a:fld id="{3FC13DA5-2DE0-6D49-B0F1-8E4B6A1CBA23}" type="slidenum">
              <a:rPr lang="en-US" smtClean="0"/>
              <a:t>4</a:t>
            </a:fld>
            <a:endParaRPr lang="en-US" dirty="0"/>
          </a:p>
        </p:txBody>
      </p:sp>
    </p:spTree>
    <p:extLst>
      <p:ext uri="{BB962C8B-B14F-4D97-AF65-F5344CB8AC3E}">
        <p14:creationId xmlns:p14="http://schemas.microsoft.com/office/powerpoint/2010/main" val="3320220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a:ln/>
        </p:spPr>
      </p:sp>
      <p:sp>
        <p:nvSpPr>
          <p:cNvPr id="1433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r>
              <a:rPr lang="en-US" altLang="en-US" dirty="0">
                <a:ea typeface="ＭＳ Ｐゴシック" charset="-128"/>
              </a:rPr>
              <a:t>This is information that must be recorded in the appraisal plan.</a:t>
            </a:r>
          </a:p>
        </p:txBody>
      </p:sp>
      <p:sp>
        <p:nvSpPr>
          <p:cNvPr id="1433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190328F4-35F9-3242-B9C3-9FCDBB1E7F95}" type="slidenum">
              <a:rPr lang="en-US" altLang="en-US" sz="1200" b="0">
                <a:solidFill>
                  <a:schemeClr val="tx1"/>
                </a:solidFill>
              </a:rPr>
              <a:pPr/>
              <a:t>5</a:t>
            </a:fld>
            <a:endParaRPr lang="en-US" altLang="en-US" sz="1200" b="0" dirty="0">
              <a:solidFill>
                <a:schemeClr val="tx1"/>
              </a:solidFill>
            </a:endParaRPr>
          </a:p>
        </p:txBody>
      </p:sp>
    </p:spTree>
    <p:extLst>
      <p:ext uri="{BB962C8B-B14F-4D97-AF65-F5344CB8AC3E}">
        <p14:creationId xmlns:p14="http://schemas.microsoft.com/office/powerpoint/2010/main" val="3161872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a:ln/>
        </p:spPr>
      </p:sp>
      <p:sp>
        <p:nvSpPr>
          <p:cNvPr id="1433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r>
              <a:rPr lang="en-US" altLang="en-US" dirty="0">
                <a:ea typeface="ＭＳ Ｐゴシック" charset="-128"/>
              </a:rPr>
              <a:t>This is information that must be recorded in the appraisal plan.</a:t>
            </a:r>
          </a:p>
        </p:txBody>
      </p:sp>
      <p:sp>
        <p:nvSpPr>
          <p:cNvPr id="1433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190328F4-35F9-3242-B9C3-9FCDBB1E7F95}" type="slidenum">
              <a:rPr lang="en-US" altLang="en-US" sz="1200" b="0">
                <a:solidFill>
                  <a:schemeClr val="tx1"/>
                </a:solidFill>
              </a:rPr>
              <a:pPr/>
              <a:t>6</a:t>
            </a:fld>
            <a:endParaRPr lang="en-US" altLang="en-US" sz="1200" b="0" dirty="0">
              <a:solidFill>
                <a:schemeClr val="tx1"/>
              </a:solidFill>
            </a:endParaRPr>
          </a:p>
        </p:txBody>
      </p:sp>
    </p:spTree>
    <p:extLst>
      <p:ext uri="{BB962C8B-B14F-4D97-AF65-F5344CB8AC3E}">
        <p14:creationId xmlns:p14="http://schemas.microsoft.com/office/powerpoint/2010/main" val="2646704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a:ln/>
        </p:spPr>
      </p:sp>
      <p:sp>
        <p:nvSpPr>
          <p:cNvPr id="2048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dirty="0">
              <a:ea typeface="ＭＳ Ｐゴシック" charset="-128"/>
            </a:endParaRPr>
          </a:p>
        </p:txBody>
      </p:sp>
      <p:sp>
        <p:nvSpPr>
          <p:cNvPr id="20483"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4B35EA84-EF00-9842-8E6A-A2B5DD6BA8D8}" type="slidenum">
              <a:rPr lang="en-US" altLang="en-US" sz="1200" b="0">
                <a:solidFill>
                  <a:schemeClr val="tx1"/>
                </a:solidFill>
              </a:rPr>
              <a:pPr/>
              <a:t>7</a:t>
            </a:fld>
            <a:endParaRPr lang="en-US" altLang="en-US" sz="1200" b="0" dirty="0">
              <a:solidFill>
                <a:schemeClr val="tx1"/>
              </a:solidFill>
            </a:endParaRPr>
          </a:p>
        </p:txBody>
      </p:sp>
    </p:spTree>
    <p:extLst>
      <p:ext uri="{BB962C8B-B14F-4D97-AF65-F5344CB8AC3E}">
        <p14:creationId xmlns:p14="http://schemas.microsoft.com/office/powerpoint/2010/main" val="1570466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p:sp>
      <p:sp>
        <p:nvSpPr>
          <p:cNvPr id="28675" name="Notes Placeholder 2"/>
          <p:cNvSpPr>
            <a:spLocks noGrp="1"/>
          </p:cNvSpPr>
          <p:nvPr>
            <p:ph type="body" idx="1"/>
          </p:nvPr>
        </p:nvSpPr>
        <p:spPr bwMode="auto">
          <a:xfrm>
            <a:off x="709613" y="4856163"/>
            <a:ext cx="5680075" cy="46005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984" tIns="49492" rIns="98984" bIns="49492"/>
          <a:lstStyle/>
          <a:p>
            <a:r>
              <a:rPr lang="en-ZA" altLang="zh-CN" dirty="0"/>
              <a:t>1, what ever you share</a:t>
            </a:r>
            <a:r>
              <a:rPr lang="en-ZA" altLang="zh-CN" baseline="0" dirty="0"/>
              <a:t> is confidential with the ATM’s and </a:t>
            </a:r>
          </a:p>
          <a:p>
            <a:r>
              <a:rPr lang="en-ZA" altLang="zh-CN" baseline="0" dirty="0"/>
              <a:t>2, non – your name will not appear in any reports        </a:t>
            </a:r>
          </a:p>
          <a:p>
            <a:r>
              <a:rPr lang="en-ZA" altLang="zh-CN" baseline="0" dirty="0"/>
              <a:t>collaboratively – we have representation from your side as well as ours  last at the end there are always weaknesses and from there an improvement action is always undertaken</a:t>
            </a:r>
            <a:endParaRPr lang="zh-CN" altLang="zh-CN" dirty="0"/>
          </a:p>
        </p:txBody>
      </p:sp>
    </p:spTree>
    <p:extLst>
      <p:ext uri="{BB962C8B-B14F-4D97-AF65-F5344CB8AC3E}">
        <p14:creationId xmlns:p14="http://schemas.microsoft.com/office/powerpoint/2010/main" val="2865418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3FC13DA5-2DE0-6D49-B0F1-8E4B6A1CBA23}" type="slidenum">
              <a:rPr lang="en-US" smtClean="0"/>
              <a:t>9</a:t>
            </a:fld>
            <a:endParaRPr lang="en-US" dirty="0"/>
          </a:p>
        </p:txBody>
      </p:sp>
    </p:spTree>
    <p:extLst>
      <p:ext uri="{BB962C8B-B14F-4D97-AF65-F5344CB8AC3E}">
        <p14:creationId xmlns:p14="http://schemas.microsoft.com/office/powerpoint/2010/main" val="1135651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100" b="1">
                <a:solidFill>
                  <a:srgbClr val="000000"/>
                </a:solidFill>
                <a:latin typeface="Arial" charset="0"/>
                <a:ea typeface="ＭＳ Ｐゴシック" charset="-128"/>
              </a:defRPr>
            </a:lvl1pPr>
            <a:lvl2pPr marL="742950" indent="-285750" defTabSz="930275">
              <a:defRPr sz="1100" b="1">
                <a:solidFill>
                  <a:srgbClr val="000000"/>
                </a:solidFill>
                <a:latin typeface="Arial" charset="0"/>
                <a:ea typeface="ＭＳ Ｐゴシック" charset="-128"/>
              </a:defRPr>
            </a:lvl2pPr>
            <a:lvl3pPr marL="1143000" indent="-228600" defTabSz="930275">
              <a:defRPr sz="1100" b="1">
                <a:solidFill>
                  <a:srgbClr val="000000"/>
                </a:solidFill>
                <a:latin typeface="Arial" charset="0"/>
                <a:ea typeface="ＭＳ Ｐゴシック" charset="-128"/>
              </a:defRPr>
            </a:lvl3pPr>
            <a:lvl4pPr marL="1600200" indent="-228600" defTabSz="930275">
              <a:defRPr sz="1100" b="1">
                <a:solidFill>
                  <a:srgbClr val="000000"/>
                </a:solidFill>
                <a:latin typeface="Arial" charset="0"/>
                <a:ea typeface="ＭＳ Ｐゴシック" charset="-128"/>
              </a:defRPr>
            </a:lvl4pPr>
            <a:lvl5pPr marL="2057400" indent="-228600" defTabSz="930275">
              <a:defRPr sz="1100" b="1">
                <a:solidFill>
                  <a:srgbClr val="000000"/>
                </a:solidFill>
                <a:latin typeface="Arial" charset="0"/>
                <a:ea typeface="ＭＳ Ｐゴシック" charset="-128"/>
              </a:defRPr>
            </a:lvl5pPr>
            <a:lvl6pPr marL="25146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9pPr>
          </a:lstStyle>
          <a:p>
            <a:fld id="{8BEF3818-E2D8-F947-8FE2-5E7634526F96}" type="slidenum">
              <a:rPr lang="en-US" altLang="en-US" sz="1200" b="0">
                <a:solidFill>
                  <a:schemeClr val="tx1"/>
                </a:solidFill>
              </a:rPr>
              <a:pPr/>
              <a:t>10</a:t>
            </a:fld>
            <a:endParaRPr lang="en-US" altLang="en-US" sz="1200" b="0" dirty="0">
              <a:solidFill>
                <a:schemeClr val="tx1"/>
              </a:solidFill>
            </a:endParaRPr>
          </a:p>
        </p:txBody>
      </p:sp>
      <p:sp>
        <p:nvSpPr>
          <p:cNvPr id="36866" name="Rectangle 2"/>
          <p:cNvSpPr>
            <a:spLocks noGrp="1" noRot="1" noChangeAspect="1" noChangeArrowheads="1" noTextEdit="1"/>
          </p:cNvSpPr>
          <p:nvPr>
            <p:ph type="sldImg"/>
          </p:nvPr>
        </p:nvSpPr>
        <p:spPr>
          <a:xfrm>
            <a:off x="236538" y="614363"/>
            <a:ext cx="6534150" cy="3676650"/>
          </a:xfrm>
          <a:ln/>
        </p:spPr>
      </p:sp>
      <p:sp>
        <p:nvSpPr>
          <p:cNvPr id="36867" name="Rectangle 3"/>
          <p:cNvSpPr>
            <a:spLocks noGrp="1" noChangeArrowheads="1"/>
          </p:cNvSpPr>
          <p:nvPr>
            <p:ph type="body" idx="1"/>
          </p:nvPr>
        </p:nvSpPr>
        <p:spPr>
          <a:xfrm>
            <a:off x="933450" y="4416425"/>
            <a:ext cx="5141913"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r>
              <a:rPr lang="en-US" altLang="en-US" dirty="0">
                <a:ea typeface="ＭＳ Ｐゴシック" charset="-128"/>
              </a:rPr>
              <a:t>Take basic information from the appraisal plan.</a:t>
            </a:r>
          </a:p>
        </p:txBody>
      </p:sp>
    </p:spTree>
    <p:extLst>
      <p:ext uri="{BB962C8B-B14F-4D97-AF65-F5344CB8AC3E}">
        <p14:creationId xmlns:p14="http://schemas.microsoft.com/office/powerpoint/2010/main" val="14189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Make sure the version of the model is correct when this slide is built. Replace the bold, italicized </a:t>
            </a:r>
            <a:r>
              <a:rPr lang="en-US" b="1" i="1" dirty="0"/>
              <a:t>x</a:t>
            </a:r>
            <a:r>
              <a:rPr lang="en-US" b="0" i="0" dirty="0"/>
              <a:t> with the correct version number.</a:t>
            </a:r>
            <a:endParaRPr lang="en-US" dirty="0"/>
          </a:p>
          <a:p>
            <a:endParaRPr lang="en-US" dirty="0"/>
          </a:p>
        </p:txBody>
      </p:sp>
      <p:sp>
        <p:nvSpPr>
          <p:cNvPr id="4" name="Slide Number Placeholder 3"/>
          <p:cNvSpPr>
            <a:spLocks noGrp="1"/>
          </p:cNvSpPr>
          <p:nvPr>
            <p:ph type="sldNum" sz="quarter" idx="5"/>
          </p:nvPr>
        </p:nvSpPr>
        <p:spPr/>
        <p:txBody>
          <a:bodyPr/>
          <a:lstStyle/>
          <a:p>
            <a:fld id="{3FC13DA5-2DE0-6D49-B0F1-8E4B6A1CBA23}" type="slidenum">
              <a:rPr lang="en-US" smtClean="0"/>
              <a:t>11</a:t>
            </a:fld>
            <a:endParaRPr lang="en-US" dirty="0"/>
          </a:p>
        </p:txBody>
      </p:sp>
    </p:spTree>
    <p:extLst>
      <p:ext uri="{BB962C8B-B14F-4D97-AF65-F5344CB8AC3E}">
        <p14:creationId xmlns:p14="http://schemas.microsoft.com/office/powerpoint/2010/main" val="15933104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t>12</a:t>
            </a:fld>
            <a:endParaRPr lang="en-US" dirty="0"/>
          </a:p>
        </p:txBody>
      </p:sp>
    </p:spTree>
    <p:extLst>
      <p:ext uri="{BB962C8B-B14F-4D97-AF65-F5344CB8AC3E}">
        <p14:creationId xmlns:p14="http://schemas.microsoft.com/office/powerpoint/2010/main" val="609758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ATL can show the chart from the generated random sample, but there must be a description of the sampled projects and their selected CA/PA grouping.</a:t>
            </a:r>
          </a:p>
        </p:txBody>
      </p:sp>
      <p:sp>
        <p:nvSpPr>
          <p:cNvPr id="4" name="Slide Number Placeholder 3"/>
          <p:cNvSpPr>
            <a:spLocks noGrp="1"/>
          </p:cNvSpPr>
          <p:nvPr>
            <p:ph type="sldNum" sz="quarter" idx="10"/>
          </p:nvPr>
        </p:nvSpPr>
        <p:spPr/>
        <p:txBody>
          <a:bodyPr/>
          <a:lstStyle/>
          <a:p>
            <a:fld id="{3FC13DA5-2DE0-6D49-B0F1-8E4B6A1CBA23}" type="slidenum">
              <a:rPr lang="en-US" smtClean="0"/>
              <a:t>13</a:t>
            </a:fld>
            <a:endParaRPr lang="en-US" dirty="0"/>
          </a:p>
        </p:txBody>
      </p:sp>
    </p:spTree>
    <p:extLst>
      <p:ext uri="{BB962C8B-B14F-4D97-AF65-F5344CB8AC3E}">
        <p14:creationId xmlns:p14="http://schemas.microsoft.com/office/powerpoint/2010/main" val="7579963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t>17</a:t>
            </a:fld>
            <a:endParaRPr lang="en-US" dirty="0"/>
          </a:p>
        </p:txBody>
      </p:sp>
    </p:spTree>
    <p:extLst>
      <p:ext uri="{BB962C8B-B14F-4D97-AF65-F5344CB8AC3E}">
        <p14:creationId xmlns:p14="http://schemas.microsoft.com/office/powerpoint/2010/main" val="23651911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practice, enter the OU-Level characterization (FM, LM, PM, DM, NY). The chart will set a color.</a:t>
            </a:r>
          </a:p>
          <a:p>
            <a:endParaRPr lang="en-US" dirty="0"/>
          </a:p>
          <a:p>
            <a:r>
              <a:rPr lang="en-US" dirty="0"/>
              <a:t>Based on the characterizations of all practices in each practice level, set the Practice Level rating to “S” (Satisfied) or “U” (Unsatisfied).</a:t>
            </a:r>
          </a:p>
          <a:p>
            <a:endParaRPr lang="en-US" dirty="0"/>
          </a:p>
          <a:p>
            <a:r>
              <a:rPr lang="en-US" dirty="0"/>
              <a:t>The PA Rating is the Highest Practice Level at which all practices for it, and all lower Practice Levels, are Satisfied.</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details, see the MDD, Activity 2.3.2 Determine Practice Group Ratings, and Activity </a:t>
            </a:r>
            <a:r>
              <a:rPr lang="en-US" b="0" dirty="0"/>
              <a:t>2.3.3 </a:t>
            </a:r>
            <a:r>
              <a:rPr lang="en-US" sz="1200" b="0" kern="1200" dirty="0">
                <a:solidFill>
                  <a:schemeClr val="tx1"/>
                </a:solidFill>
                <a:effectLst/>
                <a:latin typeface="+mn-lt"/>
                <a:ea typeface="+mn-ea"/>
                <a:cs typeface="+mn-cs"/>
              </a:rPr>
              <a:t>Determine Practice Area and Maturity Level or Capability Level Profile Rating.</a:t>
            </a:r>
            <a:endParaRPr lang="en-US" b="0" dirty="0"/>
          </a:p>
        </p:txBody>
      </p:sp>
      <p:sp>
        <p:nvSpPr>
          <p:cNvPr id="4" name="Slide Number Placeholder 3"/>
          <p:cNvSpPr>
            <a:spLocks noGrp="1"/>
          </p:cNvSpPr>
          <p:nvPr>
            <p:ph type="sldNum" sz="quarter" idx="10"/>
          </p:nvPr>
        </p:nvSpPr>
        <p:spPr/>
        <p:txBody>
          <a:bodyPr/>
          <a:lstStyle/>
          <a:p>
            <a:fld id="{3FC13DA5-2DE0-6D49-B0F1-8E4B6A1CBA23}" type="slidenum">
              <a:rPr lang="en-US" smtClean="0"/>
              <a:t>40</a:t>
            </a:fld>
            <a:endParaRPr lang="en-US" dirty="0"/>
          </a:p>
        </p:txBody>
      </p:sp>
    </p:spTree>
    <p:extLst>
      <p:ext uri="{BB962C8B-B14F-4D97-AF65-F5344CB8AC3E}">
        <p14:creationId xmlns:p14="http://schemas.microsoft.com/office/powerpoint/2010/main" val="38928043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practice, enter the OU-Level characterization (FM, LM, PM, DM, NY). The chart will set a color.</a:t>
            </a:r>
          </a:p>
          <a:p>
            <a:endParaRPr lang="en-US" dirty="0"/>
          </a:p>
          <a:p>
            <a:r>
              <a:rPr lang="en-US" dirty="0"/>
              <a:t>Based on the characterizations of all practices in each practice level, set the Practice Level rating to “S” (Satisfied) or “U” (Unsatisfied).</a:t>
            </a:r>
          </a:p>
          <a:p>
            <a:endParaRPr lang="en-US" dirty="0"/>
          </a:p>
          <a:p>
            <a:r>
              <a:rPr lang="en-US" dirty="0"/>
              <a:t>The PA Rating is the Highest Practice Level at which all practices for it, and all lower Practice Levels, are Satisfied.</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details, see the MDD, Activity 2.3.2 Determine Practice Group Ratings, and Activity </a:t>
            </a:r>
            <a:r>
              <a:rPr lang="en-US" b="0" dirty="0"/>
              <a:t>2.3.3 </a:t>
            </a:r>
            <a:r>
              <a:rPr lang="en-US" sz="1200" b="0" kern="1200" dirty="0">
                <a:solidFill>
                  <a:schemeClr val="tx1"/>
                </a:solidFill>
                <a:effectLst/>
                <a:latin typeface="+mn-lt"/>
                <a:ea typeface="+mn-ea"/>
                <a:cs typeface="+mn-cs"/>
              </a:rPr>
              <a:t>Determine Practice Area and Maturity Level or Capability Level Profile Rating.</a:t>
            </a:r>
            <a:endParaRPr lang="en-US" b="0" dirty="0"/>
          </a:p>
        </p:txBody>
      </p:sp>
      <p:sp>
        <p:nvSpPr>
          <p:cNvPr id="4" name="Slide Number Placeholder 3"/>
          <p:cNvSpPr>
            <a:spLocks noGrp="1"/>
          </p:cNvSpPr>
          <p:nvPr>
            <p:ph type="sldNum" sz="quarter" idx="10"/>
          </p:nvPr>
        </p:nvSpPr>
        <p:spPr/>
        <p:txBody>
          <a:bodyPr/>
          <a:lstStyle/>
          <a:p>
            <a:fld id="{3FC13DA5-2DE0-6D49-B0F1-8E4B6A1CBA23}" type="slidenum">
              <a:rPr lang="en-US" smtClean="0"/>
              <a:t>41</a:t>
            </a:fld>
            <a:endParaRPr lang="en-US" dirty="0"/>
          </a:p>
        </p:txBody>
      </p:sp>
    </p:spTree>
    <p:extLst>
      <p:ext uri="{BB962C8B-B14F-4D97-AF65-F5344CB8AC3E}">
        <p14:creationId xmlns:p14="http://schemas.microsoft.com/office/powerpoint/2010/main" val="17340913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F23F910F-CF68-3A42-8A98-855277189BF6}"/>
              </a:ext>
            </a:extLst>
          </p:cNvPr>
          <p:cNvSpPr>
            <a:spLocks noGrp="1" noRot="1" noChangeAspect="1" noTextEdit="1"/>
          </p:cNvSpPr>
          <p:nvPr>
            <p:ph type="sldImg"/>
          </p:nvPr>
        </p:nvSpPr>
        <p:spPr>
          <a:xfrm>
            <a:off x="398463" y="695325"/>
            <a:ext cx="6061075" cy="3409950"/>
          </a:xfrm>
        </p:spPr>
      </p:sp>
      <p:sp>
        <p:nvSpPr>
          <p:cNvPr id="93187" name="Notes Placeholder 2">
            <a:extLst>
              <a:ext uri="{FF2B5EF4-FFF2-40B4-BE49-F238E27FC236}">
                <a16:creationId xmlns:a16="http://schemas.microsoft.com/office/drawing/2014/main" id="{A732F319-5589-2747-BD21-24DAEA9E83B0}"/>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Tree>
    <p:extLst>
      <p:ext uri="{BB962C8B-B14F-4D97-AF65-F5344CB8AC3E}">
        <p14:creationId xmlns:p14="http://schemas.microsoft.com/office/powerpoint/2010/main" val="2781057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48DBD-6861-9443-ABFC-B68F7FC4F1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C8EBE0-674E-E14C-BF5A-2277457EB9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394448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982D3-B5B2-604E-8894-27346F93784F}"/>
              </a:ext>
            </a:extLst>
          </p:cNvPr>
          <p:cNvSpPr>
            <a:spLocks noGrp="1"/>
          </p:cNvSpPr>
          <p:nvPr>
            <p:ph type="title"/>
          </p:nvPr>
        </p:nvSpPr>
        <p:spPr>
          <a:xfrm>
            <a:off x="955964" y="960509"/>
            <a:ext cx="10397836" cy="602284"/>
          </a:xfrm>
        </p:spPr>
        <p:txBody>
          <a:bodyPr>
            <a:normAutofit/>
          </a:bodyPr>
          <a:lstStyle>
            <a:lvl1pPr>
              <a:defRPr sz="3200" b="1">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84CF33C6-B055-6244-B86B-3C81D067D45E}"/>
              </a:ext>
            </a:extLst>
          </p:cNvPr>
          <p:cNvSpPr>
            <a:spLocks noGrp="1"/>
          </p:cNvSpPr>
          <p:nvPr>
            <p:ph idx="1"/>
          </p:nvPr>
        </p:nvSpPr>
        <p:spPr>
          <a:xfrm>
            <a:off x="955962" y="1645919"/>
            <a:ext cx="10397837" cy="453104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045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C0A10-6417-4845-A710-C912A19BF0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CE0AD3-2F11-2548-A8B7-E12BBE4F45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468151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0988F-4DD4-B34F-ACAA-8CEF3DD319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145F42-98CE-024C-AE1D-1D828A0A6DD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92D5B5-C925-D342-A0BB-7B5AC43819A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846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EAFD3-29DE-9349-A0DA-3033DCE90F20}"/>
              </a:ext>
            </a:extLst>
          </p:cNvPr>
          <p:cNvSpPr>
            <a:spLocks noGrp="1"/>
          </p:cNvSpPr>
          <p:nvPr>
            <p:ph type="title"/>
          </p:nvPr>
        </p:nvSpPr>
        <p:spPr>
          <a:xfrm>
            <a:off x="839788" y="866776"/>
            <a:ext cx="10515600" cy="823912"/>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76B9A2-28E2-FC4E-BB3E-D80D55842A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988654B-5FDB-DE43-BE9E-C62E6CC2A90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F11820-D9F0-F84A-8BA7-C696340CA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A82BB8-18EA-6F4F-AC36-5A96594F654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8829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CC732-D1A0-3345-8796-9B608802EB0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48313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733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CCDD0-C745-004E-BBC9-C79A3ABAA447}"/>
              </a:ext>
            </a:extLst>
          </p:cNvPr>
          <p:cNvSpPr>
            <a:spLocks noGrp="1"/>
          </p:cNvSpPr>
          <p:nvPr>
            <p:ph type="title"/>
          </p:nvPr>
        </p:nvSpPr>
        <p:spPr>
          <a:xfrm>
            <a:off x="839788" y="987425"/>
            <a:ext cx="3932237" cy="1069974"/>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BC535FFB-2029-4641-A69B-2EB72A22CF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F37B1C-5062-C644-8590-D10E966CE539}"/>
              </a:ext>
            </a:extLst>
          </p:cNvPr>
          <p:cNvSpPr>
            <a:spLocks noGrp="1"/>
          </p:cNvSpPr>
          <p:nvPr>
            <p:ph type="body" sz="half" idx="2"/>
          </p:nvPr>
        </p:nvSpPr>
        <p:spPr>
          <a:xfrm>
            <a:off x="839788" y="2294312"/>
            <a:ext cx="3932237" cy="35746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extLst>
      <p:ext uri="{BB962C8B-B14F-4D97-AF65-F5344CB8AC3E}">
        <p14:creationId xmlns:p14="http://schemas.microsoft.com/office/powerpoint/2010/main" val="946128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1DDE-5CF8-9147-A11B-0EFC6B8155A1}"/>
              </a:ext>
            </a:extLst>
          </p:cNvPr>
          <p:cNvSpPr>
            <a:spLocks noGrp="1"/>
          </p:cNvSpPr>
          <p:nvPr>
            <p:ph type="title"/>
          </p:nvPr>
        </p:nvSpPr>
        <p:spPr>
          <a:xfrm>
            <a:off x="839788" y="987425"/>
            <a:ext cx="3932237" cy="1069974"/>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CF5909-A9FE-7341-A8D9-1CB7D35C5C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3837FC7-DD0D-6141-93DD-4C2B36A240AF}"/>
              </a:ext>
            </a:extLst>
          </p:cNvPr>
          <p:cNvSpPr>
            <a:spLocks noGrp="1"/>
          </p:cNvSpPr>
          <p:nvPr>
            <p:ph type="body" sz="half" idx="2"/>
          </p:nvPr>
        </p:nvSpPr>
        <p:spPr>
          <a:xfrm>
            <a:off x="839788" y="2302624"/>
            <a:ext cx="3932237" cy="35663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142866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61E6-C672-9B40-B472-25BC7EE6B9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4E2238-F94B-2141-B1ED-7911EB86CD0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302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DCBEBA-2D10-D04A-9561-8952D30E13F7}"/>
              </a:ext>
            </a:extLst>
          </p:cNvPr>
          <p:cNvSpPr>
            <a:spLocks noGrp="1"/>
          </p:cNvSpPr>
          <p:nvPr>
            <p:ph type="title" orient="vert"/>
          </p:nvPr>
        </p:nvSpPr>
        <p:spPr>
          <a:xfrm>
            <a:off x="8724900" y="997525"/>
            <a:ext cx="2628900" cy="517943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E68D5F-AEB5-1240-BFCF-EF0B5070753E}"/>
              </a:ext>
            </a:extLst>
          </p:cNvPr>
          <p:cNvSpPr>
            <a:spLocks noGrp="1"/>
          </p:cNvSpPr>
          <p:nvPr>
            <p:ph type="body" orient="vert" idx="1"/>
          </p:nvPr>
        </p:nvSpPr>
        <p:spPr>
          <a:xfrm>
            <a:off x="838200" y="997527"/>
            <a:ext cx="7734300" cy="517943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31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 1s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560299" y="907750"/>
            <a:ext cx="10021824" cy="539496"/>
          </a:xfrm>
        </p:spPr>
        <p:txBody>
          <a:bodyPr>
            <a:normAutofit/>
          </a:bodyPr>
          <a:lstStyle>
            <a:lvl1pPr>
              <a:defRPr sz="3200" b="1">
                <a:latin typeface="+mn-lt"/>
              </a:defRPr>
            </a:lvl1pPr>
          </a:lstStyle>
          <a:p>
            <a:r>
              <a:rPr lang="en-US"/>
              <a:t>Click to edit Master title style</a:t>
            </a:r>
          </a:p>
        </p:txBody>
      </p:sp>
      <p:sp>
        <p:nvSpPr>
          <p:cNvPr id="10" name="Content Placeholder 2">
            <a:extLst>
              <a:ext uri="{FF2B5EF4-FFF2-40B4-BE49-F238E27FC236}">
                <a16:creationId xmlns:a16="http://schemas.microsoft.com/office/drawing/2014/main" id="{C4E75C74-DD57-384F-B628-ADA3B1727358}"/>
              </a:ext>
            </a:extLst>
          </p:cNvPr>
          <p:cNvSpPr>
            <a:spLocks noGrp="1"/>
          </p:cNvSpPr>
          <p:nvPr>
            <p:ph idx="1"/>
          </p:nvPr>
        </p:nvSpPr>
        <p:spPr>
          <a:xfrm>
            <a:off x="466344" y="1463040"/>
            <a:ext cx="11265408" cy="1572768"/>
          </a:xfrm>
        </p:spPr>
        <p:txBody>
          <a:bodyPr/>
          <a:lstStyle>
            <a:lvl3pPr marL="914400" indent="0">
              <a:buNone/>
              <a:defRPr/>
            </a:lvl3pPr>
          </a:lstStyle>
          <a:p>
            <a:pPr lvl="0"/>
            <a:r>
              <a:rPr lang="en-US"/>
              <a:t>Edit Master text styles</a:t>
            </a:r>
          </a:p>
          <a:p>
            <a:pPr lvl="1"/>
            <a:r>
              <a:rPr lang="en-US"/>
              <a:t>Second level</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2990088"/>
            <a:ext cx="11265408" cy="3097485"/>
          </a:xfrm>
        </p:spPr>
        <p:txBody>
          <a:bodyPr>
            <a:normAutofit/>
          </a:bodyPr>
          <a:lstStyle>
            <a:lvl1pPr marL="0" indent="0">
              <a:buNone/>
              <a:defRPr sz="2400" b="1"/>
            </a:lvl1pPr>
          </a:lstStyle>
          <a:p>
            <a:pPr lvl="0"/>
            <a:r>
              <a:rPr lang="en-US" sz="2400" b="1"/>
              <a:t>Strengths:</a:t>
            </a:r>
          </a:p>
          <a:p>
            <a:pPr lvl="0"/>
            <a:endParaRPr lang="en-US" sz="2400" b="1"/>
          </a:p>
          <a:p>
            <a:pPr lvl="0"/>
            <a:endParaRPr lang="en-US" sz="2400" b="1"/>
          </a:p>
          <a:p>
            <a:pPr lvl="0"/>
            <a:r>
              <a:rPr lang="en-US" sz="2400" b="1"/>
              <a:t>Weaknesses:</a:t>
            </a:r>
          </a:p>
          <a:p>
            <a:pPr lvl="0"/>
            <a:endParaRPr lang="en-US" sz="2400" b="1"/>
          </a:p>
          <a:p>
            <a:pPr lvl="0"/>
            <a:endParaRPr lang="en-US" sz="2400" b="1"/>
          </a:p>
          <a:p>
            <a:pPr lvl="0"/>
            <a:r>
              <a:rPr lang="en-US" sz="2400" b="1"/>
              <a:t>Notes:</a:t>
            </a:r>
            <a:endParaRPr lang="en-US"/>
          </a:p>
        </p:txBody>
      </p:sp>
    </p:spTree>
    <p:extLst>
      <p:ext uri="{BB962C8B-B14F-4D97-AF65-F5344CB8AC3E}">
        <p14:creationId xmlns:p14="http://schemas.microsoft.com/office/powerpoint/2010/main" val="2881126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_Additional Inf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618488" y="916063"/>
            <a:ext cx="10021824" cy="539496"/>
          </a:xfrm>
        </p:spPr>
        <p:txBody>
          <a:bodyPr>
            <a:normAutofit/>
          </a:bodyPr>
          <a:lstStyle>
            <a:lvl1pPr>
              <a:defRPr sz="3200" b="1">
                <a:latin typeface="+mn-lt"/>
              </a:defRPr>
            </a:lvl1pPr>
          </a:lstStyle>
          <a:p>
            <a:r>
              <a:rPr lang="en-US"/>
              <a:t>Click to edit Master title style</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1463040"/>
            <a:ext cx="11265408" cy="4417807"/>
          </a:xfrm>
        </p:spPr>
        <p:txBody>
          <a:bodyPr>
            <a:normAutofit/>
          </a:bodyPr>
          <a:lstStyle>
            <a:lvl1pPr marL="0" indent="0">
              <a:buNone/>
              <a:defRPr sz="2400" b="1"/>
            </a:lvl1pPr>
          </a:lstStyle>
          <a:p>
            <a:pPr lvl="0"/>
            <a:r>
              <a:rPr lang="en-US" sz="2400" b="1"/>
              <a:t>&lt;Additional Findings&gt;</a:t>
            </a:r>
            <a:endParaRPr lang="en-US"/>
          </a:p>
        </p:txBody>
      </p:sp>
    </p:spTree>
    <p:extLst>
      <p:ext uri="{BB962C8B-B14F-4D97-AF65-F5344CB8AC3E}">
        <p14:creationId xmlns:p14="http://schemas.microsoft.com/office/powerpoint/2010/main" val="1929126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958735"/>
            <a:ext cx="10363200" cy="609600"/>
          </a:xfrm>
        </p:spPr>
        <p:txBody>
          <a:bodyPr/>
          <a:lstStyle/>
          <a:p>
            <a:r>
              <a:rPr lang="en-US" dirty="0"/>
              <a:t>Click to edit Master title style</a:t>
            </a:r>
          </a:p>
        </p:txBody>
      </p:sp>
      <p:sp>
        <p:nvSpPr>
          <p:cNvPr id="3" name="Text Placeholder 2"/>
          <p:cNvSpPr>
            <a:spLocks noGrp="1"/>
          </p:cNvSpPr>
          <p:nvPr>
            <p:ph type="body" sz="half" idx="1"/>
          </p:nvPr>
        </p:nvSpPr>
        <p:spPr>
          <a:xfrm>
            <a:off x="9144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680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8E2FE11-7EFA-4C7B-A5E5-4A66E770BA9E}"/>
              </a:ext>
            </a:extLst>
          </p:cNvPr>
          <p:cNvSpPr/>
          <p:nvPr userDrawn="1"/>
        </p:nvSpPr>
        <p:spPr>
          <a:xfrm>
            <a:off x="0" y="0"/>
            <a:ext cx="12192000" cy="908049"/>
          </a:xfrm>
          <a:prstGeom prst="rect">
            <a:avLst/>
          </a:prstGeom>
          <a:gradFill flip="none" rotWithShape="1">
            <a:gsLst>
              <a:gs pos="0">
                <a:srgbClr val="004D8A"/>
              </a:gs>
              <a:gs pos="100000">
                <a:schemeClr val="accent1">
                  <a:lumMod val="30000"/>
                  <a:lumOff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 name="Title Placeholder 1">
            <a:extLst>
              <a:ext uri="{FF2B5EF4-FFF2-40B4-BE49-F238E27FC236}">
                <a16:creationId xmlns:a16="http://schemas.microsoft.com/office/drawing/2014/main" id="{9A2DA56B-DFD6-9B40-BB39-797690CA823C}"/>
              </a:ext>
            </a:extLst>
          </p:cNvPr>
          <p:cNvSpPr>
            <a:spLocks noGrp="1"/>
          </p:cNvSpPr>
          <p:nvPr>
            <p:ph type="title"/>
          </p:nvPr>
        </p:nvSpPr>
        <p:spPr>
          <a:xfrm>
            <a:off x="838200" y="908049"/>
            <a:ext cx="10515600" cy="78263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3AD0E0-2188-A543-BA66-C44F0D7242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7E3D14D-7206-614E-9BDE-7A2B1DCC82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11" name="Slide Number Placeholder 5">
            <a:extLst>
              <a:ext uri="{FF2B5EF4-FFF2-40B4-BE49-F238E27FC236}">
                <a16:creationId xmlns:a16="http://schemas.microsoft.com/office/drawing/2014/main" id="{7435A51E-4AE3-48B8-A3E6-28A51FCB731A}"/>
              </a:ext>
            </a:extLst>
          </p:cNvPr>
          <p:cNvSpPr txBox="1">
            <a:spLocks/>
          </p:cNvSpPr>
          <p:nvPr userDrawn="1"/>
        </p:nvSpPr>
        <p:spPr>
          <a:xfrm>
            <a:off x="8229600" y="6403975"/>
            <a:ext cx="373591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tint val="75000"/>
                  </a:schemeClr>
                </a:solidFill>
                <a:effectLst/>
                <a:latin typeface="+mn-lt"/>
                <a:ea typeface="+mn-ea"/>
                <a:cs typeface="+mn-cs"/>
              </a:rPr>
              <a:t>© ISACA 2025. All Rights Reserved.​</a:t>
            </a:r>
            <a:r>
              <a:rPr lang="en-US" dirty="0"/>
              <a:t>  |  </a:t>
            </a:r>
            <a:fld id="{85F78CEA-3B00-9E49-94E0-DC9AF1E86765}" type="slidenum">
              <a:rPr lang="en-US" smtClean="0"/>
              <a:pPr/>
              <a:t>‹#›</a:t>
            </a:fld>
            <a:endParaRPr lang="en-US" dirty="0"/>
          </a:p>
        </p:txBody>
      </p:sp>
      <p:pic>
        <p:nvPicPr>
          <p:cNvPr id="12" name="Picture 11">
            <a:extLst>
              <a:ext uri="{FF2B5EF4-FFF2-40B4-BE49-F238E27FC236}">
                <a16:creationId xmlns:a16="http://schemas.microsoft.com/office/drawing/2014/main" id="{857C86C6-3F34-4125-B5B5-5EABC8A39FCC}"/>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l="11295" t="26266" r="8573" b="24948"/>
          <a:stretch/>
        </p:blipFill>
        <p:spPr>
          <a:xfrm>
            <a:off x="182469" y="6358332"/>
            <a:ext cx="1371600" cy="363143"/>
          </a:xfrm>
          <a:prstGeom prst="rect">
            <a:avLst/>
          </a:prstGeom>
        </p:spPr>
      </p:pic>
      <p:pic>
        <p:nvPicPr>
          <p:cNvPr id="13" name="Picture 2">
            <a:extLst>
              <a:ext uri="{FF2B5EF4-FFF2-40B4-BE49-F238E27FC236}">
                <a16:creationId xmlns:a16="http://schemas.microsoft.com/office/drawing/2014/main" id="{34EB08B0-3804-409B-8A2E-C14982B2ADF5}"/>
              </a:ext>
            </a:extLst>
          </p:cNvPr>
          <p:cNvPicPr>
            <a:picLocks noChangeAspect="1" noChangeArrowheads="1"/>
          </p:cNvPicPr>
          <p:nvPr userDrawn="1"/>
        </p:nvPicPr>
        <p:blipFill>
          <a:blip r:embed="rId17" cstate="print">
            <a:extLst>
              <a:ext uri="{BEBA8EAE-BF5A-486C-A8C5-ECC9F3942E4B}">
                <a14:imgProps xmlns:a14="http://schemas.microsoft.com/office/drawing/2010/main">
                  <a14:imgLayer r:embed="rId18">
                    <a14:imgEffect>
                      <a14:backgroundRemoval t="8280" b="89809" l="7505" r="89452">
                        <a14:foregroundMark x1="11765" y1="60510" x2="22110" y2="29936"/>
                        <a14:foregroundMark x1="15416" y1="18471" x2="13793" y2="61783"/>
                        <a14:foregroundMark x1="8722" y1="29936" x2="9331" y2="54140"/>
                        <a14:foregroundMark x1="7911" y1="33121" x2="9331" y2="56051"/>
                        <a14:foregroundMark x1="7505" y1="43949" x2="10345" y2="57962"/>
                        <a14:foregroundMark x1="7911" y1="51592" x2="7911" y2="51592"/>
                        <a14:foregroundMark x1="8316" y1="53503" x2="8316" y2="54140"/>
                        <a14:foregroundMark x1="9128" y1="57325" x2="9128" y2="57325"/>
                        <a14:foregroundMark x1="22718" y1="25478" x2="22718" y2="25478"/>
                        <a14:foregroundMark x1="7302" y1="76433" x2="9533" y2="75796"/>
                        <a14:foregroundMark x1="35953" y1="33121" x2="37728" y2="29936"/>
                        <a14:foregroundMark x1="47606" y1="56051" x2="47059" y2="61783"/>
                        <a14:foregroundMark x1="47667" y1="55414" x2="47606" y2="56051"/>
                        <a14:foregroundMark x1="47728" y1="54777" x2="47667" y2="55414"/>
                        <a14:foregroundMark x1="48276" y1="49045" x2="47728" y2="54777"/>
                        <a14:foregroundMark x1="56998" y1="61783" x2="67140" y2="61783"/>
                        <a14:foregroundMark x1="75254" y1="36943" x2="75254" y2="59236"/>
                        <a14:foregroundMark x1="74848" y1="25478" x2="74848" y2="25478"/>
                        <a14:foregroundMark x1="82556" y1="41401" x2="87424" y2="61783"/>
                        <a14:foregroundMark x1="58824" y1="59873" x2="58824" y2="59873"/>
                        <a14:foregroundMark x1="59026" y1="60510" x2="59026" y2="60510"/>
                        <a14:foregroundMark x1="58824" y1="61783" x2="58824" y2="61783"/>
                        <a14:foregroundMark x1="59229" y1="60510" x2="59229" y2="60510"/>
                        <a14:foregroundMark x1="59229" y1="60510" x2="59229" y2="60510"/>
                        <a14:foregroundMark x1="8316" y1="29936" x2="22515" y2="59873"/>
                        <a14:foregroundMark x1="22515" y1="59873" x2="8316" y2="29299"/>
                        <a14:foregroundMark x1="8316" y1="73885" x2="9128" y2="72611"/>
                        <a14:foregroundMark x1="30020" y1="47771" x2="30020" y2="47771"/>
                        <a14:foregroundMark x1="34280" y1="38854" x2="34280" y2="38854"/>
                        <a14:foregroundMark x1="34686" y1="44586" x2="34686" y2="44586"/>
                        <a14:foregroundMark x1="34888" y1="44586" x2="34888" y2="44586"/>
                        <a14:foregroundMark x1="34888" y1="45860" x2="34888" y2="45860"/>
                        <a14:foregroundMark x1="34888" y1="42038" x2="34888" y2="42038"/>
                        <a14:foregroundMark x1="34888" y1="32484" x2="34888" y2="32484"/>
                        <a14:foregroundMark x1="34888" y1="34395" x2="34888" y2="34395"/>
                        <a14:foregroundMark x1="34888" y1="33758" x2="34686" y2="46497"/>
                        <a14:foregroundMark x1="34686" y1="33121" x2="34888" y2="36306"/>
                        <a14:foregroundMark x1="34888" y1="45860" x2="34888" y2="47134"/>
                        <a14:foregroundMark x1="34888" y1="47771" x2="35091" y2="48408"/>
                        <a14:backgroundMark x1="47262" y1="54777" x2="47262" y2="54777"/>
                        <a14:backgroundMark x1="47870" y1="54777" x2="47870" y2="54777"/>
                        <a14:backgroundMark x1="47667" y1="55414" x2="47667" y2="55414"/>
                        <a14:backgroundMark x1="47465" y1="56051" x2="47465" y2="56051"/>
                        <a14:backgroundMark x1="59838" y1="61783" x2="59838" y2="61783"/>
                        <a14:backgroundMark x1="59635" y1="60510" x2="59635" y2="60510"/>
                        <a14:backgroundMark x1="59635" y1="61783" x2="59635" y2="61783"/>
                        <a14:backgroundMark x1="65517" y1="55414" x2="65517" y2="55414"/>
                        <a14:backgroundMark x1="65517" y1="61146" x2="65517" y2="61146"/>
                        <a14:backgroundMark x1="65517" y1="61783" x2="65517" y2="61783"/>
                        <a14:backgroundMark x1="65517" y1="61146" x2="65517" y2="61146"/>
                        <a14:backgroundMark x1="65517" y1="61783" x2="65517" y2="61783"/>
                        <a14:backgroundMark x1="65314" y1="61146" x2="65314" y2="61146"/>
                        <a14:backgroundMark x1="59432" y1="61146" x2="59432" y2="61146"/>
                        <a14:backgroundMark x1="8722" y1="71975" x2="8722" y2="71975"/>
                        <a14:backgroundMark x1="9331" y1="71975" x2="9331" y2="71975"/>
                        <a14:backgroundMark x1="9128" y1="71975" x2="9128" y2="71975"/>
                        <a14:backgroundMark x1="8114" y1="72611" x2="8114" y2="72611"/>
                        <a14:backgroundMark x1="35091" y1="48409" x2="35091" y2="50318"/>
                      </a14:backgroundRemoval>
                    </a14:imgEffect>
                  </a14:imgLayer>
                </a14:imgProps>
              </a:ext>
              <a:ext uri="{28A0092B-C50C-407E-A947-70E740481C1C}">
                <a14:useLocalDpi xmlns:a14="http://schemas.microsoft.com/office/drawing/2010/main" val="0"/>
              </a:ext>
            </a:extLst>
          </a:blip>
          <a:srcRect/>
          <a:stretch>
            <a:fillRect/>
          </a:stretch>
        </p:blipFill>
        <p:spPr bwMode="auto">
          <a:xfrm>
            <a:off x="9443258" y="21957"/>
            <a:ext cx="2748742" cy="90804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4" name="TextBox 13">
            <a:extLst>
              <a:ext uri="{FF2B5EF4-FFF2-40B4-BE49-F238E27FC236}">
                <a16:creationId xmlns:a16="http://schemas.microsoft.com/office/drawing/2014/main" id="{ABB88AC4-3EE3-4B00-BE9C-343678ED7CA5}"/>
              </a:ext>
            </a:extLst>
          </p:cNvPr>
          <p:cNvSpPr txBox="1"/>
          <p:nvPr userDrawn="1"/>
        </p:nvSpPr>
        <p:spPr>
          <a:xfrm>
            <a:off x="10316993" y="614825"/>
            <a:ext cx="1610551" cy="261610"/>
          </a:xfrm>
          <a:prstGeom prst="rect">
            <a:avLst/>
          </a:prstGeom>
          <a:noFill/>
        </p:spPr>
        <p:txBody>
          <a:bodyPr wrap="square" rtlCol="0">
            <a:spAutoFit/>
          </a:bodyPr>
          <a:lstStyle/>
          <a:p>
            <a:r>
              <a:rPr lang="en-ZA" sz="1100" dirty="0">
                <a:solidFill>
                  <a:schemeClr val="bg1"/>
                </a:solidFill>
              </a:rPr>
              <a:t>Create | Evolve | Perfect</a:t>
            </a:r>
          </a:p>
        </p:txBody>
      </p:sp>
      <p:sp>
        <p:nvSpPr>
          <p:cNvPr id="15" name="TextBox 14">
            <a:extLst>
              <a:ext uri="{FF2B5EF4-FFF2-40B4-BE49-F238E27FC236}">
                <a16:creationId xmlns:a16="http://schemas.microsoft.com/office/drawing/2014/main" id="{4E46EF5B-817F-4C0F-844F-B82F5D922A18}"/>
              </a:ext>
            </a:extLst>
          </p:cNvPr>
          <p:cNvSpPr txBox="1"/>
          <p:nvPr userDrawn="1"/>
        </p:nvSpPr>
        <p:spPr>
          <a:xfrm>
            <a:off x="11832867" y="533486"/>
            <a:ext cx="333925" cy="169277"/>
          </a:xfrm>
          <a:prstGeom prst="rect">
            <a:avLst/>
          </a:prstGeom>
          <a:noFill/>
        </p:spPr>
        <p:txBody>
          <a:bodyPr wrap="square" rtlCol="0">
            <a:spAutoFit/>
          </a:bodyPr>
          <a:lstStyle/>
          <a:p>
            <a:r>
              <a:rPr lang="en-ZA" sz="500" b="1" dirty="0">
                <a:solidFill>
                  <a:schemeClr val="bg1"/>
                </a:solidFill>
              </a:rPr>
              <a:t>TM</a:t>
            </a:r>
          </a:p>
        </p:txBody>
      </p:sp>
      <p:sp>
        <p:nvSpPr>
          <p:cNvPr id="16" name="TextBox 15">
            <a:extLst>
              <a:ext uri="{FF2B5EF4-FFF2-40B4-BE49-F238E27FC236}">
                <a16:creationId xmlns:a16="http://schemas.microsoft.com/office/drawing/2014/main" id="{5B9D368A-4410-479D-A732-7C84530FBC22}"/>
              </a:ext>
            </a:extLst>
          </p:cNvPr>
          <p:cNvSpPr txBox="1"/>
          <p:nvPr userDrawn="1"/>
        </p:nvSpPr>
        <p:spPr>
          <a:xfrm>
            <a:off x="8480467" y="6235176"/>
            <a:ext cx="3447077" cy="261610"/>
          </a:xfrm>
          <a:prstGeom prst="rect">
            <a:avLst/>
          </a:prstGeom>
          <a:noFill/>
        </p:spPr>
        <p:txBody>
          <a:bodyPr wrap="square" rtlCol="0">
            <a:spAutoFit/>
          </a:bodyPr>
          <a:lstStyle/>
          <a:p>
            <a:pPr algn="r"/>
            <a:r>
              <a:rPr lang="en-ZA" sz="1100" i="0" dirty="0">
                <a:solidFill>
                  <a:srgbClr val="898989"/>
                </a:solidFill>
              </a:rPr>
              <a:t>Demix Logo is a registered trademark in PRC and RSA</a:t>
            </a:r>
          </a:p>
        </p:txBody>
      </p:sp>
    </p:spTree>
    <p:extLst>
      <p:ext uri="{BB962C8B-B14F-4D97-AF65-F5344CB8AC3E}">
        <p14:creationId xmlns:p14="http://schemas.microsoft.com/office/powerpoint/2010/main" val="991517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5.emf"/><Relationship Id="rId2" Type="http://schemas.openxmlformats.org/officeDocument/2006/relationships/oleObject" Target="file:///G:\2024-05-04to05-10%20(A5)%20C384400%20NASA\00_Data_Reference.xlsm!pptxCover!R4C2:R13C2" TargetMode="External"/><Relationship Id="rId1" Type="http://schemas.openxmlformats.org/officeDocument/2006/relationships/slideLayout" Target="../slideLayouts/slideLayout1.xml"/><Relationship Id="rId6" Type="http://schemas.openxmlformats.org/officeDocument/2006/relationships/oleObject" Target="file:///G:\2024-05-04to05-10%20(A5)%20C384400%20NASA\00_Data_Reference.xlsm!pptxCover!R22C2" TargetMode="External"/><Relationship Id="rId5" Type="http://schemas.openxmlformats.org/officeDocument/2006/relationships/image" Target="../media/image4.emf"/><Relationship Id="rId4" Type="http://schemas.openxmlformats.org/officeDocument/2006/relationships/oleObject" Target="file:///G:\2024-05-04to05-10%20(A5)%20C384400%20NASA\00_Data_Reference.xlsm!pptxCover!R15C2:R17C2"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26" Type="http://schemas.openxmlformats.org/officeDocument/2006/relationships/image" Target="../media/image29.png"/><Relationship Id="rId3" Type="http://schemas.openxmlformats.org/officeDocument/2006/relationships/image" Target="../media/image6.png"/><Relationship Id="rId21" Type="http://schemas.openxmlformats.org/officeDocument/2006/relationships/image" Target="../media/image24.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5" Type="http://schemas.openxmlformats.org/officeDocument/2006/relationships/image" Target="../media/image28.png"/><Relationship Id="rId2" Type="http://schemas.openxmlformats.org/officeDocument/2006/relationships/notesSlide" Target="../notesSlides/notesSlide1.xml"/><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9.jpeg"/><Relationship Id="rId11" Type="http://schemas.openxmlformats.org/officeDocument/2006/relationships/image" Target="../media/image14.png"/><Relationship Id="rId24" Type="http://schemas.openxmlformats.org/officeDocument/2006/relationships/image" Target="../media/image27.jpeg"/><Relationship Id="rId5" Type="http://schemas.openxmlformats.org/officeDocument/2006/relationships/image" Target="../media/image8.gif"/><Relationship Id="rId15" Type="http://schemas.openxmlformats.org/officeDocument/2006/relationships/image" Target="../media/image18.png"/><Relationship Id="rId23" Type="http://schemas.openxmlformats.org/officeDocument/2006/relationships/image" Target="../media/image26.jpe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12.gif"/><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1!R1C1:R7C2"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1.emf"/></Relationships>
</file>

<file path=ppt/slides/_rels/slide6.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1!R10C1:R18C2"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7.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2!R1C1:R4C1"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3.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1!R20C1:R31C2"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11.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3!R2C1:R24C9"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12.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2!R30C1:R35C1"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6.emf"/></Relationships>
</file>

<file path=ppt/slides/_rels/slide13.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4!R10C1:R27C20"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7.emf"/></Relationships>
</file>

<file path=ppt/slides/_rels/slide14.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oleObject" Target="file:///G:\2024-05-04to05-10%20(A5)%20C384400%20NASA\00_Data_Reference.xlsm!pptxLink5!R1C1:R11C5"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oleObject" Target="file:///G:\2024-05-04to05-10%20(A5)%20C384400%20NASA\00_Data_Reference.xlsm!pptxLink5!R15C1:R21C5"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1!R9C4"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2.emf"/><Relationship Id="rId5" Type="http://schemas.openxmlformats.org/officeDocument/2006/relationships/image" Target="../media/image61.emf"/><Relationship Id="rId4" Type="http://schemas.openxmlformats.org/officeDocument/2006/relationships/image" Target="../media/image60.emf"/></Relationships>
</file>

<file path=ppt/slides/_rels/slide41.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1!R9C4"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3.emf"/><Relationship Id="rId5" Type="http://schemas.openxmlformats.org/officeDocument/2006/relationships/image" Target="../media/image61.emf"/><Relationship Id="rId4" Type="http://schemas.openxmlformats.org/officeDocument/2006/relationships/image" Target="../media/image60.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6!R2C2:R13C5"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4.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oleObject" Target="file:///G:\2024-05-04to05-10%20(A5)%20C384400%20NASA\00_Data_Reference.xlsm!pptxLink7!R2C2:R16C4"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oleObject" Target="file:///G:\2024-05-04to05-10%20(A5)%20C384400%20NASA\00_Data_Reference.xlsm!pptxLink7!R18C2:R32C4"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oleObject" Target="file:///G:\2024-05-04to05-10%20(A5)%20C384400%20NASA\00_Data_Reference.xlsm!pptxCover!R23C7" TargetMode="External"/><Relationship Id="rId1" Type="http://schemas.openxmlformats.org/officeDocument/2006/relationships/slideLayout" Target="../slideLayouts/slideLayout2.xml"/><Relationship Id="rId5" Type="http://schemas.openxmlformats.org/officeDocument/2006/relationships/hyperlink" Target="http://www.demixium.com/" TargetMode="External"/><Relationship Id="rId4" Type="http://schemas.openxmlformats.org/officeDocument/2006/relationships/image" Target="../media/image68.png"/></Relationships>
</file>

<file path=ppt/slides/_rels/slide51.xml.rels><?xml version="1.0" encoding="UTF-8" standalone="yes"?>
<Relationships xmlns="http://schemas.openxmlformats.org/package/2006/relationships"><Relationship Id="rId3" Type="http://schemas.openxmlformats.org/officeDocument/2006/relationships/hyperlink" Target="http://www.demixium.com/" TargetMode="External"/><Relationship Id="rId2" Type="http://schemas.openxmlformats.org/officeDocument/2006/relationships/image" Target="../media/image68.png"/><Relationship Id="rId1" Type="http://schemas.openxmlformats.org/officeDocument/2006/relationships/slideLayout" Target="../slideLayouts/slideLayout2.xml"/><Relationship Id="rId5" Type="http://schemas.openxmlformats.org/officeDocument/2006/relationships/hyperlink" Target="https://demixium.com/?page_id=99" TargetMode="External"/><Relationship Id="rId4" Type="http://schemas.openxmlformats.org/officeDocument/2006/relationships/image" Target="../media/image69.png"/></Relationships>
</file>

<file path=ppt/slides/_rels/slide52.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oleObject" Target="file:///G:\2024-05-04to05-10%20(A5)%20C384400%20NASA\00_Data_Reference.xlsm!pptxCover!R26C2:R33C4"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B8B9ADBE-4D60-4D63-BCF7-E9F427C74524}"/>
              </a:ext>
            </a:extLst>
          </p:cNvPr>
          <p:cNvGraphicFramePr>
            <a:graphicFrameLocks noChangeAspect="1"/>
          </p:cNvGraphicFramePr>
          <p:nvPr>
            <p:extLst>
              <p:ext uri="{D42A27DB-BD31-4B8C-83A1-F6EECF244321}">
                <p14:modId xmlns:p14="http://schemas.microsoft.com/office/powerpoint/2010/main" val="3210626087"/>
              </p:ext>
            </p:extLst>
          </p:nvPr>
        </p:nvGraphicFramePr>
        <p:xfrm>
          <a:off x="3497263" y="1890713"/>
          <a:ext cx="5197475" cy="3116262"/>
        </p:xfrm>
        <a:graphic>
          <a:graphicData uri="http://schemas.openxmlformats.org/presentationml/2006/ole">
            <mc:AlternateContent xmlns:mc="http://schemas.openxmlformats.org/markup-compatibility/2006">
              <mc:Choice xmlns:v="urn:schemas-microsoft-com:vml" Requires="v">
                <p:oleObj name="Macro-Enabled Worksheet" r:id="rId2" imgW="5196769" imgH="3116588" progId="Excel.SheetMacroEnabled.12">
                  <p:link updateAutomatic="1"/>
                </p:oleObj>
              </mc:Choice>
              <mc:Fallback>
                <p:oleObj name="Macro-Enabled Worksheet" r:id="rId2" imgW="5196769" imgH="3116588" progId="Excel.SheetMacroEnabled.12">
                  <p:link updateAutomatic="1"/>
                  <p:pic>
                    <p:nvPicPr>
                      <p:cNvPr id="2" name="Object 1">
                        <a:extLst>
                          <a:ext uri="{FF2B5EF4-FFF2-40B4-BE49-F238E27FC236}">
                            <a16:creationId xmlns:a16="http://schemas.microsoft.com/office/drawing/2014/main" id="{B8B9ADBE-4D60-4D63-BCF7-E9F427C74524}"/>
                          </a:ext>
                        </a:extLst>
                      </p:cNvPr>
                      <p:cNvPicPr/>
                      <p:nvPr/>
                    </p:nvPicPr>
                    <p:blipFill>
                      <a:blip r:embed="rId3"/>
                      <a:stretch>
                        <a:fillRect/>
                      </a:stretch>
                    </p:blipFill>
                    <p:spPr>
                      <a:xfrm>
                        <a:off x="3497263" y="1890713"/>
                        <a:ext cx="5197475" cy="3116262"/>
                      </a:xfrm>
                      <a:prstGeom prst="rect">
                        <a:avLst/>
                      </a:prstGeom>
                    </p:spPr>
                  </p:pic>
                </p:oleObj>
              </mc:Fallback>
            </mc:AlternateContent>
          </a:graphicData>
        </a:graphic>
      </p:graphicFrame>
      <p:sp>
        <p:nvSpPr>
          <p:cNvPr id="4" name="Title 1">
            <a:extLst>
              <a:ext uri="{FF2B5EF4-FFF2-40B4-BE49-F238E27FC236}">
                <a16:creationId xmlns:a16="http://schemas.microsoft.com/office/drawing/2014/main" id="{B760CCB3-17E5-4DE9-9235-B3AD912C038A}"/>
              </a:ext>
            </a:extLst>
          </p:cNvPr>
          <p:cNvSpPr txBox="1">
            <a:spLocks/>
          </p:cNvSpPr>
          <p:nvPr/>
        </p:nvSpPr>
        <p:spPr>
          <a:xfrm>
            <a:off x="1524000" y="922975"/>
            <a:ext cx="9144000" cy="8989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dirty="0"/>
              <a:t>Final Findings</a:t>
            </a:r>
          </a:p>
        </p:txBody>
      </p:sp>
      <p:graphicFrame>
        <p:nvGraphicFramePr>
          <p:cNvPr id="11" name="Object 10">
            <a:extLst>
              <a:ext uri="{FF2B5EF4-FFF2-40B4-BE49-F238E27FC236}">
                <a16:creationId xmlns:a16="http://schemas.microsoft.com/office/drawing/2014/main" id="{6376B0D6-A6B1-4DF8-BDB4-D2848D89586A}"/>
              </a:ext>
            </a:extLst>
          </p:cNvPr>
          <p:cNvGraphicFramePr>
            <a:graphicFrameLocks noChangeAspect="1"/>
          </p:cNvGraphicFramePr>
          <p:nvPr>
            <p:extLst>
              <p:ext uri="{D42A27DB-BD31-4B8C-83A1-F6EECF244321}">
                <p14:modId xmlns:p14="http://schemas.microsoft.com/office/powerpoint/2010/main" val="2936713853"/>
              </p:ext>
            </p:extLst>
          </p:nvPr>
        </p:nvGraphicFramePr>
        <p:xfrm>
          <a:off x="3375025" y="5383213"/>
          <a:ext cx="5440363" cy="661987"/>
        </p:xfrm>
        <a:graphic>
          <a:graphicData uri="http://schemas.openxmlformats.org/presentationml/2006/ole">
            <mc:AlternateContent xmlns:mc="http://schemas.openxmlformats.org/markup-compatibility/2006">
              <mc:Choice xmlns:v="urn:schemas-microsoft-com:vml" Requires="v">
                <p:oleObj name="Macro-Enabled Worksheet" r:id="rId4" imgW="5196769" imgH="670734" progId="Excel.SheetMacroEnabled.12">
                  <p:link updateAutomatic="1"/>
                </p:oleObj>
              </mc:Choice>
              <mc:Fallback>
                <p:oleObj name="Macro-Enabled Worksheet" r:id="rId4" imgW="5196769" imgH="670734" progId="Excel.SheetMacroEnabled.12">
                  <p:link updateAutomatic="1"/>
                  <p:pic>
                    <p:nvPicPr>
                      <p:cNvPr id="11" name="Object 10">
                        <a:extLst>
                          <a:ext uri="{FF2B5EF4-FFF2-40B4-BE49-F238E27FC236}">
                            <a16:creationId xmlns:a16="http://schemas.microsoft.com/office/drawing/2014/main" id="{6376B0D6-A6B1-4DF8-BDB4-D2848D89586A}"/>
                          </a:ext>
                        </a:extLst>
                      </p:cNvPr>
                      <p:cNvPicPr/>
                      <p:nvPr/>
                    </p:nvPicPr>
                    <p:blipFill>
                      <a:blip r:embed="rId5"/>
                      <a:stretch>
                        <a:fillRect/>
                      </a:stretch>
                    </p:blipFill>
                    <p:spPr>
                      <a:xfrm>
                        <a:off x="3375025" y="5383213"/>
                        <a:ext cx="5440363" cy="661987"/>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49664E61-F038-4552-B7C5-B571E0E1A96A}"/>
              </a:ext>
            </a:extLst>
          </p:cNvPr>
          <p:cNvGraphicFramePr>
            <a:graphicFrameLocks noChangeAspect="1"/>
          </p:cNvGraphicFramePr>
          <p:nvPr>
            <p:extLst>
              <p:ext uri="{D42A27DB-BD31-4B8C-83A1-F6EECF244321}">
                <p14:modId xmlns:p14="http://schemas.microsoft.com/office/powerpoint/2010/main" val="1584021007"/>
              </p:ext>
            </p:extLst>
          </p:nvPr>
        </p:nvGraphicFramePr>
        <p:xfrm>
          <a:off x="3497263" y="5095875"/>
          <a:ext cx="5197475" cy="274638"/>
        </p:xfrm>
        <a:graphic>
          <a:graphicData uri="http://schemas.openxmlformats.org/presentationml/2006/ole">
            <mc:AlternateContent xmlns:mc="http://schemas.openxmlformats.org/markup-compatibility/2006">
              <mc:Choice xmlns:v="urn:schemas-microsoft-com:vml" Requires="v">
                <p:oleObj name="Macro-Enabled Worksheet" r:id="rId6" imgW="5196769" imgH="274178" progId="Excel.SheetMacroEnabled.12">
                  <p:link updateAutomatic="1"/>
                </p:oleObj>
              </mc:Choice>
              <mc:Fallback>
                <p:oleObj name="Macro-Enabled Worksheet" r:id="rId6" imgW="5196769" imgH="274178" progId="Excel.SheetMacroEnabled.12">
                  <p:link updateAutomatic="1"/>
                  <p:pic>
                    <p:nvPicPr>
                      <p:cNvPr id="5" name="Object 4">
                        <a:extLst>
                          <a:ext uri="{FF2B5EF4-FFF2-40B4-BE49-F238E27FC236}">
                            <a16:creationId xmlns:a16="http://schemas.microsoft.com/office/drawing/2014/main" id="{49664E61-F038-4552-B7C5-B571E0E1A96A}"/>
                          </a:ext>
                        </a:extLst>
                      </p:cNvPr>
                      <p:cNvPicPr/>
                      <p:nvPr/>
                    </p:nvPicPr>
                    <p:blipFill>
                      <a:blip r:embed="rId7"/>
                      <a:stretch>
                        <a:fillRect/>
                      </a:stretch>
                    </p:blipFill>
                    <p:spPr>
                      <a:xfrm>
                        <a:off x="3497263" y="5095875"/>
                        <a:ext cx="5197475" cy="274638"/>
                      </a:xfrm>
                      <a:prstGeom prst="rect">
                        <a:avLst/>
                      </a:prstGeom>
                    </p:spPr>
                  </p:pic>
                </p:oleObj>
              </mc:Fallback>
            </mc:AlternateContent>
          </a:graphicData>
        </a:graphic>
      </p:graphicFrame>
    </p:spTree>
    <p:extLst>
      <p:ext uri="{BB962C8B-B14F-4D97-AF65-F5344CB8AC3E}">
        <p14:creationId xmlns:p14="http://schemas.microsoft.com/office/powerpoint/2010/main" val="2658625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 descr="http://eurasiangroup.org/clones/photos/photo3/Flag_China.gif">
            <a:extLst>
              <a:ext uri="{FF2B5EF4-FFF2-40B4-BE49-F238E27FC236}">
                <a16:creationId xmlns:a16="http://schemas.microsoft.com/office/drawing/2014/main" id="{0DB3A38A-CE0C-488A-B87F-37FFDD2E1D8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15579" y="1038146"/>
            <a:ext cx="1080000" cy="643046"/>
          </a:xfrm>
          <a:prstGeom prst="rect">
            <a:avLst/>
          </a:prstGeom>
          <a:noFill/>
          <a:ln w="952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4" name="Picture 4" descr="https://www.cia.gov/library/publications/the-world-factbook/graphics/flags/large/sf-lgflag.gif">
            <a:extLst>
              <a:ext uri="{FF2B5EF4-FFF2-40B4-BE49-F238E27FC236}">
                <a16:creationId xmlns:a16="http://schemas.microsoft.com/office/drawing/2014/main" id="{5804FC85-67E1-4C1D-A768-A4E046E7F9E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40863" y="2641935"/>
            <a:ext cx="1080000" cy="706364"/>
          </a:xfrm>
          <a:prstGeom prst="rect">
            <a:avLst/>
          </a:prstGeom>
          <a:noFill/>
          <a:ln w="952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5" name="Picture 2" descr="http://www.diabetesmine.com/wp-content/uploads/2011/02/spain-flag.gif">
            <a:extLst>
              <a:ext uri="{FF2B5EF4-FFF2-40B4-BE49-F238E27FC236}">
                <a16:creationId xmlns:a16="http://schemas.microsoft.com/office/drawing/2014/main" id="{5D685488-5751-4610-AE1F-6A7C4BE390A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89618" y="1849451"/>
            <a:ext cx="1080000" cy="644357"/>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6" name="Picture 12" descr="http://1.bp.blogspot.com/-dCG_ru9E2jY/Twy2lX1A4MI/AAAAAAABCVQ/sk5d4dhnIhM/s1600/Switzerland_Flag.jpg">
            <a:extLst>
              <a:ext uri="{FF2B5EF4-FFF2-40B4-BE49-F238E27FC236}">
                <a16:creationId xmlns:a16="http://schemas.microsoft.com/office/drawing/2014/main" id="{1CCB6A1E-9C8F-4CF7-8854-7EAED2AC684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25456" y="1844427"/>
            <a:ext cx="1080000" cy="649614"/>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7" name="Picture 8">
            <a:extLst>
              <a:ext uri="{FF2B5EF4-FFF2-40B4-BE49-F238E27FC236}">
                <a16:creationId xmlns:a16="http://schemas.microsoft.com/office/drawing/2014/main" id="{906DB6B8-FB70-49A9-90A8-CE08CF7A3FC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000111" y="2655335"/>
            <a:ext cx="1080000" cy="695098"/>
          </a:xfrm>
          <a:prstGeom prst="rect">
            <a:avLst/>
          </a:prstGeom>
          <a:noFill/>
          <a:ln w="12700" cap="flat" cmpd="sng">
            <a:noFill/>
            <a:prstDash val="solid"/>
            <a:miter lim="800000"/>
            <a:headEnd type="none" w="sm" len="sm"/>
            <a:tailEnd type="none" w="sm" len="sm"/>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chemeClr val="accent1"/>
                </a:solidFill>
              </a14:hiddenFill>
            </a:ext>
          </a:extLst>
        </p:spPr>
      </p:pic>
      <p:pic>
        <p:nvPicPr>
          <p:cNvPr id="48" name="Picture 47">
            <a:extLst>
              <a:ext uri="{FF2B5EF4-FFF2-40B4-BE49-F238E27FC236}">
                <a16:creationId xmlns:a16="http://schemas.microsoft.com/office/drawing/2014/main" id="{829E41C9-1208-4F5B-9B72-C350895017BC}"/>
              </a:ext>
            </a:extLst>
          </p:cNvPr>
          <p:cNvPicPr>
            <a:picLocks noChangeAspect="1"/>
          </p:cNvPicPr>
          <p:nvPr/>
        </p:nvPicPr>
        <p:blipFill>
          <a:blip r:embed="rId8"/>
          <a:stretch>
            <a:fillRect/>
          </a:stretch>
        </p:blipFill>
        <p:spPr>
          <a:xfrm>
            <a:off x="8000113" y="1041906"/>
            <a:ext cx="1080000" cy="629853"/>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49" name="Picture 48" descr="http://www.onlinenewspapers.com/images/germany.gif">
            <a:extLst>
              <a:ext uri="{FF2B5EF4-FFF2-40B4-BE49-F238E27FC236}">
                <a16:creationId xmlns:a16="http://schemas.microsoft.com/office/drawing/2014/main" id="{3F300468-6315-4AAF-9348-32BCBBA8F5D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43757" y="1038146"/>
            <a:ext cx="1080000" cy="643045"/>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7722CF4D-7FE1-45B8-81FB-B3A16FBB595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87402" y="1047201"/>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1" name="Picture 50" descr="A close up of a logo&#10;&#10;Description automatically generated">
            <a:extLst>
              <a:ext uri="{FF2B5EF4-FFF2-40B4-BE49-F238E27FC236}">
                <a16:creationId xmlns:a16="http://schemas.microsoft.com/office/drawing/2014/main" id="{71E22DBF-B29C-4402-8AEA-178EA3063525}"/>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339663" y="1054688"/>
            <a:ext cx="1080000" cy="63556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3" name="Picture 52">
            <a:extLst>
              <a:ext uri="{FF2B5EF4-FFF2-40B4-BE49-F238E27FC236}">
                <a16:creationId xmlns:a16="http://schemas.microsoft.com/office/drawing/2014/main" id="{D9C0948D-3FA9-4C7F-8D52-47741C98F9D4}"/>
              </a:ext>
            </a:extLst>
          </p:cNvPr>
          <p:cNvPicPr>
            <a:picLocks noChangeAspect="1"/>
          </p:cNvPicPr>
          <p:nvPr/>
        </p:nvPicPr>
        <p:blipFill>
          <a:blip r:embed="rId12"/>
          <a:stretch>
            <a:fillRect/>
          </a:stretch>
        </p:blipFill>
        <p:spPr>
          <a:xfrm>
            <a:off x="2687402" y="2651707"/>
            <a:ext cx="1080000" cy="706365"/>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4" name="Picture 2" descr="Flag of the United Arab Emirates.svg">
            <a:extLst>
              <a:ext uri="{FF2B5EF4-FFF2-40B4-BE49-F238E27FC236}">
                <a16:creationId xmlns:a16="http://schemas.microsoft.com/office/drawing/2014/main" id="{F3617B43-1542-4F3C-956C-3E408F634F03}"/>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343756" y="1839721"/>
            <a:ext cx="1080000" cy="643045"/>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64" name="Picture 2" descr="India - Wikipedia">
            <a:extLst>
              <a:ext uri="{FF2B5EF4-FFF2-40B4-BE49-F238E27FC236}">
                <a16:creationId xmlns:a16="http://schemas.microsoft.com/office/drawing/2014/main" id="{2850122E-32F6-40C4-AEC8-C4B0EC346A7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683311" y="2644070"/>
            <a:ext cx="1080000" cy="706364"/>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FEF7BC6-DE2A-1BA8-D162-418AA6F248B4}"/>
              </a:ext>
            </a:extLst>
          </p:cNvPr>
          <p:cNvPicPr>
            <a:picLocks noChangeAspect="1"/>
          </p:cNvPicPr>
          <p:nvPr/>
        </p:nvPicPr>
        <p:blipFill>
          <a:blip r:embed="rId15"/>
          <a:stretch>
            <a:fillRect/>
          </a:stretch>
        </p:blipFill>
        <p:spPr>
          <a:xfrm>
            <a:off x="1353377" y="1047201"/>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4" name="Picture 3">
            <a:extLst>
              <a:ext uri="{FF2B5EF4-FFF2-40B4-BE49-F238E27FC236}">
                <a16:creationId xmlns:a16="http://schemas.microsoft.com/office/drawing/2014/main" id="{FE91D709-B59F-05B8-0708-2944651EA14F}"/>
              </a:ext>
            </a:extLst>
          </p:cNvPr>
          <p:cNvPicPr>
            <a:picLocks noChangeAspect="1"/>
          </p:cNvPicPr>
          <p:nvPr/>
        </p:nvPicPr>
        <p:blipFill>
          <a:blip r:embed="rId16"/>
          <a:stretch>
            <a:fillRect/>
          </a:stretch>
        </p:blipFill>
        <p:spPr>
          <a:xfrm>
            <a:off x="1362529" y="1870870"/>
            <a:ext cx="1080000" cy="644357"/>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 name="Picture 4">
            <a:extLst>
              <a:ext uri="{FF2B5EF4-FFF2-40B4-BE49-F238E27FC236}">
                <a16:creationId xmlns:a16="http://schemas.microsoft.com/office/drawing/2014/main" id="{BD5B9EE7-D463-5A58-9C5D-FBEAF1BD6F1D}"/>
              </a:ext>
            </a:extLst>
          </p:cNvPr>
          <p:cNvPicPr>
            <a:picLocks noChangeAspect="1"/>
          </p:cNvPicPr>
          <p:nvPr/>
        </p:nvPicPr>
        <p:blipFill>
          <a:blip r:embed="rId17"/>
          <a:stretch>
            <a:fillRect/>
          </a:stretch>
        </p:blipFill>
        <p:spPr>
          <a:xfrm>
            <a:off x="9339663" y="1849629"/>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6" name="Picture 5">
            <a:extLst>
              <a:ext uri="{FF2B5EF4-FFF2-40B4-BE49-F238E27FC236}">
                <a16:creationId xmlns:a16="http://schemas.microsoft.com/office/drawing/2014/main" id="{0B6B6DC8-AFD9-1013-CFA4-A5009EC830EB}"/>
              </a:ext>
            </a:extLst>
          </p:cNvPr>
          <p:cNvPicPr>
            <a:picLocks noChangeAspect="1"/>
          </p:cNvPicPr>
          <p:nvPr/>
        </p:nvPicPr>
        <p:blipFill>
          <a:blip r:embed="rId18"/>
          <a:stretch>
            <a:fillRect/>
          </a:stretch>
        </p:blipFill>
        <p:spPr>
          <a:xfrm>
            <a:off x="8000111" y="1849629"/>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2" name="Picture 1">
            <a:extLst>
              <a:ext uri="{FF2B5EF4-FFF2-40B4-BE49-F238E27FC236}">
                <a16:creationId xmlns:a16="http://schemas.microsoft.com/office/drawing/2014/main" id="{61D91F97-81EF-55DD-1241-7E663D88BFFB}"/>
              </a:ext>
            </a:extLst>
          </p:cNvPr>
          <p:cNvPicPr>
            <a:picLocks noChangeAspect="1"/>
          </p:cNvPicPr>
          <p:nvPr/>
        </p:nvPicPr>
        <p:blipFill rotWithShape="1">
          <a:blip r:embed="rId19"/>
          <a:srcRect b="6395"/>
          <a:stretch/>
        </p:blipFill>
        <p:spPr>
          <a:xfrm>
            <a:off x="6694728" y="1040336"/>
            <a:ext cx="1080000" cy="656775"/>
          </a:xfrm>
          <a:prstGeom prst="rect">
            <a:avLst/>
          </a:prstGeom>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7" name="Picture 6">
            <a:extLst>
              <a:ext uri="{FF2B5EF4-FFF2-40B4-BE49-F238E27FC236}">
                <a16:creationId xmlns:a16="http://schemas.microsoft.com/office/drawing/2014/main" id="{CA4F9AAA-F25B-7B38-EE7D-9D1B63F7470E}"/>
              </a:ext>
            </a:extLst>
          </p:cNvPr>
          <p:cNvPicPr>
            <a:picLocks noChangeAspect="1"/>
          </p:cNvPicPr>
          <p:nvPr/>
        </p:nvPicPr>
        <p:blipFill>
          <a:blip r:embed="rId20"/>
          <a:stretch>
            <a:fillRect/>
          </a:stretch>
        </p:blipFill>
        <p:spPr>
          <a:xfrm>
            <a:off x="4025456" y="2644070"/>
            <a:ext cx="1080000" cy="706364"/>
          </a:xfrm>
          <a:prstGeom prst="rect">
            <a:avLst/>
          </a:prstGeom>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8" name="Picture 7">
            <a:extLst>
              <a:ext uri="{FF2B5EF4-FFF2-40B4-BE49-F238E27FC236}">
                <a16:creationId xmlns:a16="http://schemas.microsoft.com/office/drawing/2014/main" id="{835A4E54-8846-BE30-E77E-8EA0B4841703}"/>
              </a:ext>
            </a:extLst>
          </p:cNvPr>
          <p:cNvPicPr>
            <a:picLocks noChangeAspect="1"/>
          </p:cNvPicPr>
          <p:nvPr/>
        </p:nvPicPr>
        <p:blipFill>
          <a:blip r:embed="rId21"/>
          <a:stretch>
            <a:fillRect/>
          </a:stretch>
        </p:blipFill>
        <p:spPr>
          <a:xfrm>
            <a:off x="6683311" y="1839722"/>
            <a:ext cx="1080000" cy="656775"/>
          </a:xfrm>
          <a:prstGeom prst="rect">
            <a:avLst/>
          </a:prstGeom>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9" name="TextBox 4">
            <a:extLst>
              <a:ext uri="{FF2B5EF4-FFF2-40B4-BE49-F238E27FC236}">
                <a16:creationId xmlns:a16="http://schemas.microsoft.com/office/drawing/2014/main" id="{CB425F2D-C583-0A76-4E83-380A21373754}"/>
              </a:ext>
            </a:extLst>
          </p:cNvPr>
          <p:cNvSpPr txBox="1">
            <a:spLocks noChangeArrowheads="1"/>
          </p:cNvSpPr>
          <p:nvPr/>
        </p:nvSpPr>
        <p:spPr bwMode="auto">
          <a:xfrm>
            <a:off x="2057399" y="3787338"/>
            <a:ext cx="8077201"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sz="2000" dirty="0">
                <a:latin typeface="+mn-lt"/>
                <a:ea typeface="Calibri"/>
              </a:rPr>
              <a:t>It is a pleasure and an honour to be here with you today. </a:t>
            </a:r>
          </a:p>
          <a:p>
            <a:pPr algn="ctr"/>
            <a:r>
              <a:rPr lang="en-GB" sz="2000" dirty="0">
                <a:latin typeface="+mn-lt"/>
                <a:ea typeface="Calibri"/>
              </a:rPr>
              <a:t>We are now looking forward to presenting to you the final findings.</a:t>
            </a:r>
            <a:endParaRPr lang="en-US" dirty="0">
              <a:ea typeface="Calibri"/>
            </a:endParaRPr>
          </a:p>
          <a:p>
            <a:pPr algn="ctr"/>
            <a:r>
              <a:rPr lang="zh-CN" altLang="en-GB" sz="2000" dirty="0" err="1">
                <a:solidFill>
                  <a:srgbClr val="1F497D"/>
                </a:solidFill>
                <a:latin typeface="SimSun"/>
                <a:ea typeface="SimSun"/>
              </a:rPr>
              <a:t>今天能和大家在一起，我感到非常荣幸。我们现在期待着向您展示贵司的最终结果</a:t>
            </a:r>
            <a:r>
              <a:rPr lang="zh-CN" altLang="en-GB" sz="2000" dirty="0">
                <a:solidFill>
                  <a:srgbClr val="1F497D"/>
                </a:solidFill>
                <a:latin typeface="SimSun"/>
                <a:ea typeface="SimSun"/>
              </a:rPr>
              <a:t>。</a:t>
            </a:r>
            <a:endParaRPr lang="zh-CN" dirty="0"/>
          </a:p>
          <a:p>
            <a:pPr algn="ctr"/>
            <a:endParaRPr lang="en-GB" altLang="zh-CN" sz="2000" dirty="0">
              <a:solidFill>
                <a:srgbClr val="000000"/>
              </a:solidFill>
              <a:latin typeface="Calibri"/>
              <a:ea typeface="等线"/>
              <a:cs typeface="Calibri"/>
            </a:endParaRPr>
          </a:p>
        </p:txBody>
      </p:sp>
      <p:sp>
        <p:nvSpPr>
          <p:cNvPr id="52" name="TextBox 51">
            <a:extLst>
              <a:ext uri="{FF2B5EF4-FFF2-40B4-BE49-F238E27FC236}">
                <a16:creationId xmlns:a16="http://schemas.microsoft.com/office/drawing/2014/main" id="{382945E9-2F57-4420-BA56-8960D3908F35}"/>
              </a:ext>
            </a:extLst>
          </p:cNvPr>
          <p:cNvSpPr txBox="1"/>
          <p:nvPr/>
        </p:nvSpPr>
        <p:spPr>
          <a:xfrm>
            <a:off x="10628572" y="1054688"/>
            <a:ext cx="1356866" cy="738664"/>
          </a:xfrm>
          <a:prstGeom prst="rect">
            <a:avLst/>
          </a:prstGeom>
          <a:noFill/>
          <a:ln>
            <a:solidFill>
              <a:srgbClr val="FF0000"/>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dirty="0">
                <a:solidFill>
                  <a:srgbClr val="FF0000"/>
                </a:solidFill>
              </a:rPr>
              <a:t>Registered PRC trademark</a:t>
            </a:r>
          </a:p>
          <a:p>
            <a:pPr algn="ctr"/>
            <a:r>
              <a:rPr lang="en-US" sz="1400" b="1" dirty="0">
                <a:solidFill>
                  <a:srgbClr val="FF0000"/>
                </a:solidFill>
              </a:rPr>
              <a:t>21050449</a:t>
            </a:r>
          </a:p>
        </p:txBody>
      </p:sp>
      <p:pic>
        <p:nvPicPr>
          <p:cNvPr id="10" name="Picture 9">
            <a:extLst>
              <a:ext uri="{FF2B5EF4-FFF2-40B4-BE49-F238E27FC236}">
                <a16:creationId xmlns:a16="http://schemas.microsoft.com/office/drawing/2014/main" id="{B883F363-8032-AE88-2810-0BA8D55C91D7}"/>
              </a:ext>
            </a:extLst>
          </p:cNvPr>
          <p:cNvPicPr>
            <a:picLocks noChangeAspect="1"/>
          </p:cNvPicPr>
          <p:nvPr/>
        </p:nvPicPr>
        <p:blipFill>
          <a:blip r:embed="rId22"/>
          <a:stretch>
            <a:fillRect/>
          </a:stretch>
        </p:blipFill>
        <p:spPr>
          <a:xfrm>
            <a:off x="1344954" y="2695850"/>
            <a:ext cx="1080000" cy="700942"/>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2050" name="Picture 2" descr="Flag of Costa Rica | Meaning, Colors &amp; History | Britannica">
            <a:extLst>
              <a:ext uri="{FF2B5EF4-FFF2-40B4-BE49-F238E27FC236}">
                <a16:creationId xmlns:a16="http://schemas.microsoft.com/office/drawing/2014/main" id="{53CD89D5-7FF2-D96B-EA13-4AAF739544DC}"/>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316911" y="2641935"/>
            <a:ext cx="1080000" cy="676193"/>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11" name="Picture 10" descr="A picture containing clipart&#10;&#10;Description automatically generated">
            <a:extLst>
              <a:ext uri="{FF2B5EF4-FFF2-40B4-BE49-F238E27FC236}">
                <a16:creationId xmlns:a16="http://schemas.microsoft.com/office/drawing/2014/main" id="{C7511AF9-9DDC-D3FE-E2B7-23997BFF7E03}"/>
              </a:ext>
            </a:extLst>
          </p:cNvPr>
          <p:cNvPicPr>
            <a:picLocks noChangeAspect="1"/>
          </p:cNvPicPr>
          <p:nvPr/>
        </p:nvPicPr>
        <p:blipFill>
          <a:blip r:embed="rId24">
            <a:extLst>
              <a:ext uri="{28A0092B-C50C-407E-A947-70E740481C1C}">
                <a14:useLocalDpi xmlns:a14="http://schemas.microsoft.com/office/drawing/2010/main" val="0"/>
              </a:ext>
            </a:extLst>
          </a:blip>
          <a:srcRect t="18393" b="22290"/>
          <a:stretch/>
        </p:blipFill>
        <p:spPr>
          <a:xfrm>
            <a:off x="4686109" y="5403449"/>
            <a:ext cx="1734754" cy="597600"/>
          </a:xfrm>
          <a:prstGeom prst="rect">
            <a:avLst/>
          </a:prstGeom>
          <a:ln>
            <a:solidFill>
              <a:schemeClr val="bg1"/>
            </a:solidFill>
          </a:ln>
        </p:spPr>
      </p:pic>
      <p:pic>
        <p:nvPicPr>
          <p:cNvPr id="13" name="Picture 12">
            <a:extLst>
              <a:ext uri="{FF2B5EF4-FFF2-40B4-BE49-F238E27FC236}">
                <a16:creationId xmlns:a16="http://schemas.microsoft.com/office/drawing/2014/main" id="{6ED20F75-AD49-6B89-8D12-E802056B11C7}"/>
              </a:ext>
            </a:extLst>
          </p:cNvPr>
          <p:cNvPicPr>
            <a:picLocks noChangeAspect="1"/>
          </p:cNvPicPr>
          <p:nvPr/>
        </p:nvPicPr>
        <p:blipFill>
          <a:blip r:embed="rId25"/>
          <a:stretch>
            <a:fillRect/>
          </a:stretch>
        </p:blipFill>
        <p:spPr>
          <a:xfrm>
            <a:off x="6900828" y="5309832"/>
            <a:ext cx="2031326" cy="1015663"/>
          </a:xfrm>
          <a:prstGeom prst="rect">
            <a:avLst/>
          </a:prstGeom>
          <a:ln>
            <a:solidFill>
              <a:schemeClr val="bg1"/>
            </a:solidFill>
          </a:ln>
        </p:spPr>
      </p:pic>
      <p:pic>
        <p:nvPicPr>
          <p:cNvPr id="14" name="Picture 4" descr="ISACA® Certifications | Global Lynx">
            <a:extLst>
              <a:ext uri="{FF2B5EF4-FFF2-40B4-BE49-F238E27FC236}">
                <a16:creationId xmlns:a16="http://schemas.microsoft.com/office/drawing/2014/main" id="{7E5E8D86-C26E-2913-0B3F-91DB52533455}"/>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9321054" y="5403449"/>
            <a:ext cx="1892400" cy="597600"/>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15" name="Picture 14" descr="A close up of a logo&#10;&#10;AI-generated content may be incorrect.">
            <a:extLst>
              <a:ext uri="{FF2B5EF4-FFF2-40B4-BE49-F238E27FC236}">
                <a16:creationId xmlns:a16="http://schemas.microsoft.com/office/drawing/2014/main" id="{AA70989F-A34B-1CEE-79EB-CFFE2B8CFFD1}"/>
              </a:ext>
            </a:extLst>
          </p:cNvPr>
          <p:cNvPicPr>
            <a:picLocks noChangeAspect="1"/>
          </p:cNvPicPr>
          <p:nvPr/>
        </p:nvPicPr>
        <p:blipFill>
          <a:blip r:embed="rId27"/>
          <a:stretch>
            <a:fillRect/>
          </a:stretch>
        </p:blipFill>
        <p:spPr>
          <a:xfrm>
            <a:off x="953612" y="5215166"/>
            <a:ext cx="3467580" cy="974166"/>
          </a:xfrm>
          <a:prstGeom prst="rect">
            <a:avLst/>
          </a:prstGeom>
        </p:spPr>
      </p:pic>
    </p:spTree>
    <p:extLst>
      <p:ext uri="{BB962C8B-B14F-4D97-AF65-F5344CB8AC3E}">
        <p14:creationId xmlns:p14="http://schemas.microsoft.com/office/powerpoint/2010/main" val="979269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1ED6D-359B-4DB9-A138-F6149B35A537}"/>
              </a:ext>
            </a:extLst>
          </p:cNvPr>
          <p:cNvSpPr>
            <a:spLocks noGrp="1"/>
          </p:cNvSpPr>
          <p:nvPr>
            <p:ph type="title"/>
          </p:nvPr>
        </p:nvSpPr>
        <p:spPr/>
        <p:txBody>
          <a:bodyPr/>
          <a:lstStyle/>
          <a:p>
            <a:r>
              <a:rPr lang="en-ZA" dirty="0"/>
              <a:t>Agenda </a:t>
            </a:r>
            <a:r>
              <a:rPr lang="zh-CN" altLang="en-US" dirty="0">
                <a:solidFill>
                  <a:srgbClr val="1F497D"/>
                </a:solidFill>
              </a:rPr>
              <a:t>议程</a:t>
            </a:r>
            <a:r>
              <a:rPr lang="en-ZA" dirty="0">
                <a:solidFill>
                  <a:srgbClr val="1F497D"/>
                </a:solidFill>
              </a:rPr>
              <a:t> </a:t>
            </a:r>
            <a:r>
              <a:rPr lang="en-ZA" dirty="0"/>
              <a:t> </a:t>
            </a:r>
          </a:p>
        </p:txBody>
      </p:sp>
      <p:sp>
        <p:nvSpPr>
          <p:cNvPr id="3" name="Content Placeholder 2">
            <a:extLst>
              <a:ext uri="{FF2B5EF4-FFF2-40B4-BE49-F238E27FC236}">
                <a16:creationId xmlns:a16="http://schemas.microsoft.com/office/drawing/2014/main" id="{7F18C33A-3F28-4A57-89CE-6D34B3F734A0}"/>
              </a:ext>
            </a:extLst>
          </p:cNvPr>
          <p:cNvSpPr>
            <a:spLocks noGrp="1"/>
          </p:cNvSpPr>
          <p:nvPr>
            <p:ph idx="1"/>
          </p:nvPr>
        </p:nvSpPr>
        <p:spPr/>
        <p:txBody>
          <a:bodyPr>
            <a:normAutofit fontScale="92500" lnSpcReduction="10000"/>
          </a:bodyPr>
          <a:lstStyle/>
          <a:p>
            <a:r>
              <a:rPr lang="en-NZ" sz="2400" b="0" i="0" dirty="0">
                <a:solidFill>
                  <a:srgbClr val="000000"/>
                </a:solidFill>
                <a:effectLst/>
                <a:latin typeface="Calibri" panose="020F0502020204030204" pitchFamily="34" charset="0"/>
              </a:rPr>
              <a:t>Appraisal Overview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评估概述</a:t>
            </a:r>
            <a:endParaRPr lang="en-NZ"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Practice Area Findings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实践域发现</a:t>
            </a:r>
            <a:endParaRPr lang="en-NZ"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Performance Report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性能报告</a:t>
            </a:r>
            <a:r>
              <a:rPr lang="en-NZ" sz="2400" b="1" dirty="0">
                <a:solidFill>
                  <a:srgbClr val="1F497D"/>
                </a:solidFill>
                <a:ea typeface="+mj-ea"/>
                <a:cs typeface="+mj-cs"/>
              </a:rPr>
              <a:t>  </a:t>
            </a:r>
          </a:p>
          <a:p>
            <a:r>
              <a:rPr lang="en-NZ" sz="2400" b="0" i="0" dirty="0">
                <a:solidFill>
                  <a:srgbClr val="000000"/>
                </a:solidFill>
                <a:effectLst/>
                <a:latin typeface="Calibri" panose="020F0502020204030204" pitchFamily="34" charset="0"/>
              </a:rPr>
              <a:t>Ratings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评级</a:t>
            </a:r>
            <a:endParaRPr lang="en-ZA" altLang="zh-CN"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Annexures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附加展示</a:t>
            </a:r>
            <a:endParaRPr lang="en-NZ" sz="2400" b="0" i="0" dirty="0">
              <a:solidFill>
                <a:srgbClr val="000000"/>
              </a:solidFill>
              <a:effectLst/>
              <a:latin typeface="Calibri" panose="020F0502020204030204" pitchFamily="34" charset="0"/>
            </a:endParaRPr>
          </a:p>
          <a:p>
            <a:pPr lvl="1"/>
            <a:r>
              <a:rPr lang="en-NZ" b="0" i="0" dirty="0">
                <a:solidFill>
                  <a:srgbClr val="000000"/>
                </a:solidFill>
                <a:effectLst/>
                <a:latin typeface="Calibri" panose="020F0502020204030204" pitchFamily="34" charset="0"/>
              </a:rPr>
              <a:t>Non model findings </a:t>
            </a:r>
            <a:endParaRPr lang="en-NZ" dirty="0">
              <a:solidFill>
                <a:srgbClr val="000000"/>
              </a:solidFill>
              <a:latin typeface="Calibri" panose="020F0502020204030204" pitchFamily="34" charset="0"/>
            </a:endParaRPr>
          </a:p>
          <a:p>
            <a:pPr lvl="1"/>
            <a:r>
              <a:rPr lang="en-NZ" b="0" i="0" dirty="0">
                <a:solidFill>
                  <a:srgbClr val="000000"/>
                </a:solidFill>
                <a:effectLst/>
                <a:latin typeface="Calibri" panose="020F0502020204030204" pitchFamily="34" charset="0"/>
              </a:rPr>
              <a:t>Improvement opportunities </a:t>
            </a:r>
          </a:p>
          <a:p>
            <a:pPr lvl="1"/>
            <a:r>
              <a:rPr lang="en-NZ" b="0" i="0" dirty="0">
                <a:solidFill>
                  <a:srgbClr val="000000"/>
                </a:solidFill>
                <a:effectLst/>
                <a:latin typeface="Calibri" panose="020F0502020204030204" pitchFamily="34" charset="0"/>
              </a:rPr>
              <a:t>Next steps </a:t>
            </a:r>
            <a:endParaRPr lang="en-US" sz="2000" dirty="0"/>
          </a:p>
        </p:txBody>
      </p:sp>
    </p:spTree>
    <p:extLst>
      <p:ext uri="{BB962C8B-B14F-4D97-AF65-F5344CB8AC3E}">
        <p14:creationId xmlns:p14="http://schemas.microsoft.com/office/powerpoint/2010/main" val="1569627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629AD6-E198-3A47-A696-9DF21F27875F}"/>
              </a:ext>
            </a:extLst>
          </p:cNvPr>
          <p:cNvSpPr>
            <a:spLocks noGrp="1"/>
          </p:cNvSpPr>
          <p:nvPr>
            <p:ph type="title"/>
          </p:nvPr>
        </p:nvSpPr>
        <p:spPr/>
        <p:txBody>
          <a:bodyPr/>
          <a:lstStyle/>
          <a:p>
            <a:r>
              <a:rPr lang="en-US" b="1" dirty="0">
                <a:latin typeface="+mn-lt"/>
              </a:rPr>
              <a:t>Appraisal Overview </a:t>
            </a:r>
            <a:br>
              <a:rPr lang="en-US" b="1" dirty="0">
                <a:latin typeface="+mn-lt"/>
              </a:rPr>
            </a:br>
            <a:r>
              <a:rPr lang="zh-CN" altLang="en-US" sz="6000" b="1" dirty="0">
                <a:solidFill>
                  <a:srgbClr val="1F497D"/>
                </a:solidFill>
                <a:latin typeface="+mn-ea"/>
                <a:ea typeface="+mn-ea"/>
              </a:rPr>
              <a:t>评估概述</a:t>
            </a:r>
            <a:endParaRPr lang="en-US" b="1" dirty="0">
              <a:solidFill>
                <a:srgbClr val="1F497D"/>
              </a:solidFill>
              <a:latin typeface="+mn-lt"/>
            </a:endParaRPr>
          </a:p>
        </p:txBody>
      </p:sp>
    </p:spTree>
    <p:extLst>
      <p:ext uri="{BB962C8B-B14F-4D97-AF65-F5344CB8AC3E}">
        <p14:creationId xmlns:p14="http://schemas.microsoft.com/office/powerpoint/2010/main" val="3938322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3"/>
          <p:cNvSpPr>
            <a:spLocks noGrp="1" noChangeArrowheads="1"/>
          </p:cNvSpPr>
          <p:nvPr>
            <p:ph type="title"/>
          </p:nvPr>
        </p:nvSpPr>
        <p:spPr>
          <a:xfrm>
            <a:off x="962488" y="1039828"/>
            <a:ext cx="10515600" cy="602284"/>
          </a:xfrm>
        </p:spPr>
        <p:txBody>
          <a:bodyPr/>
          <a:lstStyle/>
          <a:p>
            <a:pPr eaLnBrk="1" hangingPunct="1"/>
            <a:r>
              <a:rPr lang="en-US" altLang="en-US" dirty="0">
                <a:ea typeface="ＭＳ Ｐゴシック" charset="-128"/>
              </a:rPr>
              <a:t>Appraisal Overview</a:t>
            </a:r>
          </a:p>
        </p:txBody>
      </p:sp>
      <p:graphicFrame>
        <p:nvGraphicFramePr>
          <p:cNvPr id="2" name="Object 1">
            <a:extLst>
              <a:ext uri="{FF2B5EF4-FFF2-40B4-BE49-F238E27FC236}">
                <a16:creationId xmlns:a16="http://schemas.microsoft.com/office/drawing/2014/main" id="{F0834E9F-5D77-4D80-9135-468AD546C5ED}"/>
              </a:ext>
            </a:extLst>
          </p:cNvPr>
          <p:cNvGraphicFramePr>
            <a:graphicFrameLocks noChangeAspect="1"/>
          </p:cNvGraphicFramePr>
          <p:nvPr>
            <p:extLst>
              <p:ext uri="{D42A27DB-BD31-4B8C-83A1-F6EECF244321}">
                <p14:modId xmlns:p14="http://schemas.microsoft.com/office/powerpoint/2010/main" val="847791808"/>
              </p:ext>
            </p:extLst>
          </p:nvPr>
        </p:nvGraphicFramePr>
        <p:xfrm>
          <a:off x="985838" y="2262188"/>
          <a:ext cx="8245475" cy="1431925"/>
        </p:xfrm>
        <a:graphic>
          <a:graphicData uri="http://schemas.openxmlformats.org/presentationml/2006/ole">
            <mc:AlternateContent xmlns:mc="http://schemas.openxmlformats.org/markup-compatibility/2006">
              <mc:Choice xmlns:v="urn:schemas-microsoft-com:vml" Requires="v">
                <p:oleObj name="Macro-Enabled Worksheet" r:id="rId3" imgW="8244911" imgH="1432718" progId="Excel.SheetMacroEnabled.12">
                  <p:link updateAutomatic="1"/>
                </p:oleObj>
              </mc:Choice>
              <mc:Fallback>
                <p:oleObj name="Macro-Enabled Worksheet" r:id="rId3" imgW="8244911" imgH="1432718" progId="Excel.SheetMacroEnabled.12">
                  <p:link updateAutomatic="1"/>
                  <p:pic>
                    <p:nvPicPr>
                      <p:cNvPr id="2" name="Object 1">
                        <a:extLst>
                          <a:ext uri="{FF2B5EF4-FFF2-40B4-BE49-F238E27FC236}">
                            <a16:creationId xmlns:a16="http://schemas.microsoft.com/office/drawing/2014/main" id="{F0834E9F-5D77-4D80-9135-468AD546C5ED}"/>
                          </a:ext>
                        </a:extLst>
                      </p:cNvPr>
                      <p:cNvPicPr/>
                      <p:nvPr/>
                    </p:nvPicPr>
                    <p:blipFill>
                      <a:blip r:embed="rId4"/>
                      <a:stretch>
                        <a:fillRect/>
                      </a:stretch>
                    </p:blipFill>
                    <p:spPr>
                      <a:xfrm>
                        <a:off x="985838" y="2262188"/>
                        <a:ext cx="8245475" cy="1431925"/>
                      </a:xfrm>
                      <a:prstGeom prst="rect">
                        <a:avLst/>
                      </a:prstGeom>
                    </p:spPr>
                  </p:pic>
                </p:oleObj>
              </mc:Fallback>
            </mc:AlternateContent>
          </a:graphicData>
        </a:graphic>
      </p:graphicFrame>
    </p:spTree>
    <p:extLst>
      <p:ext uri="{BB962C8B-B14F-4D97-AF65-F5344CB8AC3E}">
        <p14:creationId xmlns:p14="http://schemas.microsoft.com/office/powerpoint/2010/main" val="2391473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3"/>
          <p:cNvSpPr>
            <a:spLocks noGrp="1" noChangeArrowheads="1"/>
          </p:cNvSpPr>
          <p:nvPr>
            <p:ph type="title"/>
          </p:nvPr>
        </p:nvSpPr>
        <p:spPr/>
        <p:txBody>
          <a:bodyPr/>
          <a:lstStyle/>
          <a:p>
            <a:pPr eaLnBrk="1" hangingPunct="1"/>
            <a:r>
              <a:rPr lang="en-US" altLang="en-US" dirty="0">
                <a:ea typeface="ＭＳ Ｐゴシック" charset="-128"/>
              </a:rPr>
              <a:t>Appraisal Overview</a:t>
            </a:r>
          </a:p>
        </p:txBody>
      </p:sp>
      <p:graphicFrame>
        <p:nvGraphicFramePr>
          <p:cNvPr id="3" name="Object 2">
            <a:extLst>
              <a:ext uri="{FF2B5EF4-FFF2-40B4-BE49-F238E27FC236}">
                <a16:creationId xmlns:a16="http://schemas.microsoft.com/office/drawing/2014/main" id="{0EB7EFCD-0F5E-4911-B397-E6C1C181361B}"/>
              </a:ext>
            </a:extLst>
          </p:cNvPr>
          <p:cNvGraphicFramePr>
            <a:graphicFrameLocks noChangeAspect="1"/>
          </p:cNvGraphicFramePr>
          <p:nvPr>
            <p:extLst>
              <p:ext uri="{D42A27DB-BD31-4B8C-83A1-F6EECF244321}">
                <p14:modId xmlns:p14="http://schemas.microsoft.com/office/powerpoint/2010/main" val="1337228355"/>
              </p:ext>
            </p:extLst>
          </p:nvPr>
        </p:nvGraphicFramePr>
        <p:xfrm>
          <a:off x="1106488" y="2220913"/>
          <a:ext cx="8245475" cy="1584325"/>
        </p:xfrm>
        <a:graphic>
          <a:graphicData uri="http://schemas.openxmlformats.org/presentationml/2006/ole">
            <mc:AlternateContent xmlns:mc="http://schemas.openxmlformats.org/markup-compatibility/2006">
              <mc:Choice xmlns:v="urn:schemas-microsoft-com:vml" Requires="v">
                <p:oleObj name="Macro-Enabled Worksheet" r:id="rId3" imgW="8244911" imgH="1584944" progId="Excel.SheetMacroEnabled.12">
                  <p:link updateAutomatic="1"/>
                </p:oleObj>
              </mc:Choice>
              <mc:Fallback>
                <p:oleObj name="Macro-Enabled Worksheet" r:id="rId3" imgW="8244911" imgH="1584944" progId="Excel.SheetMacroEnabled.12">
                  <p:link updateAutomatic="1"/>
                  <p:pic>
                    <p:nvPicPr>
                      <p:cNvPr id="3" name="Object 2">
                        <a:extLst>
                          <a:ext uri="{FF2B5EF4-FFF2-40B4-BE49-F238E27FC236}">
                            <a16:creationId xmlns:a16="http://schemas.microsoft.com/office/drawing/2014/main" id="{0EB7EFCD-0F5E-4911-B397-E6C1C181361B}"/>
                          </a:ext>
                        </a:extLst>
                      </p:cNvPr>
                      <p:cNvPicPr/>
                      <p:nvPr/>
                    </p:nvPicPr>
                    <p:blipFill>
                      <a:blip r:embed="rId4"/>
                      <a:stretch>
                        <a:fillRect/>
                      </a:stretch>
                    </p:blipFill>
                    <p:spPr>
                      <a:xfrm>
                        <a:off x="1106488" y="2220913"/>
                        <a:ext cx="8245475" cy="1584325"/>
                      </a:xfrm>
                      <a:prstGeom prst="rect">
                        <a:avLst/>
                      </a:prstGeom>
                    </p:spPr>
                  </p:pic>
                </p:oleObj>
              </mc:Fallback>
            </mc:AlternateContent>
          </a:graphicData>
        </a:graphic>
      </p:graphicFrame>
    </p:spTree>
    <p:extLst>
      <p:ext uri="{BB962C8B-B14F-4D97-AF65-F5344CB8AC3E}">
        <p14:creationId xmlns:p14="http://schemas.microsoft.com/office/powerpoint/2010/main" val="2505805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4"/>
          <p:cNvSpPr>
            <a:spLocks noGrp="1" noChangeArrowheads="1"/>
          </p:cNvSpPr>
          <p:nvPr>
            <p:ph type="title"/>
          </p:nvPr>
        </p:nvSpPr>
        <p:spPr/>
        <p:txBody>
          <a:bodyPr/>
          <a:lstStyle/>
          <a:p>
            <a:pPr eaLnBrk="1" hangingPunct="1"/>
            <a:r>
              <a:rPr lang="en-US" altLang="en-US" dirty="0">
                <a:ea typeface="ＭＳ Ｐゴシック" charset="-128"/>
              </a:rPr>
              <a:t>Business and Appraisal Objectives</a:t>
            </a:r>
          </a:p>
        </p:txBody>
      </p:sp>
      <p:graphicFrame>
        <p:nvGraphicFramePr>
          <p:cNvPr id="3" name="Object 2">
            <a:extLst>
              <a:ext uri="{FF2B5EF4-FFF2-40B4-BE49-F238E27FC236}">
                <a16:creationId xmlns:a16="http://schemas.microsoft.com/office/drawing/2014/main" id="{CBD7C3AC-6FAD-48FF-80E6-B156EB53802A}"/>
              </a:ext>
            </a:extLst>
          </p:cNvPr>
          <p:cNvGraphicFramePr>
            <a:graphicFrameLocks noChangeAspect="1"/>
          </p:cNvGraphicFramePr>
          <p:nvPr>
            <p:extLst>
              <p:ext uri="{D42A27DB-BD31-4B8C-83A1-F6EECF244321}">
                <p14:modId xmlns:p14="http://schemas.microsoft.com/office/powerpoint/2010/main" val="3847304370"/>
              </p:ext>
            </p:extLst>
          </p:nvPr>
        </p:nvGraphicFramePr>
        <p:xfrm>
          <a:off x="1165225" y="2252663"/>
          <a:ext cx="7437438" cy="1393825"/>
        </p:xfrm>
        <a:graphic>
          <a:graphicData uri="http://schemas.openxmlformats.org/presentationml/2006/ole">
            <mc:AlternateContent xmlns:mc="http://schemas.openxmlformats.org/markup-compatibility/2006">
              <mc:Choice xmlns:v="urn:schemas-microsoft-com:vml" Requires="v">
                <p:oleObj name="Macro-Enabled Worksheet" r:id="rId3" imgW="7437262" imgH="1394342" progId="Excel.SheetMacroEnabled.12">
                  <p:link updateAutomatic="1"/>
                </p:oleObj>
              </mc:Choice>
              <mc:Fallback>
                <p:oleObj name="Macro-Enabled Worksheet" r:id="rId3" imgW="7437262" imgH="1394342" progId="Excel.SheetMacroEnabled.12">
                  <p:link updateAutomatic="1"/>
                  <p:pic>
                    <p:nvPicPr>
                      <p:cNvPr id="3" name="Object 2">
                        <a:extLst>
                          <a:ext uri="{FF2B5EF4-FFF2-40B4-BE49-F238E27FC236}">
                            <a16:creationId xmlns:a16="http://schemas.microsoft.com/office/drawing/2014/main" id="{CBD7C3AC-6FAD-48FF-80E6-B156EB53802A}"/>
                          </a:ext>
                        </a:extLst>
                      </p:cNvPr>
                      <p:cNvPicPr/>
                      <p:nvPr/>
                    </p:nvPicPr>
                    <p:blipFill>
                      <a:blip r:embed="rId4"/>
                      <a:stretch>
                        <a:fillRect/>
                      </a:stretch>
                    </p:blipFill>
                    <p:spPr>
                      <a:xfrm>
                        <a:off x="1165225" y="2252663"/>
                        <a:ext cx="7437438" cy="1393825"/>
                      </a:xfrm>
                      <a:prstGeom prst="rect">
                        <a:avLst/>
                      </a:prstGeom>
                    </p:spPr>
                  </p:pic>
                </p:oleObj>
              </mc:Fallback>
            </mc:AlternateContent>
          </a:graphicData>
        </a:graphic>
      </p:graphicFrame>
    </p:spTree>
    <p:extLst>
      <p:ext uri="{BB962C8B-B14F-4D97-AF65-F5344CB8AC3E}">
        <p14:creationId xmlns:p14="http://schemas.microsoft.com/office/powerpoint/2010/main" val="148595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84020" y="995024"/>
            <a:ext cx="7772400" cy="609600"/>
          </a:xfrm>
          <a:noFill/>
        </p:spPr>
        <p:txBody>
          <a:bodyPr vert="horz" wrap="none" lIns="90488" tIns="44450" rIns="90488" bIns="44450" rtlCol="0" anchor="ctr">
            <a:normAutofit/>
          </a:bodyPr>
          <a:lstStyle/>
          <a:p>
            <a:pPr algn="l" eaLnBrk="1" hangingPunct="1">
              <a:lnSpc>
                <a:spcPct val="85000"/>
              </a:lnSpc>
            </a:pPr>
            <a:r>
              <a:rPr lang="en-US" altLang="zh-CN" dirty="0">
                <a:latin typeface="Arial" charset="0"/>
              </a:rPr>
              <a:t>Appraisal Principles</a:t>
            </a:r>
          </a:p>
        </p:txBody>
      </p:sp>
      <p:sp>
        <p:nvSpPr>
          <p:cNvPr id="6147" name="Rectangle 3"/>
          <p:cNvSpPr>
            <a:spLocks noGrp="1" noChangeArrowheads="1"/>
          </p:cNvSpPr>
          <p:nvPr>
            <p:ph idx="1"/>
          </p:nvPr>
        </p:nvSpPr>
        <p:spPr>
          <a:xfrm>
            <a:off x="1055688" y="1848439"/>
            <a:ext cx="7772400" cy="3057247"/>
          </a:xfrm>
        </p:spPr>
        <p:txBody>
          <a:bodyPr vert="horz" lIns="63500" tIns="25400" rIns="63500" bIns="25400" rtlCol="0">
            <a:spAutoFit/>
          </a:bodyPr>
          <a:lstStyle/>
          <a:p>
            <a:r>
              <a:rPr lang="en-ZA" sz="1800" dirty="0">
                <a:solidFill>
                  <a:srgbClr val="000000"/>
                </a:solidFill>
                <a:effectLst/>
                <a:latin typeface="Arial" panose="020B0604020202020204" pitchFamily="34" charset="0"/>
                <a:ea typeface="Calibri" panose="020F0502020204030204" pitchFamily="34" charset="0"/>
              </a:rPr>
              <a:t>Start with a process framework</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以一个过程框架作为开始</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Observe strict confidentiality and non-attribution</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严格遵循保密性和不归因性</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Involve senior management as appraisal sponsor</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把高层作为评估发起人</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Approach appraisal collaboratively to the extent possible</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评估需要协调合作进行</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Focus on action</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关注行动</a:t>
            </a:r>
            <a:endParaRPr lang="en-ZA" sz="1800" dirty="0">
              <a:solidFill>
                <a:srgbClr val="1F497D"/>
              </a:solidFill>
              <a:latin typeface="宋体" panose="02010600030101010101" pitchFamily="2" charset="-122"/>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38F63-43DB-4D03-99F8-9DDEC68E764C}"/>
              </a:ext>
            </a:extLst>
          </p:cNvPr>
          <p:cNvSpPr>
            <a:spLocks noGrp="1"/>
          </p:cNvSpPr>
          <p:nvPr>
            <p:ph type="title"/>
          </p:nvPr>
        </p:nvSpPr>
        <p:spPr/>
        <p:txBody>
          <a:bodyPr/>
          <a:lstStyle/>
          <a:p>
            <a:r>
              <a:rPr lang="en-ZA" dirty="0"/>
              <a:t>Virtual appraisals – Code of Conduct</a:t>
            </a:r>
          </a:p>
        </p:txBody>
      </p:sp>
      <p:sp>
        <p:nvSpPr>
          <p:cNvPr id="3" name="Content Placeholder 2">
            <a:extLst>
              <a:ext uri="{FF2B5EF4-FFF2-40B4-BE49-F238E27FC236}">
                <a16:creationId xmlns:a16="http://schemas.microsoft.com/office/drawing/2014/main" id="{C7FF612D-EFDE-4142-8FD5-20FE5144DB43}"/>
              </a:ext>
            </a:extLst>
          </p:cNvPr>
          <p:cNvSpPr>
            <a:spLocks noGrp="1"/>
          </p:cNvSpPr>
          <p:nvPr>
            <p:ph idx="1"/>
          </p:nvPr>
        </p:nvSpPr>
        <p:spPr>
          <a:xfrm>
            <a:off x="1055688" y="1489220"/>
            <a:ext cx="10397837" cy="4531043"/>
          </a:xfrm>
        </p:spPr>
        <p:txBody>
          <a:bodyPr>
            <a:noAutofit/>
          </a:bodyPr>
          <a:lstStyle/>
          <a:p>
            <a:pPr marL="0" indent="0">
              <a:spcBef>
                <a:spcPts val="300"/>
              </a:spcBef>
              <a:buNone/>
            </a:pPr>
            <a:r>
              <a:rPr lang="en-GB" sz="1600" dirty="0">
                <a:solidFill>
                  <a:srgbClr val="000000"/>
                </a:solidFill>
                <a:latin typeface="Arial" panose="020B0604020202020204" pitchFamily="34" charset="0"/>
                <a:ea typeface="Calibri" panose="020F0502020204030204" pitchFamily="34" charset="0"/>
              </a:rPr>
              <a:t>When virtual interviews are planned for the appraisal, then virtual face-to-face (</a:t>
            </a:r>
            <a:r>
              <a:rPr lang="en-GB" sz="1600" dirty="0" err="1">
                <a:solidFill>
                  <a:srgbClr val="000000"/>
                </a:solidFill>
                <a:latin typeface="Arial" panose="020B0604020202020204" pitchFamily="34" charset="0"/>
                <a:ea typeface="Calibri" panose="020F0502020204030204" pitchFamily="34" charset="0"/>
              </a:rPr>
              <a:t>F2F</a:t>
            </a:r>
            <a:r>
              <a:rPr lang="en-GB" sz="1600" dirty="0">
                <a:solidFill>
                  <a:srgbClr val="000000"/>
                </a:solidFill>
                <a:latin typeface="Arial" panose="020B0604020202020204" pitchFamily="34" charset="0"/>
                <a:ea typeface="Calibri" panose="020F0502020204030204" pitchFamily="34" charset="0"/>
              </a:rPr>
              <a:t>) interviews are required to confirm the following:</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interviewees are on camera</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ATM identities and maximizing their participation</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appraisal participant identities, e.g., interviewees, Appraisal Sponsor</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only planned appraisal participants are present</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that non-attribution and confidentiality rules are being followed, e.g., no other participants are present, physical setting is appropriate</a:t>
            </a:r>
          </a:p>
          <a:p>
            <a:pPr>
              <a:spcBef>
                <a:spcPts val="300"/>
              </a:spcBef>
            </a:pPr>
            <a:r>
              <a:rPr lang="en-GB" sz="1600" dirty="0">
                <a:solidFill>
                  <a:srgbClr val="000000"/>
                </a:solidFill>
                <a:latin typeface="Arial" panose="020B0604020202020204" pitchFamily="34" charset="0"/>
                <a:ea typeface="Calibri" panose="020F0502020204030204" pitchFamily="34" charset="0"/>
              </a:rPr>
              <a:t>Monitoring non-verbal communication and appraisal participant engagement</a:t>
            </a:r>
          </a:p>
          <a:p>
            <a:pPr marL="0" indent="0" algn="l">
              <a:buNone/>
            </a:pPr>
            <a:r>
              <a:rPr lang="zh-CN" altLang="en-US" sz="1600" dirty="0">
                <a:solidFill>
                  <a:srgbClr val="1F497D"/>
                </a:solidFill>
                <a:latin typeface="宋体" panose="02010600030101010101" pitchFamily="2" charset="-122"/>
                <a:ea typeface="宋体" panose="02010600030101010101" pitchFamily="2" charset="-122"/>
              </a:rPr>
              <a:t>当评估计划进行虚拟面试时，需要进行虚拟面对面（</a:t>
            </a:r>
            <a:r>
              <a:rPr lang="en-US" altLang="zh-CN" sz="1600" dirty="0" err="1">
                <a:solidFill>
                  <a:srgbClr val="1F497D"/>
                </a:solidFill>
                <a:latin typeface="宋体" panose="02010600030101010101" pitchFamily="2" charset="-122"/>
                <a:ea typeface="宋体" panose="02010600030101010101" pitchFamily="2" charset="-122"/>
              </a:rPr>
              <a:t>F2F</a:t>
            </a:r>
            <a:r>
              <a:rPr lang="zh-CN" altLang="en-US" sz="1600" dirty="0">
                <a:solidFill>
                  <a:srgbClr val="1F497D"/>
                </a:solidFill>
                <a:latin typeface="宋体" panose="02010600030101010101" pitchFamily="2" charset="-122"/>
                <a:ea typeface="宋体" panose="02010600030101010101" pitchFamily="2" charset="-122"/>
              </a:rPr>
              <a:t>）面试以确认以下内容：</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确认受访者出现在摄像头前</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a:t>
            </a:r>
            <a:r>
              <a:rPr lang="en-US" altLang="zh-CN" sz="1600" dirty="0">
                <a:solidFill>
                  <a:srgbClr val="1F497D"/>
                </a:solidFill>
                <a:latin typeface="宋体" panose="02010600030101010101" pitchFamily="2" charset="-122"/>
                <a:ea typeface="宋体" panose="02010600030101010101" pitchFamily="2" charset="-122"/>
              </a:rPr>
              <a:t>ATM</a:t>
            </a:r>
            <a:r>
              <a:rPr lang="zh-CN" altLang="en-US" sz="1600" dirty="0">
                <a:solidFill>
                  <a:srgbClr val="1F497D"/>
                </a:solidFill>
                <a:latin typeface="宋体" panose="02010600030101010101" pitchFamily="2" charset="-122"/>
                <a:ea typeface="宋体" panose="02010600030101010101" pitchFamily="2" charset="-122"/>
              </a:rPr>
              <a:t>身份并最大化他们的参与</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验证评估参与者的身份，例如，受访者、评估赞助人</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确认只有计划中的评估参与者在场</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验证非归属和保密规则是否被遵守，例如，没有其他参与者在场，物理环境是否适宜</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监控非言语交流和评估参与者的参与度</a:t>
            </a:r>
          </a:p>
          <a:p>
            <a:pPr marL="0" indent="0">
              <a:spcBef>
                <a:spcPts val="300"/>
              </a:spcBef>
              <a:buNone/>
            </a:pPr>
            <a:endParaRPr lang="en-GB" sz="1600" dirty="0">
              <a:solidFill>
                <a:srgbClr val="000000"/>
              </a:solidFill>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2957226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Grp="1" noChangeArrowheads="1"/>
          </p:cNvSpPr>
          <p:nvPr>
            <p:ph type="title"/>
          </p:nvPr>
        </p:nvSpPr>
        <p:spPr/>
        <p:txBody>
          <a:bodyPr/>
          <a:lstStyle/>
          <a:p>
            <a:pPr eaLnBrk="1" hangingPunct="1"/>
            <a:r>
              <a:rPr lang="en-US" altLang="en-US" dirty="0">
                <a:ea typeface="ＭＳ Ｐゴシック" charset="-128"/>
              </a:rPr>
              <a:t>Appraisal Team and Support Personnel</a:t>
            </a:r>
          </a:p>
        </p:txBody>
      </p:sp>
      <p:graphicFrame>
        <p:nvGraphicFramePr>
          <p:cNvPr id="2" name="Object 1">
            <a:extLst>
              <a:ext uri="{FF2B5EF4-FFF2-40B4-BE49-F238E27FC236}">
                <a16:creationId xmlns:a16="http://schemas.microsoft.com/office/drawing/2014/main" id="{F449B2C3-7394-404B-BC0E-2D5A28533002}"/>
              </a:ext>
            </a:extLst>
          </p:cNvPr>
          <p:cNvGraphicFramePr>
            <a:graphicFrameLocks noChangeAspect="1"/>
          </p:cNvGraphicFramePr>
          <p:nvPr>
            <p:extLst>
              <p:ext uri="{D42A27DB-BD31-4B8C-83A1-F6EECF244321}">
                <p14:modId xmlns:p14="http://schemas.microsoft.com/office/powerpoint/2010/main" val="3419237890"/>
              </p:ext>
            </p:extLst>
          </p:nvPr>
        </p:nvGraphicFramePr>
        <p:xfrm>
          <a:off x="1122363" y="2225675"/>
          <a:ext cx="8245475" cy="2111375"/>
        </p:xfrm>
        <a:graphic>
          <a:graphicData uri="http://schemas.openxmlformats.org/presentationml/2006/ole">
            <mc:AlternateContent xmlns:mc="http://schemas.openxmlformats.org/markup-compatibility/2006">
              <mc:Choice xmlns:v="urn:schemas-microsoft-com:vml" Requires="v">
                <p:oleObj name="Macro-Enabled Worksheet" r:id="rId3" imgW="8244911" imgH="2110701" progId="Excel.SheetMacroEnabled.12">
                  <p:link updateAutomatic="1"/>
                </p:oleObj>
              </mc:Choice>
              <mc:Fallback>
                <p:oleObj name="Macro-Enabled Worksheet" r:id="rId3" imgW="8244911" imgH="2110701" progId="Excel.SheetMacroEnabled.12">
                  <p:link updateAutomatic="1"/>
                  <p:pic>
                    <p:nvPicPr>
                      <p:cNvPr id="2" name="Object 1">
                        <a:extLst>
                          <a:ext uri="{FF2B5EF4-FFF2-40B4-BE49-F238E27FC236}">
                            <a16:creationId xmlns:a16="http://schemas.microsoft.com/office/drawing/2014/main" id="{F449B2C3-7394-404B-BC0E-2D5A28533002}"/>
                          </a:ext>
                        </a:extLst>
                      </p:cNvPr>
                      <p:cNvPicPr/>
                      <p:nvPr/>
                    </p:nvPicPr>
                    <p:blipFill>
                      <a:blip r:embed="rId4"/>
                      <a:stretch>
                        <a:fillRect/>
                      </a:stretch>
                    </p:blipFill>
                    <p:spPr>
                      <a:xfrm>
                        <a:off x="1122363" y="2225675"/>
                        <a:ext cx="8245475" cy="2111375"/>
                      </a:xfrm>
                      <a:prstGeom prst="rect">
                        <a:avLst/>
                      </a:prstGeom>
                    </p:spPr>
                  </p:pic>
                </p:oleObj>
              </mc:Fallback>
            </mc:AlternateContent>
          </a:graphicData>
        </a:graphic>
      </p:graphicFrame>
    </p:spTree>
    <p:extLst>
      <p:ext uri="{BB962C8B-B14F-4D97-AF65-F5344CB8AC3E}">
        <p14:creationId xmlns:p14="http://schemas.microsoft.com/office/powerpoint/2010/main" val="483676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a:xfrm>
            <a:off x="1055688" y="892263"/>
            <a:ext cx="10397836" cy="602284"/>
          </a:xfrm>
        </p:spPr>
        <p:txBody>
          <a:bodyPr>
            <a:normAutofit/>
          </a:bodyPr>
          <a:lstStyle/>
          <a:p>
            <a:r>
              <a:rPr lang="en-US" altLang="en-US" dirty="0">
                <a:ea typeface="ＭＳ Ｐゴシック" charset="-128"/>
              </a:rPr>
              <a:t>Appraisal Scope – Benchmark Model View</a:t>
            </a:r>
          </a:p>
        </p:txBody>
      </p:sp>
      <p:graphicFrame>
        <p:nvGraphicFramePr>
          <p:cNvPr id="2" name="Object 1">
            <a:extLst>
              <a:ext uri="{FF2B5EF4-FFF2-40B4-BE49-F238E27FC236}">
                <a16:creationId xmlns:a16="http://schemas.microsoft.com/office/drawing/2014/main" id="{8484F069-F116-4F8E-91F9-6DA4C70CE468}"/>
              </a:ext>
            </a:extLst>
          </p:cNvPr>
          <p:cNvGraphicFramePr>
            <a:graphicFrameLocks noChangeAspect="1"/>
          </p:cNvGraphicFramePr>
          <p:nvPr>
            <p:extLst>
              <p:ext uri="{D42A27DB-BD31-4B8C-83A1-F6EECF244321}">
                <p14:modId xmlns:p14="http://schemas.microsoft.com/office/powerpoint/2010/main" val="3356204039"/>
              </p:ext>
            </p:extLst>
          </p:nvPr>
        </p:nvGraphicFramePr>
        <p:xfrm>
          <a:off x="1190625" y="1590675"/>
          <a:ext cx="8526463" cy="4565650"/>
        </p:xfrm>
        <a:graphic>
          <a:graphicData uri="http://schemas.openxmlformats.org/presentationml/2006/ole">
            <mc:AlternateContent xmlns:mc="http://schemas.openxmlformats.org/markup-compatibility/2006">
              <mc:Choice xmlns:v="urn:schemas-microsoft-com:vml" Requires="v">
                <p:oleObj name="Macro-Enabled Worksheet" r:id="rId3" imgW="9928683" imgH="5463516" progId="Excel.SheetMacroEnabled.12">
                  <p:link updateAutomatic="1"/>
                </p:oleObj>
              </mc:Choice>
              <mc:Fallback>
                <p:oleObj name="Macro-Enabled Worksheet" r:id="rId3" imgW="9928683" imgH="5463516" progId="Excel.SheetMacroEnabled.12">
                  <p:link updateAutomatic="1"/>
                  <p:pic>
                    <p:nvPicPr>
                      <p:cNvPr id="2" name="Object 1">
                        <a:extLst>
                          <a:ext uri="{FF2B5EF4-FFF2-40B4-BE49-F238E27FC236}">
                            <a16:creationId xmlns:a16="http://schemas.microsoft.com/office/drawing/2014/main" id="{8484F069-F116-4F8E-91F9-6DA4C70CE468}"/>
                          </a:ext>
                        </a:extLst>
                      </p:cNvPr>
                      <p:cNvPicPr/>
                      <p:nvPr/>
                    </p:nvPicPr>
                    <p:blipFill>
                      <a:blip r:embed="rId4"/>
                      <a:stretch>
                        <a:fillRect/>
                      </a:stretch>
                    </p:blipFill>
                    <p:spPr>
                      <a:xfrm>
                        <a:off x="1190625" y="1590675"/>
                        <a:ext cx="8526463" cy="4565650"/>
                      </a:xfrm>
                      <a:prstGeom prst="rect">
                        <a:avLst/>
                      </a:prstGeom>
                    </p:spPr>
                  </p:pic>
                </p:oleObj>
              </mc:Fallback>
            </mc:AlternateContent>
          </a:graphicData>
        </a:graphic>
      </p:graphicFrame>
    </p:spTree>
    <p:extLst>
      <p:ext uri="{BB962C8B-B14F-4D97-AF65-F5344CB8AC3E}">
        <p14:creationId xmlns:p14="http://schemas.microsoft.com/office/powerpoint/2010/main" val="2361070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p:txBody>
          <a:bodyPr>
            <a:normAutofit/>
          </a:bodyPr>
          <a:lstStyle/>
          <a:p>
            <a:r>
              <a:rPr lang="en-US" altLang="en-US" dirty="0">
                <a:ea typeface="ＭＳ Ｐゴシック" charset="-128"/>
              </a:rPr>
              <a:t>Appraisal Scope – Organizational Scope</a:t>
            </a:r>
          </a:p>
        </p:txBody>
      </p:sp>
      <p:graphicFrame>
        <p:nvGraphicFramePr>
          <p:cNvPr id="2" name="Object 1">
            <a:extLst>
              <a:ext uri="{FF2B5EF4-FFF2-40B4-BE49-F238E27FC236}">
                <a16:creationId xmlns:a16="http://schemas.microsoft.com/office/drawing/2014/main" id="{110942FF-2240-4B68-8644-23EA109C8919}"/>
              </a:ext>
            </a:extLst>
          </p:cNvPr>
          <p:cNvGraphicFramePr>
            <a:graphicFrameLocks noChangeAspect="1"/>
          </p:cNvGraphicFramePr>
          <p:nvPr>
            <p:extLst>
              <p:ext uri="{D42A27DB-BD31-4B8C-83A1-F6EECF244321}">
                <p14:modId xmlns:p14="http://schemas.microsoft.com/office/powerpoint/2010/main" val="795705134"/>
              </p:ext>
            </p:extLst>
          </p:nvPr>
        </p:nvGraphicFramePr>
        <p:xfrm>
          <a:off x="1128713" y="2419350"/>
          <a:ext cx="7721600" cy="1241425"/>
        </p:xfrm>
        <a:graphic>
          <a:graphicData uri="http://schemas.openxmlformats.org/presentationml/2006/ole">
            <mc:AlternateContent xmlns:mc="http://schemas.openxmlformats.org/markup-compatibility/2006">
              <mc:Choice xmlns:v="urn:schemas-microsoft-com:vml" Requires="v">
                <p:oleObj name="Macro-Enabled Worksheet" r:id="rId3" imgW="7437262" imgH="1196490" progId="Excel.SheetMacroEnabled.12">
                  <p:link updateAutomatic="1"/>
                </p:oleObj>
              </mc:Choice>
              <mc:Fallback>
                <p:oleObj name="Macro-Enabled Worksheet" r:id="rId3" imgW="7437262" imgH="1196490" progId="Excel.SheetMacroEnabled.12">
                  <p:link updateAutomatic="1"/>
                  <p:pic>
                    <p:nvPicPr>
                      <p:cNvPr id="2" name="Object 1">
                        <a:extLst>
                          <a:ext uri="{FF2B5EF4-FFF2-40B4-BE49-F238E27FC236}">
                            <a16:creationId xmlns:a16="http://schemas.microsoft.com/office/drawing/2014/main" id="{110942FF-2240-4B68-8644-23EA109C8919}"/>
                          </a:ext>
                        </a:extLst>
                      </p:cNvPr>
                      <p:cNvPicPr/>
                      <p:nvPr/>
                    </p:nvPicPr>
                    <p:blipFill>
                      <a:blip r:embed="rId4"/>
                      <a:stretch>
                        <a:fillRect/>
                      </a:stretch>
                    </p:blipFill>
                    <p:spPr>
                      <a:xfrm>
                        <a:off x="1128713" y="2419350"/>
                        <a:ext cx="7721600" cy="1241425"/>
                      </a:xfrm>
                      <a:prstGeom prst="rect">
                        <a:avLst/>
                      </a:prstGeom>
                    </p:spPr>
                  </p:pic>
                </p:oleObj>
              </mc:Fallback>
            </mc:AlternateContent>
          </a:graphicData>
        </a:graphic>
      </p:graphicFrame>
    </p:spTree>
    <p:extLst>
      <p:ext uri="{BB962C8B-B14F-4D97-AF65-F5344CB8AC3E}">
        <p14:creationId xmlns:p14="http://schemas.microsoft.com/office/powerpoint/2010/main" val="2226382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212582CF-2677-4AC8-90A0-FD5C774ECFF6}"/>
              </a:ext>
            </a:extLst>
          </p:cNvPr>
          <p:cNvGraphicFramePr>
            <a:graphicFrameLocks noChangeAspect="1"/>
          </p:cNvGraphicFramePr>
          <p:nvPr>
            <p:extLst>
              <p:ext uri="{D42A27DB-BD31-4B8C-83A1-F6EECF244321}">
                <p14:modId xmlns:p14="http://schemas.microsoft.com/office/powerpoint/2010/main" val="2512421588"/>
              </p:ext>
            </p:extLst>
          </p:nvPr>
        </p:nvGraphicFramePr>
        <p:xfrm>
          <a:off x="152400" y="1873250"/>
          <a:ext cx="10412413" cy="3113088"/>
        </p:xfrm>
        <a:graphic>
          <a:graphicData uri="http://schemas.openxmlformats.org/presentationml/2006/ole">
            <mc:AlternateContent xmlns:mc="http://schemas.openxmlformats.org/markup-compatibility/2006">
              <mc:Choice xmlns:v="urn:schemas-microsoft-com:vml" Requires="v">
                <p:oleObj name="Macro-Enabled Worksheet" r:id="rId3" imgW="13403403" imgH="4008199" progId="Excel.SheetMacroEnabled.12">
                  <p:link updateAutomatic="1"/>
                </p:oleObj>
              </mc:Choice>
              <mc:Fallback>
                <p:oleObj name="Macro-Enabled Worksheet" r:id="rId3" imgW="13403403" imgH="4008199" progId="Excel.SheetMacroEnabled.12">
                  <p:link updateAutomatic="1"/>
                  <p:pic>
                    <p:nvPicPr>
                      <p:cNvPr id="3" name="Object 2">
                        <a:extLst>
                          <a:ext uri="{FF2B5EF4-FFF2-40B4-BE49-F238E27FC236}">
                            <a16:creationId xmlns:a16="http://schemas.microsoft.com/office/drawing/2014/main" id="{212582CF-2677-4AC8-90A0-FD5C774ECFF6}"/>
                          </a:ext>
                        </a:extLst>
                      </p:cNvPr>
                      <p:cNvPicPr/>
                      <p:nvPr/>
                    </p:nvPicPr>
                    <p:blipFill>
                      <a:blip r:embed="rId4"/>
                      <a:stretch>
                        <a:fillRect/>
                      </a:stretch>
                    </p:blipFill>
                    <p:spPr>
                      <a:xfrm>
                        <a:off x="152400" y="1873250"/>
                        <a:ext cx="10412413" cy="3113088"/>
                      </a:xfrm>
                      <a:prstGeom prst="rect">
                        <a:avLst/>
                      </a:prstGeom>
                    </p:spPr>
                  </p:pic>
                </p:oleObj>
              </mc:Fallback>
            </mc:AlternateContent>
          </a:graphicData>
        </a:graphic>
      </p:graphicFrame>
      <p:sp>
        <p:nvSpPr>
          <p:cNvPr id="21505" name="Title 3"/>
          <p:cNvSpPr>
            <a:spLocks noGrp="1"/>
          </p:cNvSpPr>
          <p:nvPr>
            <p:ph type="title"/>
          </p:nvPr>
        </p:nvSpPr>
        <p:spPr/>
        <p:txBody>
          <a:bodyPr>
            <a:normAutofit/>
          </a:bodyPr>
          <a:lstStyle/>
          <a:p>
            <a:r>
              <a:rPr lang="en-US" altLang="en-US" dirty="0">
                <a:ea typeface="ＭＳ Ｐゴシック" charset="-128"/>
              </a:rPr>
              <a:t>Appraisal Scope – Organizational Sample</a:t>
            </a:r>
          </a:p>
        </p:txBody>
      </p:sp>
    </p:spTree>
    <p:extLst>
      <p:ext uri="{BB962C8B-B14F-4D97-AF65-F5344CB8AC3E}">
        <p14:creationId xmlns:p14="http://schemas.microsoft.com/office/powerpoint/2010/main" val="1392066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5379DEB1-F0B7-4BEB-8ADB-13FF265847B2}"/>
              </a:ext>
            </a:extLst>
          </p:cNvPr>
          <p:cNvGraphicFramePr>
            <a:graphicFrameLocks noChangeAspect="1"/>
          </p:cNvGraphicFramePr>
          <p:nvPr>
            <p:extLst>
              <p:ext uri="{D42A27DB-BD31-4B8C-83A1-F6EECF244321}">
                <p14:modId xmlns:p14="http://schemas.microsoft.com/office/powerpoint/2010/main" val="733703596"/>
              </p:ext>
            </p:extLst>
          </p:nvPr>
        </p:nvGraphicFramePr>
        <p:xfrm>
          <a:off x="503238" y="1689100"/>
          <a:ext cx="11185525" cy="3475038"/>
        </p:xfrm>
        <a:graphic>
          <a:graphicData uri="http://schemas.openxmlformats.org/presentationml/2006/ole">
            <mc:AlternateContent xmlns:mc="http://schemas.openxmlformats.org/markup-compatibility/2006">
              <mc:Choice xmlns:v="urn:schemas-microsoft-com:vml" Requires="v">
                <p:oleObj name="Macro-Enabled Worksheet" r:id="rId2" imgW="11186302" imgH="3474767" progId="Excel.SheetMacroEnabled.12">
                  <p:link updateAutomatic="1"/>
                </p:oleObj>
              </mc:Choice>
              <mc:Fallback>
                <p:oleObj name="Macro-Enabled Worksheet" r:id="rId2" imgW="11186302" imgH="3474767" progId="Excel.SheetMacroEnabled.12">
                  <p:link updateAutomatic="1"/>
                  <p:pic>
                    <p:nvPicPr>
                      <p:cNvPr id="3" name="Object 2">
                        <a:extLst>
                          <a:ext uri="{FF2B5EF4-FFF2-40B4-BE49-F238E27FC236}">
                            <a16:creationId xmlns:a16="http://schemas.microsoft.com/office/drawing/2014/main" id="{5379DEB1-F0B7-4BEB-8ADB-13FF265847B2}"/>
                          </a:ext>
                        </a:extLst>
                      </p:cNvPr>
                      <p:cNvPicPr/>
                      <p:nvPr/>
                    </p:nvPicPr>
                    <p:blipFill>
                      <a:blip r:embed="rId3"/>
                      <a:stretch>
                        <a:fillRect/>
                      </a:stretch>
                    </p:blipFill>
                    <p:spPr>
                      <a:xfrm>
                        <a:off x="503238" y="1689100"/>
                        <a:ext cx="11185525" cy="347503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EA3843C-9D08-4642-A4DF-AF55E6513E46}"/>
              </a:ext>
            </a:extLst>
          </p:cNvPr>
          <p:cNvSpPr>
            <a:spLocks noGrp="1"/>
          </p:cNvSpPr>
          <p:nvPr>
            <p:ph type="title"/>
          </p:nvPr>
        </p:nvSpPr>
        <p:spPr/>
        <p:txBody>
          <a:bodyPr/>
          <a:lstStyle/>
          <a:p>
            <a:r>
              <a:rPr lang="en-US" altLang="en-US" dirty="0">
                <a:ea typeface="ＭＳ Ｐゴシック" charset="-128"/>
              </a:rPr>
              <a:t>Appraisal Scope – Organizational Sample</a:t>
            </a:r>
            <a:r>
              <a:rPr lang="en-ZA" dirty="0"/>
              <a:t> </a:t>
            </a:r>
          </a:p>
        </p:txBody>
      </p:sp>
    </p:spTree>
    <p:extLst>
      <p:ext uri="{BB962C8B-B14F-4D97-AF65-F5344CB8AC3E}">
        <p14:creationId xmlns:p14="http://schemas.microsoft.com/office/powerpoint/2010/main" val="2718433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3843C-9D08-4642-A4DF-AF55E6513E46}"/>
              </a:ext>
            </a:extLst>
          </p:cNvPr>
          <p:cNvSpPr>
            <a:spLocks noGrp="1"/>
          </p:cNvSpPr>
          <p:nvPr>
            <p:ph type="title"/>
          </p:nvPr>
        </p:nvSpPr>
        <p:spPr/>
        <p:txBody>
          <a:bodyPr/>
          <a:lstStyle/>
          <a:p>
            <a:r>
              <a:rPr lang="en-US" altLang="en-US" dirty="0">
                <a:ea typeface="ＭＳ Ｐゴシック" charset="-128"/>
              </a:rPr>
              <a:t>Appraisal Scope – Organizational Sample</a:t>
            </a:r>
            <a:endParaRPr lang="en-ZA" dirty="0"/>
          </a:p>
        </p:txBody>
      </p:sp>
      <p:graphicFrame>
        <p:nvGraphicFramePr>
          <p:cNvPr id="4" name="Object 3">
            <a:extLst>
              <a:ext uri="{FF2B5EF4-FFF2-40B4-BE49-F238E27FC236}">
                <a16:creationId xmlns:a16="http://schemas.microsoft.com/office/drawing/2014/main" id="{A40969C2-A165-4C93-A3E6-CC9064950839}"/>
              </a:ext>
            </a:extLst>
          </p:cNvPr>
          <p:cNvGraphicFramePr>
            <a:graphicFrameLocks noChangeAspect="1"/>
          </p:cNvGraphicFramePr>
          <p:nvPr>
            <p:extLst>
              <p:ext uri="{D42A27DB-BD31-4B8C-83A1-F6EECF244321}">
                <p14:modId xmlns:p14="http://schemas.microsoft.com/office/powerpoint/2010/main" val="2280180642"/>
              </p:ext>
            </p:extLst>
          </p:nvPr>
        </p:nvGraphicFramePr>
        <p:xfrm>
          <a:off x="503238" y="1689100"/>
          <a:ext cx="11185525" cy="3475038"/>
        </p:xfrm>
        <a:graphic>
          <a:graphicData uri="http://schemas.openxmlformats.org/presentationml/2006/ole">
            <mc:AlternateContent xmlns:mc="http://schemas.openxmlformats.org/markup-compatibility/2006">
              <mc:Choice xmlns:v="urn:schemas-microsoft-com:vml" Requires="v">
                <p:oleObj name="Macro-Enabled Worksheet" r:id="rId2" imgW="11186302" imgH="3474767" progId="Excel.SheetMacroEnabled.12">
                  <p:link updateAutomatic="1"/>
                </p:oleObj>
              </mc:Choice>
              <mc:Fallback>
                <p:oleObj name="Macro-Enabled Worksheet" r:id="rId2" imgW="11186302" imgH="3474767" progId="Excel.SheetMacroEnabled.12">
                  <p:link updateAutomatic="1"/>
                  <p:pic>
                    <p:nvPicPr>
                      <p:cNvPr id="4" name="Object 3">
                        <a:extLst>
                          <a:ext uri="{FF2B5EF4-FFF2-40B4-BE49-F238E27FC236}">
                            <a16:creationId xmlns:a16="http://schemas.microsoft.com/office/drawing/2014/main" id="{A40969C2-A165-4C93-A3E6-CC9064950839}"/>
                          </a:ext>
                        </a:extLst>
                      </p:cNvPr>
                      <p:cNvPicPr/>
                      <p:nvPr/>
                    </p:nvPicPr>
                    <p:blipFill>
                      <a:blip r:embed="rId3"/>
                      <a:stretch>
                        <a:fillRect/>
                      </a:stretch>
                    </p:blipFill>
                    <p:spPr>
                      <a:xfrm>
                        <a:off x="503238" y="1689100"/>
                        <a:ext cx="11185525" cy="3475038"/>
                      </a:xfrm>
                      <a:prstGeom prst="rect">
                        <a:avLst/>
                      </a:prstGeom>
                    </p:spPr>
                  </p:pic>
                </p:oleObj>
              </mc:Fallback>
            </mc:AlternateContent>
          </a:graphicData>
        </a:graphic>
      </p:graphicFrame>
    </p:spTree>
    <p:extLst>
      <p:ext uri="{BB962C8B-B14F-4D97-AF65-F5344CB8AC3E}">
        <p14:creationId xmlns:p14="http://schemas.microsoft.com/office/powerpoint/2010/main" val="1860371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 Required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p:txBody>
          <a:bodyPr>
            <a:normAutofit/>
          </a:bodyPr>
          <a:lstStyle/>
          <a:p>
            <a:pPr lvl="0"/>
            <a:r>
              <a:rPr lang="en-US" sz="1600" dirty="0"/>
              <a:t>Required Findings Categories:</a:t>
            </a:r>
          </a:p>
          <a:p>
            <a:pPr lvl="1"/>
            <a:r>
              <a:rPr lang="en-GB" sz="1400" u="sng" dirty="0"/>
              <a:t>Weaknesses: </a:t>
            </a:r>
            <a:r>
              <a:rPr lang="en-GB" sz="1400" dirty="0"/>
              <a:t>A type of preliminary or final finding, which is an ineffective, or lack of, implementation of one or more processes that meet the intent and value of a practice based on verified objective evidence, and applicable across the project(s) and organizational support functions (</a:t>
            </a:r>
            <a:r>
              <a:rPr lang="en-GB" sz="1400" dirty="0" err="1"/>
              <a:t>OSFs</a:t>
            </a:r>
            <a:r>
              <a:rPr lang="en-GB" sz="1400" dirty="0"/>
              <a:t>) or Organizational Unit as a whole. This is realized either by a) the process itself does not address a CMMI practice requirement, or b) the project(s) or </a:t>
            </a:r>
            <a:r>
              <a:rPr lang="en-GB" sz="1400" dirty="0" err="1"/>
              <a:t>OSFs</a:t>
            </a:r>
            <a:r>
              <a:rPr lang="en-GB" sz="1400" dirty="0"/>
              <a:t> are not following their process that meets the intent and value of the applicable CMMI practice.</a:t>
            </a:r>
          </a:p>
          <a:p>
            <a:pPr lvl="1"/>
            <a:r>
              <a:rPr lang="en-GB" sz="1400" u="sng" dirty="0"/>
              <a:t>Strengths: </a:t>
            </a:r>
            <a:r>
              <a:rPr lang="en-GB" sz="1400" dirty="0"/>
              <a:t>A type of preliminary or final finding, which is an exemplary or noteworthy implementation of a process that meets the intent and value of a CMMI model practice.</a:t>
            </a:r>
          </a:p>
          <a:p>
            <a:pPr marL="457200" lvl="1" indent="0">
              <a:buNone/>
            </a:pPr>
            <a:endParaRPr lang="en-GB" sz="1400" dirty="0"/>
          </a:p>
          <a:p>
            <a:r>
              <a:rPr lang="zh-CN" altLang="en-US" sz="1600" dirty="0">
                <a:solidFill>
                  <a:srgbClr val="1F497D"/>
                </a:solidFill>
              </a:rPr>
              <a:t>必需的调查结果分类：</a:t>
            </a:r>
            <a:endParaRPr lang="en-GB" altLang="zh-CN" sz="1600" dirty="0">
              <a:solidFill>
                <a:srgbClr val="1F497D"/>
              </a:solidFill>
            </a:endParaRPr>
          </a:p>
          <a:p>
            <a:pPr lvl="1"/>
            <a:r>
              <a:rPr lang="zh-CN" altLang="en-US" sz="1400" dirty="0">
                <a:solidFill>
                  <a:srgbClr val="1F497D"/>
                </a:solidFill>
              </a:rPr>
              <a:t>弱点：这是一种初步或最终的发现，涉及一个或多个流程的实施无效，或缺乏实施，这些流程基于验证的客观证据，旨在满足实践的意图和价值，并适用于整个项目、组织支持功能（</a:t>
            </a:r>
            <a:r>
              <a:rPr lang="en-US" altLang="zh-CN" sz="1400" dirty="0" err="1">
                <a:solidFill>
                  <a:srgbClr val="1F497D"/>
                </a:solidFill>
              </a:rPr>
              <a:t>OSFs</a:t>
            </a:r>
            <a:r>
              <a:rPr lang="zh-CN" altLang="en-US" sz="1400" dirty="0">
                <a:solidFill>
                  <a:srgbClr val="1F497D"/>
                </a:solidFill>
              </a:rPr>
              <a:t>）或组织单位。这种情况是由以下原因造成的：</a:t>
            </a:r>
            <a:r>
              <a:rPr lang="en-US" altLang="zh-CN" sz="1400" dirty="0">
                <a:solidFill>
                  <a:srgbClr val="1F497D"/>
                </a:solidFill>
              </a:rPr>
              <a:t>a) </a:t>
            </a:r>
            <a:r>
              <a:rPr lang="zh-CN" altLang="en-US" sz="1400" dirty="0">
                <a:solidFill>
                  <a:srgbClr val="1F497D"/>
                </a:solidFill>
              </a:rPr>
              <a:t>流程本身没有满足</a:t>
            </a:r>
            <a:r>
              <a:rPr lang="en-US" altLang="zh-CN" sz="1400" dirty="0">
                <a:solidFill>
                  <a:srgbClr val="1F497D"/>
                </a:solidFill>
              </a:rPr>
              <a:t>CMMI</a:t>
            </a:r>
            <a:r>
              <a:rPr lang="zh-CN" altLang="en-US" sz="1400" dirty="0">
                <a:solidFill>
                  <a:srgbClr val="1F497D"/>
                </a:solidFill>
              </a:rPr>
              <a:t>实践要求，或者</a:t>
            </a:r>
            <a:r>
              <a:rPr lang="en-US" altLang="zh-CN" sz="1400" dirty="0">
                <a:solidFill>
                  <a:srgbClr val="1F497D"/>
                </a:solidFill>
              </a:rPr>
              <a:t>b) </a:t>
            </a:r>
            <a:r>
              <a:rPr lang="zh-CN" altLang="en-US" sz="1400" dirty="0">
                <a:solidFill>
                  <a:srgbClr val="1F497D"/>
                </a:solidFill>
              </a:rPr>
              <a:t>项目或</a:t>
            </a:r>
            <a:r>
              <a:rPr lang="en-US" altLang="zh-CN" sz="1400" dirty="0" err="1">
                <a:solidFill>
                  <a:srgbClr val="1F497D"/>
                </a:solidFill>
              </a:rPr>
              <a:t>OSFs</a:t>
            </a:r>
            <a:r>
              <a:rPr lang="zh-CN" altLang="en-US" sz="1400" dirty="0">
                <a:solidFill>
                  <a:srgbClr val="1F497D"/>
                </a:solidFill>
              </a:rPr>
              <a:t>没有遵循符合适用</a:t>
            </a:r>
            <a:r>
              <a:rPr lang="en-US" altLang="zh-CN" sz="1400" dirty="0">
                <a:solidFill>
                  <a:srgbClr val="1F497D"/>
                </a:solidFill>
              </a:rPr>
              <a:t>CMMI</a:t>
            </a:r>
            <a:r>
              <a:rPr lang="zh-CN" altLang="en-US" sz="1400" dirty="0">
                <a:solidFill>
                  <a:srgbClr val="1F497D"/>
                </a:solidFill>
              </a:rPr>
              <a:t>实践的意图和价值的流程。</a:t>
            </a:r>
            <a:endParaRPr lang="en-GB" altLang="zh-CN" sz="1400" dirty="0">
              <a:solidFill>
                <a:srgbClr val="1F497D"/>
              </a:solidFill>
            </a:endParaRPr>
          </a:p>
          <a:p>
            <a:pPr lvl="1"/>
            <a:r>
              <a:rPr lang="zh-CN" altLang="en-US" sz="1600" dirty="0">
                <a:solidFill>
                  <a:srgbClr val="1F497D"/>
                </a:solidFill>
              </a:rPr>
              <a:t>优点：这是一种初步或最终的发现，涉及一个过程的示范性或值得注意的实施，该过程满足</a:t>
            </a:r>
            <a:r>
              <a:rPr lang="en-US" altLang="zh-CN" sz="1600" dirty="0">
                <a:solidFill>
                  <a:srgbClr val="1F497D"/>
                </a:solidFill>
              </a:rPr>
              <a:t>CMMI</a:t>
            </a:r>
            <a:r>
              <a:rPr lang="zh-CN" altLang="en-US" sz="1600" dirty="0">
                <a:solidFill>
                  <a:srgbClr val="1F497D"/>
                </a:solidFill>
              </a:rPr>
              <a:t>模型实践的意图和价值。</a:t>
            </a:r>
            <a:endParaRPr lang="en-US" sz="1600" dirty="0"/>
          </a:p>
        </p:txBody>
      </p:sp>
    </p:spTree>
    <p:extLst>
      <p:ext uri="{BB962C8B-B14F-4D97-AF65-F5344CB8AC3E}">
        <p14:creationId xmlns:p14="http://schemas.microsoft.com/office/powerpoint/2010/main" val="1784559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AFB86F-F314-2808-D124-99FF9729F446}"/>
              </a:ext>
            </a:extLst>
          </p:cNvPr>
          <p:cNvPicPr>
            <a:picLocks noChangeAspect="1"/>
          </p:cNvPicPr>
          <p:nvPr/>
        </p:nvPicPr>
        <p:blipFill>
          <a:blip r:embed="rId3"/>
          <a:srcRect/>
          <a:stretch/>
        </p:blipFill>
        <p:spPr>
          <a:xfrm>
            <a:off x="1575811" y="1295264"/>
            <a:ext cx="9040378" cy="4632289"/>
          </a:xfrm>
          <a:prstGeom prst="rect">
            <a:avLst/>
          </a:prstGeom>
        </p:spPr>
      </p:pic>
      <p:sp>
        <p:nvSpPr>
          <p:cNvPr id="2" name="Title 3">
            <a:extLst>
              <a:ext uri="{FF2B5EF4-FFF2-40B4-BE49-F238E27FC236}">
                <a16:creationId xmlns:a16="http://schemas.microsoft.com/office/drawing/2014/main" id="{E4158602-CE03-D865-8B96-7884DB0F17A7}"/>
              </a:ext>
            </a:extLst>
          </p:cNvPr>
          <p:cNvSpPr txBox="1">
            <a:spLocks/>
          </p:cNvSpPr>
          <p:nvPr/>
        </p:nvSpPr>
        <p:spPr>
          <a:xfrm>
            <a:off x="838200" y="365126"/>
            <a:ext cx="10515600" cy="602284"/>
          </a:xfrm>
          <a:prstGeom prst="rect">
            <a:avLst/>
          </a:prstGeom>
        </p:spPr>
        <p:txBody>
          <a:bodyPr>
            <a:normAutofit fontScale="92500" lnSpcReduction="20000"/>
          </a:bodyPr>
          <a:lstStyle>
            <a:lvl1pPr algn="l" defTabSz="914400" rtl="0" eaLnBrk="1" latinLnBrk="0" hangingPunct="1">
              <a:lnSpc>
                <a:spcPct val="90000"/>
              </a:lnSpc>
              <a:spcBef>
                <a:spcPct val="0"/>
              </a:spcBef>
              <a:buNone/>
              <a:defRPr sz="4400" kern="1200">
                <a:solidFill>
                  <a:srgbClr val="1E2C5B"/>
                </a:solidFill>
                <a:latin typeface="+mj-lt"/>
                <a:ea typeface="+mj-ea"/>
                <a:cs typeface="+mj-cs"/>
              </a:defRPr>
            </a:lvl1pPr>
          </a:lstStyle>
          <a:p>
            <a:r>
              <a:rPr lang="en-US" altLang="en-US" sz="3500" b="1" dirty="0">
                <a:latin typeface="+mn-lt"/>
                <a:ea typeface="ＭＳ Ｐゴシック" charset="-128"/>
              </a:rPr>
              <a:t>CMMI</a:t>
            </a:r>
            <a:r>
              <a:rPr lang="en-US" altLang="en-US" dirty="0">
                <a:ea typeface="ＭＳ Ｐゴシック" charset="-128"/>
              </a:rPr>
              <a:t> </a:t>
            </a:r>
            <a:r>
              <a:rPr lang="en-US" altLang="en-US" sz="3500" b="1" dirty="0">
                <a:latin typeface="+mn-lt"/>
                <a:ea typeface="ＭＳ Ｐゴシック" charset="-128"/>
              </a:rPr>
              <a:t>Appraisal Process – Appraisal Phases</a:t>
            </a:r>
          </a:p>
        </p:txBody>
      </p:sp>
      <p:sp>
        <p:nvSpPr>
          <p:cNvPr id="4" name="Rectangle 3">
            <a:extLst>
              <a:ext uri="{FF2B5EF4-FFF2-40B4-BE49-F238E27FC236}">
                <a16:creationId xmlns:a16="http://schemas.microsoft.com/office/drawing/2014/main" id="{49BEEC40-A488-4359-91B1-DFB6493F931D}"/>
              </a:ext>
            </a:extLst>
          </p:cNvPr>
          <p:cNvSpPr/>
          <p:nvPr/>
        </p:nvSpPr>
        <p:spPr>
          <a:xfrm>
            <a:off x="6591300" y="2954915"/>
            <a:ext cx="1371600" cy="65649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Tree>
    <p:extLst>
      <p:ext uri="{BB962C8B-B14F-4D97-AF65-F5344CB8AC3E}">
        <p14:creationId xmlns:p14="http://schemas.microsoft.com/office/powerpoint/2010/main" val="3113447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p:txBody>
          <a:bodyPr/>
          <a:lstStyle/>
          <a:p>
            <a:r>
              <a:rPr lang="en-US" b="1" dirty="0">
                <a:latin typeface="+mn-lt"/>
              </a:rPr>
              <a:t>Practice Area Findings</a:t>
            </a:r>
            <a:br>
              <a:rPr lang="en-US" b="1" dirty="0">
                <a:latin typeface="+mn-lt"/>
              </a:rPr>
            </a:br>
            <a:r>
              <a:rPr lang="zh-CN" altLang="en-US" sz="6000" b="1" dirty="0">
                <a:solidFill>
                  <a:srgbClr val="1F497D"/>
                </a:solidFill>
                <a:latin typeface="+mn-lt"/>
              </a:rPr>
              <a:t>实践域发现</a:t>
            </a:r>
            <a:endParaRPr lang="en-US" b="1" dirty="0">
              <a:solidFill>
                <a:srgbClr val="1F497D"/>
              </a:solidFill>
              <a:latin typeface="+mn-lt"/>
            </a:endParaRPr>
          </a:p>
        </p:txBody>
      </p:sp>
    </p:spTree>
    <p:extLst>
      <p:ext uri="{BB962C8B-B14F-4D97-AF65-F5344CB8AC3E}">
        <p14:creationId xmlns:p14="http://schemas.microsoft.com/office/powerpoint/2010/main" val="1002676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2FB12-F514-854C-B510-58EFF32120DB}"/>
              </a:ext>
            </a:extLst>
          </p:cNvPr>
          <p:cNvSpPr>
            <a:spLocks noGrp="1"/>
          </p:cNvSpPr>
          <p:nvPr>
            <p:ph type="title"/>
          </p:nvPr>
        </p:nvSpPr>
        <p:spPr>
          <a:xfrm>
            <a:off x="1709928" y="965640"/>
            <a:ext cx="10021824" cy="539496"/>
          </a:xfrm>
        </p:spPr>
        <p:txBody>
          <a:bodyPr>
            <a:normAutofit/>
          </a:bodyPr>
          <a:lstStyle/>
          <a:p>
            <a:r>
              <a:rPr lang="en-US" sz="2800" dirty="0"/>
              <a:t>Causal Analysis and Resolution (CAR) </a:t>
            </a:r>
            <a:r>
              <a:rPr lang="zh-CN" altLang="en-US" sz="2800" dirty="0">
                <a:solidFill>
                  <a:schemeClr val="accent1">
                    <a:lumMod val="75000"/>
                  </a:schemeClr>
                </a:solidFill>
              </a:rPr>
              <a:t>原因分析与解决</a:t>
            </a:r>
            <a:endParaRPr lang="en-US" sz="2800" dirty="0">
              <a:solidFill>
                <a:schemeClr val="accent1">
                  <a:lumMod val="75000"/>
                </a:schemeClr>
              </a:solidFill>
            </a:endParaRPr>
          </a:p>
        </p:txBody>
      </p:sp>
      <p:sp>
        <p:nvSpPr>
          <p:cNvPr id="3" name="Content Placeholder 2">
            <a:extLst>
              <a:ext uri="{FF2B5EF4-FFF2-40B4-BE49-F238E27FC236}">
                <a16:creationId xmlns:a16="http://schemas.microsoft.com/office/drawing/2014/main" id="{FD22BCE7-6CE6-6F44-A06D-0ED3A68264D7}"/>
              </a:ext>
            </a:extLst>
          </p:cNvPr>
          <p:cNvSpPr>
            <a:spLocks noGrp="1"/>
          </p:cNvSpPr>
          <p:nvPr>
            <p:ph idx="4294967295"/>
          </p:nvPr>
        </p:nvSpPr>
        <p:spPr>
          <a:xfrm>
            <a:off x="470149" y="1435400"/>
            <a:ext cx="11265408" cy="1572768"/>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Identifies causes of selected outcomes and takes action to either prevent recurrence of undesirable outcomes or ensure recurrence 	of positive outcomes.</a:t>
            </a:r>
            <a:br>
              <a:rPr lang="en-GB" sz="1400" b="0" i="0" dirty="0">
                <a:solidFill>
                  <a:srgbClr val="505050"/>
                </a:solidFill>
                <a:effectLst/>
                <a:highlight>
                  <a:srgbClr val="FFFFFF"/>
                </a:highlight>
                <a:latin typeface="Gotham A"/>
              </a:rPr>
            </a:br>
            <a:r>
              <a:rPr lang="en-GB"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确定所选结果的原因，并采取行动防止不良结果的再次发生或确保积极结果的再次出现</a:t>
            </a:r>
            <a:r>
              <a:rPr lang="zh-CN" altLang="en-US" sz="1400" b="0" i="0" dirty="0">
                <a:solidFill>
                  <a:srgbClr val="0D0D0D"/>
                </a:solidFill>
                <a:effectLst/>
                <a:highlight>
                  <a:srgbClr val="FFFFFF"/>
                </a:highlight>
                <a:latin typeface="Söhne"/>
              </a:rPr>
              <a:t>。</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Addresses causes of issues, eliminating rework and directly improving quality and productivity.</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解决问题的根源，消除返工，直接提高质量和生产力。</a:t>
            </a:r>
            <a:endParaRPr lang="en-US" sz="1400" dirty="0">
              <a:solidFill>
                <a:srgbClr val="1F497D"/>
              </a:solidFill>
              <a:latin typeface="DengXian" panose="02010600030101010101" pitchFamily="2" charset="-122"/>
              <a:ea typeface="DengXian" panose="02010600030101010101" pitchFamily="2" charset="-122"/>
            </a:endParaRPr>
          </a:p>
        </p:txBody>
      </p:sp>
      <p:sp>
        <p:nvSpPr>
          <p:cNvPr id="4" name="Content Placeholder 3">
            <a:extLst>
              <a:ext uri="{FF2B5EF4-FFF2-40B4-BE49-F238E27FC236}">
                <a16:creationId xmlns:a16="http://schemas.microsoft.com/office/drawing/2014/main" id="{17174A4B-0169-F64D-A513-9179A27A7170}"/>
              </a:ext>
            </a:extLst>
          </p:cNvPr>
          <p:cNvSpPr>
            <a:spLocks noGrp="1"/>
          </p:cNvSpPr>
          <p:nvPr>
            <p:ph idx="13"/>
          </p:nvPr>
        </p:nvSpPr>
        <p:spPr>
          <a:xfrm>
            <a:off x="466344" y="3051602"/>
            <a:ext cx="11265408" cy="3097485"/>
          </a:xfrm>
        </p:spPr>
        <p:txBody>
          <a:bodyPr>
            <a:noAutofit/>
          </a:bodyPr>
          <a:lstStyle/>
          <a:p>
            <a:pPr marL="0" indent="0">
              <a:buNone/>
            </a:pPr>
            <a:r>
              <a:rPr lang="en-US" sz="1800" b="1" dirty="0"/>
              <a:t>Strengths </a:t>
            </a:r>
            <a:r>
              <a:rPr lang="ja-JP" altLang="en-US" sz="1800" b="1" dirty="0">
                <a:solidFill>
                  <a:srgbClr val="1F497D"/>
                </a:solidFill>
                <a:latin typeface="DengXian" panose="02010600030101010101" pitchFamily="2" charset="-122"/>
                <a:ea typeface="DengXian" panose="02010600030101010101" pitchFamily="2" charset="-122"/>
              </a:rPr>
              <a:t>强项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pPr marL="0" indent="0">
              <a:buNone/>
            </a:pPr>
            <a:r>
              <a:rPr lang="en-US" sz="1800" b="1"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pic>
        <p:nvPicPr>
          <p:cNvPr id="5" name="Picture 4">
            <a:extLst>
              <a:ext uri="{FF2B5EF4-FFF2-40B4-BE49-F238E27FC236}">
                <a16:creationId xmlns:a16="http://schemas.microsoft.com/office/drawing/2014/main" id="{5D5C89D8-0B55-544B-AD0F-183601DA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149" y="331667"/>
            <a:ext cx="828675" cy="1009650"/>
          </a:xfrm>
          <a:prstGeom prst="rect">
            <a:avLst/>
          </a:prstGeom>
        </p:spPr>
      </p:pic>
    </p:spTree>
    <p:extLst>
      <p:ext uri="{BB962C8B-B14F-4D97-AF65-F5344CB8AC3E}">
        <p14:creationId xmlns:p14="http://schemas.microsoft.com/office/powerpoint/2010/main" val="268292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C94052-D3D2-1D46-9E1A-87C7462F1125}"/>
              </a:ext>
            </a:extLst>
          </p:cNvPr>
          <p:cNvSpPr>
            <a:spLocks noGrp="1"/>
          </p:cNvSpPr>
          <p:nvPr>
            <p:ph type="title"/>
          </p:nvPr>
        </p:nvSpPr>
        <p:spPr>
          <a:xfrm>
            <a:off x="1500949" y="906860"/>
            <a:ext cx="10021824" cy="539496"/>
          </a:xfrm>
        </p:spPr>
        <p:txBody>
          <a:bodyPr>
            <a:normAutofit/>
          </a:bodyPr>
          <a:lstStyle/>
          <a:p>
            <a:r>
              <a:rPr lang="en-US" sz="2800" dirty="0"/>
              <a:t>Configuration Management (CM) </a:t>
            </a:r>
            <a:r>
              <a:rPr lang="ja-JP" altLang="en-US" sz="2800" dirty="0">
                <a:solidFill>
                  <a:schemeClr val="accent1">
                    <a:lumMod val="75000"/>
                  </a:schemeClr>
                </a:solidFill>
              </a:rPr>
              <a:t>配置管理</a:t>
            </a:r>
            <a:endParaRPr lang="en-US" sz="2800" dirty="0">
              <a:solidFill>
                <a:schemeClr val="accent1">
                  <a:lumMod val="75000"/>
                </a:schemeClr>
              </a:solidFill>
            </a:endParaRPr>
          </a:p>
        </p:txBody>
      </p:sp>
      <p:sp>
        <p:nvSpPr>
          <p:cNvPr id="5" name="Content Placeholder 4">
            <a:extLst>
              <a:ext uri="{FF2B5EF4-FFF2-40B4-BE49-F238E27FC236}">
                <a16:creationId xmlns:a16="http://schemas.microsoft.com/office/drawing/2014/main" id="{F7851FC6-ACD6-F341-AD7C-83127EFB5A77}"/>
              </a:ext>
            </a:extLst>
          </p:cNvPr>
          <p:cNvSpPr>
            <a:spLocks noGrp="1"/>
          </p:cNvSpPr>
          <p:nvPr>
            <p:ph idx="4294967295"/>
          </p:nvPr>
        </p:nvSpPr>
        <p:spPr>
          <a:xfrm>
            <a:off x="466344" y="1446356"/>
            <a:ext cx="11265408" cy="1388315"/>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Manages the integrity of work products using configuration identification, version control, change control, and audits.</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rPr>
              <a:t>通过配置识别、版本控制、变更控制和审计来管理工作产品的完整性。</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Reduces loss of work and increases the ability to deliver the correct version of the solution to the customer.</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rPr>
              <a:t>减少工作丢失并提高向客户交付正确版本解决方案的能力。</a:t>
            </a:r>
            <a:endParaRPr lang="en-US" sz="1400" dirty="0">
              <a:solidFill>
                <a:srgbClr val="1F497D"/>
              </a:solidFill>
            </a:endParaRPr>
          </a:p>
          <a:p>
            <a:endParaRPr lang="en-US" sz="1400" dirty="0"/>
          </a:p>
        </p:txBody>
      </p:sp>
      <p:pic>
        <p:nvPicPr>
          <p:cNvPr id="7" name="Picture 6">
            <a:extLst>
              <a:ext uri="{FF2B5EF4-FFF2-40B4-BE49-F238E27FC236}">
                <a16:creationId xmlns:a16="http://schemas.microsoft.com/office/drawing/2014/main" id="{B6B8940F-F466-0C49-BA8F-759D5D68A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10" name="Content Placeholder 3">
            <a:extLst>
              <a:ext uri="{FF2B5EF4-FFF2-40B4-BE49-F238E27FC236}">
                <a16:creationId xmlns:a16="http://schemas.microsoft.com/office/drawing/2014/main" id="{82FD0B6A-7BC7-4091-9C57-AC948DA85ED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2394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D6E7E7-3A78-5E44-89F9-527E3CD983D7}"/>
              </a:ext>
            </a:extLst>
          </p:cNvPr>
          <p:cNvSpPr>
            <a:spLocks noGrp="1"/>
          </p:cNvSpPr>
          <p:nvPr>
            <p:ph type="title"/>
          </p:nvPr>
        </p:nvSpPr>
        <p:spPr>
          <a:xfrm>
            <a:off x="1500949" y="926038"/>
            <a:ext cx="10021824" cy="539496"/>
          </a:xfrm>
        </p:spPr>
        <p:txBody>
          <a:bodyPr>
            <a:normAutofit/>
          </a:bodyPr>
          <a:lstStyle/>
          <a:p>
            <a:r>
              <a:rPr lang="en-US" sz="2800" dirty="0"/>
              <a:t>Decision Analysis and Resolution (DAR) </a:t>
            </a:r>
            <a:r>
              <a:rPr lang="zh-CN" altLang="en-US" sz="2800" dirty="0">
                <a:solidFill>
                  <a:srgbClr val="1F497D"/>
                </a:solidFill>
              </a:rPr>
              <a:t>决策分析与解决</a:t>
            </a:r>
            <a:endParaRPr lang="en-US" sz="2800" dirty="0">
              <a:solidFill>
                <a:srgbClr val="1F497D"/>
              </a:solidFill>
            </a:endParaRPr>
          </a:p>
        </p:txBody>
      </p:sp>
      <p:sp>
        <p:nvSpPr>
          <p:cNvPr id="5" name="Content Placeholder 4">
            <a:extLst>
              <a:ext uri="{FF2B5EF4-FFF2-40B4-BE49-F238E27FC236}">
                <a16:creationId xmlns:a16="http://schemas.microsoft.com/office/drawing/2014/main" id="{D651944C-A577-BE40-86BE-7F08B25152B1}"/>
              </a:ext>
            </a:extLst>
          </p:cNvPr>
          <p:cNvSpPr>
            <a:spLocks noGrp="1"/>
          </p:cNvSpPr>
          <p:nvPr>
            <p:ph idx="4294967295"/>
          </p:nvPr>
        </p:nvSpPr>
        <p:spPr>
          <a:xfrm>
            <a:off x="460248" y="1465534"/>
            <a:ext cx="11265408" cy="1222262"/>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Makes and records decisions using a recorded process that </a:t>
            </a:r>
            <a:r>
              <a:rPr lang="en-GB" sz="1400" b="0" i="0" dirty="0" err="1">
                <a:solidFill>
                  <a:srgbClr val="505050"/>
                </a:solidFill>
                <a:effectLst/>
                <a:highlight>
                  <a:srgbClr val="FFFFFF"/>
                </a:highlight>
                <a:latin typeface="Gotham A"/>
              </a:rPr>
              <a:t>analyzes</a:t>
            </a:r>
            <a:r>
              <a:rPr lang="en-GB" sz="1400" b="0" i="0" dirty="0">
                <a:solidFill>
                  <a:srgbClr val="505050"/>
                </a:solidFill>
                <a:effectLst/>
                <a:highlight>
                  <a:srgbClr val="FFFFFF"/>
                </a:highlight>
                <a:latin typeface="Gotham A"/>
              </a:rPr>
              <a:t> alternatives.</a:t>
            </a:r>
            <a:r>
              <a:rPr lang="en-US" sz="1400" dirty="0"/>
              <a:t>	</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使用记录的流程来分析备选方案，并做出和记录决策。</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Increases the objectivity of decision-making and the probability of selecting the optimal solution.</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提高决策的客观性和选择最佳解决方案的可能性。</a:t>
            </a:r>
          </a:p>
          <a:p>
            <a:endParaRPr lang="en-US" sz="1400" dirty="0"/>
          </a:p>
          <a:p>
            <a:endParaRPr lang="en-US" sz="1400" dirty="0"/>
          </a:p>
        </p:txBody>
      </p:sp>
      <p:pic>
        <p:nvPicPr>
          <p:cNvPr id="7" name="Picture 6">
            <a:extLst>
              <a:ext uri="{FF2B5EF4-FFF2-40B4-BE49-F238E27FC236}">
                <a16:creationId xmlns:a16="http://schemas.microsoft.com/office/drawing/2014/main" id="{63AE4084-C272-D348-A954-332D73CB7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8" name="Content Placeholder 3">
            <a:extLst>
              <a:ext uri="{FF2B5EF4-FFF2-40B4-BE49-F238E27FC236}">
                <a16:creationId xmlns:a16="http://schemas.microsoft.com/office/drawing/2014/main" id="{0C29C336-857B-42AC-A784-32E0EB287EFC}"/>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728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4C635E-FEFA-084F-A1B2-00A355DFF58D}"/>
              </a:ext>
            </a:extLst>
          </p:cNvPr>
          <p:cNvSpPr>
            <a:spLocks noGrp="1"/>
          </p:cNvSpPr>
          <p:nvPr>
            <p:ph type="title"/>
          </p:nvPr>
        </p:nvSpPr>
        <p:spPr>
          <a:xfrm>
            <a:off x="1691829" y="878863"/>
            <a:ext cx="10021824" cy="539496"/>
          </a:xfrm>
        </p:spPr>
        <p:txBody>
          <a:bodyPr>
            <a:normAutofit/>
          </a:bodyPr>
          <a:lstStyle/>
          <a:p>
            <a:r>
              <a:rPr lang="en-US" sz="2800" dirty="0"/>
              <a:t>Estimating (EST) </a:t>
            </a:r>
            <a:r>
              <a:rPr lang="ja-JP" altLang="en-US" sz="2800" dirty="0">
                <a:solidFill>
                  <a:srgbClr val="1F497D"/>
                </a:solidFill>
              </a:rPr>
              <a:t>估算</a:t>
            </a:r>
            <a:endParaRPr lang="en-US" sz="2800" dirty="0">
              <a:solidFill>
                <a:srgbClr val="1F497D"/>
              </a:solidFill>
            </a:endParaRPr>
          </a:p>
        </p:txBody>
      </p:sp>
      <p:sp>
        <p:nvSpPr>
          <p:cNvPr id="5" name="Content Placeholder 4">
            <a:extLst>
              <a:ext uri="{FF2B5EF4-FFF2-40B4-BE49-F238E27FC236}">
                <a16:creationId xmlns:a16="http://schemas.microsoft.com/office/drawing/2014/main" id="{F0D27AE0-E333-B84C-AA56-4473247CD36D}"/>
              </a:ext>
            </a:extLst>
          </p:cNvPr>
          <p:cNvSpPr>
            <a:spLocks noGrp="1"/>
          </p:cNvSpPr>
          <p:nvPr>
            <p:ph idx="4294967295"/>
          </p:nvPr>
        </p:nvSpPr>
        <p:spPr>
          <a:xfrm>
            <a:off x="463296" y="1388121"/>
            <a:ext cx="11265408" cy="1572768"/>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Estimates the size, effort, duration, and cost of the work and resources needed to develop, acquire, or deliver the solution.</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估算开发、获取或交付解决方案所需的工作和资源的规模、努力、持续时间和成本。</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Provides a basis for making commitments, planning, and reducing uncertainty, which allows for early corrective actions and increases 	the likelihood of meeting objectives.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为做出承诺、规划和减少不确定性提供基础，从而允许及早采取纠正措施，并提高实现目标的可能性。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D564BB67-B6E2-EA42-8FD0-E0FE585544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29184"/>
            <a:ext cx="1381125" cy="1028700"/>
          </a:xfrm>
          <a:prstGeom prst="rect">
            <a:avLst/>
          </a:prstGeom>
        </p:spPr>
      </p:pic>
      <p:sp>
        <p:nvSpPr>
          <p:cNvPr id="8" name="Content Placeholder 3">
            <a:extLst>
              <a:ext uri="{FF2B5EF4-FFF2-40B4-BE49-F238E27FC236}">
                <a16:creationId xmlns:a16="http://schemas.microsoft.com/office/drawing/2014/main" id="{5CACA4C3-CBEF-489E-BB7B-72D841E2651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13113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5370A8-0C29-9E4D-B098-2E01281B6260}"/>
              </a:ext>
            </a:extLst>
          </p:cNvPr>
          <p:cNvSpPr>
            <a:spLocks noGrp="1"/>
          </p:cNvSpPr>
          <p:nvPr>
            <p:ph type="title"/>
          </p:nvPr>
        </p:nvSpPr>
        <p:spPr>
          <a:xfrm>
            <a:off x="1673352" y="896112"/>
            <a:ext cx="10021824" cy="539496"/>
          </a:xfrm>
        </p:spPr>
        <p:txBody>
          <a:bodyPr>
            <a:normAutofit/>
          </a:bodyPr>
          <a:lstStyle/>
          <a:p>
            <a:r>
              <a:rPr lang="en-US" sz="2800" dirty="0"/>
              <a:t>Governance (GOV) </a:t>
            </a:r>
            <a:r>
              <a:rPr lang="ja-JP" altLang="en-US" sz="2800" dirty="0">
                <a:solidFill>
                  <a:srgbClr val="1F497D"/>
                </a:solidFill>
              </a:rPr>
              <a:t>管治</a:t>
            </a:r>
            <a:endParaRPr lang="en-US" sz="2800" dirty="0">
              <a:solidFill>
                <a:srgbClr val="1F497D"/>
              </a:solidFill>
            </a:endParaRPr>
          </a:p>
        </p:txBody>
      </p:sp>
      <p:sp>
        <p:nvSpPr>
          <p:cNvPr id="5" name="Content Placeholder 4">
            <a:extLst>
              <a:ext uri="{FF2B5EF4-FFF2-40B4-BE49-F238E27FC236}">
                <a16:creationId xmlns:a16="http://schemas.microsoft.com/office/drawing/2014/main" id="{C7447B46-1B43-2341-808A-5B2FCADE4031}"/>
              </a:ext>
            </a:extLst>
          </p:cNvPr>
          <p:cNvSpPr>
            <a:spLocks noGrp="1"/>
          </p:cNvSpPr>
          <p:nvPr>
            <p:ph idx="4294967295"/>
          </p:nvPr>
        </p:nvSpPr>
        <p:spPr>
          <a:xfrm>
            <a:off x="463296" y="1435608"/>
            <a:ext cx="11265408" cy="1523312"/>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Provides guidance to senior management on their role in the sponsorship and governance of performance, processes, and related 	activities.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为高级管理层提供关于其在绩效、流程及相关活动的赞助和治理中的角色的指导。</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Minimizes the cost of process implementation, increases the likelihood of meeting objectives, and verifies that the implemented 	processes support and contribute to the success of the business.</a:t>
            </a:r>
            <a:br>
              <a:rPr lang="en-US" sz="1400" dirty="0">
                <a:solidFill>
                  <a:srgbClr val="505050"/>
                </a:solidFill>
                <a:highlight>
                  <a:srgbClr val="FFFFFF"/>
                </a:highlight>
                <a:latin typeface="Gotham A"/>
              </a:rPr>
            </a:br>
            <a:r>
              <a:rPr lang="en-US" sz="1400" dirty="0">
                <a:solidFill>
                  <a:srgbClr val="505050"/>
                </a:solidFill>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减少流程实施成本，提高实现目标的可能性，并验证已实施的流程支持并促进业务成功。</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Content Placeholder 3">
            <a:extLst>
              <a:ext uri="{FF2B5EF4-FFF2-40B4-BE49-F238E27FC236}">
                <a16:creationId xmlns:a16="http://schemas.microsoft.com/office/drawing/2014/main" id="{9F514497-C5FD-2445-A499-822C31FAC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07008" cy="1207008"/>
          </a:xfrm>
          <a:prstGeom prst="rect">
            <a:avLst/>
          </a:prstGeom>
        </p:spPr>
      </p:pic>
      <p:sp>
        <p:nvSpPr>
          <p:cNvPr id="8" name="Content Placeholder 3">
            <a:extLst>
              <a:ext uri="{FF2B5EF4-FFF2-40B4-BE49-F238E27FC236}">
                <a16:creationId xmlns:a16="http://schemas.microsoft.com/office/drawing/2014/main" id="{6816CC65-C45A-49BD-920B-AFA52DAAB2A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9169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EC4B8E7-E430-0B48-A30F-0DC56283EC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15390" cy="1207008"/>
          </a:xfrm>
          <a:prstGeom prst="rect">
            <a:avLst/>
          </a:prstGeom>
        </p:spPr>
      </p:pic>
      <p:sp>
        <p:nvSpPr>
          <p:cNvPr id="3" name="Title 2">
            <a:extLst>
              <a:ext uri="{FF2B5EF4-FFF2-40B4-BE49-F238E27FC236}">
                <a16:creationId xmlns:a16="http://schemas.microsoft.com/office/drawing/2014/main" id="{DC8BCBD2-BB96-4EFA-B4BA-DD959BC15EBD}"/>
              </a:ext>
            </a:extLst>
          </p:cNvPr>
          <p:cNvSpPr>
            <a:spLocks noGrp="1"/>
          </p:cNvSpPr>
          <p:nvPr>
            <p:ph type="title"/>
          </p:nvPr>
        </p:nvSpPr>
        <p:spPr>
          <a:xfrm>
            <a:off x="1681734" y="907750"/>
            <a:ext cx="10021824" cy="539496"/>
          </a:xfrm>
        </p:spPr>
        <p:txBody>
          <a:bodyPr>
            <a:normAutofit/>
          </a:bodyPr>
          <a:lstStyle/>
          <a:p>
            <a:r>
              <a:rPr lang="en-US" sz="2800" dirty="0"/>
              <a:t>Implementation Infrastructure (II) </a:t>
            </a:r>
            <a:r>
              <a:rPr lang="zh-CN" altLang="en-US" sz="2800" dirty="0">
                <a:solidFill>
                  <a:srgbClr val="1F497D"/>
                </a:solidFill>
              </a:rPr>
              <a:t>实施基础条件</a:t>
            </a:r>
            <a:endParaRPr lang="en-ZA" sz="2800" dirty="0">
              <a:solidFill>
                <a:srgbClr val="1F497D"/>
              </a:solidFill>
            </a:endParaRPr>
          </a:p>
        </p:txBody>
      </p:sp>
      <p:sp>
        <p:nvSpPr>
          <p:cNvPr id="10" name="Content Placeholder 5">
            <a:extLst>
              <a:ext uri="{FF2B5EF4-FFF2-40B4-BE49-F238E27FC236}">
                <a16:creationId xmlns:a16="http://schemas.microsoft.com/office/drawing/2014/main" id="{9045050B-D4DF-4E82-A4C1-CE0EBE15B30E}"/>
              </a:ext>
            </a:extLst>
          </p:cNvPr>
          <p:cNvSpPr txBox="1">
            <a:spLocks/>
          </p:cNvSpPr>
          <p:nvPr/>
        </p:nvSpPr>
        <p:spPr>
          <a:xfrm>
            <a:off x="463296" y="1447246"/>
            <a:ext cx="11265408" cy="12070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Intent: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Ensures that the processes and assets important to an organization’s performance are habitually and persistently followed, used, and 	improved. </a:t>
            </a:r>
            <a:b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确保对组织绩效重要的流程和资产得到习惯性和持久的遵循、使用和改进。</a:t>
            </a:r>
            <a:endParaRPr kumimoji="0" lang="en-US" altLang="zh-CN"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Value: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Sustains the ability to consistently achieve goals and objectives efficiently and effectively.</a:t>
            </a:r>
            <a:b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维持高效且有效地持续实现目标和任务的能力。</a:t>
            </a:r>
            <a:endParaRPr kumimoji="0" 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3">
            <a:extLst>
              <a:ext uri="{FF2B5EF4-FFF2-40B4-BE49-F238E27FC236}">
                <a16:creationId xmlns:a16="http://schemas.microsoft.com/office/drawing/2014/main" id="{11E67682-00B4-4BBF-BF79-4BBA281832A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91193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D917CA8-C953-3D41-BB4D-AE90DA494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10896"/>
            <a:ext cx="1352550" cy="1028700"/>
          </a:xfrm>
          <a:prstGeom prst="rect">
            <a:avLst/>
          </a:prstGeom>
        </p:spPr>
      </p:pic>
      <p:sp>
        <p:nvSpPr>
          <p:cNvPr id="3" name="Title 2">
            <a:extLst>
              <a:ext uri="{FF2B5EF4-FFF2-40B4-BE49-F238E27FC236}">
                <a16:creationId xmlns:a16="http://schemas.microsoft.com/office/drawing/2014/main" id="{729B6FBD-CD48-43B2-99F2-DBC6C3011C1E}"/>
              </a:ext>
            </a:extLst>
          </p:cNvPr>
          <p:cNvSpPr>
            <a:spLocks noGrp="1"/>
          </p:cNvSpPr>
          <p:nvPr>
            <p:ph type="title"/>
          </p:nvPr>
        </p:nvSpPr>
        <p:spPr>
          <a:xfrm>
            <a:off x="1663254" y="923544"/>
            <a:ext cx="10320997" cy="539496"/>
          </a:xfrm>
        </p:spPr>
        <p:txBody>
          <a:bodyPr>
            <a:noAutofit/>
          </a:bodyPr>
          <a:lstStyle/>
          <a:p>
            <a:r>
              <a:rPr lang="en-US" sz="2800" dirty="0"/>
              <a:t>Managing Performance and Measurement (</a:t>
            </a:r>
            <a:r>
              <a:rPr lang="en-US" sz="2800" dirty="0" err="1"/>
              <a:t>MPM</a:t>
            </a:r>
            <a:r>
              <a:rPr lang="en-US" sz="2800" dirty="0"/>
              <a:t>) </a:t>
            </a:r>
            <a:r>
              <a:rPr lang="zh-CN" altLang="en-US" sz="2800" dirty="0">
                <a:solidFill>
                  <a:srgbClr val="1F497D"/>
                </a:solidFill>
              </a:rPr>
              <a:t>管理绩效与度量</a:t>
            </a:r>
            <a:endParaRPr lang="en-ZA" sz="2800" dirty="0">
              <a:solidFill>
                <a:srgbClr val="1F497D"/>
              </a:solidFill>
            </a:endParaRPr>
          </a:p>
        </p:txBody>
      </p:sp>
      <p:sp>
        <p:nvSpPr>
          <p:cNvPr id="12" name="Content Placeholder 7">
            <a:extLst>
              <a:ext uri="{FF2B5EF4-FFF2-40B4-BE49-F238E27FC236}">
                <a16:creationId xmlns:a16="http://schemas.microsoft.com/office/drawing/2014/main" id="{1ED947F3-5626-4DC5-883B-9F149E032369}"/>
              </a:ext>
            </a:extLst>
          </p:cNvPr>
          <p:cNvSpPr txBox="1">
            <a:spLocks/>
          </p:cNvSpPr>
          <p:nvPr/>
        </p:nvSpPr>
        <p:spPr>
          <a:xfrm>
            <a:off x="463296" y="1463040"/>
            <a:ext cx="11265408" cy="14193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Intent: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Manages performance using measurement and analysis to achieve business objectives.</a:t>
            </a:r>
            <a:b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使用测量和分析来管理绩效，以实现业务目标。</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Value: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Maximizes business return on investment by focusing management and improvement efforts on cost, schedule, and quality 	performance.</a:t>
            </a:r>
            <a:b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通过将管理和改进工作集中在成本、进度和质量绩效上，最大化业务投资回报。</a:t>
            </a:r>
          </a:p>
        </p:txBody>
      </p:sp>
      <p:sp>
        <p:nvSpPr>
          <p:cNvPr id="8" name="Content Placeholder 3">
            <a:extLst>
              <a:ext uri="{FF2B5EF4-FFF2-40B4-BE49-F238E27FC236}">
                <a16:creationId xmlns:a16="http://schemas.microsoft.com/office/drawing/2014/main" id="{AD359478-7EA2-4394-AC0C-E3B891310A8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8273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5C0589-D524-8C48-B3B9-B5BA8350A22C}"/>
              </a:ext>
            </a:extLst>
          </p:cNvPr>
          <p:cNvSpPr>
            <a:spLocks noGrp="1"/>
          </p:cNvSpPr>
          <p:nvPr>
            <p:ph type="title"/>
          </p:nvPr>
        </p:nvSpPr>
        <p:spPr>
          <a:xfrm>
            <a:off x="1692021" y="903763"/>
            <a:ext cx="10021824" cy="539496"/>
          </a:xfrm>
        </p:spPr>
        <p:txBody>
          <a:bodyPr>
            <a:normAutofit/>
          </a:bodyPr>
          <a:lstStyle/>
          <a:p>
            <a:r>
              <a:rPr lang="en-US" sz="2800" dirty="0"/>
              <a:t>Monitor and Control (MC) </a:t>
            </a:r>
            <a:r>
              <a:rPr lang="zh-CN" altLang="en-US" sz="2800" dirty="0">
                <a:solidFill>
                  <a:srgbClr val="1F497D"/>
                </a:solidFill>
              </a:rPr>
              <a:t>控制与监督</a:t>
            </a:r>
            <a:endParaRPr lang="en-US" sz="2000" dirty="0">
              <a:solidFill>
                <a:srgbClr val="1F497D"/>
              </a:solidFill>
            </a:endParaRPr>
          </a:p>
        </p:txBody>
      </p:sp>
      <p:sp>
        <p:nvSpPr>
          <p:cNvPr id="5" name="Content Placeholder 4">
            <a:extLst>
              <a:ext uri="{FF2B5EF4-FFF2-40B4-BE49-F238E27FC236}">
                <a16:creationId xmlns:a16="http://schemas.microsoft.com/office/drawing/2014/main" id="{CB786E03-BE8A-F746-8A22-456740951822}"/>
              </a:ext>
            </a:extLst>
          </p:cNvPr>
          <p:cNvSpPr>
            <a:spLocks noGrp="1"/>
          </p:cNvSpPr>
          <p:nvPr>
            <p:ph idx="4294967295"/>
          </p:nvPr>
        </p:nvSpPr>
        <p:spPr>
          <a:xfrm>
            <a:off x="231648" y="1443259"/>
            <a:ext cx="11728704" cy="1522968"/>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Provides an understanding of the project progress so appropriate corrective actions can be taken when performance deviates significantly 	from plans.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提供对项目进展的理解，以便在绩效与计划明显偏离时采取适当的纠正措施。</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Increases the probability of meeting objectives by taking early actions to adjust for significant performance deviations.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通过及早采取行动调整重大绩效偏差，增加实现目标的可能性。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6B859F02-E316-0F49-87DC-CBED754134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8" name="Content Placeholder 3">
            <a:extLst>
              <a:ext uri="{FF2B5EF4-FFF2-40B4-BE49-F238E27FC236}">
                <a16:creationId xmlns:a16="http://schemas.microsoft.com/office/drawing/2014/main" id="{893FA88A-18FE-4C39-948B-AAA77B320F7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69110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C4BC60-EF81-EB4C-A665-87F237A1A07B}"/>
              </a:ext>
            </a:extLst>
          </p:cNvPr>
          <p:cNvSpPr>
            <a:spLocks noGrp="1"/>
          </p:cNvSpPr>
          <p:nvPr>
            <p:ph type="title"/>
          </p:nvPr>
        </p:nvSpPr>
        <p:spPr>
          <a:xfrm>
            <a:off x="1618488" y="916548"/>
            <a:ext cx="10021824" cy="539496"/>
          </a:xfrm>
        </p:spPr>
        <p:txBody>
          <a:bodyPr>
            <a:normAutofit/>
          </a:bodyPr>
          <a:lstStyle/>
          <a:p>
            <a:r>
              <a:rPr lang="en-US" sz="2800" dirty="0"/>
              <a:t>Organizational Training (OT) </a:t>
            </a:r>
            <a:r>
              <a:rPr lang="ja-JP" altLang="en-US" sz="2800" dirty="0">
                <a:solidFill>
                  <a:srgbClr val="1F497D"/>
                </a:solidFill>
                <a:latin typeface="DengXian Light" panose="02010600030101010101" pitchFamily="2" charset="-122"/>
                <a:ea typeface="DengXian Light" panose="02010600030101010101" pitchFamily="2" charset="-122"/>
              </a:rPr>
              <a:t>组织级培训</a:t>
            </a:r>
            <a:endParaRPr lang="en-US" sz="2800" dirty="0">
              <a:solidFill>
                <a:srgbClr val="1F497D"/>
              </a:solidFill>
            </a:endParaRPr>
          </a:p>
        </p:txBody>
      </p:sp>
      <p:sp>
        <p:nvSpPr>
          <p:cNvPr id="5" name="Content Placeholder 4">
            <a:extLst>
              <a:ext uri="{FF2B5EF4-FFF2-40B4-BE49-F238E27FC236}">
                <a16:creationId xmlns:a16="http://schemas.microsoft.com/office/drawing/2014/main" id="{D45684F9-A7D1-9546-96B3-5A91CC5E5FE2}"/>
              </a:ext>
            </a:extLst>
          </p:cNvPr>
          <p:cNvSpPr>
            <a:spLocks noGrp="1"/>
          </p:cNvSpPr>
          <p:nvPr>
            <p:ph idx="4294967295"/>
          </p:nvPr>
        </p:nvSpPr>
        <p:spPr>
          <a:xfrm>
            <a:off x="466344" y="1456044"/>
            <a:ext cx="11265408" cy="1191670"/>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Develops the skills and knowledge of personnel so they perform their roles efficiently and effectively.</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培养人员的技能和知识，使他们能够高效、有效地完成自己的角色。</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Enhances individuals' skills and knowledge to improve organizational work performance.</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提升个人的技能和知识，以改善组织的工作绩效。</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794B23BD-7F77-0348-8E21-4C5522D31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338" y="237744"/>
            <a:ext cx="1200150" cy="1076325"/>
          </a:xfrm>
          <a:prstGeom prst="rect">
            <a:avLst/>
          </a:prstGeom>
        </p:spPr>
      </p:pic>
      <p:sp>
        <p:nvSpPr>
          <p:cNvPr id="8" name="Content Placeholder 3">
            <a:extLst>
              <a:ext uri="{FF2B5EF4-FFF2-40B4-BE49-F238E27FC236}">
                <a16:creationId xmlns:a16="http://schemas.microsoft.com/office/drawing/2014/main" id="{8A731301-3CCC-4F02-AC81-BE245599CC65}"/>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6288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AE9ED4-B81C-E643-B0FB-82AA3CD0D245}"/>
              </a:ext>
            </a:extLst>
          </p:cNvPr>
          <p:cNvSpPr>
            <a:spLocks noGrp="1"/>
          </p:cNvSpPr>
          <p:nvPr>
            <p:ph type="title"/>
          </p:nvPr>
        </p:nvSpPr>
        <p:spPr>
          <a:xfrm>
            <a:off x="1736746" y="907750"/>
            <a:ext cx="10021824" cy="539496"/>
          </a:xfrm>
        </p:spPr>
        <p:txBody>
          <a:bodyPr>
            <a:normAutofit/>
          </a:bodyPr>
          <a:lstStyle/>
          <a:p>
            <a:r>
              <a:rPr lang="en-US" sz="2800" dirty="0"/>
              <a:t>Peer Reviews (PR) </a:t>
            </a:r>
            <a:r>
              <a:rPr lang="ja-JP" altLang="en-US" sz="2800" dirty="0">
                <a:solidFill>
                  <a:srgbClr val="1F497D"/>
                </a:solidFill>
                <a:latin typeface="DengXian Light" panose="02010600030101010101" pitchFamily="2" charset="-122"/>
                <a:ea typeface="DengXian Light" panose="02010600030101010101" pitchFamily="2" charset="-122"/>
              </a:rPr>
              <a:t>同行评审</a:t>
            </a:r>
            <a:endParaRPr lang="en-US" sz="2800" dirty="0">
              <a:solidFill>
                <a:srgbClr val="1F497D"/>
              </a:solidFill>
            </a:endParaRPr>
          </a:p>
        </p:txBody>
      </p:sp>
      <p:pic>
        <p:nvPicPr>
          <p:cNvPr id="7" name="Picture 6">
            <a:extLst>
              <a:ext uri="{FF2B5EF4-FFF2-40B4-BE49-F238E27FC236}">
                <a16:creationId xmlns:a16="http://schemas.microsoft.com/office/drawing/2014/main" id="{1A54BFAC-FF60-1E4C-8144-8651057084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extBox 7">
            <a:extLst>
              <a:ext uri="{FF2B5EF4-FFF2-40B4-BE49-F238E27FC236}">
                <a16:creationId xmlns:a16="http://schemas.microsoft.com/office/drawing/2014/main" id="{48A0ADB3-2913-A34C-998D-46F2649F32A7}"/>
              </a:ext>
            </a:extLst>
          </p:cNvPr>
          <p:cNvSpPr txBox="1"/>
          <p:nvPr/>
        </p:nvSpPr>
        <p:spPr>
          <a:xfrm>
            <a:off x="405236" y="1447246"/>
            <a:ext cx="11381528" cy="1190069"/>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Intent: </a:t>
            </a:r>
            <a:r>
              <a:rPr kumimoji="0" lang="en-GB" sz="1400" b="0" i="0" u="none" strike="noStrike" kern="1200" cap="none" spc="0" normalizeH="0" baseline="0" noProof="0" dirty="0">
                <a:ln>
                  <a:noFill/>
                </a:ln>
                <a:solidFill>
                  <a:prstClr val="black"/>
                </a:solidFill>
                <a:effectLst/>
                <a:uLnTx/>
                <a:uFillTx/>
                <a:latin typeface="Calibri" panose="020F0502020204030204"/>
                <a:ea typeface="+mn-ea"/>
                <a:cs typeface="+mn-cs"/>
              </a:rPr>
              <a:t>Identifies and addresses process performance and work product issues through reviews by the producer's peers or Subject Matter 	Experts (SMEs).</a:t>
            </a:r>
            <a:b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通过由生产者的同行或专家进行的审查，识别和解决过程绩效和工作产品问题。</a:t>
            </a:r>
            <a:endParaRPr kumimoji="0" lang="en-ZA" altLang="zh-CN"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ZA" sz="14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	</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Value: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prstClr val="black"/>
                </a:solidFill>
                <a:effectLst/>
                <a:uLnTx/>
                <a:uFillTx/>
                <a:latin typeface="Calibri" panose="020F0502020204030204"/>
                <a:ea typeface="+mn-ea"/>
                <a:cs typeface="+mn-cs"/>
              </a:rPr>
              <a:t>Reduces cost and rework by uncovering issues or defects early.</a:t>
            </a:r>
            <a:b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通过及早发现问题或缺陷，降低成本和返工。</a:t>
            </a:r>
            <a:endParaRPr kumimoji="0" 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p:txBody>
      </p:sp>
      <p:sp>
        <p:nvSpPr>
          <p:cNvPr id="9" name="Content Placeholder 3">
            <a:extLst>
              <a:ext uri="{FF2B5EF4-FFF2-40B4-BE49-F238E27FC236}">
                <a16:creationId xmlns:a16="http://schemas.microsoft.com/office/drawing/2014/main" id="{6700B825-4B23-41CB-B6E9-8CBDBB9E433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09989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946A40-B0D3-7F42-92B3-A8F1BDFD81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9" name="Content Placeholder 8">
            <a:extLst>
              <a:ext uri="{FF2B5EF4-FFF2-40B4-BE49-F238E27FC236}">
                <a16:creationId xmlns:a16="http://schemas.microsoft.com/office/drawing/2014/main" id="{8EEFC331-18F4-8A46-A869-BA52963D8CE8}"/>
              </a:ext>
            </a:extLst>
          </p:cNvPr>
          <p:cNvSpPr txBox="1">
            <a:spLocks noGrp="1"/>
          </p:cNvSpPr>
          <p:nvPr>
            <p:ph idx="4294967295"/>
          </p:nvPr>
        </p:nvSpPr>
        <p:spPr>
          <a:xfrm>
            <a:off x="466344" y="1408368"/>
            <a:ext cx="11265408" cy="996170"/>
          </a:xfrm>
          <a:prstGeom prst="rect">
            <a:avLst/>
          </a:prstGeom>
          <a:noFill/>
        </p:spPr>
        <p:txBody>
          <a:bodyPr wrap="square" rtlCol="0">
            <a:spAutoFit/>
          </a:bodyPr>
          <a:lstStyle/>
          <a:p>
            <a:pPr marL="0" indent="0">
              <a:buNone/>
            </a:pPr>
            <a:r>
              <a:rPr lang="en-US" sz="1400" b="1" dirty="0"/>
              <a:t>	Intent: </a:t>
            </a:r>
            <a:r>
              <a:rPr lang="en-GB" sz="1400" dirty="0"/>
              <a:t>Develop plans to describe what is needed to accomplish the work within the standards and constraints of the organization.</a:t>
            </a:r>
            <a:br>
              <a:rPr lang="en-US" sz="1400" dirty="0">
                <a:effectLst/>
              </a:rPr>
            </a:br>
            <a:r>
              <a:rPr lang="en-US" sz="1400" dirty="0">
                <a:effectLst/>
              </a:rPr>
              <a:t>	</a:t>
            </a:r>
            <a:r>
              <a:rPr lang="zh-CN" altLang="en-US" sz="1400" dirty="0">
                <a:solidFill>
                  <a:srgbClr val="1F497D"/>
                </a:solidFill>
                <a:latin typeface="DengXian" panose="02010600030101010101" pitchFamily="2" charset="-122"/>
                <a:ea typeface="DengXian" panose="02010600030101010101" pitchFamily="2" charset="-122"/>
              </a:rPr>
              <a:t>制定计划，描述在组织的标准和限制条件下完成工作所需的内容。</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Optimizes cost, functionality, and quality to increase the likelihood of meeting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优化成本、功能和质量，增加实现目标的可能性。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Title 7">
            <a:extLst>
              <a:ext uri="{FF2B5EF4-FFF2-40B4-BE49-F238E27FC236}">
                <a16:creationId xmlns:a16="http://schemas.microsoft.com/office/drawing/2014/main" id="{3ADF6F91-5E76-4848-81D9-6C12BBE07647}"/>
              </a:ext>
            </a:extLst>
          </p:cNvPr>
          <p:cNvSpPr txBox="1">
            <a:spLocks noGrp="1"/>
          </p:cNvSpPr>
          <p:nvPr>
            <p:ph type="title"/>
          </p:nvPr>
        </p:nvSpPr>
        <p:spPr>
          <a:xfrm>
            <a:off x="1692021" y="877753"/>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Planning (PLAN) </a:t>
            </a:r>
            <a:r>
              <a:rPr lang="ja-JP" altLang="en-US" dirty="0">
                <a:solidFill>
                  <a:srgbClr val="1F497D"/>
                </a:solidFill>
                <a:latin typeface="DengXian Light" panose="02010600030101010101" pitchFamily="2" charset="-122"/>
                <a:ea typeface="DengXian Light" panose="02010600030101010101" pitchFamily="2" charset="-122"/>
              </a:rPr>
              <a:t>策划</a:t>
            </a:r>
            <a:endParaRPr lang="en-US" dirty="0">
              <a:solidFill>
                <a:srgbClr val="1F497D"/>
              </a:solidFill>
            </a:endParaRPr>
          </a:p>
        </p:txBody>
      </p:sp>
      <p:sp>
        <p:nvSpPr>
          <p:cNvPr id="11" name="Content Placeholder 3">
            <a:extLst>
              <a:ext uri="{FF2B5EF4-FFF2-40B4-BE49-F238E27FC236}">
                <a16:creationId xmlns:a16="http://schemas.microsoft.com/office/drawing/2014/main" id="{3A60A1DC-6440-4AEB-BD14-7BFF58BA7603}"/>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90337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5AE3B20-2D39-3C46-BD9A-23D957F99C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52550" cy="1028700"/>
          </a:xfrm>
          <a:prstGeom prst="rect">
            <a:avLst/>
          </a:prstGeom>
        </p:spPr>
      </p:pic>
      <p:sp>
        <p:nvSpPr>
          <p:cNvPr id="9" name="Title 7">
            <a:extLst>
              <a:ext uri="{FF2B5EF4-FFF2-40B4-BE49-F238E27FC236}">
                <a16:creationId xmlns:a16="http://schemas.microsoft.com/office/drawing/2014/main" id="{D0AECBCD-8363-284B-BB51-55AF3D65C681}"/>
              </a:ext>
            </a:extLst>
          </p:cNvPr>
          <p:cNvSpPr txBox="1">
            <a:spLocks noGrp="1"/>
          </p:cNvSpPr>
          <p:nvPr>
            <p:ph type="title"/>
          </p:nvPr>
        </p:nvSpPr>
        <p:spPr>
          <a:xfrm>
            <a:off x="1663446" y="859465"/>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Asset Development (PAD) </a:t>
            </a:r>
            <a:r>
              <a:rPr lang="zh-CN" altLang="en-US" dirty="0">
                <a:solidFill>
                  <a:srgbClr val="1F497D"/>
                </a:solidFill>
                <a:latin typeface="+mj-ea"/>
                <a:ea typeface="+mj-ea"/>
              </a:rPr>
              <a:t>过程资产开发</a:t>
            </a:r>
            <a:endParaRPr lang="en-US" dirty="0">
              <a:solidFill>
                <a:srgbClr val="1F497D"/>
              </a:solidFill>
            </a:endParaRPr>
          </a:p>
        </p:txBody>
      </p:sp>
      <p:sp>
        <p:nvSpPr>
          <p:cNvPr id="10" name="Content Placeholder 9">
            <a:extLst>
              <a:ext uri="{FF2B5EF4-FFF2-40B4-BE49-F238E27FC236}">
                <a16:creationId xmlns:a16="http://schemas.microsoft.com/office/drawing/2014/main" id="{518A46D4-BE00-814E-8A9B-BD69C49159B9}"/>
              </a:ext>
            </a:extLst>
          </p:cNvPr>
          <p:cNvSpPr txBox="1">
            <a:spLocks noGrp="1"/>
          </p:cNvSpPr>
          <p:nvPr>
            <p:ph idx="4294967295"/>
          </p:nvPr>
        </p:nvSpPr>
        <p:spPr>
          <a:xfrm>
            <a:off x="463296" y="1339596"/>
            <a:ext cx="11265408" cy="996170"/>
          </a:xfrm>
          <a:prstGeom prst="rect">
            <a:avLst/>
          </a:prstGeom>
          <a:noFill/>
        </p:spPr>
        <p:txBody>
          <a:bodyPr wrap="square" rtlCol="0">
            <a:spAutoFit/>
          </a:bodyPr>
          <a:lstStyle/>
          <a:p>
            <a:pPr marL="0" indent="0">
              <a:buNone/>
            </a:pPr>
            <a:r>
              <a:rPr lang="en-US" sz="1400" b="1" dirty="0"/>
              <a:t>	Intent: </a:t>
            </a:r>
            <a:r>
              <a:rPr lang="en-GB" sz="1400" dirty="0"/>
              <a:t>Develops the process assets necessary to perform the work and keeps them updated.</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开发完成工作所需的流程资产，并保持其更新。</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Provides a capability to understand and repeat successful performance.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提供理解和重复成功绩效的能力。</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4F9F7155-69C5-47DF-B4F8-7A9C296B71B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2339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61F88B-A93B-E44F-A278-9F680C286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81125" cy="1050433"/>
          </a:xfrm>
          <a:prstGeom prst="rect">
            <a:avLst/>
          </a:prstGeom>
        </p:spPr>
      </p:pic>
      <p:sp>
        <p:nvSpPr>
          <p:cNvPr id="9" name="Title 7">
            <a:extLst>
              <a:ext uri="{FF2B5EF4-FFF2-40B4-BE49-F238E27FC236}">
                <a16:creationId xmlns:a16="http://schemas.microsoft.com/office/drawing/2014/main" id="{2A97733B-5B53-6D4F-B3A6-238856A5C58A}"/>
              </a:ext>
            </a:extLst>
          </p:cNvPr>
          <p:cNvSpPr txBox="1">
            <a:spLocks noGrp="1"/>
          </p:cNvSpPr>
          <p:nvPr>
            <p:ph type="title"/>
          </p:nvPr>
        </p:nvSpPr>
        <p:spPr>
          <a:xfrm>
            <a:off x="1692021" y="88119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Management (PCM) </a:t>
            </a:r>
            <a:r>
              <a:rPr lang="ja-JP" altLang="en-US" dirty="0">
                <a:solidFill>
                  <a:srgbClr val="1F497D"/>
                </a:solidFill>
                <a:latin typeface="DengXian Light" panose="02010600030101010101" pitchFamily="2" charset="-122"/>
                <a:ea typeface="DengXian Light" panose="02010600030101010101" pitchFamily="2" charset="-122"/>
              </a:rPr>
              <a:t>过程管理</a:t>
            </a:r>
            <a:endParaRPr lang="en-US" dirty="0">
              <a:solidFill>
                <a:srgbClr val="1F497D"/>
              </a:solidFill>
            </a:endParaRPr>
          </a:p>
        </p:txBody>
      </p:sp>
      <p:sp>
        <p:nvSpPr>
          <p:cNvPr id="10" name="Content Placeholder 9">
            <a:extLst>
              <a:ext uri="{FF2B5EF4-FFF2-40B4-BE49-F238E27FC236}">
                <a16:creationId xmlns:a16="http://schemas.microsoft.com/office/drawing/2014/main" id="{95A440E3-2399-234F-BAE5-CFDCD8133EE3}"/>
              </a:ext>
            </a:extLst>
          </p:cNvPr>
          <p:cNvSpPr txBox="1">
            <a:spLocks noGrp="1"/>
          </p:cNvSpPr>
          <p:nvPr>
            <p:ph idx="4294967295"/>
          </p:nvPr>
        </p:nvSpPr>
        <p:spPr>
          <a:xfrm>
            <a:off x="290641" y="1361329"/>
            <a:ext cx="11610717" cy="1383969"/>
          </a:xfrm>
          <a:prstGeom prst="rect">
            <a:avLst/>
          </a:prstGeom>
          <a:noFill/>
        </p:spPr>
        <p:txBody>
          <a:bodyPr wrap="square" rtlCol="0">
            <a:spAutoFit/>
          </a:bodyPr>
          <a:lstStyle/>
          <a:p>
            <a:pPr marL="0" indent="0">
              <a:buNone/>
            </a:pPr>
            <a:r>
              <a:rPr lang="en-US" sz="1400" b="1" dirty="0"/>
              <a:t>	Intent: </a:t>
            </a:r>
            <a:r>
              <a:rPr lang="en-GB" sz="1400" dirty="0"/>
              <a:t>Manages and implements the continuous performance improvement of processes and infrastructure to </a:t>
            </a:r>
            <a:r>
              <a:rPr lang="en-GB" sz="1400"/>
              <a:t>meet business objectives </a:t>
            </a:r>
            <a:r>
              <a:rPr lang="en-GB" sz="1400" dirty="0"/>
              <a:t>by 	identifying and implementing the most beneficial process improvements and making performance results visible, accessible, and sustainable.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通过识别和实施最有益的流程改进，并使绩效结果可见、可访问和可持续，管理和实施流程和基础设施</a:t>
            </a:r>
            <a:r>
              <a:rPr lang="en-GB"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的持续绩效改进，以实现业</a:t>
            </a:r>
            <a:r>
              <a:rPr lang="en-ZA"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务目标</a:t>
            </a:r>
            <a:endParaRPr lang="en-ZA"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Ensures that processes, infrastructure, and their improvement contribute to successfully meeting business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确保流程、基础设施及其改进对成功实现业务目标起到贡献。</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BA79F4AB-08BE-F452-D988-77913BD35438}"/>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8761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A46A86D-420C-994B-BB9A-87E1DC9BC6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90625" cy="1019175"/>
          </a:xfrm>
          <a:prstGeom prst="rect">
            <a:avLst/>
          </a:prstGeom>
        </p:spPr>
      </p:pic>
      <p:sp>
        <p:nvSpPr>
          <p:cNvPr id="8" name="Title 7">
            <a:extLst>
              <a:ext uri="{FF2B5EF4-FFF2-40B4-BE49-F238E27FC236}">
                <a16:creationId xmlns:a16="http://schemas.microsoft.com/office/drawing/2014/main" id="{7DC3611C-0E7E-5845-A472-220CD96F0A64}"/>
              </a:ext>
            </a:extLst>
          </p:cNvPr>
          <p:cNvSpPr txBox="1">
            <a:spLocks noGrp="1"/>
          </p:cNvSpPr>
          <p:nvPr>
            <p:ph type="title"/>
          </p:nvPr>
        </p:nvSpPr>
        <p:spPr>
          <a:xfrm>
            <a:off x="1656969" y="893309"/>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Quality Assurance (PQA) </a:t>
            </a:r>
            <a:r>
              <a:rPr lang="zh-CN" altLang="en-US" dirty="0">
                <a:solidFill>
                  <a:srgbClr val="1F497D"/>
                </a:solidFill>
                <a:latin typeface="+mj-ea"/>
                <a:ea typeface="+mj-ea"/>
              </a:rPr>
              <a:t>过程质量保证</a:t>
            </a:r>
            <a:endParaRPr lang="en-US" dirty="0">
              <a:solidFill>
                <a:srgbClr val="1F497D"/>
              </a:solidFill>
            </a:endParaRPr>
          </a:p>
        </p:txBody>
      </p:sp>
      <p:sp>
        <p:nvSpPr>
          <p:cNvPr id="9" name="Content Placeholder 8">
            <a:extLst>
              <a:ext uri="{FF2B5EF4-FFF2-40B4-BE49-F238E27FC236}">
                <a16:creationId xmlns:a16="http://schemas.microsoft.com/office/drawing/2014/main" id="{E5E65591-E634-B04A-BC24-D549AAFDA061}"/>
              </a:ext>
            </a:extLst>
          </p:cNvPr>
          <p:cNvSpPr txBox="1">
            <a:spLocks noGrp="1"/>
          </p:cNvSpPr>
          <p:nvPr>
            <p:ph idx="4294967295"/>
          </p:nvPr>
        </p:nvSpPr>
        <p:spPr>
          <a:xfrm>
            <a:off x="275702" y="1373440"/>
            <a:ext cx="11640595" cy="996170"/>
          </a:xfrm>
          <a:prstGeom prst="rect">
            <a:avLst/>
          </a:prstGeom>
          <a:noFill/>
        </p:spPr>
        <p:txBody>
          <a:bodyPr wrap="square" rtlCol="0">
            <a:spAutoFit/>
          </a:bodyPr>
          <a:lstStyle/>
          <a:p>
            <a:pPr marL="0" indent="0">
              <a:buNone/>
            </a:pPr>
            <a:r>
              <a:rPr lang="en-US" sz="1400" b="1" dirty="0"/>
              <a:t>	Intent: </a:t>
            </a:r>
            <a:r>
              <a:rPr lang="en-GB" sz="1400" dirty="0"/>
              <a:t>Verifies and enables improvement of the quality of the processes performed and resulting work products.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验证并促进所执行的流程和最终工作产品的质量改进。</a:t>
            </a:r>
            <a:r>
              <a:rPr lang="en-US" sz="1400" b="1" dirty="0"/>
              <a:t>	</a:t>
            </a:r>
          </a:p>
          <a:p>
            <a:pPr marL="0" indent="0">
              <a:buNone/>
            </a:pPr>
            <a:r>
              <a:rPr lang="en-US" sz="1400" b="1" dirty="0"/>
              <a:t>	Value:</a:t>
            </a:r>
            <a:r>
              <a:rPr lang="en-US" sz="1400" dirty="0"/>
              <a:t> </a:t>
            </a:r>
            <a:r>
              <a:rPr lang="en-GB" sz="1400" dirty="0"/>
              <a:t>Increases the consistent use and improvement of the processes to maximize business benefit and customer satisfaction.</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增加对流程的一贯使用和改进，以最大化业务效益和客户满意度。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6417183C-1A1D-479B-97E4-9A18F85309F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7685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150284-8292-8D49-BC36-D75E9DDA27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A30BB0C4-F057-5045-890F-0F9D4FAAAC7B}"/>
              </a:ext>
            </a:extLst>
          </p:cNvPr>
          <p:cNvSpPr txBox="1">
            <a:spLocks noGrp="1"/>
          </p:cNvSpPr>
          <p:nvPr>
            <p:ph type="title"/>
          </p:nvPr>
        </p:nvSpPr>
        <p:spPr>
          <a:xfrm>
            <a:off x="1618107" y="90882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Product Integration (PI) </a:t>
            </a:r>
            <a:r>
              <a:rPr lang="ja-JP" altLang="en-US" dirty="0">
                <a:solidFill>
                  <a:srgbClr val="1F497D"/>
                </a:solidFill>
                <a:latin typeface="DengXian Light" panose="02010600030101010101" pitchFamily="2" charset="-122"/>
                <a:ea typeface="DengXian Light" panose="02010600030101010101" pitchFamily="2" charset="-122"/>
              </a:rPr>
              <a:t>产品集成</a:t>
            </a:r>
            <a:endParaRPr lang="en-US" dirty="0">
              <a:solidFill>
                <a:srgbClr val="1F497D"/>
              </a:solidFill>
            </a:endParaRPr>
          </a:p>
        </p:txBody>
      </p:sp>
      <p:sp>
        <p:nvSpPr>
          <p:cNvPr id="9" name="Content Placeholder 8">
            <a:extLst>
              <a:ext uri="{FF2B5EF4-FFF2-40B4-BE49-F238E27FC236}">
                <a16:creationId xmlns:a16="http://schemas.microsoft.com/office/drawing/2014/main" id="{65C865DC-106D-8D40-B690-9000D793161A}"/>
              </a:ext>
            </a:extLst>
          </p:cNvPr>
          <p:cNvSpPr txBox="1">
            <a:spLocks noGrp="1"/>
          </p:cNvSpPr>
          <p:nvPr>
            <p:ph idx="4294967295"/>
          </p:nvPr>
        </p:nvSpPr>
        <p:spPr>
          <a:xfrm>
            <a:off x="300473" y="1388959"/>
            <a:ext cx="11591053" cy="996170"/>
          </a:xfrm>
          <a:prstGeom prst="rect">
            <a:avLst/>
          </a:prstGeom>
          <a:noFill/>
        </p:spPr>
        <p:txBody>
          <a:bodyPr wrap="square" rtlCol="0">
            <a:spAutoFit/>
          </a:bodyPr>
          <a:lstStyle/>
          <a:p>
            <a:pPr marL="0" indent="0">
              <a:buNone/>
            </a:pPr>
            <a:r>
              <a:rPr lang="en-US" sz="1400" b="1" dirty="0"/>
              <a:t>	Intent: </a:t>
            </a:r>
            <a:r>
              <a:rPr lang="en-GB" sz="1400" dirty="0"/>
              <a:t>Integrates and delivers the solution that addresses functionality, performance, and quality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整合并交付解决方案，满足功能、性能和质量要求。</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Increases customers' satisfaction by giving them a solution that meets or exceeds their functionality and quality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通过为客户提供满足或超出其功能和质量要求的解决方案，提高客户满意度。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7153C72C-E5D1-438B-B38F-AEC07EF70B4B}"/>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4669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5BD358-13C0-704B-AF4F-E0C810DD2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464" y="350520"/>
            <a:ext cx="1190625" cy="1028700"/>
          </a:xfrm>
          <a:prstGeom prst="rect">
            <a:avLst/>
          </a:prstGeom>
        </p:spPr>
      </p:pic>
      <p:sp>
        <p:nvSpPr>
          <p:cNvPr id="8" name="Title 7">
            <a:extLst>
              <a:ext uri="{FF2B5EF4-FFF2-40B4-BE49-F238E27FC236}">
                <a16:creationId xmlns:a16="http://schemas.microsoft.com/office/drawing/2014/main" id="{FA76391E-56A4-1D46-8B16-6C6198C4AD7F}"/>
              </a:ext>
            </a:extLst>
          </p:cNvPr>
          <p:cNvSpPr txBox="1">
            <a:spLocks noGrp="1"/>
          </p:cNvSpPr>
          <p:nvPr>
            <p:ph type="title"/>
          </p:nvPr>
        </p:nvSpPr>
        <p:spPr>
          <a:xfrm>
            <a:off x="1474089" y="899089"/>
            <a:ext cx="11243825"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Requirements Development and Management (RDM) </a:t>
            </a:r>
            <a:r>
              <a:rPr lang="zh-CN" altLang="en-US" dirty="0">
                <a:solidFill>
                  <a:srgbClr val="1F497D"/>
                </a:solidFill>
                <a:latin typeface="+mj-ea"/>
                <a:ea typeface="+mj-ea"/>
              </a:rPr>
              <a:t>需求开发与管理</a:t>
            </a:r>
            <a:endParaRPr lang="en-US" dirty="0">
              <a:solidFill>
                <a:srgbClr val="1F497D"/>
              </a:solidFill>
            </a:endParaRPr>
          </a:p>
        </p:txBody>
      </p:sp>
      <p:sp>
        <p:nvSpPr>
          <p:cNvPr id="9" name="Content Placeholder 8">
            <a:extLst>
              <a:ext uri="{FF2B5EF4-FFF2-40B4-BE49-F238E27FC236}">
                <a16:creationId xmlns:a16="http://schemas.microsoft.com/office/drawing/2014/main" id="{28877B3D-5089-C64D-BC81-EDE247A11522}"/>
              </a:ext>
            </a:extLst>
          </p:cNvPr>
          <p:cNvSpPr txBox="1">
            <a:spLocks noGrp="1"/>
          </p:cNvSpPr>
          <p:nvPr>
            <p:ph idx="4294967295"/>
          </p:nvPr>
        </p:nvSpPr>
        <p:spPr>
          <a:xfrm>
            <a:off x="283464" y="1379220"/>
            <a:ext cx="11591052" cy="996170"/>
          </a:xfrm>
          <a:prstGeom prst="rect">
            <a:avLst/>
          </a:prstGeom>
          <a:noFill/>
        </p:spPr>
        <p:txBody>
          <a:bodyPr wrap="square" rtlCol="0">
            <a:spAutoFit/>
          </a:bodyPr>
          <a:lstStyle/>
          <a:p>
            <a:pPr marL="0" indent="0">
              <a:buNone/>
            </a:pPr>
            <a:r>
              <a:rPr lang="en-US" sz="1400" b="1" dirty="0"/>
              <a:t>	Intent: </a:t>
            </a:r>
            <a:r>
              <a:rPr lang="en-GB" sz="1400" dirty="0"/>
              <a:t>Elicits requirements, confirms common understanding by stakeholders, and aligns requirements, plans, and work products.</a:t>
            </a:r>
            <a:br>
              <a:rPr lang="en-US" sz="1400" dirty="0"/>
            </a:br>
            <a:r>
              <a:rPr lang="en-US" sz="1400" dirty="0"/>
              <a:t>	</a:t>
            </a:r>
            <a:r>
              <a:rPr lang="zh-CN" altLang="en-US" sz="1400" dirty="0">
                <a:solidFill>
                  <a:srgbClr val="1F497D"/>
                </a:solidFill>
              </a:rPr>
              <a:t>引发需求，通过利益相关者确认共同理解，并将需求、计划和工作产品对齐。</a:t>
            </a:r>
            <a:r>
              <a:rPr lang="en-US" sz="1400" b="1" dirty="0"/>
              <a:t>	</a:t>
            </a:r>
          </a:p>
          <a:p>
            <a:pPr marL="0" indent="0">
              <a:buNone/>
            </a:pPr>
            <a:r>
              <a:rPr lang="en-US" sz="1400" b="1" dirty="0"/>
              <a:t>	Value:</a:t>
            </a:r>
            <a:r>
              <a:rPr lang="en-US" sz="1400" dirty="0"/>
              <a:t> </a:t>
            </a:r>
            <a:r>
              <a:rPr lang="en-GB" sz="1400" dirty="0"/>
              <a:t>Increases likelihood that the solution meets or exceeds customer expectations and needs.</a:t>
            </a:r>
            <a:br>
              <a:rPr lang="en-US" sz="1400" dirty="0"/>
            </a:br>
            <a:r>
              <a:rPr lang="en-US" sz="1400" dirty="0"/>
              <a:t>	</a:t>
            </a:r>
            <a:r>
              <a:rPr lang="zh-CN" altLang="en-US" sz="1400" dirty="0">
                <a:solidFill>
                  <a:srgbClr val="1F497D"/>
                </a:solidFill>
              </a:rPr>
              <a:t>增加解决方案满足或超出客户期望和需求的可能性。</a:t>
            </a:r>
            <a:endParaRPr lang="en-US" sz="1400" dirty="0">
              <a:solidFill>
                <a:srgbClr val="1F497D"/>
              </a:solidFill>
            </a:endParaRPr>
          </a:p>
        </p:txBody>
      </p:sp>
      <p:sp>
        <p:nvSpPr>
          <p:cNvPr id="11" name="Content Placeholder 3">
            <a:extLst>
              <a:ext uri="{FF2B5EF4-FFF2-40B4-BE49-F238E27FC236}">
                <a16:creationId xmlns:a16="http://schemas.microsoft.com/office/drawing/2014/main" id="{52858F2E-4CB5-4A8C-AB8A-89A0749509B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3232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20B7C4-5A9A-BB42-9F2B-CEC437533E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472" y="347472"/>
            <a:ext cx="1381125" cy="990600"/>
          </a:xfrm>
          <a:prstGeom prst="rect">
            <a:avLst/>
          </a:prstGeom>
        </p:spPr>
      </p:pic>
      <p:sp>
        <p:nvSpPr>
          <p:cNvPr id="8" name="Title 7">
            <a:extLst>
              <a:ext uri="{FF2B5EF4-FFF2-40B4-BE49-F238E27FC236}">
                <a16:creationId xmlns:a16="http://schemas.microsoft.com/office/drawing/2014/main" id="{9F0BE44C-B62C-734E-8D2C-364C3DC4D8F0}"/>
              </a:ext>
            </a:extLst>
          </p:cNvPr>
          <p:cNvSpPr txBox="1">
            <a:spLocks noGrp="1"/>
          </p:cNvSpPr>
          <p:nvPr>
            <p:ph type="title"/>
          </p:nvPr>
        </p:nvSpPr>
        <p:spPr>
          <a:xfrm>
            <a:off x="1679171" y="866717"/>
            <a:ext cx="10165357"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Risk and Opportunity Management (</a:t>
            </a:r>
            <a:r>
              <a:rPr lang="en-US" dirty="0" err="1"/>
              <a:t>RSK</a:t>
            </a:r>
            <a:r>
              <a:rPr lang="en-US" dirty="0"/>
              <a:t>) </a:t>
            </a:r>
            <a:r>
              <a:rPr lang="zh-CN" altLang="en-US" dirty="0">
                <a:solidFill>
                  <a:srgbClr val="1F497D"/>
                </a:solidFill>
                <a:latin typeface="+mj-ea"/>
                <a:ea typeface="+mj-ea"/>
              </a:rPr>
              <a:t>风险与机会管理</a:t>
            </a:r>
            <a:endParaRPr lang="en-US" dirty="0">
              <a:solidFill>
                <a:srgbClr val="1F497D"/>
              </a:solidFill>
            </a:endParaRPr>
          </a:p>
        </p:txBody>
      </p:sp>
      <p:sp>
        <p:nvSpPr>
          <p:cNvPr id="9" name="Content Placeholder 8">
            <a:extLst>
              <a:ext uri="{FF2B5EF4-FFF2-40B4-BE49-F238E27FC236}">
                <a16:creationId xmlns:a16="http://schemas.microsoft.com/office/drawing/2014/main" id="{0D163350-A59C-2947-9EEB-6C00A4F19521}"/>
              </a:ext>
            </a:extLst>
          </p:cNvPr>
          <p:cNvSpPr txBox="1">
            <a:spLocks noGrp="1"/>
          </p:cNvSpPr>
          <p:nvPr>
            <p:ph idx="4294967295"/>
          </p:nvPr>
        </p:nvSpPr>
        <p:spPr>
          <a:xfrm>
            <a:off x="463296" y="1338072"/>
            <a:ext cx="11265408" cy="996170"/>
          </a:xfrm>
          <a:prstGeom prst="rect">
            <a:avLst/>
          </a:prstGeom>
          <a:noFill/>
        </p:spPr>
        <p:txBody>
          <a:bodyPr wrap="square" rtlCol="0">
            <a:spAutoFit/>
          </a:bodyPr>
          <a:lstStyle/>
          <a:p>
            <a:pPr marL="0" indent="0">
              <a:buNone/>
            </a:pPr>
            <a:r>
              <a:rPr lang="en-US" sz="1400" b="1" dirty="0"/>
              <a:t>	Intent: </a:t>
            </a:r>
            <a:r>
              <a:rPr lang="en-GB" sz="1400" dirty="0"/>
              <a:t>Identifies, records, </a:t>
            </a:r>
            <a:r>
              <a:rPr lang="en-GB" sz="1400" dirty="0" err="1"/>
              <a:t>analyzes</a:t>
            </a:r>
            <a:r>
              <a:rPr lang="en-GB" sz="1400" dirty="0"/>
              <a:t>, and manages potential risks or opportunities.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识别、记录、分析和管理潜在的风险或机遇。 </a:t>
            </a:r>
            <a:r>
              <a:rPr lang="en-US" sz="1400" b="1" dirty="0"/>
              <a:t>	</a:t>
            </a:r>
          </a:p>
          <a:p>
            <a:pPr marL="0" indent="0">
              <a:buNone/>
            </a:pPr>
            <a:r>
              <a:rPr lang="en-US" sz="1400" b="1" dirty="0"/>
              <a:t>	Value:</a:t>
            </a:r>
            <a:r>
              <a:rPr lang="en-US" sz="1400" dirty="0"/>
              <a:t> </a:t>
            </a:r>
            <a:r>
              <a:rPr lang="en-GB" sz="1400" dirty="0"/>
              <a:t>Mitigates adverse impacts or capitalizes on positive impacts to increase the likelihood of meeting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减轻不利影响或利用积极影响，增加实现目标的可能性。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EC92CF95-B838-45DF-A813-F4DC0442E84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8376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5862143-3951-A64C-B7B7-268C11BD3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2D19D3C6-51DC-3041-B3EC-E426F6CAF279}"/>
              </a:ext>
            </a:extLst>
          </p:cNvPr>
          <p:cNvSpPr txBox="1">
            <a:spLocks noGrp="1"/>
          </p:cNvSpPr>
          <p:nvPr>
            <p:ph type="title"/>
          </p:nvPr>
        </p:nvSpPr>
        <p:spPr>
          <a:xfrm>
            <a:off x="1618107" y="902834"/>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Technical Solution (TS) </a:t>
            </a:r>
            <a:r>
              <a:rPr lang="zh-CN" altLang="en-US" dirty="0">
                <a:solidFill>
                  <a:srgbClr val="1F497D"/>
                </a:solidFill>
                <a:latin typeface="+mj-ea"/>
                <a:ea typeface="+mj-ea"/>
              </a:rPr>
              <a:t>技术解决方案</a:t>
            </a:r>
            <a:endParaRPr lang="en-US" dirty="0">
              <a:solidFill>
                <a:srgbClr val="1F497D"/>
              </a:solidFill>
            </a:endParaRPr>
          </a:p>
        </p:txBody>
      </p:sp>
      <p:sp>
        <p:nvSpPr>
          <p:cNvPr id="9" name="Content Placeholder 8">
            <a:extLst>
              <a:ext uri="{FF2B5EF4-FFF2-40B4-BE49-F238E27FC236}">
                <a16:creationId xmlns:a16="http://schemas.microsoft.com/office/drawing/2014/main" id="{6666E3A6-0A9E-BC46-9A3F-12B3D08BB749}"/>
              </a:ext>
            </a:extLst>
          </p:cNvPr>
          <p:cNvSpPr txBox="1">
            <a:spLocks noGrp="1"/>
          </p:cNvSpPr>
          <p:nvPr>
            <p:ph idx="4294967295"/>
          </p:nvPr>
        </p:nvSpPr>
        <p:spPr>
          <a:xfrm>
            <a:off x="463296" y="1382965"/>
            <a:ext cx="11265408" cy="996170"/>
          </a:xfrm>
          <a:prstGeom prst="rect">
            <a:avLst/>
          </a:prstGeom>
          <a:noFill/>
        </p:spPr>
        <p:txBody>
          <a:bodyPr wrap="square" rtlCol="0">
            <a:spAutoFit/>
          </a:bodyPr>
          <a:lstStyle/>
          <a:p>
            <a:pPr marL="0" indent="0">
              <a:buNone/>
            </a:pPr>
            <a:r>
              <a:rPr lang="en-US" sz="1400" b="1" dirty="0"/>
              <a:t>	Intent: </a:t>
            </a:r>
            <a:r>
              <a:rPr lang="en-GB" sz="1400" dirty="0"/>
              <a:t>Designs and builds solutions that meet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设计并构建满足要求的解决方案。</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Provides a cost-effective design and solution that meets customer requirements and reduces rework.</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提供符合客户要求并减少返工的成本效益设计和解决方案。</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26C68265-BF15-4E56-945E-A154256403B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47493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1B57D4-F6F7-8D4C-92DD-C8E3374CD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itle 7">
            <a:extLst>
              <a:ext uri="{FF2B5EF4-FFF2-40B4-BE49-F238E27FC236}">
                <a16:creationId xmlns:a16="http://schemas.microsoft.com/office/drawing/2014/main" id="{6B445EF2-3845-7D4E-9686-FCE75374D5DB}"/>
              </a:ext>
            </a:extLst>
          </p:cNvPr>
          <p:cNvSpPr txBox="1">
            <a:spLocks noGrp="1"/>
          </p:cNvSpPr>
          <p:nvPr>
            <p:ph type="title"/>
          </p:nvPr>
        </p:nvSpPr>
        <p:spPr>
          <a:xfrm>
            <a:off x="1647444" y="92828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Verification and Validation (VV) </a:t>
            </a:r>
            <a:r>
              <a:rPr lang="ja-JP" altLang="en-US" dirty="0">
                <a:solidFill>
                  <a:srgbClr val="1F497D"/>
                </a:solidFill>
                <a:latin typeface="DengXian Light" panose="02010600030101010101" pitchFamily="2" charset="-122"/>
                <a:ea typeface="DengXian Light" panose="02010600030101010101" pitchFamily="2" charset="-122"/>
              </a:rPr>
              <a:t>验证与确认</a:t>
            </a:r>
            <a:endParaRPr lang="en-US" dirty="0">
              <a:solidFill>
                <a:srgbClr val="1F497D"/>
              </a:solidFill>
            </a:endParaRPr>
          </a:p>
        </p:txBody>
      </p:sp>
      <p:sp>
        <p:nvSpPr>
          <p:cNvPr id="9" name="Content Placeholder 8">
            <a:extLst>
              <a:ext uri="{FF2B5EF4-FFF2-40B4-BE49-F238E27FC236}">
                <a16:creationId xmlns:a16="http://schemas.microsoft.com/office/drawing/2014/main" id="{DFA55996-6786-F34A-A68D-AC5A9F594E73}"/>
              </a:ext>
            </a:extLst>
          </p:cNvPr>
          <p:cNvSpPr txBox="1">
            <a:spLocks noGrp="1"/>
          </p:cNvSpPr>
          <p:nvPr>
            <p:ph idx="4294967295"/>
          </p:nvPr>
        </p:nvSpPr>
        <p:spPr>
          <a:xfrm>
            <a:off x="460248" y="1408419"/>
            <a:ext cx="11265408" cy="1190069"/>
          </a:xfrm>
          <a:prstGeom prst="rect">
            <a:avLst/>
          </a:prstGeom>
          <a:noFill/>
        </p:spPr>
        <p:txBody>
          <a:bodyPr wrap="square" rtlCol="0">
            <a:spAutoFit/>
          </a:bodyPr>
          <a:lstStyle/>
          <a:p>
            <a:pPr marL="0" indent="0">
              <a:buNone/>
            </a:pPr>
            <a:r>
              <a:rPr lang="en-US" sz="1400" b="1" dirty="0"/>
              <a:t>	Intent: </a:t>
            </a:r>
            <a:r>
              <a:rPr lang="en-GB" sz="1400" dirty="0"/>
              <a:t>Confirms selected solutions and components meet their requirements, and demonstrates selected solutions and components </a:t>
            </a:r>
            <a:r>
              <a:rPr lang="en-GB" sz="1400" dirty="0" err="1"/>
              <a:t>fulfill</a:t>
            </a:r>
            <a:r>
              <a:rPr lang="en-GB" sz="1400" dirty="0"/>
              <a:t> 	their intended use in their target environment.</a:t>
            </a:r>
            <a:br>
              <a:rPr lang="en-US" sz="1400" dirty="0"/>
            </a:br>
            <a:r>
              <a:rPr lang="zh-CN" altLang="en-US" sz="1400" b="0" i="0" dirty="0">
                <a:solidFill>
                  <a:srgbClr val="0D0D0D"/>
                </a:solidFill>
                <a:effectLst/>
                <a:highlight>
                  <a:srgbClr val="FFFFFF"/>
                </a:highlight>
                <a:latin typeface="Söhne"/>
              </a:rPr>
              <a:t> </a:t>
            </a:r>
            <a:r>
              <a:rPr lang="en-ZA" altLang="zh-CN" sz="1400" b="0" i="0" dirty="0">
                <a:solidFill>
                  <a:srgbClr val="0D0D0D"/>
                </a:solidFill>
                <a:effectLst/>
                <a:highlight>
                  <a:srgbClr val="FFFFFF"/>
                </a:highlight>
                <a:latin typeface="Söhne"/>
              </a:rPr>
              <a:t>	</a:t>
            </a:r>
            <a:r>
              <a:rPr lang="zh-CN" altLang="en-US" sz="1400" dirty="0">
                <a:solidFill>
                  <a:srgbClr val="1F497D"/>
                </a:solidFill>
                <a:latin typeface="DengXian" panose="02010600030101010101" pitchFamily="2" charset="-122"/>
                <a:ea typeface="DengXian" panose="02010600030101010101" pitchFamily="2" charset="-122"/>
              </a:rPr>
              <a:t>确认所选解决方案和组件符合其要求，并展示所选解决方案和组件在其目标环境中履行其预期用途。 </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Increases the likelihood that the solution will satisfy the customer.</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增加解决方案能够满足客户的可能性。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C9D1CE2B-8543-D342-ECCE-6C01C053D7C1}"/>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83273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a:xfrm>
            <a:off x="838200" y="2002631"/>
            <a:ext cx="10515600" cy="2852737"/>
          </a:xfrm>
        </p:spPr>
        <p:txBody>
          <a:bodyPr/>
          <a:lstStyle/>
          <a:p>
            <a:r>
              <a:rPr lang="en-ZA" b="1" dirty="0">
                <a:latin typeface="+mn-lt"/>
              </a:rPr>
              <a:t>Performance Report</a:t>
            </a:r>
            <a:br>
              <a:rPr lang="en-US" b="1" dirty="0">
                <a:latin typeface="+mn-lt"/>
              </a:rPr>
            </a:br>
            <a:r>
              <a:rPr lang="zh-CN" altLang="en-US" b="1" dirty="0">
                <a:solidFill>
                  <a:srgbClr val="1F497D"/>
                </a:solidFill>
                <a:latin typeface="+mn-lt"/>
              </a:rPr>
              <a:t>性能报告</a:t>
            </a:r>
            <a:r>
              <a:rPr lang="en-NZ" b="1" dirty="0">
                <a:solidFill>
                  <a:srgbClr val="1F497D"/>
                </a:solidFill>
                <a:latin typeface="+mn-lt"/>
              </a:rPr>
              <a:t>  </a:t>
            </a:r>
            <a:endParaRPr lang="en-US" b="1" dirty="0">
              <a:solidFill>
                <a:srgbClr val="1F497D"/>
              </a:solidFill>
              <a:latin typeface="+mn-lt"/>
            </a:endParaRPr>
          </a:p>
        </p:txBody>
      </p:sp>
      <p:sp>
        <p:nvSpPr>
          <p:cNvPr id="2" name="Rectangle 1">
            <a:extLst>
              <a:ext uri="{FF2B5EF4-FFF2-40B4-BE49-F238E27FC236}">
                <a16:creationId xmlns:a16="http://schemas.microsoft.com/office/drawing/2014/main" id="{F3E0F357-D534-4D1A-B5E1-CC602B422F46}"/>
              </a:ext>
            </a:extLst>
          </p:cNvPr>
          <p:cNvSpPr/>
          <p:nvPr/>
        </p:nvSpPr>
        <p:spPr>
          <a:xfrm>
            <a:off x="218661" y="1192696"/>
            <a:ext cx="11509514" cy="51285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421660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BA5C3F-5201-8B46-AF8B-D946599531E1}"/>
              </a:ext>
            </a:extLst>
          </p:cNvPr>
          <p:cNvSpPr>
            <a:spLocks noGrp="1"/>
          </p:cNvSpPr>
          <p:nvPr>
            <p:ph type="title"/>
          </p:nvPr>
        </p:nvSpPr>
        <p:spPr/>
        <p:txBody>
          <a:bodyPr/>
          <a:lstStyle/>
          <a:p>
            <a:r>
              <a:rPr lang="en-US" b="1" dirty="0">
                <a:latin typeface="+mn-lt"/>
              </a:rPr>
              <a:t>Ratings</a:t>
            </a:r>
            <a:br>
              <a:rPr lang="en-US" b="1" dirty="0">
                <a:latin typeface="+mn-lt"/>
              </a:rPr>
            </a:br>
            <a:r>
              <a:rPr lang="zh-CN" altLang="en-US" b="1" dirty="0">
                <a:solidFill>
                  <a:srgbClr val="1F497D"/>
                </a:solidFill>
                <a:latin typeface="+mn-lt"/>
              </a:rPr>
              <a:t>評級</a:t>
            </a:r>
            <a:endParaRPr lang="en-US" b="1" dirty="0">
              <a:solidFill>
                <a:srgbClr val="1F497D"/>
              </a:solidFill>
              <a:latin typeface="+mn-lt"/>
            </a:endParaRPr>
          </a:p>
        </p:txBody>
      </p:sp>
    </p:spTree>
    <p:extLst>
      <p:ext uri="{BB962C8B-B14F-4D97-AF65-F5344CB8AC3E}">
        <p14:creationId xmlns:p14="http://schemas.microsoft.com/office/powerpoint/2010/main" val="12094017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C5D04-9640-3B48-820B-127523AD9848}"/>
              </a:ext>
            </a:extLst>
          </p:cNvPr>
          <p:cNvSpPr>
            <a:spLocks noGrp="1"/>
          </p:cNvSpPr>
          <p:nvPr>
            <p:ph type="title"/>
          </p:nvPr>
        </p:nvSpPr>
        <p:spPr>
          <a:xfrm>
            <a:off x="379228" y="233529"/>
            <a:ext cx="2161953" cy="602284"/>
          </a:xfrm>
        </p:spPr>
        <p:txBody>
          <a:bodyPr/>
          <a:lstStyle/>
          <a:p>
            <a:r>
              <a:rPr lang="en-US" dirty="0"/>
              <a:t>Ratings for</a:t>
            </a:r>
          </a:p>
        </p:txBody>
      </p:sp>
      <p:graphicFrame>
        <p:nvGraphicFramePr>
          <p:cNvPr id="3" name="Object 2">
            <a:extLst>
              <a:ext uri="{FF2B5EF4-FFF2-40B4-BE49-F238E27FC236}">
                <a16:creationId xmlns:a16="http://schemas.microsoft.com/office/drawing/2014/main" id="{2A52746B-2DBE-49E0-BE4E-73E9F3A4814F}"/>
              </a:ext>
            </a:extLst>
          </p:cNvPr>
          <p:cNvGraphicFramePr>
            <a:graphicFrameLocks noChangeAspect="1"/>
          </p:cNvGraphicFramePr>
          <p:nvPr>
            <p:extLst>
              <p:ext uri="{D42A27DB-BD31-4B8C-83A1-F6EECF244321}">
                <p14:modId xmlns:p14="http://schemas.microsoft.com/office/powerpoint/2010/main" val="1148774258"/>
              </p:ext>
            </p:extLst>
          </p:nvPr>
        </p:nvGraphicFramePr>
        <p:xfrm>
          <a:off x="496888" y="903288"/>
          <a:ext cx="3330575" cy="184150"/>
        </p:xfrm>
        <a:graphic>
          <a:graphicData uri="http://schemas.openxmlformats.org/presentationml/2006/ole">
            <mc:AlternateContent xmlns:mc="http://schemas.openxmlformats.org/markup-compatibility/2006">
              <mc:Choice xmlns:v="urn:schemas-microsoft-com:vml" Requires="v">
                <p:oleObj name="Macro-Enabled Worksheet" r:id="rId3" imgW="3330117" imgH="182927" progId="Excel.SheetMacroEnabled.12">
                  <p:link updateAutomatic="1"/>
                </p:oleObj>
              </mc:Choice>
              <mc:Fallback>
                <p:oleObj name="Macro-Enabled Worksheet" r:id="rId3" imgW="3330117" imgH="182927" progId="Excel.SheetMacroEnabled.12">
                  <p:link updateAutomatic="1"/>
                  <p:pic>
                    <p:nvPicPr>
                      <p:cNvPr id="3" name="Object 2">
                        <a:extLst>
                          <a:ext uri="{FF2B5EF4-FFF2-40B4-BE49-F238E27FC236}">
                            <a16:creationId xmlns:a16="http://schemas.microsoft.com/office/drawing/2014/main" id="{2A52746B-2DBE-49E0-BE4E-73E9F3A4814F}"/>
                          </a:ext>
                        </a:extLst>
                      </p:cNvPr>
                      <p:cNvPicPr/>
                      <p:nvPr/>
                    </p:nvPicPr>
                    <p:blipFill>
                      <a:blip r:embed="rId4"/>
                      <a:stretch>
                        <a:fillRect/>
                      </a:stretch>
                    </p:blipFill>
                    <p:spPr>
                      <a:xfrm>
                        <a:off x="496888" y="903288"/>
                        <a:ext cx="3330575" cy="184150"/>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1821A6FB-E09E-4F97-AC85-D866DE56A84A}"/>
              </a:ext>
            </a:extLst>
          </p:cNvPr>
          <p:cNvPicPr>
            <a:picLocks noChangeAspect="1"/>
          </p:cNvPicPr>
          <p:nvPr/>
        </p:nvPicPr>
        <p:blipFill>
          <a:blip r:embed="rId5"/>
          <a:stretch>
            <a:fillRect/>
          </a:stretch>
        </p:blipFill>
        <p:spPr>
          <a:xfrm>
            <a:off x="8971280" y="2172970"/>
            <a:ext cx="1723565" cy="2134870"/>
          </a:xfrm>
          <a:prstGeom prst="rect">
            <a:avLst/>
          </a:prstGeom>
        </p:spPr>
      </p:pic>
      <p:pic>
        <p:nvPicPr>
          <p:cNvPr id="6" name="Picture 5">
            <a:extLst>
              <a:ext uri="{FF2B5EF4-FFF2-40B4-BE49-F238E27FC236}">
                <a16:creationId xmlns:a16="http://schemas.microsoft.com/office/drawing/2014/main" id="{75484A1B-7A36-468A-93FF-9D86D7639B93}"/>
              </a:ext>
            </a:extLst>
          </p:cNvPr>
          <p:cNvPicPr>
            <a:picLocks noChangeAspect="1"/>
          </p:cNvPicPr>
          <p:nvPr/>
        </p:nvPicPr>
        <p:blipFill>
          <a:blip r:embed="rId6"/>
          <a:stretch>
            <a:fillRect/>
          </a:stretch>
        </p:blipFill>
        <p:spPr>
          <a:xfrm>
            <a:off x="1206408" y="1086644"/>
            <a:ext cx="6685788" cy="4988052"/>
          </a:xfrm>
          <a:prstGeom prst="rect">
            <a:avLst/>
          </a:prstGeom>
        </p:spPr>
      </p:pic>
    </p:spTree>
    <p:extLst>
      <p:ext uri="{BB962C8B-B14F-4D97-AF65-F5344CB8AC3E}">
        <p14:creationId xmlns:p14="http://schemas.microsoft.com/office/powerpoint/2010/main" val="40067351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C5D04-9640-3B48-820B-127523AD9848}"/>
              </a:ext>
            </a:extLst>
          </p:cNvPr>
          <p:cNvSpPr>
            <a:spLocks noGrp="1"/>
          </p:cNvSpPr>
          <p:nvPr>
            <p:ph type="title"/>
          </p:nvPr>
        </p:nvSpPr>
        <p:spPr>
          <a:xfrm>
            <a:off x="379228" y="233529"/>
            <a:ext cx="10515600" cy="602284"/>
          </a:xfrm>
        </p:spPr>
        <p:txBody>
          <a:bodyPr/>
          <a:lstStyle/>
          <a:p>
            <a:r>
              <a:rPr lang="en-US" dirty="0"/>
              <a:t>Ratings for</a:t>
            </a:r>
          </a:p>
        </p:txBody>
      </p:sp>
      <p:graphicFrame>
        <p:nvGraphicFramePr>
          <p:cNvPr id="7" name="Object 6">
            <a:extLst>
              <a:ext uri="{FF2B5EF4-FFF2-40B4-BE49-F238E27FC236}">
                <a16:creationId xmlns:a16="http://schemas.microsoft.com/office/drawing/2014/main" id="{7E382923-D01A-4807-A6F7-0DA8BA607675}"/>
              </a:ext>
            </a:extLst>
          </p:cNvPr>
          <p:cNvGraphicFramePr>
            <a:graphicFrameLocks noChangeAspect="1"/>
          </p:cNvGraphicFramePr>
          <p:nvPr>
            <p:extLst>
              <p:ext uri="{D42A27DB-BD31-4B8C-83A1-F6EECF244321}">
                <p14:modId xmlns:p14="http://schemas.microsoft.com/office/powerpoint/2010/main" val="22987012"/>
              </p:ext>
            </p:extLst>
          </p:nvPr>
        </p:nvGraphicFramePr>
        <p:xfrm>
          <a:off x="496888" y="903288"/>
          <a:ext cx="3330575" cy="184150"/>
        </p:xfrm>
        <a:graphic>
          <a:graphicData uri="http://schemas.openxmlformats.org/presentationml/2006/ole">
            <mc:AlternateContent xmlns:mc="http://schemas.openxmlformats.org/markup-compatibility/2006">
              <mc:Choice xmlns:v="urn:schemas-microsoft-com:vml" Requires="v">
                <p:oleObj name="Macro-Enabled Worksheet" r:id="rId3" imgW="3330117" imgH="182927" progId="Excel.SheetMacroEnabled.12">
                  <p:link updateAutomatic="1"/>
                </p:oleObj>
              </mc:Choice>
              <mc:Fallback>
                <p:oleObj name="Macro-Enabled Worksheet" r:id="rId3" imgW="3330117" imgH="182927" progId="Excel.SheetMacroEnabled.12">
                  <p:link updateAutomatic="1"/>
                  <p:pic>
                    <p:nvPicPr>
                      <p:cNvPr id="7" name="Object 6">
                        <a:extLst>
                          <a:ext uri="{FF2B5EF4-FFF2-40B4-BE49-F238E27FC236}">
                            <a16:creationId xmlns:a16="http://schemas.microsoft.com/office/drawing/2014/main" id="{7E382923-D01A-4807-A6F7-0DA8BA607675}"/>
                          </a:ext>
                        </a:extLst>
                      </p:cNvPr>
                      <p:cNvPicPr/>
                      <p:nvPr/>
                    </p:nvPicPr>
                    <p:blipFill>
                      <a:blip r:embed="rId4"/>
                      <a:stretch>
                        <a:fillRect/>
                      </a:stretch>
                    </p:blipFill>
                    <p:spPr>
                      <a:xfrm>
                        <a:off x="496888" y="903288"/>
                        <a:ext cx="3330575" cy="184150"/>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50226AA9-9A39-4C01-8812-581028B161A5}"/>
              </a:ext>
            </a:extLst>
          </p:cNvPr>
          <p:cNvPicPr>
            <a:picLocks noChangeAspect="1"/>
          </p:cNvPicPr>
          <p:nvPr/>
        </p:nvPicPr>
        <p:blipFill>
          <a:blip r:embed="rId5"/>
          <a:stretch>
            <a:fillRect/>
          </a:stretch>
        </p:blipFill>
        <p:spPr>
          <a:xfrm>
            <a:off x="9611360" y="2020570"/>
            <a:ext cx="1723565" cy="2134870"/>
          </a:xfrm>
          <a:prstGeom prst="rect">
            <a:avLst/>
          </a:prstGeom>
        </p:spPr>
      </p:pic>
      <p:pic>
        <p:nvPicPr>
          <p:cNvPr id="6" name="Picture 5">
            <a:extLst>
              <a:ext uri="{FF2B5EF4-FFF2-40B4-BE49-F238E27FC236}">
                <a16:creationId xmlns:a16="http://schemas.microsoft.com/office/drawing/2014/main" id="{5CE0B926-28FF-4FAF-A664-B5E841CD5D7E}"/>
              </a:ext>
            </a:extLst>
          </p:cNvPr>
          <p:cNvPicPr>
            <a:picLocks noChangeAspect="1"/>
          </p:cNvPicPr>
          <p:nvPr/>
        </p:nvPicPr>
        <p:blipFill>
          <a:blip r:embed="rId6"/>
          <a:stretch>
            <a:fillRect/>
          </a:stretch>
        </p:blipFill>
        <p:spPr>
          <a:xfrm>
            <a:off x="1204657" y="1154912"/>
            <a:ext cx="7545324" cy="4991100"/>
          </a:xfrm>
          <a:prstGeom prst="rect">
            <a:avLst/>
          </a:prstGeom>
        </p:spPr>
      </p:pic>
    </p:spTree>
    <p:extLst>
      <p:ext uri="{BB962C8B-B14F-4D97-AF65-F5344CB8AC3E}">
        <p14:creationId xmlns:p14="http://schemas.microsoft.com/office/powerpoint/2010/main" val="16136270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3544" y="908050"/>
            <a:ext cx="8153400" cy="935265"/>
          </a:xfrm>
        </p:spPr>
        <p:txBody>
          <a:bodyPr/>
          <a:lstStyle/>
          <a:p>
            <a:r>
              <a:rPr lang="en-ZA" dirty="0"/>
              <a:t>Congratulations!</a:t>
            </a:r>
          </a:p>
        </p:txBody>
      </p:sp>
      <p:sp>
        <p:nvSpPr>
          <p:cNvPr id="3" name="Content Placeholder 2"/>
          <p:cNvSpPr>
            <a:spLocks noGrp="1"/>
          </p:cNvSpPr>
          <p:nvPr>
            <p:ph idx="1"/>
          </p:nvPr>
        </p:nvSpPr>
        <p:spPr>
          <a:xfrm>
            <a:off x="993544" y="1754857"/>
            <a:ext cx="10337141" cy="4195093"/>
          </a:xfrm>
        </p:spPr>
        <p:txBody>
          <a:bodyPr>
            <a:normAutofit fontScale="62500" lnSpcReduction="20000"/>
          </a:bodyPr>
          <a:lstStyle/>
          <a:p>
            <a:pPr marL="0" indent="0">
              <a:buNone/>
            </a:pPr>
            <a:r>
              <a:rPr lang="en-ZA" sz="2000" dirty="0"/>
              <a:t>On being rated</a:t>
            </a:r>
          </a:p>
          <a:p>
            <a:pPr marL="0" indent="0">
              <a:buNone/>
            </a:pPr>
            <a:r>
              <a:rPr lang="en-ZA" sz="4800" b="1" dirty="0">
                <a:ea typeface="+mj-ea"/>
                <a:cs typeface="+mj-cs"/>
              </a:rPr>
              <a:t>Maturity</a:t>
            </a:r>
            <a:r>
              <a:rPr lang="en-ZA" sz="4400" dirty="0"/>
              <a:t> </a:t>
            </a:r>
            <a:r>
              <a:rPr lang="en-ZA" sz="4800" b="1" dirty="0">
                <a:ea typeface="+mj-ea"/>
                <a:cs typeface="+mj-cs"/>
              </a:rPr>
              <a:t>Level 5</a:t>
            </a:r>
          </a:p>
          <a:p>
            <a:pPr marL="0" indent="0">
              <a:buNone/>
            </a:pPr>
            <a:r>
              <a:rPr lang="zh-CN" altLang="en-US" sz="3200" dirty="0">
                <a:solidFill>
                  <a:srgbClr val="1F497D"/>
                </a:solidFill>
              </a:rPr>
              <a:t>恭喜贵公司顺利通过</a:t>
            </a:r>
            <a:r>
              <a:rPr lang="en-US" altLang="zh-CN" sz="3200" dirty="0">
                <a:solidFill>
                  <a:srgbClr val="1F497D"/>
                </a:solidFill>
              </a:rPr>
              <a:t>CMMI</a:t>
            </a:r>
            <a:r>
              <a:rPr lang="zh-CN" altLang="en-US" sz="3200" dirty="0">
                <a:solidFill>
                  <a:srgbClr val="1F497D"/>
                </a:solidFill>
              </a:rPr>
              <a:t>成熟度</a:t>
            </a:r>
            <a:r>
              <a:rPr lang="en-US" altLang="zh-CN" sz="3200" dirty="0">
                <a:solidFill>
                  <a:srgbClr val="1F497D"/>
                </a:solidFill>
              </a:rPr>
              <a:t>5</a:t>
            </a:r>
            <a:r>
              <a:rPr lang="zh-CN" altLang="en-US" sz="3200" dirty="0">
                <a:solidFill>
                  <a:srgbClr val="1F497D"/>
                </a:solidFill>
              </a:rPr>
              <a:t>级评估</a:t>
            </a:r>
          </a:p>
          <a:p>
            <a:pPr marL="0" indent="0" algn="just">
              <a:buNone/>
            </a:pPr>
            <a:r>
              <a:rPr lang="en-ZA" sz="2000" b="1" u="sng" dirty="0"/>
              <a:t>Note: </a:t>
            </a:r>
            <a:r>
              <a:rPr lang="zh-CN" altLang="en-US" sz="2000" b="1" u="sng" dirty="0"/>
              <a:t>注：</a:t>
            </a:r>
            <a:endParaRPr lang="en-ZA" sz="2000" b="1" u="sng" dirty="0"/>
          </a:p>
          <a:p>
            <a:pPr marL="0" indent="0" algn="just">
              <a:buNone/>
            </a:pPr>
            <a:r>
              <a:rPr lang="en-ZA" sz="2400" dirty="0"/>
              <a:t>Before the results of this appraisal become public record, e.g., announced in a press release or on an organization’s public Web site, or used in response to a request for proposal, the appraisal must first be accepted by the ISACA CMMI quality team. </a:t>
            </a:r>
          </a:p>
          <a:p>
            <a:pPr marL="0" indent="0" algn="just">
              <a:lnSpc>
                <a:spcPct val="120000"/>
              </a:lnSpc>
              <a:buNone/>
            </a:pPr>
            <a:r>
              <a:rPr lang="zh-CN" altLang="en-US" sz="3200" dirty="0">
                <a:solidFill>
                  <a:srgbClr val="1F497D"/>
                </a:solidFill>
              </a:rPr>
              <a:t>在评估结果正式公开之前，例如在新闻稿或公司官网上公开，或将其用于响应请求建议书之前，该评估须首先被</a:t>
            </a:r>
            <a:r>
              <a:rPr lang="en-US" altLang="zh-CN" sz="3200" dirty="0">
                <a:solidFill>
                  <a:srgbClr val="1F497D"/>
                </a:solidFill>
              </a:rPr>
              <a:t>ISACA CMMI </a:t>
            </a:r>
            <a:r>
              <a:rPr lang="zh-CN" altLang="en-US" sz="3200" dirty="0">
                <a:solidFill>
                  <a:srgbClr val="1F497D"/>
                </a:solidFill>
              </a:rPr>
              <a:t>质量团队认可</a:t>
            </a:r>
          </a:p>
          <a:p>
            <a:pPr marL="0" indent="0" algn="just">
              <a:buNone/>
            </a:pPr>
            <a:r>
              <a:rPr lang="en-ZA" sz="2400" dirty="0"/>
              <a:t>This can take up to </a:t>
            </a:r>
            <a:r>
              <a:rPr lang="en-ZA" sz="2400" b="1" dirty="0"/>
              <a:t>8 weeks </a:t>
            </a:r>
            <a:r>
              <a:rPr lang="en-ZA" sz="2400" dirty="0"/>
              <a:t>from the time that the appraisal results are submitted to the ISACA CMMI quality team for review. Results are submitted to the ISACA CMMI quality team typically within 4-6 working days after the final findings presentation has been made.</a:t>
            </a:r>
          </a:p>
          <a:p>
            <a:pPr marL="0" indent="0">
              <a:lnSpc>
                <a:spcPct val="120000"/>
              </a:lnSpc>
              <a:buNone/>
            </a:pPr>
            <a:r>
              <a:rPr lang="zh-CN" altLang="en-US" sz="3200" dirty="0">
                <a:solidFill>
                  <a:srgbClr val="1F497D"/>
                </a:solidFill>
              </a:rPr>
              <a:t>从将评估结果提交给</a:t>
            </a:r>
            <a:r>
              <a:rPr lang="en-US" altLang="zh-CN" sz="3200" dirty="0">
                <a:solidFill>
                  <a:srgbClr val="1F497D"/>
                </a:solidFill>
              </a:rPr>
              <a:t>ISACA CMMI</a:t>
            </a:r>
            <a:r>
              <a:rPr lang="zh-CN" altLang="en-US" sz="3200" dirty="0">
                <a:solidFill>
                  <a:srgbClr val="1F497D"/>
                </a:solidFill>
              </a:rPr>
              <a:t>质量团队起，最长可能需要</a:t>
            </a:r>
            <a:r>
              <a:rPr lang="en-US" altLang="zh-CN" sz="3200" dirty="0">
                <a:solidFill>
                  <a:srgbClr val="1F497D"/>
                </a:solidFill>
              </a:rPr>
              <a:t>8</a:t>
            </a:r>
            <a:r>
              <a:rPr lang="zh-CN" altLang="en-US" sz="3200" dirty="0">
                <a:solidFill>
                  <a:srgbClr val="1F497D"/>
                </a:solidFill>
              </a:rPr>
              <a:t>周进行审核。通常在完成最终发现展示后的</a:t>
            </a:r>
            <a:r>
              <a:rPr lang="en-US" altLang="zh-CN" sz="3200" dirty="0">
                <a:solidFill>
                  <a:srgbClr val="1F497D"/>
                </a:solidFill>
              </a:rPr>
              <a:t>4-6</a:t>
            </a:r>
            <a:r>
              <a:rPr lang="zh-CN" altLang="en-US" sz="3200" dirty="0">
                <a:solidFill>
                  <a:srgbClr val="1F497D"/>
                </a:solidFill>
              </a:rPr>
              <a:t>个工作日内，评估结果会提交给</a:t>
            </a:r>
            <a:r>
              <a:rPr lang="en-US" altLang="zh-CN" sz="3200" dirty="0">
                <a:solidFill>
                  <a:srgbClr val="1F497D"/>
                </a:solidFill>
              </a:rPr>
              <a:t>ISACA CMMI</a:t>
            </a:r>
            <a:r>
              <a:rPr lang="zh-CN" altLang="en-US" sz="3200" dirty="0">
                <a:solidFill>
                  <a:srgbClr val="1F497D"/>
                </a:solidFill>
              </a:rPr>
              <a:t>质量团队。</a:t>
            </a:r>
          </a:p>
        </p:txBody>
      </p:sp>
    </p:spTree>
    <p:extLst>
      <p:ext uri="{BB962C8B-B14F-4D97-AF65-F5344CB8AC3E}">
        <p14:creationId xmlns:p14="http://schemas.microsoft.com/office/powerpoint/2010/main" val="38865039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a:extLst>
              <a:ext uri="{FF2B5EF4-FFF2-40B4-BE49-F238E27FC236}">
                <a16:creationId xmlns:a16="http://schemas.microsoft.com/office/drawing/2014/main" id="{D2171307-9004-194B-9398-1B155E182EBC}"/>
              </a:ext>
            </a:extLst>
          </p:cNvPr>
          <p:cNvSpPr>
            <a:spLocks noGrp="1" noChangeArrowheads="1"/>
          </p:cNvSpPr>
          <p:nvPr>
            <p:ph type="title"/>
          </p:nvPr>
        </p:nvSpPr>
        <p:spPr>
          <a:xfrm>
            <a:off x="955964" y="1022653"/>
            <a:ext cx="10397836" cy="602284"/>
          </a:xfrm>
        </p:spPr>
        <p:txBody>
          <a:bodyPr>
            <a:normAutofit/>
          </a:bodyPr>
          <a:lstStyle/>
          <a:p>
            <a:pPr eaLnBrk="1" hangingPunct="1"/>
            <a:r>
              <a:rPr lang="en-US" altLang="en-US" sz="3200" dirty="0"/>
              <a:t>Appraisal Team Affirmations </a:t>
            </a:r>
            <a:r>
              <a:rPr lang="en-US" altLang="en-US" dirty="0"/>
              <a:t>– </a:t>
            </a:r>
            <a:r>
              <a:rPr lang="en-US" altLang="en-US" sz="3200" dirty="0"/>
              <a:t>Signature Page</a:t>
            </a:r>
          </a:p>
        </p:txBody>
      </p:sp>
      <p:sp>
        <p:nvSpPr>
          <p:cNvPr id="47108" name="Rectangle 3">
            <a:extLst>
              <a:ext uri="{FF2B5EF4-FFF2-40B4-BE49-F238E27FC236}">
                <a16:creationId xmlns:a16="http://schemas.microsoft.com/office/drawing/2014/main" id="{97924523-D0AC-3F42-BB46-91A314A482F5}"/>
              </a:ext>
            </a:extLst>
          </p:cNvPr>
          <p:cNvSpPr>
            <a:spLocks noGrp="1" noChangeArrowheads="1"/>
          </p:cNvSpPr>
          <p:nvPr>
            <p:ph type="body" sz="half" idx="4294967295"/>
          </p:nvPr>
        </p:nvSpPr>
        <p:spPr>
          <a:xfrm>
            <a:off x="955964" y="1665287"/>
            <a:ext cx="10647151" cy="868363"/>
          </a:xfrm>
        </p:spPr>
        <p:txBody>
          <a:bodyPr>
            <a:noAutofit/>
          </a:bodyPr>
          <a:lstStyle/>
          <a:p>
            <a:pPr marL="0" indent="0">
              <a:buNone/>
            </a:pPr>
            <a:r>
              <a:rPr lang="en-US" altLang="en-US" sz="2000" dirty="0"/>
              <a:t>I support the findings in this presentation and affirm that to the best of my knowledge it represents an accurate portrayal of the state of the process in the appraised organization.</a:t>
            </a:r>
            <a:br>
              <a:rPr lang="en-US" altLang="en-US" sz="2000" dirty="0"/>
            </a:br>
            <a:r>
              <a:rPr lang="zh-CN" altLang="en-US" sz="2000" dirty="0">
                <a:solidFill>
                  <a:srgbClr val="1F497D"/>
                </a:solidFill>
              </a:rPr>
              <a:t>我支持本报告中的发现结果，并确认以上发现准确地描述了被评估组织的过程状态。</a:t>
            </a:r>
            <a:endParaRPr lang="en-US" altLang="en-US" sz="2000" dirty="0">
              <a:solidFill>
                <a:srgbClr val="1F497D"/>
              </a:solidFill>
            </a:endParaRPr>
          </a:p>
        </p:txBody>
      </p:sp>
      <p:graphicFrame>
        <p:nvGraphicFramePr>
          <p:cNvPr id="2" name="Object 1">
            <a:extLst>
              <a:ext uri="{FF2B5EF4-FFF2-40B4-BE49-F238E27FC236}">
                <a16:creationId xmlns:a16="http://schemas.microsoft.com/office/drawing/2014/main" id="{58972A5E-A6FC-4357-9F5F-83EB57C57EE0}"/>
              </a:ext>
            </a:extLst>
          </p:cNvPr>
          <p:cNvGraphicFramePr>
            <a:graphicFrameLocks noChangeAspect="1"/>
          </p:cNvGraphicFramePr>
          <p:nvPr>
            <p:extLst>
              <p:ext uri="{D42A27DB-BD31-4B8C-83A1-F6EECF244321}">
                <p14:modId xmlns:p14="http://schemas.microsoft.com/office/powerpoint/2010/main" val="2444645588"/>
              </p:ext>
            </p:extLst>
          </p:nvPr>
        </p:nvGraphicFramePr>
        <p:xfrm>
          <a:off x="873125" y="2738438"/>
          <a:ext cx="10445750" cy="3170237"/>
        </p:xfrm>
        <a:graphic>
          <a:graphicData uri="http://schemas.openxmlformats.org/presentationml/2006/ole">
            <mc:AlternateContent xmlns:mc="http://schemas.openxmlformats.org/markup-compatibility/2006">
              <mc:Choice xmlns:v="urn:schemas-microsoft-com:vml" Requires="v">
                <p:oleObj name="Macro-Enabled Worksheet" r:id="rId3" imgW="12626375" imgH="4015874" progId="Excel.SheetMacroEnabled.12">
                  <p:link updateAutomatic="1"/>
                </p:oleObj>
              </mc:Choice>
              <mc:Fallback>
                <p:oleObj name="Macro-Enabled Worksheet" r:id="rId3" imgW="12626375" imgH="4015874" progId="Excel.SheetMacroEnabled.12">
                  <p:link updateAutomatic="1"/>
                  <p:pic>
                    <p:nvPicPr>
                      <p:cNvPr id="2" name="Object 1">
                        <a:extLst>
                          <a:ext uri="{FF2B5EF4-FFF2-40B4-BE49-F238E27FC236}">
                            <a16:creationId xmlns:a16="http://schemas.microsoft.com/office/drawing/2014/main" id="{58972A5E-A6FC-4357-9F5F-83EB57C57EE0}"/>
                          </a:ext>
                        </a:extLst>
                      </p:cNvPr>
                      <p:cNvPicPr/>
                      <p:nvPr/>
                    </p:nvPicPr>
                    <p:blipFill>
                      <a:blip r:embed="rId4"/>
                      <a:stretch>
                        <a:fillRect/>
                      </a:stretch>
                    </p:blipFill>
                    <p:spPr>
                      <a:xfrm>
                        <a:off x="873125" y="2738438"/>
                        <a:ext cx="10445750" cy="3170237"/>
                      </a:xfrm>
                      <a:prstGeom prst="rect">
                        <a:avLst/>
                      </a:prstGeom>
                    </p:spPr>
                  </p:pic>
                </p:oleObj>
              </mc:Fallback>
            </mc:AlternateContent>
          </a:graphicData>
        </a:graphic>
      </p:graphicFrame>
    </p:spTree>
    <p:extLst>
      <p:ext uri="{BB962C8B-B14F-4D97-AF65-F5344CB8AC3E}">
        <p14:creationId xmlns:p14="http://schemas.microsoft.com/office/powerpoint/2010/main" val="37383288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BA5C3F-5201-8B46-AF8B-D946599531E1}"/>
              </a:ext>
            </a:extLst>
          </p:cNvPr>
          <p:cNvSpPr>
            <a:spLocks noGrp="1"/>
          </p:cNvSpPr>
          <p:nvPr>
            <p:ph type="title"/>
          </p:nvPr>
        </p:nvSpPr>
        <p:spPr/>
        <p:txBody>
          <a:bodyPr/>
          <a:lstStyle/>
          <a:p>
            <a:r>
              <a:rPr lang="en-US" b="1" dirty="0">
                <a:latin typeface="+mn-lt"/>
              </a:rPr>
              <a:t>Annexures</a:t>
            </a:r>
            <a:br>
              <a:rPr lang="en-US" b="1" dirty="0">
                <a:latin typeface="+mn-lt"/>
              </a:rPr>
            </a:br>
            <a:r>
              <a:rPr lang="zh-CN" altLang="en-US" sz="6000" b="1" dirty="0">
                <a:solidFill>
                  <a:srgbClr val="1F497D"/>
                </a:solidFill>
                <a:ea typeface="+mj-ea"/>
                <a:cs typeface="+mj-cs"/>
              </a:rPr>
              <a:t>附加展示</a:t>
            </a:r>
            <a:endParaRPr lang="en-US" b="1" dirty="0">
              <a:solidFill>
                <a:srgbClr val="1F497D"/>
              </a:solidFill>
              <a:latin typeface="+mn-lt"/>
            </a:endParaRPr>
          </a:p>
        </p:txBody>
      </p:sp>
    </p:spTree>
    <p:extLst>
      <p:ext uri="{BB962C8B-B14F-4D97-AF65-F5344CB8AC3E}">
        <p14:creationId xmlns:p14="http://schemas.microsoft.com/office/powerpoint/2010/main" val="2196666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E4DA-31D0-475D-9F89-8DFFD4763FDD}"/>
              </a:ext>
            </a:extLst>
          </p:cNvPr>
          <p:cNvSpPr>
            <a:spLocks noGrp="1"/>
          </p:cNvSpPr>
          <p:nvPr>
            <p:ph type="title"/>
          </p:nvPr>
        </p:nvSpPr>
        <p:spPr/>
        <p:txBody>
          <a:bodyPr/>
          <a:lstStyle/>
          <a:p>
            <a:r>
              <a:rPr lang="en-ZA" dirty="0"/>
              <a:t>Non model findings</a:t>
            </a:r>
          </a:p>
        </p:txBody>
      </p:sp>
      <p:graphicFrame>
        <p:nvGraphicFramePr>
          <p:cNvPr id="4" name="Object 3">
            <a:extLst>
              <a:ext uri="{FF2B5EF4-FFF2-40B4-BE49-F238E27FC236}">
                <a16:creationId xmlns:a16="http://schemas.microsoft.com/office/drawing/2014/main" id="{A69442D9-C7CA-46D7-9026-BAFCAC0C3C94}"/>
              </a:ext>
            </a:extLst>
          </p:cNvPr>
          <p:cNvGraphicFramePr>
            <a:graphicFrameLocks noChangeAspect="1"/>
          </p:cNvGraphicFramePr>
          <p:nvPr>
            <p:extLst>
              <p:ext uri="{D42A27DB-BD31-4B8C-83A1-F6EECF244321}">
                <p14:modId xmlns:p14="http://schemas.microsoft.com/office/powerpoint/2010/main" val="555935066"/>
              </p:ext>
            </p:extLst>
          </p:nvPr>
        </p:nvGraphicFramePr>
        <p:xfrm>
          <a:off x="931863" y="2282825"/>
          <a:ext cx="8985250" cy="1955800"/>
        </p:xfrm>
        <a:graphic>
          <a:graphicData uri="http://schemas.openxmlformats.org/presentationml/2006/ole">
            <mc:AlternateContent xmlns:mc="http://schemas.openxmlformats.org/markup-compatibility/2006">
              <mc:Choice xmlns:v="urn:schemas-microsoft-com:vml" Requires="v">
                <p:oleObj name="Macro-Enabled Worksheet" r:id="rId2" imgW="8580049" imgH="1988749" progId="Excel.SheetMacroEnabled.12">
                  <p:link updateAutomatic="1"/>
                </p:oleObj>
              </mc:Choice>
              <mc:Fallback>
                <p:oleObj name="Macro-Enabled Worksheet" r:id="rId2" imgW="8580049" imgH="1988749" progId="Excel.SheetMacroEnabled.12">
                  <p:link updateAutomatic="1"/>
                  <p:pic>
                    <p:nvPicPr>
                      <p:cNvPr id="4" name="Object 3">
                        <a:extLst>
                          <a:ext uri="{FF2B5EF4-FFF2-40B4-BE49-F238E27FC236}">
                            <a16:creationId xmlns:a16="http://schemas.microsoft.com/office/drawing/2014/main" id="{A69442D9-C7CA-46D7-9026-BAFCAC0C3C94}"/>
                          </a:ext>
                        </a:extLst>
                      </p:cNvPr>
                      <p:cNvPicPr/>
                      <p:nvPr/>
                    </p:nvPicPr>
                    <p:blipFill>
                      <a:blip r:embed="rId3"/>
                      <a:stretch>
                        <a:fillRect/>
                      </a:stretch>
                    </p:blipFill>
                    <p:spPr>
                      <a:xfrm>
                        <a:off x="931863" y="2282825"/>
                        <a:ext cx="8985250" cy="1955800"/>
                      </a:xfrm>
                      <a:prstGeom prst="rect">
                        <a:avLst/>
                      </a:prstGeom>
                    </p:spPr>
                  </p:pic>
                </p:oleObj>
              </mc:Fallback>
            </mc:AlternateContent>
          </a:graphicData>
        </a:graphic>
      </p:graphicFrame>
    </p:spTree>
    <p:extLst>
      <p:ext uri="{BB962C8B-B14F-4D97-AF65-F5344CB8AC3E}">
        <p14:creationId xmlns:p14="http://schemas.microsoft.com/office/powerpoint/2010/main" val="647246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E4DA-31D0-475D-9F89-8DFFD4763FDD}"/>
              </a:ext>
            </a:extLst>
          </p:cNvPr>
          <p:cNvSpPr>
            <a:spLocks noGrp="1"/>
          </p:cNvSpPr>
          <p:nvPr>
            <p:ph type="title"/>
          </p:nvPr>
        </p:nvSpPr>
        <p:spPr/>
        <p:txBody>
          <a:bodyPr/>
          <a:lstStyle/>
          <a:p>
            <a:r>
              <a:rPr lang="en-ZA" dirty="0"/>
              <a:t>Non model findings</a:t>
            </a:r>
          </a:p>
        </p:txBody>
      </p:sp>
      <p:graphicFrame>
        <p:nvGraphicFramePr>
          <p:cNvPr id="3" name="Object 2">
            <a:extLst>
              <a:ext uri="{FF2B5EF4-FFF2-40B4-BE49-F238E27FC236}">
                <a16:creationId xmlns:a16="http://schemas.microsoft.com/office/drawing/2014/main" id="{F0C0BC17-AB37-4DA5-A9B9-89E64CFEB916}"/>
              </a:ext>
            </a:extLst>
          </p:cNvPr>
          <p:cNvGraphicFramePr>
            <a:graphicFrameLocks noChangeAspect="1"/>
          </p:cNvGraphicFramePr>
          <p:nvPr>
            <p:extLst>
              <p:ext uri="{D42A27DB-BD31-4B8C-83A1-F6EECF244321}">
                <p14:modId xmlns:p14="http://schemas.microsoft.com/office/powerpoint/2010/main" val="4146074126"/>
              </p:ext>
            </p:extLst>
          </p:nvPr>
        </p:nvGraphicFramePr>
        <p:xfrm>
          <a:off x="1044575" y="2317750"/>
          <a:ext cx="8985250" cy="2930525"/>
        </p:xfrm>
        <a:graphic>
          <a:graphicData uri="http://schemas.openxmlformats.org/presentationml/2006/ole">
            <mc:AlternateContent xmlns:mc="http://schemas.openxmlformats.org/markup-compatibility/2006">
              <mc:Choice xmlns:v="urn:schemas-microsoft-com:vml" Requires="v">
                <p:oleObj name="Macro-Enabled Worksheet" r:id="rId2" imgW="8580049" imgH="2979286" progId="Excel.SheetMacroEnabled.12">
                  <p:link updateAutomatic="1"/>
                </p:oleObj>
              </mc:Choice>
              <mc:Fallback>
                <p:oleObj name="Macro-Enabled Worksheet" r:id="rId2" imgW="8580049" imgH="2979286" progId="Excel.SheetMacroEnabled.12">
                  <p:link updateAutomatic="1"/>
                  <p:pic>
                    <p:nvPicPr>
                      <p:cNvPr id="3" name="Object 2">
                        <a:extLst>
                          <a:ext uri="{FF2B5EF4-FFF2-40B4-BE49-F238E27FC236}">
                            <a16:creationId xmlns:a16="http://schemas.microsoft.com/office/drawing/2014/main" id="{F0C0BC17-AB37-4DA5-A9B9-89E64CFEB916}"/>
                          </a:ext>
                        </a:extLst>
                      </p:cNvPr>
                      <p:cNvPicPr/>
                      <p:nvPr/>
                    </p:nvPicPr>
                    <p:blipFill>
                      <a:blip r:embed="rId3"/>
                      <a:stretch>
                        <a:fillRect/>
                      </a:stretch>
                    </p:blipFill>
                    <p:spPr>
                      <a:xfrm>
                        <a:off x="1044575" y="2317750"/>
                        <a:ext cx="8985250" cy="2930525"/>
                      </a:xfrm>
                      <a:prstGeom prst="rect">
                        <a:avLst/>
                      </a:prstGeom>
                    </p:spPr>
                  </p:pic>
                </p:oleObj>
              </mc:Fallback>
            </mc:AlternateContent>
          </a:graphicData>
        </a:graphic>
      </p:graphicFrame>
    </p:spTree>
    <p:extLst>
      <p:ext uri="{BB962C8B-B14F-4D97-AF65-F5344CB8AC3E}">
        <p14:creationId xmlns:p14="http://schemas.microsoft.com/office/powerpoint/2010/main" val="8345033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 Optional Findings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p:txBody>
          <a:bodyPr>
            <a:normAutofit fontScale="70000" lnSpcReduction="20000"/>
          </a:bodyPr>
          <a:lstStyle/>
          <a:p>
            <a:pPr>
              <a:lnSpc>
                <a:spcPct val="95000"/>
              </a:lnSpc>
            </a:pPr>
            <a:r>
              <a:rPr lang="en-US" u="sng" dirty="0"/>
              <a:t>Notes</a:t>
            </a:r>
            <a:r>
              <a:rPr lang="en-US" dirty="0"/>
              <a:t>: Additional explanatory information regarding weaknesses or strengths, e.g., examples, supporting indicators, and consequences resulting from weaknesses.  </a:t>
            </a:r>
            <a:r>
              <a:rPr lang="en-US" b="1" i="1" dirty="0"/>
              <a:t>Notes must NOT be used as a category in lieu of weaknesses.</a:t>
            </a:r>
          </a:p>
          <a:p>
            <a:pPr>
              <a:lnSpc>
                <a:spcPct val="95000"/>
              </a:lnSpc>
            </a:pPr>
            <a:r>
              <a:rPr lang="en-US" u="sng" dirty="0"/>
              <a:t>Improvement Opportunity</a:t>
            </a:r>
            <a:r>
              <a:rPr lang="en-US" dirty="0"/>
              <a:t>: A type of preliminary or Final Findings about a particular process that meets the intent and value of a model practice but represents an opportunity where the process could be improved to provide more value.</a:t>
            </a:r>
          </a:p>
          <a:p>
            <a:pPr>
              <a:lnSpc>
                <a:spcPct val="95000"/>
              </a:lnSpc>
            </a:pPr>
            <a:r>
              <a:rPr lang="en-US" u="sng" dirty="0"/>
              <a:t>Improvements in Progress</a:t>
            </a:r>
            <a:r>
              <a:rPr lang="en-US" dirty="0"/>
              <a:t>: A type of preliminary or Final Findings statement that is a reflection of the current state of a Practice Area or practice which is newly implemented for the project(s) or Organizational Unit and shows promise of helping to achieve further improvement. Due to the recent nature of that process implementation, artifacts may be limited.  </a:t>
            </a:r>
            <a:endParaRPr lang="en-US" b="1" dirty="0"/>
          </a:p>
          <a:p>
            <a:pPr>
              <a:lnSpc>
                <a:spcPct val="95000"/>
              </a:lnSpc>
            </a:pPr>
            <a:r>
              <a:rPr lang="en-US" u="sng" dirty="0"/>
              <a:t>Recommendations/Next Steps</a:t>
            </a:r>
            <a:r>
              <a:rPr lang="en-US" dirty="0"/>
              <a:t>: Recommendations by the appraisal team for ways to address findings.  These must not be conveyed as mandatory or guarantees of future characterizations or ratings. Recommendations must be either a separate report or separate section from the main appraisal findings, including the ratings and a disclaimer that “These recommendations are not mandatory nor guarantee of addressing findings or future characterizations or ratings.” </a:t>
            </a:r>
          </a:p>
        </p:txBody>
      </p:sp>
    </p:spTree>
    <p:extLst>
      <p:ext uri="{BB962C8B-B14F-4D97-AF65-F5344CB8AC3E}">
        <p14:creationId xmlns:p14="http://schemas.microsoft.com/office/powerpoint/2010/main" val="40149867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F0C2E-1DA5-4B8A-8EA9-A8A74D5EEDCB}"/>
              </a:ext>
            </a:extLst>
          </p:cNvPr>
          <p:cNvSpPr>
            <a:spLocks noGrp="1"/>
          </p:cNvSpPr>
          <p:nvPr>
            <p:ph type="title"/>
          </p:nvPr>
        </p:nvSpPr>
        <p:spPr/>
        <p:txBody>
          <a:bodyPr vert="horz" lIns="91440" tIns="45720" rIns="91440" bIns="45720" rtlCol="0" anchor="ctr">
            <a:normAutofit/>
          </a:bodyPr>
          <a:lstStyle/>
          <a:p>
            <a:r>
              <a:rPr lang="en-US" dirty="0"/>
              <a:t>Improvement Opportunities</a:t>
            </a:r>
            <a:endParaRPr lang="en-ZA" dirty="0"/>
          </a:p>
        </p:txBody>
      </p:sp>
      <p:sp>
        <p:nvSpPr>
          <p:cNvPr id="5" name="Content Placeholder 4">
            <a:extLst>
              <a:ext uri="{FF2B5EF4-FFF2-40B4-BE49-F238E27FC236}">
                <a16:creationId xmlns:a16="http://schemas.microsoft.com/office/drawing/2014/main" id="{3C5B1544-5F60-4280-9237-53230A016280}"/>
              </a:ext>
            </a:extLst>
          </p:cNvPr>
          <p:cNvSpPr>
            <a:spLocks noGrp="1"/>
          </p:cNvSpPr>
          <p:nvPr>
            <p:ph idx="1"/>
          </p:nvPr>
        </p:nvSpPr>
        <p:spPr/>
        <p:txBody>
          <a:bodyPr>
            <a:normAutofit/>
          </a:bodyPr>
          <a:lstStyle/>
          <a:p>
            <a:r>
              <a:rPr lang="en-ZA" dirty="0"/>
              <a:t>CAR 2.1 - Consider also using opportunity data as outcomes for further analysis.</a:t>
            </a:r>
            <a:br>
              <a:rPr lang="en-ZA" dirty="0"/>
            </a:br>
            <a:r>
              <a:rPr lang="zh-CN" altLang="en-US" sz="2900" dirty="0">
                <a:solidFill>
                  <a:srgbClr val="1F497D"/>
                </a:solidFill>
              </a:rPr>
              <a:t>考虑将机会数据用作进一步分析的结果</a:t>
            </a:r>
            <a:r>
              <a:rPr lang="zh-CN" altLang="en-US" dirty="0"/>
              <a:t>。</a:t>
            </a:r>
            <a:endParaRPr lang="en-ZA" altLang="zh-CN" dirty="0"/>
          </a:p>
        </p:txBody>
      </p:sp>
    </p:spTree>
    <p:extLst>
      <p:ext uri="{BB962C8B-B14F-4D97-AF65-F5344CB8AC3E}">
        <p14:creationId xmlns:p14="http://schemas.microsoft.com/office/powerpoint/2010/main" val="28682547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F0C2E-1DA5-4B8A-8EA9-A8A74D5EEDCB}"/>
              </a:ext>
            </a:extLst>
          </p:cNvPr>
          <p:cNvSpPr>
            <a:spLocks noGrp="1"/>
          </p:cNvSpPr>
          <p:nvPr>
            <p:ph type="title"/>
          </p:nvPr>
        </p:nvSpPr>
        <p:spPr/>
        <p:txBody>
          <a:bodyPr vert="horz" lIns="91440" tIns="45720" rIns="91440" bIns="45720" rtlCol="0" anchor="ctr">
            <a:normAutofit/>
          </a:bodyPr>
          <a:lstStyle/>
          <a:p>
            <a:r>
              <a:rPr lang="en-US" dirty="0"/>
              <a:t>Improvement Opportunities - continued</a:t>
            </a:r>
            <a:endParaRPr lang="en-ZA" dirty="0"/>
          </a:p>
        </p:txBody>
      </p:sp>
      <p:sp>
        <p:nvSpPr>
          <p:cNvPr id="5" name="Content Placeholder 4">
            <a:extLst>
              <a:ext uri="{FF2B5EF4-FFF2-40B4-BE49-F238E27FC236}">
                <a16:creationId xmlns:a16="http://schemas.microsoft.com/office/drawing/2014/main" id="{3C5B1544-5F60-4280-9237-53230A016280}"/>
              </a:ext>
            </a:extLst>
          </p:cNvPr>
          <p:cNvSpPr>
            <a:spLocks noGrp="1"/>
          </p:cNvSpPr>
          <p:nvPr>
            <p:ph idx="1"/>
          </p:nvPr>
        </p:nvSpPr>
        <p:spPr/>
        <p:txBody>
          <a:bodyPr>
            <a:normAutofit/>
          </a:bodyPr>
          <a:lstStyle/>
          <a:p>
            <a:r>
              <a:rPr lang="en-ZA" dirty="0"/>
              <a:t>CAR 2.1 - Consider also using opportunity data as outcomes for further analysis.</a:t>
            </a:r>
            <a:br>
              <a:rPr lang="en-ZA" dirty="0"/>
            </a:br>
            <a:r>
              <a:rPr lang="zh-CN" altLang="en-US" sz="2900" dirty="0">
                <a:solidFill>
                  <a:srgbClr val="1F497D"/>
                </a:solidFill>
              </a:rPr>
              <a:t>考虑将机会数据用作进一步分析的结果</a:t>
            </a:r>
            <a:r>
              <a:rPr lang="zh-CN" altLang="en-US" dirty="0"/>
              <a:t>。</a:t>
            </a:r>
            <a:endParaRPr lang="en-ZA" altLang="zh-CN" dirty="0"/>
          </a:p>
        </p:txBody>
      </p:sp>
    </p:spTree>
    <p:extLst>
      <p:ext uri="{BB962C8B-B14F-4D97-AF65-F5344CB8AC3E}">
        <p14:creationId xmlns:p14="http://schemas.microsoft.com/office/powerpoint/2010/main" val="186931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Re-appraisal</a:t>
            </a:r>
          </a:p>
        </p:txBody>
      </p:sp>
      <p:sp>
        <p:nvSpPr>
          <p:cNvPr id="5" name="Pentagon 4"/>
          <p:cNvSpPr/>
          <p:nvPr/>
        </p:nvSpPr>
        <p:spPr>
          <a:xfrm flipH="1">
            <a:off x="4904085" y="3665236"/>
            <a:ext cx="4503405" cy="596769"/>
          </a:xfrm>
          <a:prstGeom prst="homePlate">
            <a:avLst/>
          </a:prstGeom>
          <a:solidFill>
            <a:srgbClr val="4584D3">
              <a:alpha val="30196"/>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6" name="Pentagon 5"/>
          <p:cNvSpPr/>
          <p:nvPr/>
        </p:nvSpPr>
        <p:spPr>
          <a:xfrm>
            <a:off x="4557975" y="3009156"/>
            <a:ext cx="3775111" cy="612881"/>
          </a:xfrm>
          <a:prstGeom prst="homePlate">
            <a:avLst/>
          </a:prstGeom>
          <a:solidFill>
            <a:srgbClr val="4584D3">
              <a:alpha val="30196"/>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8" name="Title 1"/>
          <p:cNvSpPr txBox="1">
            <a:spLocks/>
          </p:cNvSpPr>
          <p:nvPr/>
        </p:nvSpPr>
        <p:spPr bwMode="auto">
          <a:xfrm>
            <a:off x="5101757" y="3043438"/>
            <a:ext cx="1343772" cy="5443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defPPr>
              <a:defRPr lang="en-US"/>
            </a:defPPr>
            <a:lvl1pPr marL="0" indent="0" algn="ctr" eaLnBrk="1" hangingPunct="1">
              <a:lnSpc>
                <a:spcPct val="89000"/>
              </a:lnSpc>
              <a:spcBef>
                <a:spcPct val="44000"/>
              </a:spcBef>
              <a:buFont typeface="Arial" charset="0"/>
              <a:buNone/>
              <a:defRPr sz="1200">
                <a:latin typeface="Arial" charset="0"/>
                <a:cs typeface="Arial" pitchFamily="34" charset="0"/>
              </a:defRPr>
            </a:lvl1pPr>
            <a:lvl2pPr marL="742950" indent="-285750" eaLnBrk="0" hangingPunct="0">
              <a:spcBef>
                <a:spcPct val="20000"/>
              </a:spcBef>
              <a:buFont typeface="Arial" charset="0"/>
              <a:buChar char="–"/>
              <a:defRPr sz="1800">
                <a:latin typeface="Arial" pitchFamily="34" charset="0"/>
                <a:cs typeface="Arial" pitchFamily="34" charset="0"/>
              </a:defRPr>
            </a:lvl2pPr>
            <a:lvl3pPr marL="1143000" indent="-228600" eaLnBrk="0" hangingPunct="0">
              <a:spcBef>
                <a:spcPct val="20000"/>
              </a:spcBef>
              <a:buFont typeface="Arial" charset="0"/>
              <a:buChar char="•"/>
              <a:defRPr sz="1600">
                <a:latin typeface="Arial" pitchFamily="34" charset="0"/>
                <a:cs typeface="Arial" pitchFamily="34" charset="0"/>
              </a:defRPr>
            </a:lvl3pPr>
            <a:lvl4pPr marL="1600200" indent="-228600" eaLnBrk="0" hangingPunct="0">
              <a:spcBef>
                <a:spcPct val="20000"/>
              </a:spcBef>
              <a:buFont typeface="Arial" charset="0"/>
              <a:buChar char="–"/>
              <a:defRPr sz="1400">
                <a:latin typeface="Arial" pitchFamily="34" charset="0"/>
                <a:cs typeface="Arial" pitchFamily="34" charset="0"/>
              </a:defRPr>
            </a:lvl4pPr>
            <a:lvl5pPr marL="2057400" indent="-228600" eaLnBrk="0" hangingPunct="0">
              <a:spcBef>
                <a:spcPct val="20000"/>
              </a:spcBef>
              <a:buFont typeface="Arial" charset="0"/>
              <a:buChar char="»"/>
              <a:defRPr sz="1400">
                <a:latin typeface="Arial" pitchFamily="34" charset="0"/>
                <a:cs typeface="Arial"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r>
              <a:rPr lang="en-US" dirty="0"/>
              <a:t>Continuous improvement over next 3 years</a:t>
            </a:r>
          </a:p>
        </p:txBody>
      </p:sp>
      <p:sp>
        <p:nvSpPr>
          <p:cNvPr id="13" name="Title 1"/>
          <p:cNvSpPr txBox="1">
            <a:spLocks/>
          </p:cNvSpPr>
          <p:nvPr/>
        </p:nvSpPr>
        <p:spPr bwMode="auto">
          <a:xfrm>
            <a:off x="4958143" y="3862596"/>
            <a:ext cx="1343772" cy="2156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defPPr>
              <a:defRPr lang="en-US"/>
            </a:defPPr>
            <a:lvl1pPr marL="0" indent="0" algn="ctr" eaLnBrk="1" hangingPunct="1">
              <a:lnSpc>
                <a:spcPct val="89000"/>
              </a:lnSpc>
              <a:spcBef>
                <a:spcPct val="44000"/>
              </a:spcBef>
              <a:buFont typeface="Arial" charset="0"/>
              <a:buNone/>
              <a:defRPr sz="1200">
                <a:latin typeface="Arial" charset="0"/>
                <a:cs typeface="Arial" pitchFamily="34" charset="0"/>
              </a:defRPr>
            </a:lvl1pPr>
            <a:lvl2pPr marL="742950" indent="-285750" eaLnBrk="0" hangingPunct="0">
              <a:spcBef>
                <a:spcPct val="20000"/>
              </a:spcBef>
              <a:buFont typeface="Arial" charset="0"/>
              <a:buChar char="–"/>
              <a:defRPr sz="1800">
                <a:latin typeface="Arial" pitchFamily="34" charset="0"/>
                <a:cs typeface="Arial" pitchFamily="34" charset="0"/>
              </a:defRPr>
            </a:lvl2pPr>
            <a:lvl3pPr marL="1143000" indent="-228600" eaLnBrk="0" hangingPunct="0">
              <a:spcBef>
                <a:spcPct val="20000"/>
              </a:spcBef>
              <a:buFont typeface="Arial" charset="0"/>
              <a:buChar char="•"/>
              <a:defRPr sz="1600">
                <a:latin typeface="Arial" pitchFamily="34" charset="0"/>
                <a:cs typeface="Arial" pitchFamily="34" charset="0"/>
              </a:defRPr>
            </a:lvl3pPr>
            <a:lvl4pPr marL="1600200" indent="-228600" eaLnBrk="0" hangingPunct="0">
              <a:spcBef>
                <a:spcPct val="20000"/>
              </a:spcBef>
              <a:buFont typeface="Arial" charset="0"/>
              <a:buChar char="–"/>
              <a:defRPr sz="1400">
                <a:latin typeface="Arial" pitchFamily="34" charset="0"/>
                <a:cs typeface="Arial" pitchFamily="34" charset="0"/>
              </a:defRPr>
            </a:lvl4pPr>
            <a:lvl5pPr marL="2057400" indent="-228600" eaLnBrk="0" hangingPunct="0">
              <a:spcBef>
                <a:spcPct val="20000"/>
              </a:spcBef>
              <a:buFont typeface="Arial" charset="0"/>
              <a:buChar char="»"/>
              <a:defRPr sz="1400">
                <a:latin typeface="Arial" pitchFamily="34" charset="0"/>
                <a:cs typeface="Arial"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r>
              <a:rPr lang="en-US" dirty="0"/>
              <a:t>Re appraise</a:t>
            </a:r>
          </a:p>
        </p:txBody>
      </p:sp>
      <p:sp>
        <p:nvSpPr>
          <p:cNvPr id="14" name="Hexagon 13">
            <a:extLst>
              <a:ext uri="{FF2B5EF4-FFF2-40B4-BE49-F238E27FC236}">
                <a16:creationId xmlns:a16="http://schemas.microsoft.com/office/drawing/2014/main" id="{D634449D-A3DC-485A-AC6D-C782A8DB06E5}"/>
              </a:ext>
            </a:extLst>
          </p:cNvPr>
          <p:cNvSpPr/>
          <p:nvPr/>
        </p:nvSpPr>
        <p:spPr>
          <a:xfrm>
            <a:off x="7611632" y="2237448"/>
            <a:ext cx="2508651" cy="2171265"/>
          </a:xfrm>
          <a:prstGeom prst="hexagon">
            <a:avLst/>
          </a:prstGeom>
          <a:solidFill>
            <a:srgbClr val="FF0000"/>
          </a:solid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solidFill>
                <a:schemeClr val="bg1"/>
              </a:solidFill>
            </a:endParaRPr>
          </a:p>
        </p:txBody>
      </p:sp>
      <p:graphicFrame>
        <p:nvGraphicFramePr>
          <p:cNvPr id="3" name="Object 2">
            <a:extLst>
              <a:ext uri="{FF2B5EF4-FFF2-40B4-BE49-F238E27FC236}">
                <a16:creationId xmlns:a16="http://schemas.microsoft.com/office/drawing/2014/main" id="{0087D77D-32ED-46B1-B2AA-DF1650A818EF}"/>
              </a:ext>
            </a:extLst>
          </p:cNvPr>
          <p:cNvGraphicFramePr>
            <a:graphicFrameLocks noChangeAspect="1"/>
          </p:cNvGraphicFramePr>
          <p:nvPr>
            <p:extLst>
              <p:ext uri="{D42A27DB-BD31-4B8C-83A1-F6EECF244321}">
                <p14:modId xmlns:p14="http://schemas.microsoft.com/office/powerpoint/2010/main" val="4031691758"/>
              </p:ext>
            </p:extLst>
          </p:nvPr>
        </p:nvGraphicFramePr>
        <p:xfrm>
          <a:off x="7448550" y="3009900"/>
          <a:ext cx="2933700" cy="693738"/>
        </p:xfrm>
        <a:graphic>
          <a:graphicData uri="http://schemas.openxmlformats.org/presentationml/2006/ole">
            <mc:AlternateContent xmlns:mc="http://schemas.openxmlformats.org/markup-compatibility/2006">
              <mc:Choice xmlns:v="urn:schemas-microsoft-com:vml" Requires="v">
                <p:oleObj name="Macro-Enabled Worksheet" r:id="rId2" imgW="2933735" imgH="693333" progId="Excel.SheetMacroEnabled.12">
                  <p:link updateAutomatic="1"/>
                </p:oleObj>
              </mc:Choice>
              <mc:Fallback>
                <p:oleObj name="Macro-Enabled Worksheet" r:id="rId2" imgW="2933735" imgH="693333" progId="Excel.SheetMacroEnabled.12">
                  <p:link updateAutomatic="1"/>
                  <p:pic>
                    <p:nvPicPr>
                      <p:cNvPr id="3" name="Object 2">
                        <a:extLst>
                          <a:ext uri="{FF2B5EF4-FFF2-40B4-BE49-F238E27FC236}">
                            <a16:creationId xmlns:a16="http://schemas.microsoft.com/office/drawing/2014/main" id="{0087D77D-32ED-46B1-B2AA-DF1650A818EF}"/>
                          </a:ext>
                        </a:extLst>
                      </p:cNvPr>
                      <p:cNvPicPr/>
                      <p:nvPr/>
                    </p:nvPicPr>
                    <p:blipFill>
                      <a:blip r:embed="rId3"/>
                      <a:stretch>
                        <a:fillRect/>
                      </a:stretch>
                    </p:blipFill>
                    <p:spPr>
                      <a:xfrm>
                        <a:off x="7448550" y="3009900"/>
                        <a:ext cx="2933700" cy="693738"/>
                      </a:xfrm>
                      <a:prstGeom prst="rect">
                        <a:avLst/>
                      </a:prstGeom>
                    </p:spPr>
                  </p:pic>
                </p:oleObj>
              </mc:Fallback>
            </mc:AlternateContent>
          </a:graphicData>
        </a:graphic>
      </p:graphicFrame>
      <p:grpSp>
        <p:nvGrpSpPr>
          <p:cNvPr id="4" name="Group 3">
            <a:extLst>
              <a:ext uri="{FF2B5EF4-FFF2-40B4-BE49-F238E27FC236}">
                <a16:creationId xmlns:a16="http://schemas.microsoft.com/office/drawing/2014/main" id="{CBA07428-451E-F6A3-ACDF-8EF7D79B49AE}"/>
              </a:ext>
            </a:extLst>
          </p:cNvPr>
          <p:cNvGrpSpPr/>
          <p:nvPr/>
        </p:nvGrpSpPr>
        <p:grpSpPr>
          <a:xfrm>
            <a:off x="1838923" y="1654853"/>
            <a:ext cx="2719052" cy="4415485"/>
            <a:chOff x="4440140" y="1417173"/>
            <a:chExt cx="2719052" cy="4415485"/>
          </a:xfrm>
        </p:grpSpPr>
        <p:sp>
          <p:nvSpPr>
            <p:cNvPr id="9" name="Arrow: Up 8">
              <a:extLst>
                <a:ext uri="{FF2B5EF4-FFF2-40B4-BE49-F238E27FC236}">
                  <a16:creationId xmlns:a16="http://schemas.microsoft.com/office/drawing/2014/main" id="{2AFEA2DC-D104-EF77-8C09-B0623C6A3AF8}"/>
                </a:ext>
              </a:extLst>
            </p:cNvPr>
            <p:cNvSpPr/>
            <p:nvPr/>
          </p:nvSpPr>
          <p:spPr>
            <a:xfrm>
              <a:off x="4638776" y="1417173"/>
              <a:ext cx="2321781" cy="3657600"/>
            </a:xfrm>
            <a:prstGeom prst="upArrow">
              <a:avLst/>
            </a:prstGeom>
            <a:solidFill>
              <a:srgbClr val="299E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10" name="Picture 9">
              <a:extLst>
                <a:ext uri="{FF2B5EF4-FFF2-40B4-BE49-F238E27FC236}">
                  <a16:creationId xmlns:a16="http://schemas.microsoft.com/office/drawing/2014/main" id="{6887DBA4-CD22-80D1-1550-1A1956746C05}"/>
                </a:ext>
              </a:extLst>
            </p:cNvPr>
            <p:cNvPicPr>
              <a:picLocks noChangeAspect="1"/>
            </p:cNvPicPr>
            <p:nvPr/>
          </p:nvPicPr>
          <p:blipFill>
            <a:blip r:embed="rId4"/>
            <a:stretch>
              <a:fillRect/>
            </a:stretch>
          </p:blipFill>
          <p:spPr>
            <a:xfrm>
              <a:off x="4440140" y="2583208"/>
              <a:ext cx="2719052" cy="3249450"/>
            </a:xfrm>
            <a:prstGeom prst="rect">
              <a:avLst/>
            </a:prstGeom>
          </p:spPr>
        </p:pic>
      </p:grpSp>
      <p:sp>
        <p:nvSpPr>
          <p:cNvPr id="12" name="TextBox 11">
            <a:extLst>
              <a:ext uri="{FF2B5EF4-FFF2-40B4-BE49-F238E27FC236}">
                <a16:creationId xmlns:a16="http://schemas.microsoft.com/office/drawing/2014/main" id="{C48EC7F7-2F02-15A2-9385-4E0E4C1320DB}"/>
              </a:ext>
            </a:extLst>
          </p:cNvPr>
          <p:cNvSpPr txBox="1"/>
          <p:nvPr/>
        </p:nvSpPr>
        <p:spPr>
          <a:xfrm>
            <a:off x="207241" y="5682923"/>
            <a:ext cx="6094674" cy="584775"/>
          </a:xfrm>
          <a:prstGeom prst="rect">
            <a:avLst/>
          </a:prstGeom>
          <a:noFill/>
        </p:spPr>
        <p:txBody>
          <a:bodyPr wrap="square">
            <a:spAutoFit/>
          </a:bodyPr>
          <a:lstStyle/>
          <a:p>
            <a:pPr algn="ctr"/>
            <a:r>
              <a:rPr lang="en-ZA" sz="1600" dirty="0">
                <a:hlinkClick r:id="rId5"/>
              </a:rPr>
              <a:t>www.demixium.com</a:t>
            </a:r>
            <a:endParaRPr lang="en-ZA" sz="1600" dirty="0"/>
          </a:p>
          <a:p>
            <a:pPr algn="ctr"/>
            <a:r>
              <a:rPr lang="en-ZA" sz="1600" b="0" i="0" dirty="0">
                <a:solidFill>
                  <a:srgbClr val="000000"/>
                </a:solidFill>
                <a:effectLst/>
                <a:latin typeface="Open Sans"/>
              </a:rPr>
              <a:t>Knowledge | </a:t>
            </a:r>
            <a:r>
              <a:rPr lang="en-ZA" sz="1600" dirty="0">
                <a:solidFill>
                  <a:srgbClr val="000000"/>
                </a:solidFill>
                <a:latin typeface="Open Sans"/>
              </a:rPr>
              <a:t>Performance</a:t>
            </a:r>
            <a:r>
              <a:rPr lang="en-ZA" sz="1600" b="0" i="0" dirty="0">
                <a:solidFill>
                  <a:srgbClr val="000000"/>
                </a:solidFill>
                <a:effectLst/>
                <a:latin typeface="Open Sans"/>
              </a:rPr>
              <a:t> | Results</a:t>
            </a:r>
            <a:r>
              <a:rPr lang="en-ZA" sz="1600" dirty="0"/>
              <a:t> </a:t>
            </a:r>
          </a:p>
        </p:txBody>
      </p:sp>
    </p:spTree>
    <p:extLst>
      <p:ext uri="{BB962C8B-B14F-4D97-AF65-F5344CB8AC3E}">
        <p14:creationId xmlns:p14="http://schemas.microsoft.com/office/powerpoint/2010/main" val="1833212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56AC6-8B5D-4EE0-897A-9EECC0280655}"/>
              </a:ext>
            </a:extLst>
          </p:cNvPr>
          <p:cNvSpPr>
            <a:spLocks noGrp="1"/>
          </p:cNvSpPr>
          <p:nvPr>
            <p:ph type="title"/>
          </p:nvPr>
        </p:nvSpPr>
        <p:spPr>
          <a:xfrm>
            <a:off x="951442" y="908050"/>
            <a:ext cx="10397836" cy="602284"/>
          </a:xfrm>
        </p:spPr>
        <p:txBody>
          <a:bodyPr/>
          <a:lstStyle/>
          <a:p>
            <a:r>
              <a:rPr lang="en-ZA" dirty="0"/>
              <a:t>DEMIX™</a:t>
            </a:r>
          </a:p>
        </p:txBody>
      </p:sp>
      <p:grpSp>
        <p:nvGrpSpPr>
          <p:cNvPr id="14" name="Group 13">
            <a:extLst>
              <a:ext uri="{FF2B5EF4-FFF2-40B4-BE49-F238E27FC236}">
                <a16:creationId xmlns:a16="http://schemas.microsoft.com/office/drawing/2014/main" id="{9BCE02E9-B639-4352-9CD8-7319ACA08735}"/>
              </a:ext>
            </a:extLst>
          </p:cNvPr>
          <p:cNvGrpSpPr/>
          <p:nvPr/>
        </p:nvGrpSpPr>
        <p:grpSpPr>
          <a:xfrm>
            <a:off x="4528986" y="1701637"/>
            <a:ext cx="2719052" cy="4415485"/>
            <a:chOff x="4440140" y="1417173"/>
            <a:chExt cx="2719052" cy="4415485"/>
          </a:xfrm>
        </p:grpSpPr>
        <p:sp>
          <p:nvSpPr>
            <p:cNvPr id="4" name="Arrow: Up 3">
              <a:extLst>
                <a:ext uri="{FF2B5EF4-FFF2-40B4-BE49-F238E27FC236}">
                  <a16:creationId xmlns:a16="http://schemas.microsoft.com/office/drawing/2014/main" id="{2D3100A3-8319-4488-9BD8-FA36065DF984}"/>
                </a:ext>
              </a:extLst>
            </p:cNvPr>
            <p:cNvSpPr/>
            <p:nvPr/>
          </p:nvSpPr>
          <p:spPr>
            <a:xfrm>
              <a:off x="4638776" y="1417173"/>
              <a:ext cx="2321781" cy="3657600"/>
            </a:xfrm>
            <a:prstGeom prst="upArrow">
              <a:avLst/>
            </a:prstGeom>
            <a:solidFill>
              <a:srgbClr val="299E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3" name="Picture 2">
              <a:extLst>
                <a:ext uri="{FF2B5EF4-FFF2-40B4-BE49-F238E27FC236}">
                  <a16:creationId xmlns:a16="http://schemas.microsoft.com/office/drawing/2014/main" id="{F78F0F7F-3E23-4ED2-ABCC-98187E77EC22}"/>
                </a:ext>
              </a:extLst>
            </p:cNvPr>
            <p:cNvPicPr>
              <a:picLocks noChangeAspect="1"/>
            </p:cNvPicPr>
            <p:nvPr/>
          </p:nvPicPr>
          <p:blipFill>
            <a:blip r:embed="rId2"/>
            <a:stretch>
              <a:fillRect/>
            </a:stretch>
          </p:blipFill>
          <p:spPr>
            <a:xfrm>
              <a:off x="4440140" y="2583208"/>
              <a:ext cx="2719052" cy="3249450"/>
            </a:xfrm>
            <a:prstGeom prst="rect">
              <a:avLst/>
            </a:prstGeom>
          </p:spPr>
        </p:pic>
      </p:grpSp>
      <p:sp>
        <p:nvSpPr>
          <p:cNvPr id="15" name="TextBox 14">
            <a:extLst>
              <a:ext uri="{FF2B5EF4-FFF2-40B4-BE49-F238E27FC236}">
                <a16:creationId xmlns:a16="http://schemas.microsoft.com/office/drawing/2014/main" id="{8D84EF48-EF5E-49FA-B6A9-E5C80B9C0007}"/>
              </a:ext>
            </a:extLst>
          </p:cNvPr>
          <p:cNvSpPr txBox="1"/>
          <p:nvPr/>
        </p:nvSpPr>
        <p:spPr>
          <a:xfrm>
            <a:off x="951442" y="1307835"/>
            <a:ext cx="3073214" cy="369332"/>
          </a:xfrm>
          <a:prstGeom prst="rect">
            <a:avLst/>
          </a:prstGeom>
          <a:noFill/>
        </p:spPr>
        <p:txBody>
          <a:bodyPr wrap="none" lIns="91440" tIns="45720" rIns="91440" bIns="45720" rtlCol="0" anchor="t">
            <a:spAutoFit/>
          </a:bodyPr>
          <a:lstStyle/>
          <a:p>
            <a:r>
              <a:rPr lang="en-ZA" dirty="0" err="1"/>
              <a:t>Demix</a:t>
            </a:r>
            <a:r>
              <a:rPr lang="en-ZA" dirty="0"/>
              <a:t>™ Copyright </a:t>
            </a:r>
            <a:r>
              <a:rPr lang="en-ZA" dirty="0" err="1"/>
              <a:t>Demix</a:t>
            </a:r>
            <a:r>
              <a:rPr lang="en-ZA" dirty="0"/>
              <a:t> 2025</a:t>
            </a:r>
          </a:p>
        </p:txBody>
      </p:sp>
      <p:sp>
        <p:nvSpPr>
          <p:cNvPr id="8" name="TextBox 7">
            <a:extLst>
              <a:ext uri="{FF2B5EF4-FFF2-40B4-BE49-F238E27FC236}">
                <a16:creationId xmlns:a16="http://schemas.microsoft.com/office/drawing/2014/main" id="{C5021C6B-98B3-4617-86D6-C346F83D70CA}"/>
              </a:ext>
            </a:extLst>
          </p:cNvPr>
          <p:cNvSpPr txBox="1"/>
          <p:nvPr/>
        </p:nvSpPr>
        <p:spPr>
          <a:xfrm>
            <a:off x="2841175" y="5686214"/>
            <a:ext cx="6094674" cy="584775"/>
          </a:xfrm>
          <a:prstGeom prst="rect">
            <a:avLst/>
          </a:prstGeom>
          <a:noFill/>
        </p:spPr>
        <p:txBody>
          <a:bodyPr wrap="square" lIns="91440" tIns="45720" rIns="91440" bIns="45720" anchor="t">
            <a:spAutoFit/>
          </a:bodyPr>
          <a:lstStyle/>
          <a:p>
            <a:pPr algn="ctr"/>
            <a:r>
              <a:rPr lang="en-ZA" sz="1600" dirty="0">
                <a:hlinkClick r:id="rId3"/>
              </a:rPr>
              <a:t>www.demixglobal.com</a:t>
            </a:r>
            <a:endParaRPr lang="en-ZA" sz="1600" dirty="0"/>
          </a:p>
          <a:p>
            <a:pPr algn="ctr"/>
            <a:r>
              <a:rPr lang="en-ZA" sz="1600" dirty="0">
                <a:solidFill>
                  <a:srgbClr val="000000"/>
                </a:solidFill>
                <a:latin typeface="Open Sans"/>
              </a:rPr>
              <a:t>Create</a:t>
            </a:r>
            <a:r>
              <a:rPr lang="en-ZA" sz="1600" b="0" i="0" dirty="0">
                <a:solidFill>
                  <a:srgbClr val="000000"/>
                </a:solidFill>
                <a:effectLst/>
                <a:latin typeface="Open Sans"/>
              </a:rPr>
              <a:t>| </a:t>
            </a:r>
            <a:r>
              <a:rPr lang="en-ZA" sz="1600" dirty="0">
                <a:solidFill>
                  <a:srgbClr val="000000"/>
                </a:solidFill>
                <a:latin typeface="Open Sans"/>
              </a:rPr>
              <a:t>Evolve</a:t>
            </a:r>
            <a:r>
              <a:rPr lang="en-ZA" sz="1600" b="0" i="0" dirty="0">
                <a:solidFill>
                  <a:srgbClr val="000000"/>
                </a:solidFill>
                <a:effectLst/>
                <a:latin typeface="Open Sans"/>
              </a:rPr>
              <a:t>| </a:t>
            </a:r>
            <a:r>
              <a:rPr lang="en-ZA" sz="1600" dirty="0">
                <a:solidFill>
                  <a:srgbClr val="000000"/>
                </a:solidFill>
                <a:latin typeface="Open Sans"/>
              </a:rPr>
              <a:t>Perfect</a:t>
            </a:r>
            <a:endParaRPr lang="en-ZA" sz="1600" dirty="0">
              <a:ea typeface="Calibri"/>
              <a:cs typeface="Calibri"/>
            </a:endParaRPr>
          </a:p>
        </p:txBody>
      </p:sp>
      <p:sp>
        <p:nvSpPr>
          <p:cNvPr id="9" name="TextBox 8">
            <a:extLst>
              <a:ext uri="{FF2B5EF4-FFF2-40B4-BE49-F238E27FC236}">
                <a16:creationId xmlns:a16="http://schemas.microsoft.com/office/drawing/2014/main" id="{0E56B3AA-4ADA-412B-9A45-4D5AA4F494AE}"/>
              </a:ext>
            </a:extLst>
          </p:cNvPr>
          <p:cNvSpPr txBox="1"/>
          <p:nvPr/>
        </p:nvSpPr>
        <p:spPr>
          <a:xfrm>
            <a:off x="1179784" y="2389117"/>
            <a:ext cx="2719052" cy="1200329"/>
          </a:xfrm>
          <a:prstGeom prst="rect">
            <a:avLst/>
          </a:prstGeom>
          <a:noFill/>
        </p:spPr>
        <p:txBody>
          <a:bodyPr wrap="square" rtlCol="0">
            <a:spAutoFit/>
          </a:bodyPr>
          <a:lstStyle>
            <a:defPPr>
              <a:defRPr lang="en-US"/>
            </a:defPPr>
            <a:lvl1pPr algn="ctr">
              <a:defRPr>
                <a:solidFill>
                  <a:srgbClr val="1F497D"/>
                </a:solidFill>
              </a:defRPr>
            </a:lvl1pPr>
          </a:lstStyle>
          <a:p>
            <a:r>
              <a:rPr lang="en-GB" dirty="0"/>
              <a:t>Half of all organizations fail to execute strategy effectively. Demix empowers success.</a:t>
            </a:r>
            <a:endParaRPr lang="en-ZA" dirty="0"/>
          </a:p>
        </p:txBody>
      </p:sp>
      <p:sp>
        <p:nvSpPr>
          <p:cNvPr id="10" name="TextBox 9">
            <a:extLst>
              <a:ext uri="{FF2B5EF4-FFF2-40B4-BE49-F238E27FC236}">
                <a16:creationId xmlns:a16="http://schemas.microsoft.com/office/drawing/2014/main" id="{4E369FE8-DAF2-49E0-852E-C869E262D50E}"/>
              </a:ext>
            </a:extLst>
          </p:cNvPr>
          <p:cNvSpPr txBox="1"/>
          <p:nvPr/>
        </p:nvSpPr>
        <p:spPr>
          <a:xfrm>
            <a:off x="1308059" y="4005710"/>
            <a:ext cx="2719052" cy="646331"/>
          </a:xfrm>
          <a:prstGeom prst="rect">
            <a:avLst/>
          </a:prstGeom>
          <a:noFill/>
        </p:spPr>
        <p:txBody>
          <a:bodyPr wrap="square" rtlCol="0">
            <a:spAutoFit/>
          </a:bodyPr>
          <a:lstStyle/>
          <a:p>
            <a:pPr algn="ctr"/>
            <a:r>
              <a:rPr lang="zh-CN" altLang="en-US" b="1" dirty="0">
                <a:solidFill>
                  <a:srgbClr val="FF0000"/>
                </a:solidFill>
              </a:rPr>
              <a:t>一半的组织无法有效执行战略。</a:t>
            </a:r>
            <a:r>
              <a:rPr lang="en-US" altLang="zh-CN" b="1" dirty="0">
                <a:solidFill>
                  <a:srgbClr val="FF0000"/>
                </a:solidFill>
              </a:rPr>
              <a:t>Demix </a:t>
            </a:r>
            <a:r>
              <a:rPr lang="zh-CN" altLang="en-US" b="1" dirty="0">
                <a:solidFill>
                  <a:srgbClr val="FF0000"/>
                </a:solidFill>
              </a:rPr>
              <a:t>赋能成功。</a:t>
            </a:r>
            <a:endParaRPr lang="en-ZA" b="1" dirty="0">
              <a:solidFill>
                <a:srgbClr val="FF0000"/>
              </a:solidFill>
            </a:endParaRPr>
          </a:p>
        </p:txBody>
      </p:sp>
      <p:pic>
        <p:nvPicPr>
          <p:cNvPr id="1026" name="Picture 2">
            <a:extLst>
              <a:ext uri="{FF2B5EF4-FFF2-40B4-BE49-F238E27FC236}">
                <a16:creationId xmlns:a16="http://schemas.microsoft.com/office/drawing/2014/main" id="{0072F935-8217-6CE4-4503-62D4545B07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48548" y="2200661"/>
            <a:ext cx="3260157" cy="21734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hlinkClick r:id="rId5"/>
            <a:extLst>
              <a:ext uri="{FF2B5EF4-FFF2-40B4-BE49-F238E27FC236}">
                <a16:creationId xmlns:a16="http://schemas.microsoft.com/office/drawing/2014/main" id="{9586E270-888A-1598-78F1-3370E9ADD0D1}"/>
              </a:ext>
            </a:extLst>
          </p:cNvPr>
          <p:cNvSpPr txBox="1"/>
          <p:nvPr/>
        </p:nvSpPr>
        <p:spPr>
          <a:xfrm>
            <a:off x="8189352" y="4491322"/>
            <a:ext cx="3019353" cy="369332"/>
          </a:xfrm>
          <a:prstGeom prst="rect">
            <a:avLst/>
          </a:prstGeom>
          <a:noFill/>
        </p:spPr>
        <p:txBody>
          <a:bodyPr wrap="none" rtlCol="0">
            <a:spAutoFit/>
          </a:bodyPr>
          <a:lstStyle/>
          <a:p>
            <a:r>
              <a:rPr lang="en-US" b="0" i="0" dirty="0">
                <a:solidFill>
                  <a:srgbClr val="000000"/>
                </a:solidFill>
                <a:effectLst/>
                <a:latin typeface="-apple-system"/>
                <a:hlinkClick r:id="rId5"/>
              </a:rPr>
              <a:t>Strategy Execution with CMMI</a:t>
            </a:r>
            <a:endParaRPr lang="en-US" b="0" i="0" dirty="0">
              <a:solidFill>
                <a:srgbClr val="000000"/>
              </a:solidFill>
              <a:effectLst/>
              <a:latin typeface="-apple-system"/>
            </a:endParaRPr>
          </a:p>
        </p:txBody>
      </p:sp>
    </p:spTree>
    <p:extLst>
      <p:ext uri="{BB962C8B-B14F-4D97-AF65-F5344CB8AC3E}">
        <p14:creationId xmlns:p14="http://schemas.microsoft.com/office/powerpoint/2010/main" val="35468183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438F48CD-7B73-434D-8CB1-0209E90E0D00}"/>
              </a:ext>
            </a:extLst>
          </p:cNvPr>
          <p:cNvGraphicFramePr>
            <a:graphicFrameLocks noChangeAspect="1"/>
          </p:cNvGraphicFramePr>
          <p:nvPr>
            <p:extLst>
              <p:ext uri="{D42A27DB-BD31-4B8C-83A1-F6EECF244321}">
                <p14:modId xmlns:p14="http://schemas.microsoft.com/office/powerpoint/2010/main" val="2774625938"/>
              </p:ext>
            </p:extLst>
          </p:nvPr>
        </p:nvGraphicFramePr>
        <p:xfrm>
          <a:off x="1066800" y="2062163"/>
          <a:ext cx="9059863" cy="1820862"/>
        </p:xfrm>
        <a:graphic>
          <a:graphicData uri="http://schemas.openxmlformats.org/presentationml/2006/ole">
            <mc:AlternateContent xmlns:mc="http://schemas.openxmlformats.org/markup-compatibility/2006">
              <mc:Choice xmlns:v="urn:schemas-microsoft-com:vml" Requires="v">
                <p:oleObj name="Macro-Enabled Worksheet" r:id="rId2" imgW="9060215" imgH="1821172" progId="Excel.SheetMacroEnabled.12">
                  <p:link updateAutomatic="1"/>
                </p:oleObj>
              </mc:Choice>
              <mc:Fallback>
                <p:oleObj name="Macro-Enabled Worksheet" r:id="rId2" imgW="9060215" imgH="1821172" progId="Excel.SheetMacroEnabled.12">
                  <p:link updateAutomatic="1"/>
                  <p:pic>
                    <p:nvPicPr>
                      <p:cNvPr id="4" name="Object 3">
                        <a:extLst>
                          <a:ext uri="{FF2B5EF4-FFF2-40B4-BE49-F238E27FC236}">
                            <a16:creationId xmlns:a16="http://schemas.microsoft.com/office/drawing/2014/main" id="{438F48CD-7B73-434D-8CB1-0209E90E0D00}"/>
                          </a:ext>
                        </a:extLst>
                      </p:cNvPr>
                      <p:cNvPicPr/>
                      <p:nvPr/>
                    </p:nvPicPr>
                    <p:blipFill>
                      <a:blip r:embed="rId3"/>
                      <a:stretch>
                        <a:fillRect/>
                      </a:stretch>
                    </p:blipFill>
                    <p:spPr>
                      <a:xfrm>
                        <a:off x="1066800" y="2062163"/>
                        <a:ext cx="9059863" cy="1820862"/>
                      </a:xfrm>
                      <a:prstGeom prst="rect">
                        <a:avLst/>
                      </a:prstGeom>
                    </p:spPr>
                  </p:pic>
                </p:oleObj>
              </mc:Fallback>
            </mc:AlternateContent>
          </a:graphicData>
        </a:graphic>
      </p:graphicFrame>
      <p:sp>
        <p:nvSpPr>
          <p:cNvPr id="2" name="Title 1"/>
          <p:cNvSpPr>
            <a:spLocks noGrp="1"/>
          </p:cNvSpPr>
          <p:nvPr>
            <p:ph type="title"/>
          </p:nvPr>
        </p:nvSpPr>
        <p:spPr>
          <a:xfrm>
            <a:off x="703243" y="749147"/>
            <a:ext cx="8153400" cy="935265"/>
          </a:xfrm>
        </p:spPr>
        <p:txBody>
          <a:bodyPr/>
          <a:lstStyle/>
          <a:p>
            <a:r>
              <a:rPr lang="en-ZA" dirty="0"/>
              <a:t>Next steps</a:t>
            </a:r>
          </a:p>
        </p:txBody>
      </p:sp>
    </p:spTree>
    <p:extLst>
      <p:ext uri="{BB962C8B-B14F-4D97-AF65-F5344CB8AC3E}">
        <p14:creationId xmlns:p14="http://schemas.microsoft.com/office/powerpoint/2010/main" val="25926829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B69704-CCDD-47E9-9932-964965E91D94}"/>
              </a:ext>
            </a:extLst>
          </p:cNvPr>
          <p:cNvSpPr>
            <a:spLocks noGrp="1"/>
          </p:cNvSpPr>
          <p:nvPr>
            <p:ph idx="1"/>
          </p:nvPr>
        </p:nvSpPr>
        <p:spPr/>
        <p:txBody>
          <a:bodyPr/>
          <a:lstStyle/>
          <a:p>
            <a:r>
              <a:rPr lang="en-ZA" dirty="0"/>
              <a:t>CERTIFICATE</a:t>
            </a:r>
          </a:p>
        </p:txBody>
      </p:sp>
    </p:spTree>
    <p:extLst>
      <p:ext uri="{BB962C8B-B14F-4D97-AF65-F5344CB8AC3E}">
        <p14:creationId xmlns:p14="http://schemas.microsoft.com/office/powerpoint/2010/main" val="1028804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ec500478-62e0-46fc-87f1-cfa988e486b4" xsi:nil="true"/>
    <lcf76f155ced4ddcb4097134ff3c332f xmlns="25bcabcf-d275-4206-9fb1-2f2d419cd22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041F74863103D4C9C3AA0A07291BB02" ma:contentTypeVersion="18" ma:contentTypeDescription="Create a new document." ma:contentTypeScope="" ma:versionID="acfac7a7740a1b2d1a4bdbff0c117f3f">
  <xsd:schema xmlns:xsd="http://www.w3.org/2001/XMLSchema" xmlns:xs="http://www.w3.org/2001/XMLSchema" xmlns:p="http://schemas.microsoft.com/office/2006/metadata/properties" xmlns:ns2="25bcabcf-d275-4206-9fb1-2f2d419cd22b" xmlns:ns3="ec500478-62e0-46fc-87f1-cfa988e486b4" targetNamespace="http://schemas.microsoft.com/office/2006/metadata/properties" ma:root="true" ma:fieldsID="f1327b100fd5e593709bdd676db08f29" ns2:_="" ns3:_="">
    <xsd:import namespace="25bcabcf-d275-4206-9fb1-2f2d419cd22b"/>
    <xsd:import namespace="ec500478-62e0-46fc-87f1-cfa988e486b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bcabcf-d275-4206-9fb1-2f2d419cd2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f35f27a-c890-4130-b78e-bbe546ff31bf"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c500478-62e0-46fc-87f1-cfa988e486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16b899e-718a-4501-bed1-5bdbb6269459}" ma:internalName="TaxCatchAll" ma:showField="CatchAllData" ma:web="ec500478-62e0-46fc-87f1-cfa988e486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B49826-D5EE-4D24-B649-7C3A19B527D2}">
  <ds:schemaRefs>
    <ds:schemaRef ds:uri="http://schemas.microsoft.com/sharepoint/v3/contenttype/forms"/>
  </ds:schemaRefs>
</ds:datastoreItem>
</file>

<file path=customXml/itemProps2.xml><?xml version="1.0" encoding="utf-8"?>
<ds:datastoreItem xmlns:ds="http://schemas.openxmlformats.org/officeDocument/2006/customXml" ds:itemID="{5F07B0D7-F930-4230-933E-ABA84959494E}">
  <ds:schemaRefs>
    <ds:schemaRef ds:uri="http://purl.org/dc/dcmitype/"/>
    <ds:schemaRef ds:uri="http://schemas.microsoft.com/office/2006/metadata/properties"/>
    <ds:schemaRef ds:uri="72e3a154-4955-46c3-9573-e9dec3e1f195"/>
    <ds:schemaRef ds:uri="http://schemas.microsoft.com/office/2006/documentManagement/types"/>
    <ds:schemaRef ds:uri="http://purl.org/dc/terms/"/>
    <ds:schemaRef ds:uri="http://purl.org/dc/elements/1.1/"/>
    <ds:schemaRef ds:uri="http://schemas.microsoft.com/office/infopath/2007/PartnerControls"/>
    <ds:schemaRef ds:uri="http://schemas.openxmlformats.org/package/2006/metadata/core-properties"/>
    <ds:schemaRef ds:uri="ec500478-62e0-46fc-87f1-cfa988e486b4"/>
    <ds:schemaRef ds:uri="http://www.w3.org/XML/1998/namespace"/>
    <ds:schemaRef ds:uri="25bcabcf-d275-4206-9fb1-2f2d419cd22b"/>
  </ds:schemaRefs>
</ds:datastoreItem>
</file>

<file path=customXml/itemProps3.xml><?xml version="1.0" encoding="utf-8"?>
<ds:datastoreItem xmlns:ds="http://schemas.openxmlformats.org/officeDocument/2006/customXml" ds:itemID="{33DCEA0D-FB29-4652-B8AF-FA167DDC99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bcabcf-d275-4206-9fb1-2f2d419cd22b"/>
    <ds:schemaRef ds:uri="ec500478-62e0-46fc-87f1-cfa988e486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1122</TotalTime>
  <Words>4565</Words>
  <Application>Microsoft Office PowerPoint</Application>
  <PresentationFormat>Widescreen</PresentationFormat>
  <Paragraphs>293</Paragraphs>
  <Slides>53</Slides>
  <Notes>15</Notes>
  <HiddenSlides>0</HiddenSlides>
  <MMClips>0</MMClips>
  <ScaleCrop>false</ScaleCrop>
  <HeadingPairs>
    <vt:vector size="8" baseType="variant">
      <vt:variant>
        <vt:lpstr>Fonts Used</vt:lpstr>
      </vt:variant>
      <vt:variant>
        <vt:i4>12</vt:i4>
      </vt:variant>
      <vt:variant>
        <vt:lpstr>Theme</vt:lpstr>
      </vt:variant>
      <vt:variant>
        <vt:i4>1</vt:i4>
      </vt:variant>
      <vt:variant>
        <vt:lpstr>Links</vt:lpstr>
      </vt:variant>
      <vt:variant>
        <vt:i4>19</vt:i4>
      </vt:variant>
      <vt:variant>
        <vt:lpstr>Slide Titles</vt:lpstr>
      </vt:variant>
      <vt:variant>
        <vt:i4>53</vt:i4>
      </vt:variant>
    </vt:vector>
  </HeadingPairs>
  <TitlesOfParts>
    <vt:vector size="85" baseType="lpstr">
      <vt:lpstr>DengXian</vt:lpstr>
      <vt:lpstr>DengXian Light</vt:lpstr>
      <vt:lpstr>ＭＳ Ｐゴシック</vt:lpstr>
      <vt:lpstr>宋体</vt:lpstr>
      <vt:lpstr>宋体</vt:lpstr>
      <vt:lpstr>-apple-system</vt:lpstr>
      <vt:lpstr>Arial</vt:lpstr>
      <vt:lpstr>Calibri</vt:lpstr>
      <vt:lpstr>Calibri Light</vt:lpstr>
      <vt:lpstr>Gotham A</vt:lpstr>
      <vt:lpstr>Open Sans</vt:lpstr>
      <vt:lpstr>Söhne</vt:lpstr>
      <vt:lpstr>Office Theme</vt:lpstr>
      <vt:lpstr>file:///G:\2024-05-04to05-10%20(A5)%20C384400%20NASA\00_Data_Reference.xlsm!pptxCover!R4C2:R13C2</vt:lpstr>
      <vt:lpstr>file:///G:\2024-05-04to05-10%20(A5)%20C384400%20NASA\00_Data_Reference.xlsm!pptxCover!R15C2:R17C2</vt:lpstr>
      <vt:lpstr>file:///G:\2024-05-04to05-10%20(A5)%20C384400%20NASA\00_Data_Reference.xlsm!pptxCover!R22C2</vt:lpstr>
      <vt:lpstr>file:///G:\2024-05-04to05-10%20(A5)%20C384400%20NASA\00_Data_Reference.xlsm!pptxLink1!R1C1:R7C2</vt:lpstr>
      <vt:lpstr>file:///G:\2024-05-04to05-10%20(A5)%20C384400%20NASA\00_Data_Reference.xlsm!pptxLink1!R10C1:R18C2</vt:lpstr>
      <vt:lpstr>file:///G:\2024-05-04to05-10%20(A5)%20C384400%20NASA\00_Data_Reference.xlsm!pptxLink2!R1C1:R4C1</vt:lpstr>
      <vt:lpstr>file:///G:\2024-05-04to05-10%20(A5)%20C384400%20NASA\00_Data_Reference.xlsm!pptxLink1!R20C1:R31C2</vt:lpstr>
      <vt:lpstr>file:///G:\2024-05-04to05-10%20(A5)%20C384400%20NASA\00_Data_Reference.xlsm!pptxLink3!R2C1:R24C9</vt:lpstr>
      <vt:lpstr>file:///G:\2024-05-04to05-10%20(A5)%20C384400%20NASA\00_Data_Reference.xlsm!pptxLink2!R30C1:R35C1</vt:lpstr>
      <vt:lpstr>file:///G:\2024-05-04to05-10%20(A5)%20C384400%20NASA\00_Data_Reference.xlsm!pptxLink4!R10C1:R27C20</vt:lpstr>
      <vt:lpstr>file:///G:\2024-05-04to05-10%20(A5)%20C384400%20NASA\00_Data_Reference.xlsm!pptxLink5!R1C1:R11C5</vt:lpstr>
      <vt:lpstr>file:///G:\2024-05-04to05-10%20(A5)%20C384400%20NASA\00_Data_Reference.xlsm!pptxLink5!R15C1:R21C5</vt:lpstr>
      <vt:lpstr>file:///G:\2024-05-04to05-10%20(A5)%20C384400%20NASA\00_Data_Reference.xlsm!pptxLink1!R9C4</vt:lpstr>
      <vt:lpstr>file:///G:\2024-05-04to05-10%20(A5)%20C384400%20NASA\00_Data_Reference.xlsm!pptxLink1!R9C4</vt:lpstr>
      <vt:lpstr>file:///G:\2024-05-04to05-10%20(A5)%20C384400%20NASA\00_Data_Reference.xlsm!pptxLink6!R2C2:R13C5</vt:lpstr>
      <vt:lpstr>file:///G:\2024-05-04to05-10%20(A5)%20C384400%20NASA\00_Data_Reference.xlsm!pptxLink7!R2C2:R16C4</vt:lpstr>
      <vt:lpstr>file:///G:\2024-05-04to05-10%20(A5)%20C384400%20NASA\00_Data_Reference.xlsm!pptxLink7!R18C2:R32C4</vt:lpstr>
      <vt:lpstr>file:///G:\2024-05-04to05-10%20(A5)%20C384400%20NASA\00_Data_Reference.xlsm!pptxCover!R23C7</vt:lpstr>
      <vt:lpstr>file:///G:\2024-05-04to05-10%20(A5)%20C384400%20NASA\00_Data_Reference.xlsm!pptxCover!R26C2:R33C4</vt:lpstr>
      <vt:lpstr>PowerPoint Presentation</vt:lpstr>
      <vt:lpstr>PowerPoint Presentation</vt:lpstr>
      <vt:lpstr>Agenda 议程  </vt:lpstr>
      <vt:lpstr>Appraisal Overview  评估概述</vt:lpstr>
      <vt:lpstr>Appraisal Overview</vt:lpstr>
      <vt:lpstr>Appraisal Overview</vt:lpstr>
      <vt:lpstr>Business and Appraisal Objectives</vt:lpstr>
      <vt:lpstr>Appraisal Principles</vt:lpstr>
      <vt:lpstr>Virtual appraisals – Code of Conduct</vt:lpstr>
      <vt:lpstr>Appraisal Team and Support Personnel</vt:lpstr>
      <vt:lpstr>Appraisal Scope – Benchmark Model View</vt:lpstr>
      <vt:lpstr>Appraisal Scope – Organizational Scope</vt:lpstr>
      <vt:lpstr>Appraisal Scope – Organizational Sample</vt:lpstr>
      <vt:lpstr>Appraisal Scope – Organizational Sample </vt:lpstr>
      <vt:lpstr>Appraisal Scope – Organizational Sample</vt:lpstr>
      <vt:lpstr>Findings Definitions – Required Categories</vt:lpstr>
      <vt:lpstr>PowerPoint Presentation</vt:lpstr>
      <vt:lpstr>Practice Area Findings 实践域发现</vt:lpstr>
      <vt:lpstr>Causal Analysis and Resolution (CAR) 原因分析与解决</vt:lpstr>
      <vt:lpstr>Configuration Management (CM) 配置管理</vt:lpstr>
      <vt:lpstr>Decision Analysis and Resolution (DAR) 决策分析与解决</vt:lpstr>
      <vt:lpstr>Estimating (EST) 估算</vt:lpstr>
      <vt:lpstr>Governance (GOV) 管治</vt:lpstr>
      <vt:lpstr>Implementation Infrastructure (II) 实施基础条件</vt:lpstr>
      <vt:lpstr>Managing Performance and Measurement (MPM) 管理绩效与度量</vt:lpstr>
      <vt:lpstr>Monitor and Control (MC) 控制与监督</vt:lpstr>
      <vt:lpstr>Organizational Training (OT) 组织级培训</vt:lpstr>
      <vt:lpstr>Peer Reviews (PR) 同行评审</vt:lpstr>
      <vt:lpstr>Planning (PLAN) 策划</vt:lpstr>
      <vt:lpstr>Process Asset Development (PAD) 过程资产开发</vt:lpstr>
      <vt:lpstr>Process Management (PCM) 过程管理</vt:lpstr>
      <vt:lpstr>Process Quality Assurance (PQA) 过程质量保证</vt:lpstr>
      <vt:lpstr>Product Integration (PI) 产品集成</vt:lpstr>
      <vt:lpstr>Requirements Development and Management (RDM) 需求开发与管理</vt:lpstr>
      <vt:lpstr>Risk and Opportunity Management (RSK) 风险与机会管理</vt:lpstr>
      <vt:lpstr>Technical Solution (TS) 技术解决方案</vt:lpstr>
      <vt:lpstr>Verification and Validation (VV) 验证与确认</vt:lpstr>
      <vt:lpstr>Performance Report 性能报告  </vt:lpstr>
      <vt:lpstr>Ratings 評級</vt:lpstr>
      <vt:lpstr>Ratings for</vt:lpstr>
      <vt:lpstr>Ratings for</vt:lpstr>
      <vt:lpstr>Congratulations!</vt:lpstr>
      <vt:lpstr>Appraisal Team Affirmations – Signature Page</vt:lpstr>
      <vt:lpstr>Annexures 附加展示</vt:lpstr>
      <vt:lpstr>Non model findings</vt:lpstr>
      <vt:lpstr>Non model findings</vt:lpstr>
      <vt:lpstr>Findings Definitions – Optional Findings Categories</vt:lpstr>
      <vt:lpstr>Improvement Opportunities</vt:lpstr>
      <vt:lpstr>Improvement Opportunities - continued</vt:lpstr>
      <vt:lpstr>Re-appraisal</vt:lpstr>
      <vt:lpstr>DEMIX™</vt:lpstr>
      <vt:lpstr>Next steps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Pieter van Zyl</dc:creator>
  <cp:lastModifiedBy>Melanie Van Zyl</cp:lastModifiedBy>
  <cp:revision>109</cp:revision>
  <cp:lastPrinted>2020-11-23T18:22:15Z</cp:lastPrinted>
  <dcterms:created xsi:type="dcterms:W3CDTF">2020-11-22T06:57:57Z</dcterms:created>
  <dcterms:modified xsi:type="dcterms:W3CDTF">2025-09-15T05:02:52Z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0x010100F041F74863103D4C9C3AA0A07291BB02</vt:lpwstr>
  </property>
  <property fmtid="{D5CDD505-2E9C-101B-9397-08002B2CF9AE}" pid="3" name="MediaServiceImageTags">
    <vt:lpwstr/>
  </property>
</Properties>
</file>