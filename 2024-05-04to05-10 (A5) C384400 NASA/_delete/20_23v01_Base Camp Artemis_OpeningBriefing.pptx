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493" r:id="rId6"/>
    <p:sldId id="1547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12" r:id="rId20"/>
    <p:sldId id="919" r:id="rId21"/>
    <p:sldId id="1552" r:id="rId22"/>
    <p:sldId id="1514" r:id="rId23"/>
    <p:sldId id="483" r:id="rId24"/>
    <p:sldId id="298" r:id="rId25"/>
    <p:sldId id="151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 autoAdjust="0"/>
    <p:restoredTop sz="92593" autoAdjust="0"/>
  </p:normalViewPr>
  <p:slideViewPr>
    <p:cSldViewPr snapToGrid="0">
      <p:cViewPr varScale="1">
        <p:scale>
          <a:sx n="99" d="100"/>
          <a:sy n="99" d="100"/>
        </p:scale>
        <p:origin x="1260" y="78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102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2024.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file:///G:\2024-05-04to05-10%20(A5)%20C384400%20NASA\00_Data_Reference.xlsm!pptxCover!R4C2:R12C2" TargetMode="External"/><Relationship Id="rId7" Type="http://schemas.openxmlformats.org/officeDocument/2006/relationships/oleObject" Target="file:///G:\2024-05-04to05-10%20(A5)%20C384400%20NASA\00_Data_Reference.xlsm!pptxCover!R20C2" TargetMode="Externa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file:///G:\2024-05-04to05-10%20(A5)%20C384400%20NASA\00_Data_Reference.xlsm!pptxCover!R15C2:R17C2" TargetMode="Externa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jpeg"/><Relationship Id="rId26" Type="http://schemas.openxmlformats.org/officeDocument/2006/relationships/image" Target="../media/image29.png"/><Relationship Id="rId3" Type="http://schemas.openxmlformats.org/officeDocument/2006/relationships/image" Target="../media/image6.png"/><Relationship Id="rId21" Type="http://schemas.openxmlformats.org/officeDocument/2006/relationships/image" Target="../media/image24.gif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gif"/><Relationship Id="rId25" Type="http://schemas.openxmlformats.org/officeDocument/2006/relationships/image" Target="../media/image28.png"/><Relationship Id="rId3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g"/><Relationship Id="rId24" Type="http://schemas.openxmlformats.org/officeDocument/2006/relationships/image" Target="../media/image27.png"/><Relationship Id="rId32" Type="http://schemas.openxmlformats.org/officeDocument/2006/relationships/image" Target="../media/image35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28" Type="http://schemas.openxmlformats.org/officeDocument/2006/relationships/image" Target="../media/image31.png"/><Relationship Id="rId10" Type="http://schemas.openxmlformats.org/officeDocument/2006/relationships/image" Target="../media/image13.jpg"/><Relationship Id="rId19" Type="http://schemas.openxmlformats.org/officeDocument/2006/relationships/image" Target="../media/image22.png"/><Relationship Id="rId31" Type="http://schemas.openxmlformats.org/officeDocument/2006/relationships/image" Target="../media/image34.png"/><Relationship Id="rId4" Type="http://schemas.openxmlformats.org/officeDocument/2006/relationships/image" Target="../media/image7.jpe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Relationship Id="rId30" Type="http://schemas.openxmlformats.org/officeDocument/2006/relationships/image" Target="../media/image33.png"/><Relationship Id="rId8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8.emf"/><Relationship Id="rId4" Type="http://schemas.openxmlformats.org/officeDocument/2006/relationships/oleObject" Target="file:///G:\2024-05-04to05-10%20(A5)%20C384400%20NASA\00_Data_Reference.xlsm!pptxLink1!R1C1:R7C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9.emf"/><Relationship Id="rId4" Type="http://schemas.openxmlformats.org/officeDocument/2006/relationships/oleObject" Target="file:///G:\2024-05-04to05-10%20(A5)%20C384400%20NASA\00_Data_Reference.xlsm!pptxLink1!R10C1:R18C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0.emf"/><Relationship Id="rId4" Type="http://schemas.openxmlformats.org/officeDocument/2006/relationships/oleObject" Target="file:///G:\2024-05-04to05-10%20(A5)%20C384400%20NASA\00_Data_Reference.xlsm!pptxLink2!R1C1:R4C1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1.emf"/><Relationship Id="rId4" Type="http://schemas.openxmlformats.org/officeDocument/2006/relationships/oleObject" Target="file:///G:\2024-05-04to05-10%20(A5)%20C384400%20NASA\00_Data_Reference.xlsm!pptxLink1!R20C1:R31C2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2.emf"/><Relationship Id="rId4" Type="http://schemas.openxmlformats.org/officeDocument/2006/relationships/oleObject" Target="file:///G:\2024-05-04to05-10%20(A5)%20C384400%20NASA\00_Data_Reference.xlsm!pptxLink3!R2C1:R24C9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3.emf"/><Relationship Id="rId4" Type="http://schemas.openxmlformats.org/officeDocument/2006/relationships/oleObject" Target="file:///G:\2024-05-04to05-10%20(A5)%20C384400%20NASA\00_Data_Reference.xlsm!pptxLink1!R6C1:R7C2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44.emf"/><Relationship Id="rId4" Type="http://schemas.openxmlformats.org/officeDocument/2006/relationships/oleObject" Target="file:///G:\2024-05-04to05-10%20(A5)%20C384400%20NASA\00_Data_Reference.xlsm!pptxLink4!R10C1:R27C20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5!R1C1:R11C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5!R15C1:R21C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4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4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file:///G:\2024-05-04to05-10%20(A5)%20C384400%20NASA\00_Data_Reference.xlsm!pptxLink1!R8C4" TargetMode="External"/><Relationship Id="rId5" Type="http://schemas.openxmlformats.org/officeDocument/2006/relationships/image" Target="../media/image48.emf"/><Relationship Id="rId4" Type="http://schemas.openxmlformats.org/officeDocument/2006/relationships/oleObject" Target="file:///G:\2024-05-04to05-10%20(A5)%20C384400%20NASA\00_Data_Reference.xlsm!OULC!R50C2:R89C22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33C1:R40C2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5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lete/Schedule.pdf" TargetMode="External"/><Relationship Id="rId2" Type="http://schemas.openxmlformats.org/officeDocument/2006/relationships/hyperlink" Target="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mix.org/too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112552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Macro-Enabled Worksheet" r:id="rId3" imgW="5196769" imgH="2918310" progId="Excel.SheetMacroEnabled.12">
                  <p:link updateAutomatic="1"/>
                </p:oleObj>
              </mc:Choice>
              <mc:Fallback>
                <p:oleObj name="Macro-Enabled Worksheet" r:id="rId3" imgW="5196769" imgH="2918310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3843098"/>
              </p:ext>
            </p:extLst>
          </p:nvPr>
        </p:nvGraphicFramePr>
        <p:xfrm>
          <a:off x="3497263" y="5378450"/>
          <a:ext cx="51974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Macro-Enabled Worksheet" r:id="rId5" imgW="5196769" imgH="670734" progId="Excel.SheetMacroEnabled.12">
                  <p:link updateAutomatic="1"/>
                </p:oleObj>
              </mc:Choice>
              <mc:Fallback>
                <p:oleObj name="Macro-Enabled Worksheet" r:id="rId5" imgW="5196769" imgH="67073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7263" y="5378450"/>
                        <a:ext cx="51974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5239149"/>
              </p:ext>
            </p:extLst>
          </p:nvPr>
        </p:nvGraphicFramePr>
        <p:xfrm>
          <a:off x="3497263" y="5168900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Macro-Enabled Worksheet" r:id="rId7" imgW="5196769" imgH="274178" progId="Excel.SheetMacroEnabled.12">
                  <p:link updateAutomatic="1"/>
                </p:oleObj>
              </mc:Choice>
              <mc:Fallback>
                <p:oleObj name="Macro-Enabled Worksheet" r:id="rId7" imgW="5196769" imgH="27417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7263" y="5168900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3BC500A-BFD5-4AA6-A547-A5D9086C0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0018" y="5136108"/>
            <a:ext cx="2294990" cy="547267"/>
          </a:xfrm>
          <a:prstGeom prst="rect">
            <a:avLst/>
          </a:prstGeom>
        </p:spPr>
      </p:pic>
      <p:sp>
        <p:nvSpPr>
          <p:cNvPr id="3077" name="TextBox 4"/>
          <p:cNvSpPr txBox="1">
            <a:spLocks noChangeArrowheads="1"/>
          </p:cNvSpPr>
          <p:nvPr/>
        </p:nvSpPr>
        <p:spPr bwMode="auto">
          <a:xfrm>
            <a:off x="2057399" y="3550122"/>
            <a:ext cx="8077201" cy="1261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ZA" altLang="zh-CN" sz="1800" dirty="0">
                <a:latin typeface="+mn-lt"/>
              </a:rPr>
              <a:t>It is a pleasure and an honour to be here with you today. We are looking forward to working with you and your team over the coming days.</a:t>
            </a:r>
          </a:p>
          <a:p>
            <a:pPr algn="ctr" eaLnBrk="1" hangingPunct="1"/>
            <a:r>
              <a:rPr lang="zh-TW" altLang="en-US" sz="2000" dirty="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今天我很高興和榮幸來到這裡，我期待著在未來的几天里與您和您的團隊一起工作。</a:t>
            </a:r>
            <a:endParaRPr lang="en-ZA" altLang="zh-CN" sz="20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6954CA7-005C-4F39-92CE-D8155080ED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824" y="4999368"/>
            <a:ext cx="728200" cy="810578"/>
          </a:xfrm>
          <a:prstGeom prst="rect">
            <a:avLst/>
          </a:prstGeom>
        </p:spPr>
      </p:pic>
      <p:pic>
        <p:nvPicPr>
          <p:cNvPr id="32" name="Picture 31" descr="A close up of a sign&#10;&#10;Description automatically generated">
            <a:extLst>
              <a:ext uri="{FF2B5EF4-FFF2-40B4-BE49-F238E27FC236}">
                <a16:creationId xmlns:a16="http://schemas.microsoft.com/office/drawing/2014/main" id="{3E788F89-59DA-4112-8599-0FCF45176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5851" y="5011695"/>
            <a:ext cx="812573" cy="78592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B2B80C-7265-40EB-97CE-CE0C4FE7D99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0" t="2007" r="14562" b="-2007"/>
          <a:stretch/>
        </p:blipFill>
        <p:spPr>
          <a:xfrm>
            <a:off x="9478501" y="4999368"/>
            <a:ext cx="1116817" cy="810578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EEBEE5F4-012C-410B-AC0D-D34E631EDC0C}"/>
              </a:ext>
            </a:extLst>
          </p:cNvPr>
          <p:cNvGrpSpPr/>
          <p:nvPr/>
        </p:nvGrpSpPr>
        <p:grpSpPr>
          <a:xfrm>
            <a:off x="10669668" y="5099783"/>
            <a:ext cx="846120" cy="609751"/>
            <a:chOff x="152400" y="4012035"/>
            <a:chExt cx="1986438" cy="1179745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02AEB9D-8841-45F7-8CAB-1B38968DF3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1920" b="21052"/>
            <a:stretch/>
          </p:blipFill>
          <p:spPr>
            <a:xfrm>
              <a:off x="152400" y="4058960"/>
              <a:ext cx="1986438" cy="1132820"/>
            </a:xfrm>
            <a:prstGeom prst="rect">
              <a:avLst/>
            </a:prstGeom>
          </p:spPr>
        </p:pic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D9B4C94-FB3C-43D3-BABE-98A6FFD0C43F}"/>
                </a:ext>
              </a:extLst>
            </p:cNvPr>
            <p:cNvGrpSpPr/>
            <p:nvPr/>
          </p:nvGrpSpPr>
          <p:grpSpPr>
            <a:xfrm>
              <a:off x="252395" y="4012035"/>
              <a:ext cx="1756513" cy="441334"/>
              <a:chOff x="3505200" y="5861931"/>
              <a:chExt cx="1754272" cy="584757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648A3EA6-FBEC-43F7-A250-298AFED49EDC}"/>
                  </a:ext>
                </a:extLst>
              </p:cNvPr>
              <p:cNvSpPr/>
              <p:nvPr/>
            </p:nvSpPr>
            <p:spPr>
              <a:xfrm>
                <a:off x="3505200" y="5861931"/>
                <a:ext cx="1754272" cy="58475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ZA"/>
              </a:p>
            </p:txBody>
          </p:sp>
          <p:pic>
            <p:nvPicPr>
              <p:cNvPr id="38" name="Graphic 37">
                <a:extLst>
                  <a:ext uri="{FF2B5EF4-FFF2-40B4-BE49-F238E27FC236}">
                    <a16:creationId xmlns:a16="http://schemas.microsoft.com/office/drawing/2014/main" id="{638D3C24-2693-4B6E-8918-A946A332A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505200" y="5861931"/>
                <a:ext cx="1754272" cy="584757"/>
              </a:xfrm>
              <a:prstGeom prst="rect">
                <a:avLst/>
              </a:prstGeom>
            </p:spPr>
          </p:pic>
        </p:grpSp>
      </p:grpSp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517" y="5036857"/>
            <a:ext cx="1266632" cy="73560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30F9EC6-7007-442F-9B14-472D791273E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6375" y="5036857"/>
            <a:ext cx="728200" cy="73560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FC067E0-B1E2-4ABB-954D-E36139045FC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774" y="5148463"/>
            <a:ext cx="592894" cy="51239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DA8C5C63-6380-45A7-84FE-5E6876A1758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9285" y="5054186"/>
            <a:ext cx="670188" cy="70094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94C16C1-AB6D-486E-B218-635DBF4B8FA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27" y="4983314"/>
            <a:ext cx="812573" cy="842689"/>
          </a:xfrm>
          <a:prstGeom prst="rect">
            <a:avLst/>
          </a:prstGeom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31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DEMIXIUM™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465481" y="1878295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97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Demixium™ Copyright </a:t>
            </a:r>
            <a:r>
              <a:rPr lang="en-ZA" dirty="0" err="1"/>
              <a:t>Demix</a:t>
            </a:r>
            <a:r>
              <a:rPr lang="en-ZA" dirty="0"/>
              <a:t> 2021-2024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777670" y="5844796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www.demixium.com</a:t>
            </a:r>
            <a:endParaRPr lang="en-ZA" sz="1600" dirty="0"/>
          </a:p>
          <a:p>
            <a:pPr algn="ctr"/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Knowledge 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Performance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 | Results</a:t>
            </a:r>
            <a:r>
              <a:rPr lang="en-ZA" sz="1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308059" y="2606819"/>
            <a:ext cx="2719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Demixium is a collection of best practices to assess an organisation across a variety of domains and best practice models. It is available for free use under the MIT free use license agreement.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7821539" y="3022317"/>
            <a:ext cx="271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F497D"/>
                </a:solidFill>
              </a:rPr>
              <a:t>Demixium </a:t>
            </a:r>
            <a:r>
              <a:rPr lang="zh-CN" altLang="en-US" dirty="0">
                <a:solidFill>
                  <a:srgbClr val="1F497D"/>
                </a:solidFill>
              </a:rPr>
              <a:t>是一组最佳实践的集合，用于跨各种领域和最佳实践模型评估组织。 它可根据 </a:t>
            </a:r>
            <a:r>
              <a:rPr lang="en-US" altLang="zh-CN" dirty="0">
                <a:solidFill>
                  <a:srgbClr val="1F497D"/>
                </a:solidFill>
              </a:rPr>
              <a:t>MIT </a:t>
            </a:r>
            <a:r>
              <a:rPr lang="zh-CN" altLang="en-US" dirty="0">
                <a:solidFill>
                  <a:srgbClr val="1F497D"/>
                </a:solidFill>
              </a:rPr>
              <a:t>免费使用许可协议免费使用。</a:t>
            </a:r>
            <a:endParaRPr lang="en-ZA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916512"/>
              </p:ext>
            </p:extLst>
          </p:nvPr>
        </p:nvGraphicFramePr>
        <p:xfrm>
          <a:off x="1030288" y="2095500"/>
          <a:ext cx="8483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Macro-Enabled Worksheet" r:id="rId4" imgW="8244911" imgH="1432718" progId="Excel.SheetMacroEnabled.12">
                  <p:link updateAutomatic="1"/>
                </p:oleObj>
              </mc:Choice>
              <mc:Fallback>
                <p:oleObj name="Macro-Enabled Worksheet" r:id="rId4" imgW="8244911" imgH="1432718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0288" y="2095500"/>
                        <a:ext cx="8483600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7050281"/>
              </p:ext>
            </p:extLst>
          </p:nvPr>
        </p:nvGraphicFramePr>
        <p:xfrm>
          <a:off x="1189038" y="2009775"/>
          <a:ext cx="848201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Macro-Enabled Worksheet" r:id="rId4" imgW="8244911" imgH="1584944" progId="Excel.SheetMacroEnabled.12">
                  <p:link updateAutomatic="1"/>
                </p:oleObj>
              </mc:Choice>
              <mc:Fallback>
                <p:oleObj name="Macro-Enabled Worksheet" r:id="rId4" imgW="8244911" imgH="158494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89038" y="2009775"/>
                        <a:ext cx="8482012" cy="17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427206"/>
              </p:ext>
            </p:extLst>
          </p:nvPr>
        </p:nvGraphicFramePr>
        <p:xfrm>
          <a:off x="1103313" y="2127250"/>
          <a:ext cx="7643812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Macro-Enabled Worksheet" r:id="rId4" imgW="7437262" imgH="1394342" progId="Excel.SheetMacroEnabled.12">
                  <p:link updateAutomatic="1"/>
                </p:oleObj>
              </mc:Choice>
              <mc:Fallback>
                <p:oleObj name="Macro-Enabled Worksheet" r:id="rId4" imgW="7437262" imgH="1394342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3313" y="2127250"/>
                        <a:ext cx="7643812" cy="137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641299"/>
              </p:ext>
            </p:extLst>
          </p:nvPr>
        </p:nvGraphicFramePr>
        <p:xfrm>
          <a:off x="1033463" y="1936750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Macro-Enabled Worksheet" r:id="rId4" imgW="8244911" imgH="2110701" progId="Excel.SheetMacroEnabled.12">
                  <p:link updateAutomatic="1"/>
                </p:oleObj>
              </mc:Choice>
              <mc:Fallback>
                <p:oleObj name="Macro-Enabled Worksheet" r:id="rId4" imgW="8244911" imgH="2110701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3463" y="1936750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2164484"/>
              </p:ext>
            </p:extLst>
          </p:nvPr>
        </p:nvGraphicFramePr>
        <p:xfrm>
          <a:off x="1217613" y="1585913"/>
          <a:ext cx="827722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Macro-Enabled Worksheet" r:id="rId4" imgW="9928683" imgH="5463516" progId="Excel.SheetMacroEnabled.12">
                  <p:link updateAutomatic="1"/>
                </p:oleObj>
              </mc:Choice>
              <mc:Fallback>
                <p:oleObj name="Macro-Enabled Worksheet" r:id="rId4" imgW="9928683" imgH="5463516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17613" y="1585913"/>
                        <a:ext cx="827722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839622"/>
              </p:ext>
            </p:extLst>
          </p:nvPr>
        </p:nvGraphicFramePr>
        <p:xfrm>
          <a:off x="1250950" y="2544763"/>
          <a:ext cx="848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Macro-Enabled Worksheet" r:id="rId4" imgW="8244911" imgH="358179" progId="Excel.SheetMacroEnabled.12">
                  <p:link updateAutomatic="1"/>
                </p:oleObj>
              </mc:Choice>
              <mc:Fallback>
                <p:oleObj name="Macro-Enabled Worksheet" r:id="rId4" imgW="8244911" imgH="35817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0950" y="2544763"/>
                        <a:ext cx="84836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499193"/>
              </p:ext>
            </p:extLst>
          </p:nvPr>
        </p:nvGraphicFramePr>
        <p:xfrm>
          <a:off x="1384300" y="2100263"/>
          <a:ext cx="9217025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Macro-Enabled Worksheet" r:id="rId4" imgW="13403403" imgH="4008199" progId="Excel.SheetMacroEnabled.12">
                  <p:link updateAutomatic="1"/>
                </p:oleObj>
              </mc:Choice>
              <mc:Fallback>
                <p:oleObj name="Macro-Enabled Worksheet" r:id="rId4" imgW="13403403" imgH="4008199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84300" y="2100263"/>
                        <a:ext cx="9217025" cy="26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976828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Macro-Enabled Worksheet" r:id="rId3" imgW="11186302" imgH="3474767" progId="Excel.SheetMacroEnabled.12">
                  <p:link updateAutomatic="1"/>
                </p:oleObj>
              </mc:Choice>
              <mc:Fallback>
                <p:oleObj name="Macro-Enabled Worksheet" r:id="rId3" imgW="11186302" imgH="3474767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4985200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Macro-Enabled Worksheet" r:id="rId3" imgW="11186302" imgH="3474767" progId="Excel.SheetMacroEnabled.12">
                  <p:link updateAutomatic="1"/>
                </p:oleObj>
              </mc:Choice>
              <mc:Fallback>
                <p:oleObj name="Macro-Enabled Worksheet" r:id="rId3" imgW="11186302" imgH="3474767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southcentralus1-mediap.svc.ms/transform/thumbnail?provider=spo&amp;inputFormat=png&amp;cs=fFNQTw&amp;docid=https%3A%2F%2Fcmmiinstitute951.sharepoint.com%3A443%2F_api%2Fv2.0%2Fdrives%2Fb!7IlM4k3Pp025a_nAxmhlEBq9nP-OpJ5AgP4b4gCMSh3CEvcsbH28S460E4Uj24da%2Fitems%2F01RKHJKOJEXI5QX7ODNFH372QO6YW54JXJ%3Fversion%3DPublished&amp;access_token=eyJ0eXAiOiJKV1QiLCJhbGciOiJub25lIn0.eyJhdWQiOiIwMDAwMDAwMy0wMDAwLTBmZjEtY2UwMC0wMDAwMDAwMDAwMDAvY21taWluc3RpdHV0ZTk1MS5zaGFyZXBvaW50LmNvbUA5YTdmYmIyMS0xMTI0LTQ0NGUtODI3Ni01Y2NiNmYxOTYxN2EiLCJpc3MiOiIwMDAwMDAwMy0wMDAwLTBmZjEtY2UwMC0wMDAwMDAwMDAwMDAiLCJuYmYiOiIxNTM1Mzc4MjExIiwiZXhwIjoiMTUzNTM5OTgxMSIsImVuZHBvaW50dXJsIjoiWnNYQm5ab1JBcDJXeGdpSkdkOXVWdkNmL1pBY2llODVsR2ovUkNqZHBXVT0iLCJlbmRwb2ludHVybExlbmd0aCI6IjEyMyIsImlzbG9vcGJhY2siOiJUcnVlIiwiY2lkIjoiT1RGa1pEZzRPV1V0TkRBME9TMDJNREF3TFRsaVlXRXRPVFptTnpabVptTmlZMkZtIiwidmVyIjoiaGFzaGVkcHJvb2Z0b2tlbiIsInNpdGVpZCI6IlpUSTBZemc1WldNdFkyWTBaQzAwWkdFM0xXSTVObUl0Wmpsak1HTTJOamcyTlRFdyIsInNpZ25pbl9zdGF0ZSI6IltcImttc2lcIl0iLCJuYW1laWQiOiIwIy5mfG1lbWJlcnNoaXB8c25hdGhAY21taWluc3RpdHV0ZS5jb20iLCJuaWkiOiJtaWNyb3NvZnQuc2hhcmVwb2ludCIsImlzdXNlciI6InRydWUiLCJjYWNoZWtleSI6IjBoLmZ8bWVtYmVyc2hpcHwxMDAzM2ZmZjk2NjY3ODUzQGxpdmUuY29tIiwidHQiOiIwIiwidXNlUGVyc2lzdGVudENvb2tpZSI6IjMifQ.V21CS21McWlOQ3JNdjhaMEFMQm9qcEFsaU9sM2N1VzBndE9NWUJ2ck53OD0&amp;encodeFailures=1&amp;width=1000&amp;height=583&amp;srcWidth=1000&amp;srcHeight=583">
            <a:extLst>
              <a:ext uri="{FF2B5EF4-FFF2-40B4-BE49-F238E27FC236}">
                <a16:creationId xmlns:a16="http://schemas.microsoft.com/office/drawing/2014/main" id="{47AE2C04-8F9A-4703-B26A-CB76BF8DC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7534" y="1275558"/>
            <a:ext cx="8062137" cy="470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52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2436567"/>
              </p:ext>
            </p:extLst>
          </p:nvPr>
        </p:nvGraphicFramePr>
        <p:xfrm>
          <a:off x="1109663" y="1454150"/>
          <a:ext cx="6737350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Macro-Enabled Worksheet" r:id="rId4" imgW="12489003" imgH="9060235" progId="Excel.SheetMacroEnabled.12">
                  <p:link updateAutomatic="1"/>
                </p:oleObj>
              </mc:Choice>
              <mc:Fallback>
                <p:oleObj name="Macro-Enabled Worksheet" r:id="rId4" imgW="12489003" imgH="9060235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09663" y="1454150"/>
                        <a:ext cx="6737350" cy="439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415538"/>
              </p:ext>
            </p:extLst>
          </p:nvPr>
        </p:nvGraphicFramePr>
        <p:xfrm>
          <a:off x="882650" y="942975"/>
          <a:ext cx="3424238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Macro-Enabled Worksheet" r:id="rId6" imgW="3330117" imgH="7675" progId="Excel.SheetMacroEnabled.12">
                  <p:link updateAutomatic="1"/>
                </p:oleObj>
              </mc:Choice>
              <mc:Fallback>
                <p:oleObj name="Macro-Enabled Worksheet" r:id="rId6" imgW="3330117" imgH="7675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82650" y="942975"/>
                        <a:ext cx="3424238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674375"/>
              </p:ext>
            </p:extLst>
          </p:nvPr>
        </p:nvGraphicFramePr>
        <p:xfrm>
          <a:off x="1006475" y="1606550"/>
          <a:ext cx="82454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Macro-Enabled Worksheet" r:id="rId3" imgW="8244911" imgH="2819384" progId="Excel.SheetMacroEnabled.12">
                  <p:link updateAutomatic="1"/>
                </p:oleObj>
              </mc:Choice>
              <mc:Fallback>
                <p:oleObj name="Macro-Enabled Worksheet" r:id="rId3" imgW="8244911" imgH="2819384" progId="Excel.SheetMacroEnabled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475" y="1606550"/>
                        <a:ext cx="824547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ED6D-359B-4DB9-A138-F6149B35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Notice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C33A-3F28-4A57-89CE-6D34B3F73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This pptx has embedded links to </a:t>
            </a:r>
            <a:r>
              <a:rPr lang="en-US" sz="2000" dirty="0" err="1"/>
              <a:t>00_Data_Reference.xlsm</a:t>
            </a:r>
            <a:endParaRPr lang="en-US" sz="2000" dirty="0"/>
          </a:p>
          <a:p>
            <a:r>
              <a:rPr lang="en-US" sz="2000" dirty="0"/>
              <a:t>The latest information and version of the Benchmark Appraiser Support Environment (BASE) can be accessed at </a:t>
            </a:r>
            <a:r>
              <a:rPr lang="en-US" sz="2000" dirty="0" err="1">
                <a:hlinkClick r:id="rId2"/>
              </a:rPr>
              <a:t>www.demix.org</a:t>
            </a:r>
            <a:r>
              <a:rPr lang="en-US" sz="2000" dirty="0">
                <a:hlinkClick r:id="rId2"/>
              </a:rPr>
              <a:t>/tools</a:t>
            </a:r>
            <a:r>
              <a:rPr lang="en-US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70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</ds:schemaRefs>
</ds:datastoreItem>
</file>

<file path=customXml/itemProps2.xml><?xml version="1.0" encoding="utf-8"?>
<ds:datastoreItem xmlns:ds="http://schemas.openxmlformats.org/officeDocument/2006/customXml" ds:itemID="{215D0159-9F58-4DBF-8A7B-70E8F2D49CBB}"/>
</file>

<file path=customXml/itemProps3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819</TotalTime>
  <Words>1333</Words>
  <Application>Microsoft Office PowerPoint</Application>
  <PresentationFormat>Widescreen</PresentationFormat>
  <Paragraphs>92</Paragraphs>
  <Slides>22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22</vt:i4>
      </vt:variant>
    </vt:vector>
  </HeadingPairs>
  <TitlesOfParts>
    <vt:vector size="44" baseType="lpstr">
      <vt:lpstr>等线</vt:lpstr>
      <vt:lpstr>宋体</vt:lpstr>
      <vt:lpstr>Arial</vt:lpstr>
      <vt:lpstr>Calibri</vt:lpstr>
      <vt:lpstr>Calibri Light</vt:lpstr>
      <vt:lpstr>Open Sans</vt:lpstr>
      <vt:lpstr>Office Theme</vt:lpstr>
      <vt:lpstr>G:\2024-05-04to05-10 (A5) C384400 NASA\00_Data_Reference.xlsm!pptxCover!R4C2:R12C2</vt:lpstr>
      <vt:lpstr>G:\2024-05-04to05-10 (A5) C384400 NASA\00_Data_Reference.xlsm!pptxCover!R15C2:R17C2</vt:lpstr>
      <vt:lpstr>G:\2024-05-04to05-10 (A5) C384400 NASA\00_Data_Reference.xlsm!pptxCover!R20C2</vt:lpstr>
      <vt:lpstr>G:\2024-05-04to05-10 (A5) C384400 NASA\00_Data_Reference.xlsm!pptxLink1!R1C1:R7C2</vt:lpstr>
      <vt:lpstr>G:\2024-05-04to05-10 (A5) C384400 NASA\00_Data_Reference.xlsm!pptxLink1!R10C1:R18C2</vt:lpstr>
      <vt:lpstr>G:\2024-05-04to05-10 (A5) C384400 NASA\00_Data_Reference.xlsm!pptxLink2!R1C1:R4C1</vt:lpstr>
      <vt:lpstr>G:\2024-05-04to05-10 (A5) C384400 NASA\00_Data_Reference.xlsm!pptxLink1!R20C1:R31C2</vt:lpstr>
      <vt:lpstr>G:\2024-05-04to05-10 (A5) C384400 NASA\00_Data_Reference.xlsm!pptxLink3!R2C1:R24C9</vt:lpstr>
      <vt:lpstr>G:\2024-05-04to05-10 (A5) C384400 NASA\00_Data_Reference.xlsm!pptxLink1!R6C1:R7C2</vt:lpstr>
      <vt:lpstr>G:\2024-05-04to05-10 (A5) C384400 NASA\00_Data_Reference.xlsm!pptxLink4!R10C1:R27C20</vt:lpstr>
      <vt:lpstr>G:\2024-05-04to05-10 (A5) C384400 NASA\00_Data_Reference.xlsm!pptxLink5!R1C1:R11C5</vt:lpstr>
      <vt:lpstr>G:\2024-05-04to05-10 (A5) C384400 NASA\00_Data_Reference.xlsm!pptxLink5!R15C1:R21C5</vt:lpstr>
      <vt:lpstr>G:\2024-05-04to05-10 (A5) C384400 NASA\00_Data_Reference.xlsm!OULC!R50C2:R89C22</vt:lpstr>
      <vt:lpstr>G:\2024-05-04to05-10 (A5) C384400 NASA\00_Data_Reference.xlsm!pptxLink1!R8C4</vt:lpstr>
      <vt:lpstr>G:\2024-05-04to05-10 (A5) C384400 NASA\00_Data_Reference.xlsm!pptxLink1!R33C1:R40C2</vt:lpstr>
      <vt:lpstr>PowerPoint Presentation</vt:lpstr>
      <vt:lpstr>PowerPoint Presentation</vt:lpstr>
      <vt:lpstr>DEMIXIUM™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  <vt:lpstr>Notice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92</cp:revision>
  <dcterms:created xsi:type="dcterms:W3CDTF">2018-03-14T12:19:45Z</dcterms:created>
  <dcterms:modified xsi:type="dcterms:W3CDTF">2024-06-23T07:44:47Z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</Properties>
</file>