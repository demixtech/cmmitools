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56" r:id="rId5"/>
    <p:sldId id="493" r:id="rId6"/>
    <p:sldId id="1547" r:id="rId7"/>
    <p:sldId id="1549" r:id="rId8"/>
    <p:sldId id="270" r:id="rId9"/>
    <p:sldId id="928" r:id="rId10"/>
    <p:sldId id="913" r:id="rId11"/>
    <p:sldId id="1550" r:id="rId12"/>
    <p:sldId id="1551" r:id="rId13"/>
    <p:sldId id="310" r:id="rId14"/>
    <p:sldId id="1513" r:id="rId15"/>
    <p:sldId id="914" r:id="rId16"/>
    <p:sldId id="915" r:id="rId17"/>
    <p:sldId id="1506" r:id="rId18"/>
    <p:sldId id="1507" r:id="rId19"/>
    <p:sldId id="912" r:id="rId20"/>
    <p:sldId id="919" r:id="rId21"/>
    <p:sldId id="1552" r:id="rId22"/>
    <p:sldId id="1514" r:id="rId23"/>
    <p:sldId id="483" r:id="rId24"/>
    <p:sldId id="298" r:id="rId25"/>
    <p:sldId id="151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4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2593" autoAdjust="0"/>
  </p:normalViewPr>
  <p:slideViewPr>
    <p:cSldViewPr snapToGrid="0">
      <p:cViewPr varScale="1">
        <p:scale>
          <a:sx n="73" d="100"/>
          <a:sy n="73" d="100"/>
        </p:scale>
        <p:origin x="1248" y="58"/>
      </p:cViewPr>
      <p:guideLst>
        <p:guide orient="horz" pos="572"/>
        <p:guide pos="64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6/23/2024</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Make sure the version of the model is correct when this slide is built. Replace the bold, italicized </a:t>
            </a:r>
            <a:r>
              <a:rPr lang="en-US" b="1" i="1"/>
              <a:t>x</a:t>
            </a:r>
            <a:r>
              <a:rPr lang="en-US" b="0" i="0"/>
              <a:t> with the correct version number.</a:t>
            </a:r>
            <a:endParaRPr lang="en-US"/>
          </a:p>
          <a:p>
            <a:endParaRPr lang="en-US"/>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a:p>
        </p:txBody>
      </p:sp>
    </p:spTree>
    <p:extLst>
      <p:ext uri="{BB962C8B-B14F-4D97-AF65-F5344CB8AC3E}">
        <p14:creationId xmlns:p14="http://schemas.microsoft.com/office/powerpoint/2010/main" val="3921174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a:p>
        </p:txBody>
      </p:sp>
    </p:spTree>
    <p:extLst>
      <p:ext uri="{BB962C8B-B14F-4D97-AF65-F5344CB8AC3E}">
        <p14:creationId xmlns:p14="http://schemas.microsoft.com/office/powerpoint/2010/main" val="609758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a:p>
        </p:txBody>
      </p:sp>
    </p:spTree>
    <p:extLst>
      <p:ext uri="{BB962C8B-B14F-4D97-AF65-F5344CB8AC3E}">
        <p14:creationId xmlns:p14="http://schemas.microsoft.com/office/powerpoint/2010/main" val="414332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16</a:t>
            </a:fld>
            <a:endParaRPr lang="en-US"/>
          </a:p>
        </p:txBody>
      </p:sp>
    </p:spTree>
    <p:extLst>
      <p:ext uri="{BB962C8B-B14F-4D97-AF65-F5344CB8AC3E}">
        <p14:creationId xmlns:p14="http://schemas.microsoft.com/office/powerpoint/2010/main" val="1265810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each practice, enter the OU-Level characterization (FM, LM, PM, DM, NY). The chart will set a color.</a:t>
            </a:r>
          </a:p>
          <a:p>
            <a:endParaRPr lang="en-US"/>
          </a:p>
          <a:p>
            <a:r>
              <a:rPr lang="en-US"/>
              <a:t>Based on the characterizations of all practices in each practice level, set the Practice Level rating to “S” (Satisfied) or “U” (Unsatisfied).</a:t>
            </a:r>
          </a:p>
          <a:p>
            <a:endParaRPr lang="en-US"/>
          </a:p>
          <a:p>
            <a:r>
              <a:rPr lang="en-US"/>
              <a:t>The PA Rating is the Highest Practice Level at which all practices for it, and all lower Practice Levels, are Satisfied.</a:t>
            </a:r>
          </a:p>
          <a:p>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For details, see the MDD, Activity 2.3.2 Determine Practice Group Ratings, and Activity </a:t>
            </a:r>
            <a:r>
              <a:rPr lang="en-US" b="0"/>
              <a:t>2.3.3 </a:t>
            </a:r>
            <a:r>
              <a:rPr lang="en-US" sz="1200" b="0" kern="1200">
                <a:solidFill>
                  <a:schemeClr val="tx1"/>
                </a:solidFill>
                <a:effectLst/>
                <a:latin typeface="+mn-lt"/>
                <a:ea typeface="+mn-ea"/>
                <a:cs typeface="+mn-cs"/>
              </a:rPr>
              <a:t>Determine Practice Area and Maturity Level or Capability Level Profile Rating.</a:t>
            </a:r>
            <a:endParaRPr lang="en-US" b="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a:p>
        </p:txBody>
      </p:sp>
    </p:spTree>
    <p:extLst>
      <p:ext uri="{BB962C8B-B14F-4D97-AF65-F5344CB8AC3E}">
        <p14:creationId xmlns:p14="http://schemas.microsoft.com/office/powerpoint/2010/main" val="3892804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21</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3" name="Picture 2">
            <a:extLst>
              <a:ext uri="{FF2B5EF4-FFF2-40B4-BE49-F238E27FC236}">
                <a16:creationId xmlns:a16="http://schemas.microsoft.com/office/drawing/2014/main" id="{D32B81C3-8382-4113-BAD0-010A13E4DDA8}"/>
              </a:ext>
            </a:extLst>
          </p:cNvPr>
          <p:cNvPicPr>
            <a:picLocks noChangeAspect="1" noChangeArrowheads="1"/>
          </p:cNvPicPr>
          <p:nvPr userDrawn="1"/>
        </p:nvPicPr>
        <p:blipFill>
          <a:blip r:embed="rId16" cstate="print">
            <a:extLst>
              <a:ext uri="{BEBA8EAE-BF5A-486C-A8C5-ECC9F3942E4B}">
                <a14:imgProps xmlns:a14="http://schemas.microsoft.com/office/drawing/2010/main">
                  <a14:imgLayer r:embed="rId17">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1" name="Slide Number Placeholder 5">
            <a:extLst>
              <a:ext uri="{FF2B5EF4-FFF2-40B4-BE49-F238E27FC236}">
                <a16:creationId xmlns:a16="http://schemas.microsoft.com/office/drawing/2014/main" id="{3E0C077D-8819-4F9D-8722-D73A05643AA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1871D06-6ED0-464B-BBB6-E62FF3A17D7D}"/>
              </a:ext>
            </a:extLst>
          </p:cNvPr>
          <p:cNvPicPr>
            <a:picLocks noChangeAspect="1"/>
          </p:cNvPicPr>
          <p:nvPr userDrawn="1"/>
        </p:nvPicPr>
        <p:blipFill rotWithShape="1">
          <a:blip r:embed="rId18">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sp>
        <p:nvSpPr>
          <p:cNvPr id="4" name="TextBox 3">
            <a:extLst>
              <a:ext uri="{FF2B5EF4-FFF2-40B4-BE49-F238E27FC236}">
                <a16:creationId xmlns:a16="http://schemas.microsoft.com/office/drawing/2014/main" id="{7B1C3F22-7FA0-47B5-A977-F0D9B341A6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4" name="TextBox 13">
            <a:extLst>
              <a:ext uri="{FF2B5EF4-FFF2-40B4-BE49-F238E27FC236}">
                <a16:creationId xmlns:a16="http://schemas.microsoft.com/office/drawing/2014/main" id="{318C8DCE-B80F-4E81-9623-EF0D27922F8E}"/>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20(A5)%20C384400%20NASA\00_Data_Reference.xlsm!pptxCover!R4C2:R12C2" TargetMode="External"/><Relationship Id="rId7" Type="http://schemas.openxmlformats.org/officeDocument/2006/relationships/oleObject" Target="file:///G:\2024-05-04to05-10%20(A5)%20C384400%20NASA\00_Data_Reference.xlsm!pptxCover!R20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20(A5)%20C384400%20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8.emf"/><Relationship Id="rId4" Type="http://schemas.openxmlformats.org/officeDocument/2006/relationships/oleObject" Target="file:///G:\2024-05-04to05-10%20(A5)%20C384400%20NASA\00_Data_Reference.xlsm!pptxLink1!R1C1:R7C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9.emf"/><Relationship Id="rId4" Type="http://schemas.openxmlformats.org/officeDocument/2006/relationships/oleObject" Target="file:///G:\2024-05-04to05-10%20(A5)%20C384400%20NASA\00_Data_Reference.xlsm!pptxLink1!R10C1:R18C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0.emf"/><Relationship Id="rId4" Type="http://schemas.openxmlformats.org/officeDocument/2006/relationships/oleObject" Target="file:///G:\2024-05-04to05-10%20(A5)%20C384400%20NASA\00_Data_Reference.xlsm!pptxLink2!R1C1:R4C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1.emf"/><Relationship Id="rId4" Type="http://schemas.openxmlformats.org/officeDocument/2006/relationships/oleObject" Target="file:///G:\2024-05-04to05-10%20(A5)%20C384400%20NASA\00_Data_Reference.xlsm!pptxLink1!R20C1:R31C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2.emf"/><Relationship Id="rId4" Type="http://schemas.openxmlformats.org/officeDocument/2006/relationships/oleObject" Target="file:///G:\2024-05-04to05-10%20(A5)%20C384400%20NASA\00_Data_Reference.xlsm!pptxLink3!R2C1:R24C9"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3.emf"/><Relationship Id="rId4" Type="http://schemas.openxmlformats.org/officeDocument/2006/relationships/oleObject" Target="file:///G:\2024-05-04to05-10%20(A5)%20C384400%20NASA\00_Data_Reference.xlsm!pptxLink1!R6C1:R7C2"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4.emf"/><Relationship Id="rId4" Type="http://schemas.openxmlformats.org/officeDocument/2006/relationships/oleObject" Target="file:///G:\2024-05-04to05-10%20(A5)%20C384400%20NASA\00_Data_Reference.xlsm!pptxLink4!R10C1:R27C20"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C1:R11C5" TargetMode="Externa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5.emf"/></Relationships>
</file>

<file path=ppt/slides/_rels/slide1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5C1:R21C5" TargetMode="Externa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6.emf"/></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notesSlide" Target="../notesSlides/notesSlide12.xml"/><Relationship Id="rId7" Type="http://schemas.openxmlformats.org/officeDocument/2006/relationships/image" Target="../media/image49.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file:///G:\2024-05-04to05-10%20(A5)%20C384400%20NASA\00_Data_Reference.xlsm!pptxLink1!R8C4" TargetMode="External"/><Relationship Id="rId5" Type="http://schemas.openxmlformats.org/officeDocument/2006/relationships/image" Target="../media/image48.emf"/><Relationship Id="rId4" Type="http://schemas.openxmlformats.org/officeDocument/2006/relationships/oleObject" Target="file:///G:\2024-05-04to05-10%20(A5)%20C384400%20NASA\00_Data_Reference.xlsm!OULC!R50C2:R89C2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33C1:R40C2" TargetMode="External"/><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1.emf"/></Relationships>
</file>

<file path=ppt/slides/_rels/slide20.xml.rels><?xml version="1.0" encoding="UTF-8" standalone="yes"?>
<Relationships xmlns="http://schemas.openxmlformats.org/package/2006/relationships"><Relationship Id="rId3" Type="http://schemas.openxmlformats.org/officeDocument/2006/relationships/hyperlink" Target="delete/Schedule.pdf" TargetMode="External"/><Relationship Id="rId2" Type="http://schemas.openxmlformats.org/officeDocument/2006/relationships/hyperlink" Target="99_vf01_Schedule.pdf"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3.svg"/></Relationships>
</file>

<file path=ppt/slides/_rels/slide22.xml.rels><?xml version="1.0" encoding="UTF-8" standalone="yes"?>
<Relationships xmlns="http://schemas.openxmlformats.org/package/2006/relationships"><Relationship Id="rId2" Type="http://schemas.openxmlformats.org/officeDocument/2006/relationships/hyperlink" Target="http://www.demix.org/too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Opening Briefing</a:t>
            </a:r>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3994236958"/>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spid="_x0000_s1032" name="Macro-Enabled Worksheet" r:id="rId3" imgW="5196769" imgH="2918310" progId="Excel.SheetMacroEnabled.12">
                  <p:link updateAutomatic="1"/>
                </p:oleObj>
              </mc:Choice>
              <mc:Fallback>
                <p:oleObj name="Macro-Enabled Worksheet" r:id="rId3" imgW="5196769" imgH="2918310" progId="Excel.SheetMacroEnabled.12">
                  <p:link updateAutomatic="1"/>
                  <p:pic>
                    <p:nvPicPr>
                      <p:cNvPr id="0" name=""/>
                      <p:cNvPicPr/>
                      <p:nvPr/>
                    </p:nvPicPr>
                    <p:blipFill>
                      <a:blip r:embed="rId4"/>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824816338"/>
              </p:ext>
            </p:extLst>
          </p:nvPr>
        </p:nvGraphicFramePr>
        <p:xfrm>
          <a:off x="3497263" y="5378450"/>
          <a:ext cx="5197475" cy="671513"/>
        </p:xfrm>
        <a:graphic>
          <a:graphicData uri="http://schemas.openxmlformats.org/presentationml/2006/ole">
            <mc:AlternateContent xmlns:mc="http://schemas.openxmlformats.org/markup-compatibility/2006">
              <mc:Choice xmlns:v="urn:schemas-microsoft-com:vml" Requires="v">
                <p:oleObj spid="_x0000_s1033"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0" name=""/>
                      <p:cNvPicPr/>
                      <p:nvPr/>
                    </p:nvPicPr>
                    <p:blipFill>
                      <a:blip r:embed="rId6"/>
                      <a:stretch>
                        <a:fillRect/>
                      </a:stretch>
                    </p:blipFill>
                    <p:spPr>
                      <a:xfrm>
                        <a:off x="3497263" y="5378450"/>
                        <a:ext cx="5197475" cy="671513"/>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59536454-AD5B-4F94-8339-31EA3769035D}"/>
              </a:ext>
            </a:extLst>
          </p:cNvPr>
          <p:cNvGraphicFramePr>
            <a:graphicFrameLocks noChangeAspect="1"/>
          </p:cNvGraphicFramePr>
          <p:nvPr>
            <p:extLst>
              <p:ext uri="{D42A27DB-BD31-4B8C-83A1-F6EECF244321}">
                <p14:modId xmlns:p14="http://schemas.microsoft.com/office/powerpoint/2010/main" val="1492686528"/>
              </p:ext>
            </p:extLst>
          </p:nvPr>
        </p:nvGraphicFramePr>
        <p:xfrm>
          <a:off x="3497263" y="5168900"/>
          <a:ext cx="5197475" cy="274638"/>
        </p:xfrm>
        <a:graphic>
          <a:graphicData uri="http://schemas.openxmlformats.org/presentationml/2006/ole">
            <mc:AlternateContent xmlns:mc="http://schemas.openxmlformats.org/markup-compatibility/2006">
              <mc:Choice xmlns:v="urn:schemas-microsoft-com:vml" Requires="v">
                <p:oleObj spid="_x0000_s1034"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0" name=""/>
                      <p:cNvPicPr/>
                      <p:nvPr/>
                    </p:nvPicPr>
                    <p:blipFill>
                      <a:blip r:embed="rId8"/>
                      <a:stretch>
                        <a:fillRect/>
                      </a:stretch>
                    </p:blipFill>
                    <p:spPr>
                      <a:xfrm>
                        <a:off x="3497263" y="5168900"/>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sp>
        <p:nvSpPr>
          <p:cNvPr id="3077" name="TextBox 4"/>
          <p:cNvSpPr txBox="1">
            <a:spLocks noChangeArrowheads="1"/>
          </p:cNvSpPr>
          <p:nvPr/>
        </p:nvSpPr>
        <p:spPr bwMode="auto">
          <a:xfrm>
            <a:off x="2057399" y="3550122"/>
            <a:ext cx="8077201"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ZA" altLang="zh-CN" sz="1800" dirty="0">
                <a:latin typeface="+mn-lt"/>
              </a:rPr>
              <a:t>It is a pleasure and an honour to be here with you today. We are looking forward to working with you and your team over the coming days.</a:t>
            </a:r>
          </a:p>
          <a:p>
            <a:pPr algn="ctr" eaLnBrk="1" hangingPunct="1"/>
            <a:r>
              <a:rPr lang="zh-TW" altLang="en-US" sz="2000" dirty="0">
                <a:solidFill>
                  <a:srgbClr val="1F497D"/>
                </a:solidFill>
                <a:latin typeface="宋体" panose="02010600030101010101" pitchFamily="2" charset="-122"/>
                <a:ea typeface="宋体" panose="02010600030101010101" pitchFamily="2" charset="-122"/>
              </a:rPr>
              <a:t>今天我很高興和榮幸來到這裡，我期待著在未來的几天里與您和您的團隊一起工作。</a:t>
            </a:r>
            <a:endParaRPr lang="en-ZA" altLang="zh-CN" sz="2000" dirty="0">
              <a:solidFill>
                <a:srgbClr val="1F497D"/>
              </a:solidFill>
              <a:latin typeface="宋体" panose="02010600030101010101" pitchFamily="2" charset="-122"/>
              <a:ea typeface="宋体" panose="02010600030101010101" pitchFamily="2" charset="-122"/>
            </a:endParaRPr>
          </a:p>
        </p:txBody>
      </p:sp>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860053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465481" y="1878295"/>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970895" cy="369332"/>
          </a:xfrm>
          <a:prstGeom prst="rect">
            <a:avLst/>
          </a:prstGeom>
          <a:noFill/>
        </p:spPr>
        <p:txBody>
          <a:bodyPr wrap="none" rtlCol="0">
            <a:spAutoFit/>
          </a:bodyPr>
          <a:lstStyle/>
          <a:p>
            <a:r>
              <a:rPr lang="en-ZA" dirty="0"/>
              <a:t>Demixium™ Copyright </a:t>
            </a:r>
            <a:r>
              <a:rPr lang="en-ZA" dirty="0" err="1"/>
              <a:t>Demix</a:t>
            </a:r>
            <a:r>
              <a:rPr lang="en-ZA" dirty="0"/>
              <a:t> 2021-2024</a:t>
            </a:r>
          </a:p>
        </p:txBody>
      </p:sp>
      <p:sp>
        <p:nvSpPr>
          <p:cNvPr id="8" name="TextBox 7">
            <a:extLst>
              <a:ext uri="{FF2B5EF4-FFF2-40B4-BE49-F238E27FC236}">
                <a16:creationId xmlns:a16="http://schemas.microsoft.com/office/drawing/2014/main" id="{C5021C6B-98B3-4617-86D6-C346F83D70CA}"/>
              </a:ext>
            </a:extLst>
          </p:cNvPr>
          <p:cNvSpPr txBox="1"/>
          <p:nvPr/>
        </p:nvSpPr>
        <p:spPr>
          <a:xfrm>
            <a:off x="2777670" y="5844796"/>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308059" y="2606819"/>
            <a:ext cx="2719052" cy="2308324"/>
          </a:xfrm>
          <a:prstGeom prst="rect">
            <a:avLst/>
          </a:prstGeom>
          <a:noFill/>
        </p:spPr>
        <p:txBody>
          <a:bodyPr wrap="square" rtlCol="0">
            <a:spAutoFit/>
          </a:bodyPr>
          <a:lstStyle/>
          <a:p>
            <a:pPr algn="ctr"/>
            <a:r>
              <a:rPr lang="en-ZA" dirty="0"/>
              <a:t>Demixium is a collection of best practices to assess an organisation across a variety of domains and best practice models. It is available for free use under the MIT free use license agreement. </a:t>
            </a:r>
          </a:p>
        </p:txBody>
      </p:sp>
      <p:sp>
        <p:nvSpPr>
          <p:cNvPr id="10" name="TextBox 9">
            <a:extLst>
              <a:ext uri="{FF2B5EF4-FFF2-40B4-BE49-F238E27FC236}">
                <a16:creationId xmlns:a16="http://schemas.microsoft.com/office/drawing/2014/main" id="{4E369FE8-DAF2-49E0-852E-C869E262D50E}"/>
              </a:ext>
            </a:extLst>
          </p:cNvPr>
          <p:cNvSpPr txBox="1"/>
          <p:nvPr/>
        </p:nvSpPr>
        <p:spPr>
          <a:xfrm>
            <a:off x="7821539" y="3022317"/>
            <a:ext cx="2719052" cy="1477328"/>
          </a:xfrm>
          <a:prstGeom prst="rect">
            <a:avLst/>
          </a:prstGeom>
          <a:noFill/>
        </p:spPr>
        <p:txBody>
          <a:bodyPr wrap="square" rtlCol="0">
            <a:spAutoFit/>
          </a:bodyPr>
          <a:lstStyle/>
          <a:p>
            <a:pPr algn="ctr"/>
            <a:r>
              <a:rPr lang="en-US" altLang="zh-CN" dirty="0">
                <a:solidFill>
                  <a:srgbClr val="1F497D"/>
                </a:solidFill>
              </a:rPr>
              <a:t>Demixium </a:t>
            </a:r>
            <a:r>
              <a:rPr lang="zh-CN" altLang="en-US" dirty="0">
                <a:solidFill>
                  <a:srgbClr val="1F497D"/>
                </a:solidFill>
              </a:rPr>
              <a:t>是一组最佳实践的集合，用于跨各种领域和最佳实践模型评估组织。 它可根据 </a:t>
            </a:r>
            <a:r>
              <a:rPr lang="en-US" altLang="zh-CN" dirty="0">
                <a:solidFill>
                  <a:srgbClr val="1F497D"/>
                </a:solidFill>
              </a:rPr>
              <a:t>MIT </a:t>
            </a:r>
            <a:r>
              <a:rPr lang="zh-CN" altLang="en-US" dirty="0">
                <a:solidFill>
                  <a:srgbClr val="1F497D"/>
                </a:solidFill>
              </a:rPr>
              <a:t>免费使用许可协议免费使用。</a:t>
            </a:r>
            <a:endParaRPr lang="en-ZA" dirty="0">
              <a:solidFill>
                <a:srgbClr val="1F497D"/>
              </a:solidFill>
            </a:endParaRPr>
          </a:p>
        </p:txBody>
      </p:sp>
    </p:spTree>
    <p:extLst>
      <p:ext uri="{BB962C8B-B14F-4D97-AF65-F5344CB8AC3E}">
        <p14:creationId xmlns:p14="http://schemas.microsoft.com/office/powerpoint/2010/main" val="3546818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FD9062E2-4292-411C-8888-3870D8C30760}"/>
              </a:ext>
            </a:extLst>
          </p:cNvPr>
          <p:cNvGraphicFramePr>
            <a:graphicFrameLocks noChangeAspect="1"/>
          </p:cNvGraphicFramePr>
          <p:nvPr>
            <p:extLst>
              <p:ext uri="{D42A27DB-BD31-4B8C-83A1-F6EECF244321}">
                <p14:modId xmlns:p14="http://schemas.microsoft.com/office/powerpoint/2010/main" val="2807599905"/>
              </p:ext>
            </p:extLst>
          </p:nvPr>
        </p:nvGraphicFramePr>
        <p:xfrm>
          <a:off x="1030288" y="2095500"/>
          <a:ext cx="8483600" cy="1516063"/>
        </p:xfrm>
        <a:graphic>
          <a:graphicData uri="http://schemas.openxmlformats.org/presentationml/2006/ole">
            <mc:AlternateContent xmlns:mc="http://schemas.openxmlformats.org/markup-compatibility/2006">
              <mc:Choice xmlns:v="urn:schemas-microsoft-com:vml" Requires="v">
                <p:oleObj spid="_x0000_s2052" name="Macro-Enabled Worksheet" r:id="rId4" imgW="8244911" imgH="1432718" progId="Excel.SheetMacroEnabled.12">
                  <p:link updateAutomatic="1"/>
                </p:oleObj>
              </mc:Choice>
              <mc:Fallback>
                <p:oleObj name="Macro-Enabled Worksheet" r:id="rId4" imgW="8244911" imgH="1432718" progId="Excel.SheetMacroEnabled.12">
                  <p:link updateAutomatic="1"/>
                  <p:pic>
                    <p:nvPicPr>
                      <p:cNvPr id="0" name=""/>
                      <p:cNvPicPr/>
                      <p:nvPr/>
                    </p:nvPicPr>
                    <p:blipFill>
                      <a:blip r:embed="rId5"/>
                      <a:stretch>
                        <a:fillRect/>
                      </a:stretch>
                    </p:blipFill>
                    <p:spPr>
                      <a:xfrm>
                        <a:off x="1030288" y="2095500"/>
                        <a:ext cx="8483600" cy="1516063"/>
                      </a:xfrm>
                      <a:prstGeom prst="rect">
                        <a:avLst/>
                      </a:prstGeom>
                    </p:spPr>
                  </p:pic>
                </p:oleObj>
              </mc:Fallback>
            </mc:AlternateContent>
          </a:graphicData>
        </a:graphic>
      </p:graphicFrame>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382D3759-24A7-42E2-82DB-6309FF00C192}"/>
              </a:ext>
            </a:extLst>
          </p:cNvPr>
          <p:cNvGraphicFramePr>
            <a:graphicFrameLocks noChangeAspect="1"/>
          </p:cNvGraphicFramePr>
          <p:nvPr>
            <p:extLst>
              <p:ext uri="{D42A27DB-BD31-4B8C-83A1-F6EECF244321}">
                <p14:modId xmlns:p14="http://schemas.microsoft.com/office/powerpoint/2010/main" val="4186020105"/>
              </p:ext>
            </p:extLst>
          </p:nvPr>
        </p:nvGraphicFramePr>
        <p:xfrm>
          <a:off x="1189038" y="2009775"/>
          <a:ext cx="8482012" cy="1712913"/>
        </p:xfrm>
        <a:graphic>
          <a:graphicData uri="http://schemas.openxmlformats.org/presentationml/2006/ole">
            <mc:AlternateContent xmlns:mc="http://schemas.openxmlformats.org/markup-compatibility/2006">
              <mc:Choice xmlns:v="urn:schemas-microsoft-com:vml" Requires="v">
                <p:oleObj spid="_x0000_s3076" name="Macro-Enabled Worksheet" r:id="rId4" imgW="8244911" imgH="1584944" progId="Excel.SheetMacroEnabled.12">
                  <p:link updateAutomatic="1"/>
                </p:oleObj>
              </mc:Choice>
              <mc:Fallback>
                <p:oleObj name="Macro-Enabled Worksheet" r:id="rId4" imgW="8244911" imgH="1584944" progId="Excel.SheetMacroEnabled.12">
                  <p:link updateAutomatic="1"/>
                  <p:pic>
                    <p:nvPicPr>
                      <p:cNvPr id="0" name=""/>
                      <p:cNvPicPr/>
                      <p:nvPr/>
                    </p:nvPicPr>
                    <p:blipFill>
                      <a:blip r:embed="rId5"/>
                      <a:stretch>
                        <a:fillRect/>
                      </a:stretch>
                    </p:blipFill>
                    <p:spPr>
                      <a:xfrm>
                        <a:off x="1189038" y="2009775"/>
                        <a:ext cx="8482012" cy="1712913"/>
                      </a:xfrm>
                      <a:prstGeom prst="rect">
                        <a:avLst/>
                      </a:prstGeom>
                    </p:spPr>
                  </p:pic>
                </p:oleObj>
              </mc:Fallback>
            </mc:AlternateContent>
          </a:graphicData>
        </a:graphic>
      </p:graphicFrame>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2" name="Object 1">
            <a:extLst>
              <a:ext uri="{FF2B5EF4-FFF2-40B4-BE49-F238E27FC236}">
                <a16:creationId xmlns:a16="http://schemas.microsoft.com/office/drawing/2014/main" id="{641738B5-23C6-457B-BB18-AD965FCE0133}"/>
              </a:ext>
            </a:extLst>
          </p:cNvPr>
          <p:cNvGraphicFramePr>
            <a:graphicFrameLocks noChangeAspect="1"/>
          </p:cNvGraphicFramePr>
          <p:nvPr>
            <p:extLst>
              <p:ext uri="{D42A27DB-BD31-4B8C-83A1-F6EECF244321}">
                <p14:modId xmlns:p14="http://schemas.microsoft.com/office/powerpoint/2010/main" val="2400380782"/>
              </p:ext>
            </p:extLst>
          </p:nvPr>
        </p:nvGraphicFramePr>
        <p:xfrm>
          <a:off x="1103313" y="2127250"/>
          <a:ext cx="7643812" cy="1377950"/>
        </p:xfrm>
        <a:graphic>
          <a:graphicData uri="http://schemas.openxmlformats.org/presentationml/2006/ole">
            <mc:AlternateContent xmlns:mc="http://schemas.openxmlformats.org/markup-compatibility/2006">
              <mc:Choice xmlns:v="urn:schemas-microsoft-com:vml" Requires="v">
                <p:oleObj spid="_x0000_s4100" name="Macro-Enabled Worksheet" r:id="rId4" imgW="7437262" imgH="1394342" progId="Excel.SheetMacroEnabled.12">
                  <p:link updateAutomatic="1"/>
                </p:oleObj>
              </mc:Choice>
              <mc:Fallback>
                <p:oleObj name="Macro-Enabled Worksheet" r:id="rId4" imgW="7437262" imgH="1394342" progId="Excel.SheetMacroEnabled.12">
                  <p:link updateAutomatic="1"/>
                  <p:pic>
                    <p:nvPicPr>
                      <p:cNvPr id="0" name=""/>
                      <p:cNvPicPr/>
                      <p:nvPr/>
                    </p:nvPicPr>
                    <p:blipFill>
                      <a:blip r:embed="rId5"/>
                      <a:stretch>
                        <a:fillRect/>
                      </a:stretch>
                    </p:blipFill>
                    <p:spPr>
                      <a:xfrm>
                        <a:off x="1103313" y="2127250"/>
                        <a:ext cx="7643812" cy="1377950"/>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ZA" sz="1600" dirty="0"/>
              <a:t>A virtual appraisal code of conduct must include the following rules at a minimum: (ISACA MDD)</a:t>
            </a:r>
          </a:p>
          <a:p>
            <a:pPr marL="0" indent="0">
              <a:spcBef>
                <a:spcPts val="300"/>
              </a:spcBef>
              <a:buNone/>
            </a:pPr>
            <a:r>
              <a:rPr lang="zh-CN" altLang="en-US" sz="1600" dirty="0">
                <a:solidFill>
                  <a:srgbClr val="1F497D"/>
                </a:solidFill>
              </a:rPr>
              <a:t>远程评估行为准则必须包括以下规则：</a:t>
            </a:r>
            <a:r>
              <a:rPr lang="en-US" altLang="zh-CN" sz="1600" dirty="0">
                <a:solidFill>
                  <a:srgbClr val="1F497D"/>
                </a:solidFill>
              </a:rPr>
              <a:t>(ISACA MDD)</a:t>
            </a:r>
            <a:endParaRPr lang="en-ZA" sz="1600" dirty="0">
              <a:solidFill>
                <a:srgbClr val="1F497D"/>
              </a:solidFill>
            </a:endParaRPr>
          </a:p>
          <a:p>
            <a:pPr>
              <a:spcBef>
                <a:spcPts val="300"/>
              </a:spcBef>
            </a:pPr>
            <a:r>
              <a:rPr lang="en-ZA" sz="1600" dirty="0"/>
              <a:t>Participate actively in appraisal activities</a:t>
            </a:r>
            <a:br>
              <a:rPr lang="en-ZA" sz="1600" dirty="0"/>
            </a:br>
            <a:r>
              <a:rPr lang="zh-CN" altLang="en-US" sz="1600" dirty="0">
                <a:solidFill>
                  <a:srgbClr val="1F497D"/>
                </a:solidFill>
              </a:rPr>
              <a:t>积极参与评估活动。</a:t>
            </a:r>
            <a:endParaRPr lang="en-ZA" altLang="zh-CN" sz="1600" dirty="0">
              <a:solidFill>
                <a:srgbClr val="1F497D"/>
              </a:solidFill>
            </a:endParaRPr>
          </a:p>
          <a:p>
            <a:pPr>
              <a:spcBef>
                <a:spcPts val="300"/>
              </a:spcBef>
            </a:pPr>
            <a:r>
              <a:rPr lang="en-ZA" sz="1600"/>
              <a:t>To </a:t>
            </a:r>
            <a:r>
              <a:rPr lang="en-ZA" sz="1600" dirty="0"/>
              <a:t>meet confidentiality requirements, ATL may require no additional media or writing materials, laptops, or mobile devices other than those agreed as necessary for conducting virtual activities for some or all interviews</a:t>
            </a:r>
            <a:br>
              <a:rPr lang="en-ZA" sz="1600" dirty="0"/>
            </a:br>
            <a:r>
              <a:rPr lang="zh-CN" altLang="en-US" sz="1600" dirty="0">
                <a:solidFill>
                  <a:srgbClr val="1F497D"/>
                </a:solidFill>
              </a:rPr>
              <a:t>为了满足保密需求，除了评估所需的设备和材料外，主任评估师可能不需要其他设备或材料：包括纸质材料，其他笔记本电脑，移动设备等。</a:t>
            </a:r>
            <a:endParaRPr lang="en-ZA" sz="1600" dirty="0">
              <a:solidFill>
                <a:srgbClr val="1F497D"/>
              </a:solidFill>
            </a:endParaRPr>
          </a:p>
          <a:p>
            <a:pPr>
              <a:spcBef>
                <a:spcPts val="300"/>
              </a:spcBef>
            </a:pPr>
            <a:r>
              <a:rPr lang="en-ZA" sz="1600" dirty="0"/>
              <a:t>One person speaks at a time </a:t>
            </a:r>
            <a:br>
              <a:rPr lang="en-ZA" sz="1600" dirty="0"/>
            </a:br>
            <a:r>
              <a:rPr lang="zh-CN" altLang="en-US" sz="1600" dirty="0">
                <a:solidFill>
                  <a:srgbClr val="1F497D"/>
                </a:solidFill>
              </a:rPr>
              <a:t>每次只允许一个人说话。</a:t>
            </a:r>
            <a:endParaRPr lang="en-ZA" sz="1600" dirty="0">
              <a:solidFill>
                <a:srgbClr val="1F497D"/>
              </a:solidFill>
            </a:endParaRPr>
          </a:p>
          <a:p>
            <a:pPr>
              <a:spcBef>
                <a:spcPts val="300"/>
              </a:spcBef>
            </a:pPr>
            <a:r>
              <a:rPr lang="en-ZA" sz="1600" b="1" dirty="0"/>
              <a:t>All participants identify themselves when needed, including when asked by ATL, to verify their identity with a government issued photo ID.</a:t>
            </a:r>
            <a:br>
              <a:rPr lang="en-ZA" sz="1600" b="1" dirty="0"/>
            </a:br>
            <a:r>
              <a:rPr lang="zh-CN" altLang="en-US" sz="1600" dirty="0">
                <a:solidFill>
                  <a:srgbClr val="1F497D"/>
                </a:solidFill>
              </a:rPr>
              <a:t>评估师要求时，所有访谈人员需要出示身份证验证身份，身份证由政府发放且附带个人照片。</a:t>
            </a:r>
            <a:endParaRPr lang="en-ZA" sz="1600" dirty="0">
              <a:solidFill>
                <a:srgbClr val="1F497D"/>
              </a:solidFill>
            </a:endParaRPr>
          </a:p>
          <a:p>
            <a:pPr>
              <a:spcBef>
                <a:spcPts val="300"/>
              </a:spcBef>
            </a:pPr>
            <a:endParaRPr lang="en-ZA" sz="1600" dirty="0"/>
          </a:p>
          <a:p>
            <a:pPr marL="0" indent="0">
              <a:spcBef>
                <a:spcPts val="300"/>
              </a:spcBef>
              <a:buNone/>
            </a:pPr>
            <a:r>
              <a:rPr lang="en-ZA" sz="1600" dirty="0"/>
              <a:t>Additional required actions </a:t>
            </a:r>
            <a:r>
              <a:rPr lang="zh-CN" altLang="en-US" sz="1600" dirty="0">
                <a:solidFill>
                  <a:srgbClr val="1F497D"/>
                </a:solidFill>
              </a:rPr>
              <a:t>其他行为准则：</a:t>
            </a:r>
            <a:endParaRPr lang="en-ZA" sz="1600" dirty="0">
              <a:solidFill>
                <a:srgbClr val="1F497D"/>
              </a:solidFill>
            </a:endParaRPr>
          </a:p>
          <a:p>
            <a:pPr>
              <a:spcBef>
                <a:spcPts val="300"/>
              </a:spcBef>
            </a:pPr>
            <a:r>
              <a:rPr lang="en-ZA" sz="1600" dirty="0"/>
              <a:t>Video cameras should be on at all time.</a:t>
            </a:r>
            <a:br>
              <a:rPr lang="en-ZA" sz="1600" dirty="0"/>
            </a:br>
            <a:r>
              <a:rPr lang="zh-CN" altLang="en-US" sz="1600" dirty="0">
                <a:solidFill>
                  <a:srgbClr val="1F497D"/>
                </a:solidFill>
              </a:rPr>
              <a:t>摄像机需要一直保持开启状态。</a:t>
            </a:r>
            <a:endParaRPr lang="en-ZA" sz="1600" dirty="0">
              <a:solidFill>
                <a:srgbClr val="1F497D"/>
              </a:solidFill>
            </a:endParaRPr>
          </a:p>
        </p:txBody>
      </p:sp>
    </p:spTree>
    <p:extLst>
      <p:ext uri="{BB962C8B-B14F-4D97-AF65-F5344CB8AC3E}">
        <p14:creationId xmlns:p14="http://schemas.microsoft.com/office/powerpoint/2010/main" val="2258616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BCB14951-7702-4C0F-B6A6-21391A66B766}"/>
              </a:ext>
            </a:extLst>
          </p:cNvPr>
          <p:cNvGraphicFramePr>
            <a:graphicFrameLocks noChangeAspect="1"/>
          </p:cNvGraphicFramePr>
          <p:nvPr>
            <p:extLst>
              <p:ext uri="{D42A27DB-BD31-4B8C-83A1-F6EECF244321}">
                <p14:modId xmlns:p14="http://schemas.microsoft.com/office/powerpoint/2010/main" val="1747830809"/>
              </p:ext>
            </p:extLst>
          </p:nvPr>
        </p:nvGraphicFramePr>
        <p:xfrm>
          <a:off x="1033463" y="1936750"/>
          <a:ext cx="8245475" cy="2111375"/>
        </p:xfrm>
        <a:graphic>
          <a:graphicData uri="http://schemas.openxmlformats.org/presentationml/2006/ole">
            <mc:AlternateContent xmlns:mc="http://schemas.openxmlformats.org/markup-compatibility/2006">
              <mc:Choice xmlns:v="urn:schemas-microsoft-com:vml" Requires="v">
                <p:oleObj spid="_x0000_s5124" name="Macro-Enabled Worksheet" r:id="rId4" imgW="8244911" imgH="2110701" progId="Excel.SheetMacroEnabled.12">
                  <p:link updateAutomatic="1"/>
                </p:oleObj>
              </mc:Choice>
              <mc:Fallback>
                <p:oleObj name="Macro-Enabled Worksheet" r:id="rId4" imgW="8244911" imgH="2110701" progId="Excel.SheetMacroEnabled.12">
                  <p:link updateAutomatic="1"/>
                  <p:pic>
                    <p:nvPicPr>
                      <p:cNvPr id="0" name=""/>
                      <p:cNvPicPr/>
                      <p:nvPr/>
                    </p:nvPicPr>
                    <p:blipFill>
                      <a:blip r:embed="rId5"/>
                      <a:stretch>
                        <a:fillRect/>
                      </a:stretch>
                    </p:blipFill>
                    <p:spPr>
                      <a:xfrm>
                        <a:off x="1033463" y="1936750"/>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F46B053-1B94-4E5C-BCF3-2B2E652C78D9}"/>
              </a:ext>
            </a:extLst>
          </p:cNvPr>
          <p:cNvGraphicFramePr>
            <a:graphicFrameLocks noChangeAspect="1"/>
          </p:cNvGraphicFramePr>
          <p:nvPr>
            <p:extLst>
              <p:ext uri="{D42A27DB-BD31-4B8C-83A1-F6EECF244321}">
                <p14:modId xmlns:p14="http://schemas.microsoft.com/office/powerpoint/2010/main" val="1756822965"/>
              </p:ext>
            </p:extLst>
          </p:nvPr>
        </p:nvGraphicFramePr>
        <p:xfrm>
          <a:off x="1217613" y="1585913"/>
          <a:ext cx="8277225" cy="4432300"/>
        </p:xfrm>
        <a:graphic>
          <a:graphicData uri="http://schemas.openxmlformats.org/presentationml/2006/ole">
            <mc:AlternateContent xmlns:mc="http://schemas.openxmlformats.org/markup-compatibility/2006">
              <mc:Choice xmlns:v="urn:schemas-microsoft-com:vml" Requires="v">
                <p:oleObj spid="_x0000_s6148" name="Macro-Enabled Worksheet" r:id="rId4" imgW="9928683" imgH="5463516" progId="Excel.SheetMacroEnabled.12">
                  <p:link updateAutomatic="1"/>
                </p:oleObj>
              </mc:Choice>
              <mc:Fallback>
                <p:oleObj name="Macro-Enabled Worksheet" r:id="rId4" imgW="9928683" imgH="5463516" progId="Excel.SheetMacroEnabled.12">
                  <p:link updateAutomatic="1"/>
                  <p:pic>
                    <p:nvPicPr>
                      <p:cNvPr id="0" name=""/>
                      <p:cNvPicPr/>
                      <p:nvPr/>
                    </p:nvPicPr>
                    <p:blipFill>
                      <a:blip r:embed="rId5"/>
                      <a:stretch>
                        <a:fillRect/>
                      </a:stretch>
                    </p:blipFill>
                    <p:spPr>
                      <a:xfrm>
                        <a:off x="1217613" y="1585913"/>
                        <a:ext cx="8277225" cy="4432300"/>
                      </a:xfrm>
                      <a:prstGeom prst="rect">
                        <a:avLst/>
                      </a:prstGeom>
                    </p:spPr>
                  </p:pic>
                </p:oleObj>
              </mc:Fallback>
            </mc:AlternateContent>
          </a:graphicData>
        </a:graphic>
      </p:graphicFrame>
    </p:spTree>
    <p:extLst>
      <p:ext uri="{BB962C8B-B14F-4D97-AF65-F5344CB8AC3E}">
        <p14:creationId xmlns:p14="http://schemas.microsoft.com/office/powerpoint/2010/main" val="214038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B1E92499-A6AA-4251-A074-798371D4DD4A}"/>
              </a:ext>
            </a:extLst>
          </p:cNvPr>
          <p:cNvGraphicFramePr>
            <a:graphicFrameLocks noChangeAspect="1"/>
          </p:cNvGraphicFramePr>
          <p:nvPr>
            <p:extLst>
              <p:ext uri="{D42A27DB-BD31-4B8C-83A1-F6EECF244321}">
                <p14:modId xmlns:p14="http://schemas.microsoft.com/office/powerpoint/2010/main" val="133512946"/>
              </p:ext>
            </p:extLst>
          </p:nvPr>
        </p:nvGraphicFramePr>
        <p:xfrm>
          <a:off x="1250950" y="2544763"/>
          <a:ext cx="8483600" cy="385762"/>
        </p:xfrm>
        <a:graphic>
          <a:graphicData uri="http://schemas.openxmlformats.org/presentationml/2006/ole">
            <mc:AlternateContent xmlns:mc="http://schemas.openxmlformats.org/markup-compatibility/2006">
              <mc:Choice xmlns:v="urn:schemas-microsoft-com:vml" Requires="v">
                <p:oleObj spid="_x0000_s7172" name="Macro-Enabled Worksheet" r:id="rId4" imgW="8244911" imgH="358179" progId="Excel.SheetMacroEnabled.12">
                  <p:link updateAutomatic="1"/>
                </p:oleObj>
              </mc:Choice>
              <mc:Fallback>
                <p:oleObj name="Macro-Enabled Worksheet" r:id="rId4" imgW="8244911" imgH="358179" progId="Excel.SheetMacroEnabled.12">
                  <p:link updateAutomatic="1"/>
                  <p:pic>
                    <p:nvPicPr>
                      <p:cNvPr id="0" name=""/>
                      <p:cNvPicPr/>
                      <p:nvPr/>
                    </p:nvPicPr>
                    <p:blipFill>
                      <a:blip r:embed="rId5"/>
                      <a:stretch>
                        <a:fillRect/>
                      </a:stretch>
                    </p:blipFill>
                    <p:spPr>
                      <a:xfrm>
                        <a:off x="1250950" y="2544763"/>
                        <a:ext cx="8483600" cy="385762"/>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a:ea typeface="ＭＳ Ｐゴシック" charset="-128"/>
              </a:rPr>
              <a:t>Appraisal Scope – Organizational Sample</a:t>
            </a:r>
          </a:p>
        </p:txBody>
      </p:sp>
      <p:graphicFrame>
        <p:nvGraphicFramePr>
          <p:cNvPr id="4" name="Object 3">
            <a:extLst>
              <a:ext uri="{FF2B5EF4-FFF2-40B4-BE49-F238E27FC236}">
                <a16:creationId xmlns:a16="http://schemas.microsoft.com/office/drawing/2014/main" id="{D21A5A95-7C57-4184-BE79-BFD78ABD81F8}"/>
              </a:ext>
            </a:extLst>
          </p:cNvPr>
          <p:cNvGraphicFramePr>
            <a:graphicFrameLocks noChangeAspect="1"/>
          </p:cNvGraphicFramePr>
          <p:nvPr>
            <p:extLst>
              <p:ext uri="{D42A27DB-BD31-4B8C-83A1-F6EECF244321}">
                <p14:modId xmlns:p14="http://schemas.microsoft.com/office/powerpoint/2010/main" val="3321608922"/>
              </p:ext>
            </p:extLst>
          </p:nvPr>
        </p:nvGraphicFramePr>
        <p:xfrm>
          <a:off x="1384300" y="2100263"/>
          <a:ext cx="9217025" cy="2665412"/>
        </p:xfrm>
        <a:graphic>
          <a:graphicData uri="http://schemas.openxmlformats.org/presentationml/2006/ole">
            <mc:AlternateContent xmlns:mc="http://schemas.openxmlformats.org/markup-compatibility/2006">
              <mc:Choice xmlns:v="urn:schemas-microsoft-com:vml" Requires="v">
                <p:oleObj spid="_x0000_s8196" name="Macro-Enabled Worksheet" r:id="rId4" imgW="13403403" imgH="4008199" progId="Excel.SheetMacroEnabled.12">
                  <p:link updateAutomatic="1"/>
                </p:oleObj>
              </mc:Choice>
              <mc:Fallback>
                <p:oleObj name="Macro-Enabled Worksheet" r:id="rId4" imgW="13403403" imgH="4008199" progId="Excel.SheetMacroEnabled.12">
                  <p:link updateAutomatic="1"/>
                  <p:pic>
                    <p:nvPicPr>
                      <p:cNvPr id="0" name=""/>
                      <p:cNvPicPr/>
                      <p:nvPr/>
                    </p:nvPicPr>
                    <p:blipFill>
                      <a:blip r:embed="rId5"/>
                      <a:stretch>
                        <a:fillRect/>
                      </a:stretch>
                    </p:blipFill>
                    <p:spPr>
                      <a:xfrm>
                        <a:off x="1384300" y="2100263"/>
                        <a:ext cx="9217025" cy="2665412"/>
                      </a:xfrm>
                      <a:prstGeom prst="rect">
                        <a:avLst/>
                      </a:prstGeom>
                    </p:spPr>
                  </p:pic>
                </p:oleObj>
              </mc:Fallback>
            </mc:AlternateContent>
          </a:graphicData>
        </a:graphic>
      </p:graphicFrame>
    </p:spTree>
    <p:extLst>
      <p:ext uri="{BB962C8B-B14F-4D97-AF65-F5344CB8AC3E}">
        <p14:creationId xmlns:p14="http://schemas.microsoft.com/office/powerpoint/2010/main" val="2024739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826564A6-5108-42B5-A49B-FB8D3BA28106}"/>
              </a:ext>
            </a:extLst>
          </p:cNvPr>
          <p:cNvGraphicFramePr>
            <a:graphicFrameLocks noChangeAspect="1"/>
          </p:cNvGraphicFramePr>
          <p:nvPr>
            <p:extLst>
              <p:ext uri="{D42A27DB-BD31-4B8C-83A1-F6EECF244321}">
                <p14:modId xmlns:p14="http://schemas.microsoft.com/office/powerpoint/2010/main" val="153846796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9220"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53EE0D9B-0FA4-4BC3-A0BF-07768E788208}"/>
              </a:ext>
            </a:extLst>
          </p:cNvPr>
          <p:cNvGraphicFramePr>
            <a:graphicFrameLocks noChangeAspect="1"/>
          </p:cNvGraphicFramePr>
          <p:nvPr>
            <p:extLst>
              <p:ext uri="{D42A27DB-BD31-4B8C-83A1-F6EECF244321}">
                <p14:modId xmlns:p14="http://schemas.microsoft.com/office/powerpoint/2010/main" val="2802738207"/>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10244"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southcentralus1-mediap.svc.ms/transform/thumbnail?provider=spo&amp;inputFormat=png&amp;cs=fFNQTw&amp;docid=https%3A%2F%2Fcmmiinstitute951.sharepoint.com%3A443%2F_api%2Fv2.0%2Fdrives%2Fb!7IlM4k3Pp025a_nAxmhlEBq9nP-OpJ5AgP4b4gCMSh3CEvcsbH28S460E4Uj24da%2Fitems%2F01RKHJKOJEXI5QX7ODNFH372QO6YW54JXJ%3Fversion%3DPublished&amp;access_token=eyJ0eXAiOiJKV1QiLCJhbGciOiJub25lIn0.eyJhdWQiOiIwMDAwMDAwMy0wMDAwLTBmZjEtY2UwMC0wMDAwMDAwMDAwMDAvY21taWluc3RpdHV0ZTk1MS5zaGFyZXBvaW50LmNvbUA5YTdmYmIyMS0xMTI0LTQ0NGUtODI3Ni01Y2NiNmYxOTYxN2EiLCJpc3MiOiIwMDAwMDAwMy0wMDAwLTBmZjEtY2UwMC0wMDAwMDAwMDAwMDAiLCJuYmYiOiIxNTM1Mzc4MjExIiwiZXhwIjoiMTUzNTM5OTgxMSIsImVuZHBvaW50dXJsIjoiWnNYQm5ab1JBcDJXeGdpSkdkOXVWdkNmL1pBY2llODVsR2ovUkNqZHBXVT0iLCJlbmRwb2ludHVybExlbmd0aCI6IjEyMyIsImlzbG9vcGJhY2siOiJUcnVlIiwiY2lkIjoiT1RGa1pEZzRPV1V0TkRBME9TMDJNREF3TFRsaVlXRXRPVFptTnpabVptTmlZMkZtIiwidmVyIjoiaGFzaGVkcHJvb2Z0b2tlbiIsInNpdGVpZCI6IlpUSTBZemc1WldNdFkyWTBaQzAwWkdFM0xXSTVObUl0Wmpsak1HTTJOamcyTlRFdyIsInNpZ25pbl9zdGF0ZSI6IltcImttc2lcIl0iLCJuYW1laWQiOiIwIy5mfG1lbWJlcnNoaXB8c25hdGhAY21taWluc3RpdHV0ZS5jb20iLCJuaWkiOiJtaWNyb3NvZnQuc2hhcmVwb2ludCIsImlzdXNlciI6InRydWUiLCJjYWNoZWtleSI6IjBoLmZ8bWVtYmVyc2hpcHwxMDAzM2ZmZjk2NjY3ODUzQGxpdmUuY29tIiwidHQiOiIwIiwidXNlUGVyc2lzdGVudENvb2tpZSI6IjMifQ.V21CS21McWlOQ3JNdjhaMEFMQm9qcEFsaU9sM2N1VzBndE9NWUJ2ck53OD0&amp;encodeFailures=1&amp;width=1000&amp;height=583&amp;srcWidth=1000&amp;srcHeight=583">
            <a:extLst>
              <a:ext uri="{FF2B5EF4-FFF2-40B4-BE49-F238E27FC236}">
                <a16:creationId xmlns:a16="http://schemas.microsoft.com/office/drawing/2014/main" id="{47AE2C04-8F9A-4703-B26A-CB76BF8DC6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7534" y="1275558"/>
            <a:ext cx="8062137" cy="4700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522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a:extLst>
              <a:ext uri="{FF2B5EF4-FFF2-40B4-BE49-F238E27FC236}">
                <a16:creationId xmlns:a16="http://schemas.microsoft.com/office/drawing/2014/main" id="{33DEF144-708A-4FEC-9EEA-C59932602BE9}"/>
              </a:ext>
            </a:extLst>
          </p:cNvPr>
          <p:cNvGraphicFramePr>
            <a:graphicFrameLocks noChangeAspect="1"/>
          </p:cNvGraphicFramePr>
          <p:nvPr>
            <p:extLst>
              <p:ext uri="{D42A27DB-BD31-4B8C-83A1-F6EECF244321}">
                <p14:modId xmlns:p14="http://schemas.microsoft.com/office/powerpoint/2010/main" val="3553701155"/>
              </p:ext>
            </p:extLst>
          </p:nvPr>
        </p:nvGraphicFramePr>
        <p:xfrm>
          <a:off x="1109663" y="1454150"/>
          <a:ext cx="6737350" cy="4391025"/>
        </p:xfrm>
        <a:graphic>
          <a:graphicData uri="http://schemas.openxmlformats.org/presentationml/2006/ole">
            <mc:AlternateContent xmlns:mc="http://schemas.openxmlformats.org/markup-compatibility/2006">
              <mc:Choice xmlns:v="urn:schemas-microsoft-com:vml" Requires="v">
                <p:oleObj spid="_x0000_s11270" name="Macro-Enabled Worksheet" r:id="rId4" imgW="12489003" imgH="9060235" progId="Excel.SheetMacroEnabled.12">
                  <p:link updateAutomatic="1"/>
                </p:oleObj>
              </mc:Choice>
              <mc:Fallback>
                <p:oleObj name="Macro-Enabled Worksheet" r:id="rId4" imgW="12489003" imgH="9060235" progId="Excel.SheetMacroEnabled.12">
                  <p:link updateAutomatic="1"/>
                  <p:pic>
                    <p:nvPicPr>
                      <p:cNvPr id="0" name=""/>
                      <p:cNvPicPr/>
                      <p:nvPr/>
                    </p:nvPicPr>
                    <p:blipFill>
                      <a:blip r:embed="rId5"/>
                      <a:stretch>
                        <a:fillRect/>
                      </a:stretch>
                    </p:blipFill>
                    <p:spPr>
                      <a:xfrm>
                        <a:off x="1109663" y="1454150"/>
                        <a:ext cx="6737350" cy="4391025"/>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sp>
        <p:nvSpPr>
          <p:cNvPr id="8" name="Rectangle 7">
            <a:extLst>
              <a:ext uri="{FF2B5EF4-FFF2-40B4-BE49-F238E27FC236}">
                <a16:creationId xmlns:a16="http://schemas.microsoft.com/office/drawing/2014/main" id="{EF88894F-6E9F-4254-B365-2F77C95564B1}"/>
              </a:ext>
            </a:extLst>
          </p:cNvPr>
          <p:cNvSpPr/>
          <p:nvPr/>
        </p:nvSpPr>
        <p:spPr>
          <a:xfrm rot="19278004">
            <a:off x="6788537" y="4560584"/>
            <a:ext cx="2930610" cy="923330"/>
          </a:xfrm>
          <a:prstGeom prst="rect">
            <a:avLst/>
          </a:prstGeom>
          <a:solidFill>
            <a:schemeClr val="accent5">
              <a:lumMod val="20000"/>
              <a:lumOff val="80000"/>
            </a:schemeClr>
          </a:solidFill>
        </p:spPr>
        <p:txBody>
          <a:bodyPr wrap="none" lIns="91440" tIns="45720" rIns="91440" bIns="45720">
            <a:spAutoFit/>
          </a:bodyPr>
          <a:lstStyle/>
          <a:p>
            <a:pPr algn="ctr"/>
            <a:r>
              <a:rPr lang="en-US" sz="5400" b="1" cap="none" spc="0" dirty="0">
                <a:ln w="22225">
                  <a:solidFill>
                    <a:schemeClr val="accent1"/>
                  </a:solidFill>
                  <a:prstDash val="solid"/>
                </a:ln>
                <a:solidFill>
                  <a:schemeClr val="accent1">
                    <a:lumMod val="60000"/>
                    <a:lumOff val="40000"/>
                  </a:schemeClr>
                </a:solidFill>
                <a:effectLst/>
              </a:rPr>
              <a:t>EXAMPLE</a:t>
            </a:r>
          </a:p>
        </p:txBody>
      </p:sp>
      <p:graphicFrame>
        <p:nvGraphicFramePr>
          <p:cNvPr id="10" name="Object 9">
            <a:extLst>
              <a:ext uri="{FF2B5EF4-FFF2-40B4-BE49-F238E27FC236}">
                <a16:creationId xmlns:a16="http://schemas.microsoft.com/office/drawing/2014/main" id="{76263901-0FC3-47D8-A1D7-1F48982B2754}"/>
              </a:ext>
            </a:extLst>
          </p:cNvPr>
          <p:cNvGraphicFramePr>
            <a:graphicFrameLocks noChangeAspect="1"/>
          </p:cNvGraphicFramePr>
          <p:nvPr>
            <p:extLst>
              <p:ext uri="{D42A27DB-BD31-4B8C-83A1-F6EECF244321}">
                <p14:modId xmlns:p14="http://schemas.microsoft.com/office/powerpoint/2010/main" val="4104781462"/>
              </p:ext>
            </p:extLst>
          </p:nvPr>
        </p:nvGraphicFramePr>
        <p:xfrm>
          <a:off x="882650" y="942975"/>
          <a:ext cx="3424238" cy="190500"/>
        </p:xfrm>
        <a:graphic>
          <a:graphicData uri="http://schemas.openxmlformats.org/presentationml/2006/ole">
            <mc:AlternateContent xmlns:mc="http://schemas.openxmlformats.org/markup-compatibility/2006">
              <mc:Choice xmlns:v="urn:schemas-microsoft-com:vml" Requires="v">
                <p:oleObj spid="_x0000_s11271" name="Macro-Enabled Worksheet" r:id="rId6" imgW="3330117" imgH="7675" progId="Excel.SheetMacroEnabled.12">
                  <p:link updateAutomatic="1"/>
                </p:oleObj>
              </mc:Choice>
              <mc:Fallback>
                <p:oleObj name="Macro-Enabled Worksheet" r:id="rId6" imgW="3330117" imgH="7675" progId="Excel.SheetMacroEnabled.12">
                  <p:link updateAutomatic="1"/>
                  <p:pic>
                    <p:nvPicPr>
                      <p:cNvPr id="0" name=""/>
                      <p:cNvPicPr/>
                      <p:nvPr/>
                    </p:nvPicPr>
                    <p:blipFill>
                      <a:blip r:embed="rId7"/>
                      <a:stretch>
                        <a:fillRect/>
                      </a:stretch>
                    </p:blipFill>
                    <p:spPr>
                      <a:xfrm>
                        <a:off x="882650" y="942975"/>
                        <a:ext cx="3424238" cy="190500"/>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AA9BF04E-9042-4397-8AD5-790E790EB2D0}"/>
              </a:ext>
            </a:extLst>
          </p:cNvPr>
          <p:cNvPicPr>
            <a:picLocks noChangeAspect="1"/>
          </p:cNvPicPr>
          <p:nvPr/>
        </p:nvPicPr>
        <p:blipFill>
          <a:blip r:embed="rId8"/>
          <a:stretch>
            <a:fillRect/>
          </a:stretch>
        </p:blipFill>
        <p:spPr>
          <a:xfrm>
            <a:off x="9611360" y="2020570"/>
            <a:ext cx="1723565" cy="2134870"/>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92500" lnSpcReduction="20000"/>
          </a:bodyPr>
          <a:lstStyle/>
          <a:p>
            <a:pPr lvl="0"/>
            <a:r>
              <a:rPr lang="en-US" sz="2400" dirty="0"/>
              <a:t>Required Findings Categories:</a:t>
            </a:r>
          </a:p>
          <a:p>
            <a:pPr lvl="1"/>
            <a:r>
              <a:rPr lang="en-US" sz="2100" u="sng" dirty="0"/>
              <a:t>Weaknesses</a:t>
            </a:r>
            <a:r>
              <a:rPr lang="en-US" sz="2100" dirty="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2100" b="1" dirty="0"/>
          </a:p>
          <a:p>
            <a:pPr lvl="1"/>
            <a:endParaRPr lang="en-US" sz="2100" dirty="0"/>
          </a:p>
          <a:p>
            <a:pPr lvl="1"/>
            <a:r>
              <a:rPr lang="en-US" sz="2100" u="sng" dirty="0"/>
              <a:t>Strengths</a:t>
            </a:r>
            <a:r>
              <a:rPr lang="en-US" sz="2100" dirty="0"/>
              <a:t> - A type of preliminary or final finding, which is an exemplary or noteworthy implementation of a process that meets the intent and value of a CMMI model practice.</a:t>
            </a:r>
            <a:endParaRPr lang="en-US" sz="2100" b="1" dirty="0"/>
          </a:p>
          <a:p>
            <a:r>
              <a:rPr lang="zh-CN" altLang="en-US" sz="2400" dirty="0">
                <a:solidFill>
                  <a:srgbClr val="1F497D"/>
                </a:solidFill>
              </a:rPr>
              <a:t>所需结果类别：</a:t>
            </a:r>
          </a:p>
          <a:p>
            <a:pPr lvl="1"/>
            <a:r>
              <a:rPr lang="zh-CN" altLang="en-US" sz="2100" dirty="0">
                <a:solidFill>
                  <a:srgbClr val="1F497D"/>
                </a:solidFill>
              </a:rPr>
              <a:t>弱项</a:t>
            </a:r>
            <a:r>
              <a:rPr lang="en-US" altLang="zh-CN" sz="2100" dirty="0">
                <a:solidFill>
                  <a:srgbClr val="1F497D"/>
                </a:solidFill>
              </a:rPr>
              <a:t>——</a:t>
            </a:r>
            <a:r>
              <a:rPr lang="zh-CN" altLang="en-US" sz="2100" dirty="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2100" dirty="0">
                <a:solidFill>
                  <a:srgbClr val="1F497D"/>
                </a:solidFill>
              </a:rPr>
              <a:t>a</a:t>
            </a:r>
            <a:r>
              <a:rPr lang="zh-CN" altLang="en-US" sz="2100" dirty="0">
                <a:solidFill>
                  <a:srgbClr val="1F497D"/>
                </a:solidFill>
              </a:rPr>
              <a:t>）过程本身没有满足</a:t>
            </a:r>
            <a:r>
              <a:rPr lang="en-US" altLang="zh-CN" sz="2100" dirty="0">
                <a:solidFill>
                  <a:srgbClr val="1F497D"/>
                </a:solidFill>
              </a:rPr>
              <a:t>CMMI</a:t>
            </a:r>
            <a:r>
              <a:rPr lang="zh-CN" altLang="en-US" sz="2100" dirty="0">
                <a:solidFill>
                  <a:srgbClr val="1F497D"/>
                </a:solidFill>
              </a:rPr>
              <a:t>实践需求，或者</a:t>
            </a:r>
            <a:r>
              <a:rPr lang="en-US" altLang="zh-CN" sz="2100" dirty="0">
                <a:solidFill>
                  <a:srgbClr val="1F497D"/>
                </a:solidFill>
              </a:rPr>
              <a:t>b</a:t>
            </a:r>
            <a:r>
              <a:rPr lang="zh-CN" altLang="en-US" sz="2100" dirty="0">
                <a:solidFill>
                  <a:srgbClr val="1F497D"/>
                </a:solidFill>
              </a:rPr>
              <a:t>）项目或组织支持职能组没有遵循符合适用</a:t>
            </a:r>
            <a:r>
              <a:rPr lang="en-US" altLang="zh-CN" sz="2100" dirty="0">
                <a:solidFill>
                  <a:srgbClr val="1F497D"/>
                </a:solidFill>
              </a:rPr>
              <a:t>CMMI</a:t>
            </a:r>
            <a:r>
              <a:rPr lang="zh-CN" altLang="en-US" sz="2100" dirty="0">
                <a:solidFill>
                  <a:srgbClr val="1F497D"/>
                </a:solidFill>
              </a:rPr>
              <a:t>实践意图和价值的过程。</a:t>
            </a:r>
            <a:endParaRPr lang="en-ZA" altLang="zh-CN" sz="2100" dirty="0">
              <a:solidFill>
                <a:srgbClr val="1F497D"/>
              </a:solidFill>
            </a:endParaRPr>
          </a:p>
          <a:p>
            <a:pPr lvl="1"/>
            <a:r>
              <a:rPr lang="zh-CN" altLang="en-US" sz="2100" dirty="0">
                <a:solidFill>
                  <a:srgbClr val="1F497D"/>
                </a:solidFill>
              </a:rPr>
              <a:t>强项</a:t>
            </a:r>
            <a:r>
              <a:rPr lang="en-US" altLang="zh-CN" sz="2100" dirty="0">
                <a:solidFill>
                  <a:srgbClr val="1F497D"/>
                </a:solidFill>
              </a:rPr>
              <a:t>——</a:t>
            </a:r>
            <a:r>
              <a:rPr lang="zh-CN" altLang="en-US" sz="2100" dirty="0">
                <a:solidFill>
                  <a:srgbClr val="1F497D"/>
                </a:solidFill>
              </a:rPr>
              <a:t>一种初步或最终的发现，是一个模范性或值得注意的过程实现，其符合</a:t>
            </a:r>
            <a:r>
              <a:rPr lang="en-US" altLang="zh-CN" sz="2100" dirty="0">
                <a:solidFill>
                  <a:srgbClr val="1F497D"/>
                </a:solidFill>
              </a:rPr>
              <a:t>CMMI</a:t>
            </a:r>
            <a:r>
              <a:rPr lang="zh-CN" altLang="en-US" sz="2100" dirty="0">
                <a:solidFill>
                  <a:srgbClr val="1F497D"/>
                </a:solidFill>
              </a:rPr>
              <a:t>模型实践的意图和价值。</a:t>
            </a:r>
          </a:p>
          <a:p>
            <a:pPr lvl="1"/>
            <a:endParaRPr lang="en-US" dirty="0"/>
          </a:p>
        </p:txBody>
      </p:sp>
    </p:spTree>
    <p:extLst>
      <p:ext uri="{BB962C8B-B14F-4D97-AF65-F5344CB8AC3E}">
        <p14:creationId xmlns:p14="http://schemas.microsoft.com/office/powerpoint/2010/main" val="170804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16E6-A265-E647-863D-E6356B5F3E6D}"/>
              </a:ext>
            </a:extLst>
          </p:cNvPr>
          <p:cNvSpPr>
            <a:spLocks noGrp="1"/>
          </p:cNvSpPr>
          <p:nvPr>
            <p:ph type="title"/>
          </p:nvPr>
        </p:nvSpPr>
        <p:spPr>
          <a:xfrm>
            <a:off x="1055688" y="214371"/>
            <a:ext cx="10397836" cy="602284"/>
          </a:xfrm>
        </p:spPr>
        <p:txBody>
          <a:bodyPr/>
          <a:lstStyle/>
          <a:p>
            <a:r>
              <a:rPr lang="en-US" dirty="0"/>
              <a:t>Appraisal Outputs</a:t>
            </a:r>
          </a:p>
        </p:txBody>
      </p:sp>
      <p:graphicFrame>
        <p:nvGraphicFramePr>
          <p:cNvPr id="4" name="Object 3">
            <a:extLst>
              <a:ext uri="{FF2B5EF4-FFF2-40B4-BE49-F238E27FC236}">
                <a16:creationId xmlns:a16="http://schemas.microsoft.com/office/drawing/2014/main" id="{DBA6108F-A3D4-45BE-B8CA-9186C4E63FAB}"/>
              </a:ext>
            </a:extLst>
          </p:cNvPr>
          <p:cNvGraphicFramePr>
            <a:graphicFrameLocks noChangeAspect="1"/>
          </p:cNvGraphicFramePr>
          <p:nvPr>
            <p:extLst>
              <p:ext uri="{D42A27DB-BD31-4B8C-83A1-F6EECF244321}">
                <p14:modId xmlns:p14="http://schemas.microsoft.com/office/powerpoint/2010/main" val="219051790"/>
              </p:ext>
            </p:extLst>
          </p:nvPr>
        </p:nvGraphicFramePr>
        <p:xfrm>
          <a:off x="1006475" y="1606550"/>
          <a:ext cx="8245475" cy="2819400"/>
        </p:xfrm>
        <a:graphic>
          <a:graphicData uri="http://schemas.openxmlformats.org/presentationml/2006/ole">
            <mc:AlternateContent xmlns:mc="http://schemas.openxmlformats.org/markup-compatibility/2006">
              <mc:Choice xmlns:v="urn:schemas-microsoft-com:vml" Requires="v">
                <p:oleObj spid="_x0000_s12292" name="Macro-Enabled Worksheet" r:id="rId3" imgW="8244911" imgH="2819384" progId="Excel.SheetMacroEnabled.12">
                  <p:link updateAutomatic="1"/>
                </p:oleObj>
              </mc:Choice>
              <mc:Fallback>
                <p:oleObj name="Macro-Enabled Worksheet" r:id="rId3" imgW="8244911" imgH="2819384" progId="Excel.SheetMacroEnabled.12">
                  <p:link updateAutomatic="1"/>
                  <p:pic>
                    <p:nvPicPr>
                      <p:cNvPr id="0" name=""/>
                      <p:cNvPicPr/>
                      <p:nvPr/>
                    </p:nvPicPr>
                    <p:blipFill>
                      <a:blip r:embed="rId4"/>
                      <a:stretch>
                        <a:fillRect/>
                      </a:stretch>
                    </p:blipFill>
                    <p:spPr>
                      <a:xfrm>
                        <a:off x="1006475" y="1606550"/>
                        <a:ext cx="8245475" cy="2819400"/>
                      </a:xfrm>
                      <a:prstGeom prst="rect">
                        <a:avLst/>
                      </a:prstGeom>
                    </p:spPr>
                  </p:pic>
                </p:oleObj>
              </mc:Fallback>
            </mc:AlternateContent>
          </a:graphicData>
        </a:graphic>
      </p:graphicFrame>
    </p:spTree>
    <p:extLst>
      <p:ext uri="{BB962C8B-B14F-4D97-AF65-F5344CB8AC3E}">
        <p14:creationId xmlns:p14="http://schemas.microsoft.com/office/powerpoint/2010/main" val="1305494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ZA" dirty="0">
                <a:hlinkClick r:id="rId2" action="ppaction://hlinkfile"/>
              </a:rPr>
              <a:t>Appraisal Schedule</a:t>
            </a:r>
            <a:endParaRPr lang="en-ZA" dirty="0">
              <a:hlinkClick r:id="rId3" action="ppaction://hlinkfile"/>
            </a:endParaRPr>
          </a:p>
        </p:txBody>
      </p:sp>
      <p:sp>
        <p:nvSpPr>
          <p:cNvPr id="6" name="Subtitle 5"/>
          <p:cNvSpPr>
            <a:spLocks noGrp="1"/>
          </p:cNvSpPr>
          <p:nvPr>
            <p:ph type="subTitle" idx="1"/>
          </p:nvPr>
        </p:nvSpPr>
        <p:spPr/>
        <p:txBody>
          <a:bodyPr/>
          <a:lstStyle/>
          <a:p>
            <a:endParaRPr lang="en-ZA" dirty="0"/>
          </a:p>
        </p:txBody>
      </p:sp>
    </p:spTree>
    <p:extLst>
      <p:ext uri="{BB962C8B-B14F-4D97-AF65-F5344CB8AC3E}">
        <p14:creationId xmlns:p14="http://schemas.microsoft.com/office/powerpoint/2010/main" val="3507940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621809" y="1669312"/>
            <a:ext cx="4069207" cy="406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a:t>
            </a:r>
            <a:r>
              <a:rPr lang="en-US" sz="2000" dirty="0" err="1"/>
              <a:t>00_Data_Reference.xlsm</a:t>
            </a:r>
            <a:endParaRPr lang="en-US" sz="2000" dirty="0"/>
          </a:p>
          <a:p>
            <a:r>
              <a:rPr lang="en-US" sz="2000" dirty="0"/>
              <a:t>The latest information and version of the Benchmark Appraiser Support Environment (BASE) can be accessed at </a:t>
            </a:r>
            <a:r>
              <a:rPr lang="en-US" sz="2000" dirty="0" err="1">
                <a:hlinkClick r:id="rId2"/>
              </a:rPr>
              <a:t>www.demix.org</a:t>
            </a:r>
            <a:r>
              <a:rPr lang="en-US" sz="2000" dirty="0">
                <a:hlinkClick r:id="rId2"/>
              </a:rPr>
              <a:t>/tools</a:t>
            </a:r>
            <a:r>
              <a:rPr lang="en-US" sz="2000" dirty="0"/>
              <a:t> </a:t>
            </a:r>
          </a:p>
        </p:txBody>
      </p:sp>
    </p:spTree>
    <p:extLst>
      <p:ext uri="{BB962C8B-B14F-4D97-AF65-F5344CB8AC3E}">
        <p14:creationId xmlns:p14="http://schemas.microsoft.com/office/powerpoint/2010/main" val="3152701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http://schemas.microsoft.com/office/infopath/2007/PartnerControls"/>
    <ds:schemaRef ds:uri="ec500478-62e0-46fc-87f1-cfa988e486b4"/>
    <ds:schemaRef ds:uri="http://schemas.microsoft.com/office/2006/documentManagement/types"/>
    <ds:schemaRef ds:uri="http://purl.org/dc/terms/"/>
    <ds:schemaRef ds:uri="http://purl.org/dc/elements/1.1/"/>
    <ds:schemaRef ds:uri="http://www.w3.org/XML/1998/namespace"/>
    <ds:schemaRef ds:uri="http://schemas.openxmlformats.org/package/2006/metadata/core-properties"/>
    <ds:schemaRef ds:uri="72e3a154-4955-46c3-9573-e9dec3e1f195"/>
  </ds:schemaRefs>
</ds:datastoreItem>
</file>

<file path=customXml/itemProps3.xml><?xml version="1.0" encoding="utf-8"?>
<ds:datastoreItem xmlns:ds="http://schemas.openxmlformats.org/officeDocument/2006/customXml" ds:itemID="{BA6C9857-7684-46BD-976D-EFCD8F57D0AA}"/>
</file>

<file path=docProps/app.xml><?xml version="1.0" encoding="utf-8"?>
<Properties xmlns="http://schemas.openxmlformats.org/officeDocument/2006/extended-properties" xmlns:vt="http://schemas.openxmlformats.org/officeDocument/2006/docPropsVTypes">
  <TotalTime>815</TotalTime>
  <Words>1369</Words>
  <Application>Microsoft Office PowerPoint</Application>
  <PresentationFormat>Widescreen</PresentationFormat>
  <Paragraphs>86</Paragraphs>
  <Slides>22</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Links</vt:lpstr>
      </vt:variant>
      <vt:variant>
        <vt:i4>15</vt:i4>
      </vt:variant>
      <vt:variant>
        <vt:lpstr>Slide Titles</vt:lpstr>
      </vt:variant>
      <vt:variant>
        <vt:i4>22</vt:i4>
      </vt:variant>
    </vt:vector>
  </HeadingPairs>
  <TitlesOfParts>
    <vt:vector size="44" baseType="lpstr">
      <vt:lpstr>等线</vt:lpstr>
      <vt:lpstr>宋体</vt:lpstr>
      <vt:lpstr>Arial</vt:lpstr>
      <vt:lpstr>Calibri</vt:lpstr>
      <vt:lpstr>Calibri Light</vt:lpstr>
      <vt:lpstr>Open Sans</vt:lpstr>
      <vt:lpstr>Office Theme</vt:lpstr>
      <vt:lpstr>G:\2024-05-04to05-10 (A5) C384400 NASA\00_Data_Reference.xlsm!pptxCover!R4C2:R12C2</vt:lpstr>
      <vt:lpstr>G:\2024-05-04to05-10 (A5) C384400 NASA\00_Data_Reference.xlsm!pptxCover!R15C2:R17C2</vt:lpstr>
      <vt:lpstr>G:\2024-05-04to05-10 (A5) C384400 NASA\00_Data_Reference.xlsm!pptxCover!R20C2</vt:lpstr>
      <vt:lpstr>G:\2024-05-04to05-10 (A5) C384400 NASA\00_Data_Reference.xlsm!pptxLink1!R1C1:R7C2</vt:lpstr>
      <vt:lpstr>G:\2024-05-04to05-10 (A5) C384400 NASA\00_Data_Reference.xlsm!pptxLink1!R10C1:R18C2</vt:lpstr>
      <vt:lpstr>G:\2024-05-04to05-10 (A5) C384400 NASA\00_Data_Reference.xlsm!pptxLink2!R1C1:R4C1</vt:lpstr>
      <vt:lpstr>G:\2024-05-04to05-10 (A5) C384400 NASA\00_Data_Reference.xlsm!pptxLink1!R20C1:R31C2</vt:lpstr>
      <vt:lpstr>G:\2024-05-04to05-10 (A5) C384400 NASA\00_Data_Reference.xlsm!pptxLink3!R2C1:R24C9</vt:lpstr>
      <vt:lpstr>G:\2024-05-04to05-10 (A5) C384400 NASA\00_Data_Reference.xlsm!pptxLink1!R6C1:R7C2</vt:lpstr>
      <vt:lpstr>G:\2024-05-04to05-10 (A5) C384400 NASA\00_Data_Reference.xlsm!pptxLink4!R10C1:R27C20</vt:lpstr>
      <vt:lpstr>G:\2024-05-04to05-10 (A5) C384400 NASA\00_Data_Reference.xlsm!pptxLink5!R1C1:R11C5</vt:lpstr>
      <vt:lpstr>G:\2024-05-04to05-10 (A5) C384400 NASA\00_Data_Reference.xlsm!pptxLink5!R15C1:R21C5</vt:lpstr>
      <vt:lpstr>G:\2024-05-04to05-10 (A5) C384400 NASA\00_Data_Reference.xlsm!OULC!R50C2:R89C22</vt:lpstr>
      <vt:lpstr>G:\2024-05-04to05-10 (A5) C384400 NASA\00_Data_Reference.xlsm!pptxLink1!R8C4</vt:lpstr>
      <vt:lpstr>G:\2024-05-04to05-10 (A5) C384400 NASA\00_Data_Reference.xlsm!pptxLink1!R33C1:R40C2</vt:lpstr>
      <vt:lpstr>PowerPoint Presentation</vt:lpstr>
      <vt:lpstr>PowerPoint Presentation</vt:lpstr>
      <vt:lpstr>DEMIXIUM™</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PowerPoint Presentation</vt:lpstr>
      <vt:lpstr>Ratings for</vt:lpstr>
      <vt:lpstr>Findings Definitions – Required Categories</vt:lpstr>
      <vt:lpstr>Appraisal Outputs</vt:lpstr>
      <vt:lpstr>Appraisal Schedule</vt:lpstr>
      <vt:lpstr>PowerPoint Presentation</vt:lpstr>
      <vt:lpstr>Notice</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Pieter van Zyl</cp:lastModifiedBy>
  <cp:revision>87</cp:revision>
  <dcterms:created xsi:type="dcterms:W3CDTF">2018-03-14T12:19:45Z</dcterms:created>
  <dcterms:modified xsi:type="dcterms:W3CDTF">2024-06-23T07:24:24Z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ies>
</file>