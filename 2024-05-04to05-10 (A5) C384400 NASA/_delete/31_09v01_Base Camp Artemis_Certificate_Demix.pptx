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58" r:id="rId6"/>
  </p:sldIdLst>
  <p:sldSz cx="10693400" cy="75565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114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12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0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1828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151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678" y="2342518"/>
            <a:ext cx="909702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5357" y="4231642"/>
            <a:ext cx="749166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119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11730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119" y="302262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119" y="1737997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8812" y="7027547"/>
            <a:ext cx="34247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51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057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file:///G:\2024-05-04to05-10%20(A5)%20C384400%20NASA\00_Data_Reference.xlsm!pptxCertificate!R2C2:R3C9" TargetMode="External"/><Relationship Id="rId13" Type="http://schemas.openxmlformats.org/officeDocument/2006/relationships/image" Target="../media/image4.emf"/><Relationship Id="rId18" Type="http://schemas.openxmlformats.org/officeDocument/2006/relationships/image" Target="../media/image6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.emf"/><Relationship Id="rId12" Type="http://schemas.openxmlformats.org/officeDocument/2006/relationships/oleObject" Target="file:///G:\2024-05-04to05-10%20(A5)%20C384400%20NASA\00_Data_Reference.xlsm!pptxCertificate!R7C2:R7C9" TargetMode="External"/><Relationship Id="rId17" Type="http://schemas.openxmlformats.org/officeDocument/2006/relationships/oleObject" Target="file:///G:\2024-05-04to05-10%20(A5)%20C384400%20NASA\00_Data_Reference.xlsm!pptxCertificate!R11C6:R11C8" TargetMode="External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5.emf"/><Relationship Id="rId20" Type="http://schemas.openxmlformats.org/officeDocument/2006/relationships/image" Target="../media/image11.jpeg"/><Relationship Id="rId1" Type="http://schemas.openxmlformats.org/officeDocument/2006/relationships/vmlDrawing" Target="../drawings/vmlDrawing1.vml"/><Relationship Id="rId6" Type="http://schemas.openxmlformats.org/officeDocument/2006/relationships/oleObject" Target="file:///G:\2024-05-04to05-10%20(A5)%20C384400%20NASA\00_Data_Reference.xlsm!pptxCertificate!R9C7:R9C8" TargetMode="External"/><Relationship Id="rId11" Type="http://schemas.openxmlformats.org/officeDocument/2006/relationships/image" Target="../media/image3.emf"/><Relationship Id="rId5" Type="http://schemas.openxmlformats.org/officeDocument/2006/relationships/image" Target="../media/image8.jpg"/><Relationship Id="rId15" Type="http://schemas.openxmlformats.org/officeDocument/2006/relationships/oleObject" Target="file:///G:\2024-05-04to05-10%20(A5)%20C384400%20NASA\00_Data_Reference.xlsm!pptxCertificate!R13C7:R15C9" TargetMode="External"/><Relationship Id="rId10" Type="http://schemas.openxmlformats.org/officeDocument/2006/relationships/oleObject" Target="file:///G:\2024-05-04to05-10%20(A5)%20C384400%20NASA\00_Data_Reference.xlsm!pptxCertificate!R4C2:R5C9" TargetMode="External"/><Relationship Id="rId19" Type="http://schemas.openxmlformats.org/officeDocument/2006/relationships/image" Target="../media/image10.png"/><Relationship Id="rId4" Type="http://schemas.openxmlformats.org/officeDocument/2006/relationships/image" Target="../media/image7.jpeg"/><Relationship Id="rId9" Type="http://schemas.openxmlformats.org/officeDocument/2006/relationships/image" Target="../media/image2.emf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file:///G:\2024-05-04to05-10%20(A5)%20C384400%20NASA\00_Data_Reference.xlsm!pptxCertificate!R7C2:R7C9" TargetMode="External"/><Relationship Id="rId13" Type="http://schemas.openxmlformats.org/officeDocument/2006/relationships/image" Target="../media/image6.emf"/><Relationship Id="rId18" Type="http://schemas.openxmlformats.org/officeDocument/2006/relationships/image" Target="../media/image14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emf"/><Relationship Id="rId12" Type="http://schemas.openxmlformats.org/officeDocument/2006/relationships/oleObject" Target="file:///G:\2024-05-04to05-10%20(A5)%20C384400%20NASA\00_Data_Reference.xlsm!pptxCertificate!R11C6:R11C8" TargetMode="External"/><Relationship Id="rId17" Type="http://schemas.openxmlformats.org/officeDocument/2006/relationships/oleObject" Target="file:///G:\2024-05-04to05-10%20(A5)%20C384400%20NASA\00_Data_Reference.xlsm!pptxCertificate!R4C2:R4C9" TargetMode="External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3.emf"/><Relationship Id="rId20" Type="http://schemas.openxmlformats.org/officeDocument/2006/relationships/image" Target="../media/image11.jpeg"/><Relationship Id="rId1" Type="http://schemas.openxmlformats.org/officeDocument/2006/relationships/vmlDrawing" Target="../drawings/vmlDrawing2.vml"/><Relationship Id="rId6" Type="http://schemas.openxmlformats.org/officeDocument/2006/relationships/oleObject" Target="file:///G:\2024-05-04to05-10%20(A5)%20C384400%20NASA\00_Data_Reference.xlsm!pptxCertificate!R9C7:R9C8" TargetMode="External"/><Relationship Id="rId11" Type="http://schemas.openxmlformats.org/officeDocument/2006/relationships/image" Target="../media/image5.emf"/><Relationship Id="rId5" Type="http://schemas.openxmlformats.org/officeDocument/2006/relationships/image" Target="../media/image8.jpg"/><Relationship Id="rId15" Type="http://schemas.openxmlformats.org/officeDocument/2006/relationships/oleObject" Target="file:///G:\2024-05-04to05-10%20(A5)%20C384400%20NASA\00_Data_Reference.xlsm!pptxCertificate!R2C2:R2C9" TargetMode="External"/><Relationship Id="rId10" Type="http://schemas.openxmlformats.org/officeDocument/2006/relationships/oleObject" Target="file:///G:\2024-05-04to05-10%20(A5)%20C384400%20NASA\00_Data_Reference.xlsm!pptxCertificate!R13C7:R15C9" TargetMode="External"/><Relationship Id="rId19" Type="http://schemas.openxmlformats.org/officeDocument/2006/relationships/image" Target="../media/image9.png"/><Relationship Id="rId4" Type="http://schemas.openxmlformats.org/officeDocument/2006/relationships/image" Target="../media/image7.jpeg"/><Relationship Id="rId9" Type="http://schemas.openxmlformats.org/officeDocument/2006/relationships/image" Target="../media/image4.emf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91168"/>
              </p:ext>
            </p:extLst>
          </p:nvPr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46333"/>
              </p:ext>
            </p:extLst>
          </p:nvPr>
        </p:nvGraphicFramePr>
        <p:xfrm>
          <a:off x="1081292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68958"/>
              </p:ext>
            </p:extLst>
          </p:nvPr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977791"/>
              </p:ext>
            </p:extLst>
          </p:nvPr>
        </p:nvGraphicFramePr>
        <p:xfrm>
          <a:off x="4598988" y="4795838"/>
          <a:ext cx="26114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Macro-Enabled Worksheet" r:id="rId6" imgW="2522043" imgH="335154" progId="Excel.SheetMacroEnabled.12">
                  <p:link updateAutomatic="1"/>
                </p:oleObj>
              </mc:Choice>
              <mc:Fallback>
                <p:oleObj name="Macro-Enabled Worksheet" r:id="rId6" imgW="2522043" imgH="33515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98988" y="4795838"/>
                        <a:ext cx="2611437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BD05F25-B019-4315-AE22-D0939A9F1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099943"/>
              </p:ext>
            </p:extLst>
          </p:nvPr>
        </p:nvGraphicFramePr>
        <p:xfrm>
          <a:off x="1792288" y="2122488"/>
          <a:ext cx="7110412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Macro-Enabled Worksheet" r:id="rId8" imgW="6819723" imgH="548782" progId="Excel.SheetMacroEnabled.12">
                  <p:link updateAutomatic="1"/>
                </p:oleObj>
              </mc:Choice>
              <mc:Fallback>
                <p:oleObj name="Macro-Enabled Worksheet" r:id="rId8" imgW="6819723" imgH="54878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92288" y="2122488"/>
                        <a:ext cx="7110412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AD7DDDC-0AB7-4F41-8650-581DCBDF3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339608"/>
              </p:ext>
            </p:extLst>
          </p:nvPr>
        </p:nvGraphicFramePr>
        <p:xfrm>
          <a:off x="1712913" y="2913063"/>
          <a:ext cx="71104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Macro-Enabled Worksheet" r:id="rId10" imgW="6819723" imgH="640033" progId="Excel.SheetMacroEnabled.12">
                  <p:link updateAutomatic="1"/>
                </p:oleObj>
              </mc:Choice>
              <mc:Fallback>
                <p:oleObj name="Macro-Enabled Worksheet" r:id="rId10" imgW="6819723" imgH="64003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12913" y="2913063"/>
                        <a:ext cx="7110412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635191"/>
              </p:ext>
            </p:extLst>
          </p:nvPr>
        </p:nvGraphicFramePr>
        <p:xfrm>
          <a:off x="1830388" y="3717925"/>
          <a:ext cx="71104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Macro-Enabled Worksheet" r:id="rId12" imgW="6819723" imgH="335154" progId="Excel.SheetMacroEnabled.12">
                  <p:link updateAutomatic="1"/>
                </p:oleObj>
              </mc:Choice>
              <mc:Fallback>
                <p:oleObj name="Macro-Enabled Worksheet" r:id="rId12" imgW="6819723" imgH="33515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30388" y="3717925"/>
                        <a:ext cx="7110412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352840"/>
              </p:ext>
            </p:extLst>
          </p:nvPr>
        </p:nvGraphicFramePr>
        <p:xfrm>
          <a:off x="5208588" y="5902325"/>
          <a:ext cx="3933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Macro-Enabled Worksheet" r:id="rId15" imgW="3779662" imgH="906962" progId="Excel.SheetMacroEnabled.12">
                  <p:link updateAutomatic="1"/>
                </p:oleObj>
              </mc:Choice>
              <mc:Fallback>
                <p:oleObj name="Macro-Enabled Worksheet" r:id="rId15" imgW="3779662" imgH="90696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08588" y="5902325"/>
                        <a:ext cx="39338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642541"/>
              </p:ext>
            </p:extLst>
          </p:nvPr>
        </p:nvGraphicFramePr>
        <p:xfrm>
          <a:off x="3694113" y="4876800"/>
          <a:ext cx="32146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Macro-Enabled Worksheet" r:id="rId17" imgW="3093649" imgH="251578" progId="Excel.SheetMacroEnabled.12">
                  <p:link updateAutomatic="1"/>
                </p:oleObj>
              </mc:Choice>
              <mc:Fallback>
                <p:oleObj name="Macro-Enabled Worksheet" r:id="rId17" imgW="3093649" imgH="25157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94113" y="4876800"/>
                        <a:ext cx="3214687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B2049F-EB2D-4B63-B33C-D128C22C705F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2427633" y="6363224"/>
            <a:ext cx="2208465" cy="5847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7F89CD-651A-4523-BAC1-712F5F88B523}"/>
              </a:ext>
            </a:extLst>
          </p:cNvPr>
          <p:cNvSpPr txBox="1"/>
          <p:nvPr/>
        </p:nvSpPr>
        <p:spPr>
          <a:xfrm>
            <a:off x="2048946" y="522425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haroni" panose="02010803020104030203" pitchFamily="2" charset="-79"/>
                <a:cs typeface="Aharoni" panose="02010803020104030203" pitchFamily="2" charset="-79"/>
              </a:rPr>
              <a:t>TM</a:t>
            </a:r>
            <a:endParaRPr lang="en-US" sz="1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E78C70-3ECB-47E5-B82E-3ED3545C3FB5}"/>
              </a:ext>
            </a:extLst>
          </p:cNvPr>
          <p:cNvSpPr txBox="1"/>
          <p:nvPr/>
        </p:nvSpPr>
        <p:spPr>
          <a:xfrm>
            <a:off x="2727325" y="7043283"/>
            <a:ext cx="50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FF0000"/>
                </a:solidFill>
              </a:rPr>
              <a:t>Demix Logo is a registered trademark in PRC# 21050449 and RSA# 2016/17910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93990"/>
              </p:ext>
            </p:extLst>
          </p:nvPr>
        </p:nvGraphicFramePr>
        <p:xfrm>
          <a:off x="1049149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568758"/>
              </p:ext>
            </p:extLst>
          </p:nvPr>
        </p:nvGraphicFramePr>
        <p:xfrm>
          <a:off x="4598988" y="4795838"/>
          <a:ext cx="26114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Macro-Enabled Worksheet" r:id="rId6" imgW="2522043" imgH="335154" progId="Excel.SheetMacroEnabled.12">
                  <p:link updateAutomatic="1"/>
                </p:oleObj>
              </mc:Choice>
              <mc:Fallback>
                <p:oleObj name="Macro-Enabled Worksheet" r:id="rId6" imgW="2522043" imgH="335154" progId="Excel.SheetMacroEnabled.12">
                  <p:link updateAutomatic="1"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CC8E1A4-DACD-46E5-B3A8-3D99FE60E3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98988" y="4795838"/>
                        <a:ext cx="2611437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267764"/>
              </p:ext>
            </p:extLst>
          </p:nvPr>
        </p:nvGraphicFramePr>
        <p:xfrm>
          <a:off x="1839913" y="3565525"/>
          <a:ext cx="711041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Macro-Enabled Worksheet" r:id="rId8" imgW="6819723" imgH="335154" progId="Excel.SheetMacroEnabled.12">
                  <p:link updateAutomatic="1"/>
                </p:oleObj>
              </mc:Choice>
              <mc:Fallback>
                <p:oleObj name="Macro-Enabled Worksheet" r:id="rId8" imgW="6819723" imgH="335154" progId="Excel.SheetMacroEnabled.12">
                  <p:link updateAutomatic="1"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998D737-2470-466C-A00A-4F41B5A3B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39913" y="3565525"/>
                        <a:ext cx="7110412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399034"/>
              </p:ext>
            </p:extLst>
          </p:nvPr>
        </p:nvGraphicFramePr>
        <p:xfrm>
          <a:off x="5208588" y="5902325"/>
          <a:ext cx="3933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Macro-Enabled Worksheet" r:id="rId10" imgW="3779662" imgH="906962" progId="Excel.SheetMacroEnabled.12">
                  <p:link updateAutomatic="1"/>
                </p:oleObj>
              </mc:Choice>
              <mc:Fallback>
                <p:oleObj name="Macro-Enabled Worksheet" r:id="rId10" imgW="3779662" imgH="906962" progId="Excel.SheetMacroEnabled.12">
                  <p:link updateAutomatic="1"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8B2CB21-1644-4E2B-ADF6-6DE333311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08588" y="5902325"/>
                        <a:ext cx="39338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872362"/>
              </p:ext>
            </p:extLst>
          </p:nvPr>
        </p:nvGraphicFramePr>
        <p:xfrm>
          <a:off x="3694113" y="4876800"/>
          <a:ext cx="3214687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Macro-Enabled Worksheet" r:id="rId12" imgW="3093649" imgH="251578" progId="Excel.SheetMacroEnabled.12">
                  <p:link updateAutomatic="1"/>
                </p:oleObj>
              </mc:Choice>
              <mc:Fallback>
                <p:oleObj name="Macro-Enabled Worksheet" r:id="rId12" imgW="3093649" imgH="251578" progId="Excel.SheetMacroEnabled.12">
                  <p:link updateAutomatic="1"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BCC8715-1259-49D1-9C80-B137EDDE0B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94113" y="4876800"/>
                        <a:ext cx="3214687" cy="26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A94E6B8-41B2-425D-B6C8-A4B5B1D35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420572"/>
              </p:ext>
            </p:extLst>
          </p:nvPr>
        </p:nvGraphicFramePr>
        <p:xfrm>
          <a:off x="1830388" y="2341563"/>
          <a:ext cx="71104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Macro-Enabled Worksheet" r:id="rId15" imgW="6819723" imgH="304879" progId="Excel.SheetMacroEnabled.12">
                  <p:link updateAutomatic="1"/>
                </p:oleObj>
              </mc:Choice>
              <mc:Fallback>
                <p:oleObj name="Macro-Enabled Worksheet" r:id="rId15" imgW="6819723" imgH="304879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30388" y="2341563"/>
                        <a:ext cx="7110412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C138D35-4CC4-4B05-BA00-378FB0473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324866"/>
              </p:ext>
            </p:extLst>
          </p:nvPr>
        </p:nvGraphicFramePr>
        <p:xfrm>
          <a:off x="1792288" y="2928938"/>
          <a:ext cx="7110412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Macro-Enabled Worksheet" r:id="rId17" imgW="6819723" imgH="312554" progId="Excel.SheetMacroEnabled.12">
                  <p:link updateAutomatic="1"/>
                </p:oleObj>
              </mc:Choice>
              <mc:Fallback>
                <p:oleObj name="Macro-Enabled Worksheet" r:id="rId17" imgW="6819723" imgH="31255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92288" y="2928938"/>
                        <a:ext cx="7110412" cy="30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653584-A295-45B5-B872-95129987FEBB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2427633" y="6363224"/>
            <a:ext cx="2208465" cy="58471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4FEFC90-5E36-4D99-ABF8-8A7E5BB1829D}"/>
              </a:ext>
            </a:extLst>
          </p:cNvPr>
          <p:cNvSpPr txBox="1"/>
          <p:nvPr/>
        </p:nvSpPr>
        <p:spPr>
          <a:xfrm>
            <a:off x="2048946" y="522425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haroni" panose="02010803020104030203" pitchFamily="2" charset="-79"/>
                <a:cs typeface="Aharoni" panose="02010803020104030203" pitchFamily="2" charset="-79"/>
              </a:rPr>
              <a:t>TM</a:t>
            </a:r>
            <a:endParaRPr lang="en-US" sz="1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F16FF9-5789-47F3-BACE-2CA609CF68EA}"/>
              </a:ext>
            </a:extLst>
          </p:cNvPr>
          <p:cNvSpPr txBox="1"/>
          <p:nvPr/>
        </p:nvSpPr>
        <p:spPr>
          <a:xfrm>
            <a:off x="2727325" y="7043283"/>
            <a:ext cx="50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FF0000"/>
                </a:solidFill>
              </a:rPr>
              <a:t>Demix Logo is a registered trademark in PRC# 21050449 and RSA# 2016/17910</a:t>
            </a:r>
          </a:p>
        </p:txBody>
      </p:sp>
    </p:spTree>
    <p:extLst>
      <p:ext uri="{BB962C8B-B14F-4D97-AF65-F5344CB8AC3E}">
        <p14:creationId xmlns:p14="http://schemas.microsoft.com/office/powerpoint/2010/main" val="209477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86CDB8D-D856-48F3-9EA2-06EC604F1268}"/>
</file>

<file path=customXml/itemProps2.xml><?xml version="1.0" encoding="utf-8"?>
<ds:datastoreItem xmlns:ds="http://schemas.openxmlformats.org/officeDocument/2006/customXml" ds:itemID="{163DDE5B-9594-4FF4-BA45-732F4D906A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FEE0E7-65B5-4841-9A79-244D5C373752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72e3a154-4955-46c3-9573-e9dec3e1f195"/>
    <ds:schemaRef ds:uri="http://schemas.microsoft.com/office/2006/documentManagement/types"/>
    <ds:schemaRef ds:uri="http://schemas.microsoft.com/office/infopath/2007/PartnerControls"/>
    <ds:schemaRef ds:uri="ec500478-62e0-46fc-87f1-cfa988e486b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</TotalTime>
  <Words>110</Words>
  <Application>Microsoft Office PowerPoint</Application>
  <PresentationFormat>Custom</PresentationFormat>
  <Paragraphs>30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Links</vt:lpstr>
      </vt:variant>
      <vt:variant>
        <vt:i4>12</vt:i4>
      </vt:variant>
      <vt:variant>
        <vt:lpstr>Slide Titles</vt:lpstr>
      </vt:variant>
      <vt:variant>
        <vt:i4>2</vt:i4>
      </vt:variant>
    </vt:vector>
  </HeadingPairs>
  <TitlesOfParts>
    <vt:vector size="17" baseType="lpstr">
      <vt:lpstr>Aharoni</vt:lpstr>
      <vt:lpstr>Calibri</vt:lpstr>
      <vt:lpstr>Office Theme</vt:lpstr>
      <vt:lpstr>file:///G:\2024-05-04to05-10%20(A5)%20C384400%20NASA\00_Data_Reference.xlsm!pptxCertificate!R9C7:R9C8</vt:lpstr>
      <vt:lpstr>file:///G:\2024-05-04to05-10%20(A5)%20C384400%20NASA\00_Data_Reference.xlsm!pptxCertificate!R2C2:R3C9</vt:lpstr>
      <vt:lpstr>file:///G:\2024-05-04to05-10%20(A5)%20C384400%20NASA\00_Data_Reference.xlsm!pptxCertificate!R4C2:R5C9</vt:lpstr>
      <vt:lpstr>file:///G:\2024-05-04to05-10%20(A5)%20C384400%20NASA\00_Data_Reference.xlsm!pptxCertificate!R7C2:R7C9</vt:lpstr>
      <vt:lpstr>file:///G:\2024-05-04to05-10%20(A5)%20C384400%20NASA\00_Data_Reference.xlsm!pptxCertificate!R13C7:R15C9</vt:lpstr>
      <vt:lpstr>file:///G:\2024-05-04to05-10%20(A5)%20C384400%20NASA\00_Data_Reference.xlsm!pptxCertificate!R11C6:R11C8</vt:lpstr>
      <vt:lpstr>file:///G:\2024-05-04to05-10%20(A5)%20C384400%20NASA\00_Data_Reference.xlsm!pptxCertificate!R9C7:R9C8</vt:lpstr>
      <vt:lpstr>file:///G:\2024-05-04to05-10%20(A5)%20C384400%20NASA\00_Data_Reference.xlsm!pptxCertificate!R7C2:R7C9</vt:lpstr>
      <vt:lpstr>file:///G:\2024-05-04to05-10%20(A5)%20C384400%20NASA\00_Data_Reference.xlsm!pptxCertificate!R13C7:R15C9</vt:lpstr>
      <vt:lpstr>file:///G:\2024-05-04to05-10%20(A5)%20C384400%20NASA\00_Data_Reference.xlsm!pptxCertificate!R11C6:R11C8</vt:lpstr>
      <vt:lpstr>file:///G:\2024-05-04to05-10%20(A5)%20C384400%20NASA\00_Data_Reference.xlsm!pptxCertificate!R2C2:R2C9</vt:lpstr>
      <vt:lpstr>file:///G:\2024-05-04to05-10%20(A5)%20C384400%20NASA\00_Data_Reference.xlsm!pptxCertificate!R4C2:R4C9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07 - Dummy - Certificate Chinese</dc:title>
  <dc:creator>Pieter</dc:creator>
  <cp:lastModifiedBy>Pieter van Zyl</cp:lastModifiedBy>
  <cp:revision>110</cp:revision>
  <cp:lastPrinted>2017-07-31T10:32:34Z</cp:lastPrinted>
  <dcterms:created xsi:type="dcterms:W3CDTF">2014-06-04T13:42:15Z</dcterms:created>
  <dcterms:modified xsi:type="dcterms:W3CDTF">2024-08-11T07:57:15Z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2014-06-04T00:00:00Z</vt:filetime>
  </property>
  <property fmtid="{D5CDD505-2E9C-101B-9397-08002B2CF9AE}" pid="3" name="LastSaved">
    <vt:filetime>2014-06-04T00:00:00Z</vt:filetime>
  </property>
  <property fmtid="{D5CDD505-2E9C-101B-9397-08002B2CF9AE}" pid="4" name="ContentTypeId">
    <vt:lpwstr>0x010100F041F74863103D4C9C3AA0A07291BB02</vt:lpwstr>
  </property>
  <property fmtid="{D5CDD505-2E9C-101B-9397-08002B2CF9AE}" pid="5" name="_dlc_DocIdItemGuid">
    <vt:lpwstr>aeef7d35-09c2-4b14-80ba-1d671147de2c</vt:lpwstr>
  </property>
</Properties>
</file>