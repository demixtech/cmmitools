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8"/>
  </p:notesMasterIdLst>
  <p:handoutMasterIdLst>
    <p:handoutMasterId r:id="rId59"/>
  </p:handoutMasterIdLst>
  <p:sldIdLst>
    <p:sldId id="256" r:id="rId5"/>
    <p:sldId id="1553" r:id="rId6"/>
    <p:sldId id="1550" r:id="rId7"/>
    <p:sldId id="1541" r:id="rId8"/>
    <p:sldId id="270" r:id="rId9"/>
    <p:sldId id="928" r:id="rId10"/>
    <p:sldId id="913" r:id="rId11"/>
    <p:sldId id="1497" r:id="rId12"/>
    <p:sldId id="1543" r:id="rId13"/>
    <p:sldId id="310" r:id="rId14"/>
    <p:sldId id="274" r:id="rId15"/>
    <p:sldId id="914" r:id="rId16"/>
    <p:sldId id="930" r:id="rId17"/>
    <p:sldId id="1506" r:id="rId18"/>
    <p:sldId id="1507" r:id="rId19"/>
    <p:sldId id="1498" r:id="rId20"/>
    <p:sldId id="923" r:id="rId21"/>
    <p:sldId id="1544" r:id="rId22"/>
    <p:sldId id="887" r:id="rId23"/>
    <p:sldId id="888" r:id="rId24"/>
    <p:sldId id="889" r:id="rId25"/>
    <p:sldId id="890" r:id="rId26"/>
    <p:sldId id="891" r:id="rId27"/>
    <p:sldId id="892" r:id="rId28"/>
    <p:sldId id="894" r:id="rId29"/>
    <p:sldId id="895" r:id="rId30"/>
    <p:sldId id="896" r:id="rId31"/>
    <p:sldId id="897" r:id="rId32"/>
    <p:sldId id="898" r:id="rId33"/>
    <p:sldId id="899" r:id="rId34"/>
    <p:sldId id="900" r:id="rId35"/>
    <p:sldId id="901" r:id="rId36"/>
    <p:sldId id="902" r:id="rId37"/>
    <p:sldId id="903" r:id="rId38"/>
    <p:sldId id="904" r:id="rId39"/>
    <p:sldId id="906" r:id="rId40"/>
    <p:sldId id="907" r:id="rId41"/>
    <p:sldId id="1548" r:id="rId42"/>
    <p:sldId id="910" r:id="rId43"/>
    <p:sldId id="919" r:id="rId44"/>
    <p:sldId id="1538" r:id="rId45"/>
    <p:sldId id="1546" r:id="rId46"/>
    <p:sldId id="360" r:id="rId47"/>
    <p:sldId id="1551" r:id="rId48"/>
    <p:sldId id="1504" r:id="rId49"/>
    <p:sldId id="1500" r:id="rId50"/>
    <p:sldId id="1574" r:id="rId51"/>
    <p:sldId id="1503" r:id="rId52"/>
    <p:sldId id="1510" r:id="rId53"/>
    <p:sldId id="989" r:id="rId54"/>
    <p:sldId id="1575" r:id="rId55"/>
    <p:sldId id="1475" r:id="rId56"/>
    <p:sldId id="150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guide id="3" orient="horz" pos="129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91632" autoAdjust="0"/>
  </p:normalViewPr>
  <p:slideViewPr>
    <p:cSldViewPr snapToGrid="0">
      <p:cViewPr varScale="1">
        <p:scale>
          <a:sx n="110" d="100"/>
          <a:sy n="110" d="100"/>
        </p:scale>
        <p:origin x="630" y="102"/>
      </p:cViewPr>
      <p:guideLst>
        <p:guide orient="horz" pos="572"/>
        <p:guide pos="665"/>
        <p:guide orient="horz" pos="129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ter van Zyl" userId="a087f150-e9eb-40d9-8ea7-74329b4a43e2" providerId="ADAL" clId="{C8A6CEF3-60A6-46CD-B5FA-D93AD5747C8B}"/>
    <pc:docChg chg="modSld">
      <pc:chgData name="Pieter van Zyl" userId="a087f150-e9eb-40d9-8ea7-74329b4a43e2" providerId="ADAL" clId="{C8A6CEF3-60A6-46CD-B5FA-D93AD5747C8B}" dt="2025-07-11T06:19:19.893" v="2" actId="20577"/>
      <pc:docMkLst>
        <pc:docMk/>
      </pc:docMkLst>
      <pc:sldChg chg="modSp mod">
        <pc:chgData name="Pieter van Zyl" userId="a087f150-e9eb-40d9-8ea7-74329b4a43e2" providerId="ADAL" clId="{C8A6CEF3-60A6-46CD-B5FA-D93AD5747C8B}" dt="2025-07-11T06:19:19.893" v="2" actId="20577"/>
        <pc:sldMkLst>
          <pc:docMk/>
          <pc:sldMk cId="3758761807" sldId="900"/>
        </pc:sldMkLst>
        <pc:spChg chg="mod">
          <ac:chgData name="Pieter van Zyl" userId="a087f150-e9eb-40d9-8ea7-74329b4a43e2" providerId="ADAL" clId="{C8A6CEF3-60A6-46CD-B5FA-D93AD5747C8B}" dt="2025-07-11T06:19:19.893" v="2" actId="20577"/>
          <ac:spMkLst>
            <pc:docMk/>
            <pc:sldMk cId="3758761807" sldId="900"/>
            <ac:spMk id="10" creationId="{95A440E3-2399-234F-BAE5-CFDCD8133EE3}"/>
          </ac:spMkLst>
        </pc:spChg>
      </pc:sldChg>
    </pc:docChg>
  </pc:docChgLst>
  <pc:docChgLst>
    <pc:chgData name="Pieter van Zyl" userId="a087f150-e9eb-40d9-8ea7-74329b4a43e2" providerId="ADAL" clId="{826E60CB-0934-4F39-92C1-9AF3476E489C}"/>
    <pc:docChg chg="addSld delSld modSld sldOrd">
      <pc:chgData name="Pieter van Zyl" userId="a087f150-e9eb-40d9-8ea7-74329b4a43e2" providerId="ADAL" clId="{826E60CB-0934-4F39-92C1-9AF3476E489C}" dt="2025-04-20T07:48:50.419" v="5"/>
      <pc:docMkLst>
        <pc:docMk/>
      </pc:docMkLst>
      <pc:sldChg chg="ord">
        <pc:chgData name="Pieter van Zyl" userId="a087f150-e9eb-40d9-8ea7-74329b4a43e2" providerId="ADAL" clId="{826E60CB-0934-4F39-92C1-9AF3476E489C}" dt="2025-04-20T07:33:53.985" v="3"/>
        <pc:sldMkLst>
          <pc:docMk/>
          <pc:sldMk cId="2592682944" sldId="1475"/>
        </pc:sldMkLst>
      </pc:sldChg>
      <pc:sldChg chg="add del ord">
        <pc:chgData name="Pieter van Zyl" userId="a087f150-e9eb-40d9-8ea7-74329b4a43e2" providerId="ADAL" clId="{826E60CB-0934-4F39-92C1-9AF3476E489C}" dt="2025-04-20T07:48:50.419" v="5"/>
        <pc:sldMkLst>
          <pc:docMk/>
          <pc:sldMk cId="3546818394" sldId="15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7/11/2025</a:t>
            </a:fld>
            <a:endParaRPr lang="en-US" dirty="0"/>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dirty="0"/>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7/11/2025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dirty="0"/>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4</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5</a:t>
            </a:fld>
            <a:endParaRPr lang="en-US" altLang="en-US" sz="1200" b="0" dirty="0">
              <a:solidFill>
                <a:schemeClr val="tx1"/>
              </a:solidFill>
            </a:endParaRPr>
          </a:p>
        </p:txBody>
      </p:sp>
    </p:spTree>
    <p:extLst>
      <p:ext uri="{BB962C8B-B14F-4D97-AF65-F5344CB8AC3E}">
        <p14:creationId xmlns:p14="http://schemas.microsoft.com/office/powerpoint/2010/main" val="3161872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a:ln/>
        </p:spPr>
      </p:sp>
      <p:sp>
        <p:nvSpPr>
          <p:cNvPr id="143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This is information that must be recorded in the appraisal plan.</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190328F4-35F9-3242-B9C3-9FCDBB1E7F95}" type="slidenum">
              <a:rPr lang="en-US" altLang="en-US" sz="1200" b="0">
                <a:solidFill>
                  <a:schemeClr val="tx1"/>
                </a:solidFill>
              </a:rPr>
              <a:pPr/>
              <a:t>6</a:t>
            </a:fld>
            <a:endParaRPr lang="en-US" altLang="en-US" sz="1200" b="0" dirty="0">
              <a:solidFill>
                <a:schemeClr val="tx1"/>
              </a:solidFill>
            </a:endParaRPr>
          </a:p>
        </p:txBody>
      </p:sp>
    </p:spTree>
    <p:extLst>
      <p:ext uri="{BB962C8B-B14F-4D97-AF65-F5344CB8AC3E}">
        <p14:creationId xmlns:p14="http://schemas.microsoft.com/office/powerpoint/2010/main" val="264670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a:ln/>
        </p:spPr>
      </p:sp>
      <p:sp>
        <p:nvSpPr>
          <p:cNvPr id="2048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dirty="0">
              <a:ea typeface="ＭＳ Ｐゴシック" charset="-128"/>
            </a:endParaRPr>
          </a:p>
        </p:txBody>
      </p:sp>
      <p:sp>
        <p:nvSpPr>
          <p:cNvPr id="2048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4B35EA84-EF00-9842-8E6A-A2B5DD6BA8D8}" type="slidenum">
              <a:rPr lang="en-US" altLang="en-US" sz="1200" b="0">
                <a:solidFill>
                  <a:schemeClr val="tx1"/>
                </a:solidFill>
              </a:rPr>
              <a:pPr/>
              <a:t>7</a:t>
            </a:fld>
            <a:endParaRPr lang="en-US" altLang="en-US" sz="1200" b="0" dirty="0">
              <a:solidFill>
                <a:schemeClr val="tx1"/>
              </a:solidFill>
            </a:endParaRPr>
          </a:p>
        </p:txBody>
      </p:sp>
    </p:spTree>
    <p:extLst>
      <p:ext uri="{BB962C8B-B14F-4D97-AF65-F5344CB8AC3E}">
        <p14:creationId xmlns:p14="http://schemas.microsoft.com/office/powerpoint/2010/main" val="1570466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dirty="0"/>
              <a:t>2, non – your name will not appear in any reports        </a:t>
            </a:r>
          </a:p>
          <a:p>
            <a:r>
              <a:rPr lang="en-ZA" altLang="zh-CN" baseline="0" dirty="0"/>
              <a:t>collaboratively –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9</a:t>
            </a:fld>
            <a:endParaRPr lang="en-US" dirty="0"/>
          </a:p>
        </p:txBody>
      </p:sp>
    </p:spTree>
    <p:extLst>
      <p:ext uri="{BB962C8B-B14F-4D97-AF65-F5344CB8AC3E}">
        <p14:creationId xmlns:p14="http://schemas.microsoft.com/office/powerpoint/2010/main" val="1135651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charset="0"/>
                <a:ea typeface="ＭＳ Ｐゴシック" charset="-128"/>
              </a:defRPr>
            </a:lvl1pPr>
            <a:lvl2pPr marL="742950" indent="-285750" defTabSz="930275">
              <a:defRPr sz="1100" b="1">
                <a:solidFill>
                  <a:srgbClr val="000000"/>
                </a:solidFill>
                <a:latin typeface="Arial" charset="0"/>
                <a:ea typeface="ＭＳ Ｐゴシック" charset="-128"/>
              </a:defRPr>
            </a:lvl2pPr>
            <a:lvl3pPr marL="1143000" indent="-228600" defTabSz="930275">
              <a:defRPr sz="1100" b="1">
                <a:solidFill>
                  <a:srgbClr val="000000"/>
                </a:solidFill>
                <a:latin typeface="Arial" charset="0"/>
                <a:ea typeface="ＭＳ Ｐゴシック" charset="-128"/>
              </a:defRPr>
            </a:lvl3pPr>
            <a:lvl4pPr marL="1600200" indent="-228600" defTabSz="930275">
              <a:defRPr sz="1100" b="1">
                <a:solidFill>
                  <a:srgbClr val="000000"/>
                </a:solidFill>
                <a:latin typeface="Arial" charset="0"/>
                <a:ea typeface="ＭＳ Ｐゴシック" charset="-128"/>
              </a:defRPr>
            </a:lvl4pPr>
            <a:lvl5pPr marL="2057400" indent="-228600" defTabSz="930275">
              <a:defRPr sz="1100" b="1">
                <a:solidFill>
                  <a:srgbClr val="000000"/>
                </a:solidFill>
                <a:latin typeface="Arial" charset="0"/>
                <a:ea typeface="ＭＳ Ｐゴシック" charset="-128"/>
              </a:defRPr>
            </a:lvl5pPr>
            <a:lvl6pPr marL="25146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0275" eaLnBrk="0" fontAlgn="base" hangingPunct="0">
              <a:spcBef>
                <a:spcPct val="0"/>
              </a:spcBef>
              <a:spcAft>
                <a:spcPct val="0"/>
              </a:spcAft>
              <a:defRPr sz="1100" b="1">
                <a:solidFill>
                  <a:srgbClr val="000000"/>
                </a:solidFill>
                <a:latin typeface="Arial" charset="0"/>
                <a:ea typeface="ＭＳ Ｐゴシック" charset="-128"/>
              </a:defRPr>
            </a:lvl9pPr>
          </a:lstStyle>
          <a:p>
            <a:fld id="{8BEF3818-E2D8-F947-8FE2-5E7634526F96}" type="slidenum">
              <a:rPr lang="en-US" altLang="en-US" sz="1200" b="0">
                <a:solidFill>
                  <a:schemeClr val="tx1"/>
                </a:solidFill>
              </a:rPr>
              <a:pPr/>
              <a:t>10</a:t>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a:ln/>
        </p:spPr>
      </p:sp>
      <p:sp>
        <p:nvSpPr>
          <p:cNvPr id="36867" name="Rectangle 3"/>
          <p:cNvSpPr>
            <a:spLocks noGrp="1" noChangeArrowheads="1"/>
          </p:cNvSpPr>
          <p:nvPr>
            <p:ph type="body" idx="1"/>
          </p:nvPr>
        </p:nvSpPr>
        <p:spPr>
          <a:xfrm>
            <a:off x="933450" y="4416425"/>
            <a:ext cx="514191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r>
              <a:rPr lang="en-US" altLang="en-US" dirty="0">
                <a:ea typeface="ＭＳ Ｐゴシック" charset="-128"/>
              </a:rPr>
              <a:t>Take basic information from the appraisal plan.</a:t>
            </a:r>
          </a:p>
        </p:txBody>
      </p:sp>
    </p:spTree>
    <p:extLst>
      <p:ext uri="{BB962C8B-B14F-4D97-AF65-F5344CB8AC3E}">
        <p14:creationId xmlns:p14="http://schemas.microsoft.com/office/powerpoint/2010/main" val="14189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t>11</a:t>
            </a:fld>
            <a:endParaRPr lang="en-US" dirty="0"/>
          </a:p>
        </p:txBody>
      </p:sp>
    </p:spTree>
    <p:extLst>
      <p:ext uri="{BB962C8B-B14F-4D97-AF65-F5344CB8AC3E}">
        <p14:creationId xmlns:p14="http://schemas.microsoft.com/office/powerpoint/2010/main" val="1593310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12</a:t>
            </a:fld>
            <a:endParaRPr lang="en-US" dirty="0"/>
          </a:p>
        </p:txBody>
      </p:sp>
    </p:spTree>
    <p:extLst>
      <p:ext uri="{BB962C8B-B14F-4D97-AF65-F5344CB8AC3E}">
        <p14:creationId xmlns:p14="http://schemas.microsoft.com/office/powerpoint/2010/main" val="609758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p>
        </p:txBody>
      </p:sp>
      <p:sp>
        <p:nvSpPr>
          <p:cNvPr id="4" name="Slide Number Placeholder 3"/>
          <p:cNvSpPr>
            <a:spLocks noGrp="1"/>
          </p:cNvSpPr>
          <p:nvPr>
            <p:ph type="sldNum" sz="quarter" idx="10"/>
          </p:nvPr>
        </p:nvSpPr>
        <p:spPr/>
        <p:txBody>
          <a:bodyPr/>
          <a:lstStyle/>
          <a:p>
            <a:fld id="{3FC13DA5-2DE0-6D49-B0F1-8E4B6A1CBA23}" type="slidenum">
              <a:rPr lang="en-US" smtClean="0"/>
              <a:t>13</a:t>
            </a:fld>
            <a:endParaRPr lang="en-US" dirty="0"/>
          </a:p>
        </p:txBody>
      </p:sp>
    </p:spTree>
    <p:extLst>
      <p:ext uri="{BB962C8B-B14F-4D97-AF65-F5344CB8AC3E}">
        <p14:creationId xmlns:p14="http://schemas.microsoft.com/office/powerpoint/2010/main" val="7579963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17</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40</a:t>
            </a:fld>
            <a:endParaRPr lang="en-US" dirty="0"/>
          </a:p>
        </p:txBody>
      </p:sp>
    </p:spTree>
    <p:extLst>
      <p:ext uri="{BB962C8B-B14F-4D97-AF65-F5344CB8AC3E}">
        <p14:creationId xmlns:p14="http://schemas.microsoft.com/office/powerpoint/2010/main" val="3892804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p>
          <a:p>
            <a:endParaRPr lang="en-US" dirty="0"/>
          </a:p>
          <a:p>
            <a:r>
              <a:rPr lang="en-US" dirty="0"/>
              <a:t>Based on the characterizations of all practices in each practice level, set the Practice Level rating to “S” (Satisfied) or “U” (Unsatisfied).</a:t>
            </a:r>
          </a:p>
          <a:p>
            <a:endParaRPr lang="en-US" dirty="0"/>
          </a:p>
          <a:p>
            <a:r>
              <a:rPr lang="en-US" dirty="0"/>
              <a:t>The PA Rating is the Highest Practice Level at which all practices for it, and all lower Practice Levels, are Satisfied.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t>41</a:t>
            </a:fld>
            <a:endParaRPr lang="en-US" dirty="0"/>
          </a:p>
        </p:txBody>
      </p:sp>
    </p:spTree>
    <p:extLst>
      <p:ext uri="{BB962C8B-B14F-4D97-AF65-F5344CB8AC3E}">
        <p14:creationId xmlns:p14="http://schemas.microsoft.com/office/powerpoint/2010/main" val="173409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23F910F-CF68-3A42-8A98-855277189BF6}"/>
              </a:ext>
            </a:extLst>
          </p:cNvPr>
          <p:cNvSpPr>
            <a:spLocks noGrp="1" noRot="1" noChangeAspect="1" noTextEdit="1"/>
          </p:cNvSpPr>
          <p:nvPr>
            <p:ph type="sldImg"/>
          </p:nvPr>
        </p:nvSpPr>
        <p:spPr>
          <a:xfrm>
            <a:off x="398463" y="695325"/>
            <a:ext cx="6061075" cy="3409950"/>
          </a:xfrm>
        </p:spPr>
      </p:sp>
      <p:sp>
        <p:nvSpPr>
          <p:cNvPr id="93187" name="Notes Placeholder 2">
            <a:extLst>
              <a:ext uri="{FF2B5EF4-FFF2-40B4-BE49-F238E27FC236}">
                <a16:creationId xmlns:a16="http://schemas.microsoft.com/office/drawing/2014/main" id="{A732F319-5589-2747-BD21-24DAEA9E83B0}"/>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781057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7435A51E-4AE3-48B8-A3E6-28A51FCB731A}"/>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2025.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857C86C6-3F34-4125-B5B5-5EABC8A39FCC}"/>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34EB08B0-3804-409B-8A2E-C14982B2ADF5}"/>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ABB88AC4-3EE3-4B00-BE9C-343678ED7CA5}"/>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4E46EF5B-817F-4C0F-844F-B82F5D922A18}"/>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
        <p:nvSpPr>
          <p:cNvPr id="16" name="TextBox 15">
            <a:extLst>
              <a:ext uri="{FF2B5EF4-FFF2-40B4-BE49-F238E27FC236}">
                <a16:creationId xmlns:a16="http://schemas.microsoft.com/office/drawing/2014/main" id="{5B9D368A-4410-479D-A732-7C84530FBC22}"/>
              </a:ext>
            </a:extLst>
          </p:cNvPr>
          <p:cNvSpPr txBox="1"/>
          <p:nvPr userDrawn="1"/>
        </p:nvSpPr>
        <p:spPr>
          <a:xfrm>
            <a:off x="8480467" y="6235176"/>
            <a:ext cx="3447077" cy="261610"/>
          </a:xfrm>
          <a:prstGeom prst="rect">
            <a:avLst/>
          </a:prstGeom>
          <a:noFill/>
        </p:spPr>
        <p:txBody>
          <a:bodyPr wrap="square" rtlCol="0">
            <a:spAutoFit/>
          </a:bodyPr>
          <a:lstStyle/>
          <a:p>
            <a:pPr algn="r"/>
            <a:r>
              <a:rPr lang="en-ZA" sz="1100" i="0" dirty="0">
                <a:solidFill>
                  <a:srgbClr val="898989"/>
                </a:solidFill>
              </a:rPr>
              <a:t>Demix Logo is a registered trademark in PRC and RSA</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5.emf"/><Relationship Id="rId2" Type="http://schemas.openxmlformats.org/officeDocument/2006/relationships/oleObject" Target="file:///G:\2024-05-04to05-10%20(A5)%20C384400%20NASA\00_Data_Reference.xlsm!pptxCover!R4C2:R13C2" TargetMode="External"/><Relationship Id="rId1" Type="http://schemas.openxmlformats.org/officeDocument/2006/relationships/slideLayout" Target="../slideLayouts/slideLayout1.xml"/><Relationship Id="rId6" Type="http://schemas.openxmlformats.org/officeDocument/2006/relationships/oleObject" Target="file:///G:\2024-05-04to05-10%20(A5)%20C384400%20NASA\00_Data_Reference.xlsm!pptxCover!R22C2" TargetMode="External"/><Relationship Id="rId5" Type="http://schemas.openxmlformats.org/officeDocument/2006/relationships/image" Target="../media/image4.emf"/><Relationship Id="rId4" Type="http://schemas.openxmlformats.org/officeDocument/2006/relationships/oleObject" Target="file:///G:\2024-05-04to05-10%20(A5)%20C384400%20NASA\00_Data_Reference.xlsm!pptxCover!R15C2:R17C2"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26" Type="http://schemas.openxmlformats.org/officeDocument/2006/relationships/image" Target="../media/image29.png"/><Relationship Id="rId3" Type="http://schemas.openxmlformats.org/officeDocument/2006/relationships/image" Target="../media/image6.jpg"/><Relationship Id="rId21" Type="http://schemas.openxmlformats.org/officeDocument/2006/relationships/image" Target="../media/image24.png"/><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png"/><Relationship Id="rId25"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9.gif"/><Relationship Id="rId11" Type="http://schemas.openxmlformats.org/officeDocument/2006/relationships/image" Target="../media/image14.png"/><Relationship Id="rId24" Type="http://schemas.openxmlformats.org/officeDocument/2006/relationships/image" Target="../media/image27.jpe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image" Target="../media/image13.gif"/><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C1:R7C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6.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10C1:R18C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7.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1C1:R4C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20C1:R31C2"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1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3!R2C1:R24C9"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12.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2!R30C1:R35C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1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4!R10C1:R27C2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1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file:///G:\2024-05-04to05-10%20(A5)%20C384400%20NASA\00_Data_Reference.xlsm!pptxLink5!R1C1:R11C5"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file:///G:\2024-05-04to05-10%20(A5)%20C384400%20NASA\00_Data_Reference.xlsm!pptxLink5!R15C1:R21C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1.emf"/><Relationship Id="rId4" Type="http://schemas.openxmlformats.org/officeDocument/2006/relationships/image" Target="../media/image60.emf"/></Relationships>
</file>

<file path=ppt/slides/_rels/slide41.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1!R9C4"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3.emf"/><Relationship Id="rId5" Type="http://schemas.openxmlformats.org/officeDocument/2006/relationships/image" Target="../media/image61.emf"/><Relationship Id="rId4" Type="http://schemas.openxmlformats.org/officeDocument/2006/relationships/image" Target="../media/image6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file:///G:\2024-05-04to05-10%20(A5)%20C384400%20NASA\00_Data_Reference.xlsm!pptxLink6!R2C2:R13C5"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file:///G:\2024-05-04to05-10%20(A5)%20C384400%20NASA\00_Data_Reference.xlsm!pptxLink7!R2C2:R16C4"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file:///G:\2024-05-04to05-10%20(A5)%20C384400%20NASA\00_Data_Reference.xlsm!pptxLink7!R18C2:R32C4"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file:///G:\2024-05-04to05-10%20(A5)%20C384400%20NASA\00_Data_Reference.xlsm!pptxCover!R23C7" TargetMode="External"/><Relationship Id="rId1" Type="http://schemas.openxmlformats.org/officeDocument/2006/relationships/slideLayout" Target="../slideLayouts/slideLayout2.xml"/><Relationship Id="rId5" Type="http://schemas.openxmlformats.org/officeDocument/2006/relationships/hyperlink" Target="http://www.demixium.com/" TargetMode="Externa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hyperlink" Target="http://www.demixium.com/" TargetMode="External"/><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hyperlink" Target="https://demixium.com/?page_id=99" TargetMode="External"/><Relationship Id="rId4" Type="http://schemas.openxmlformats.org/officeDocument/2006/relationships/image" Target="../media/image69.png"/></Relationships>
</file>

<file path=ppt/slides/_rels/slide5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file:///G:\2024-05-04to05-10%20(A5)%20C384400%20NASA\00_Data_Reference.xlsm!pptxCover!R26C2:R33C4"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B9ADBE-4D60-4D63-BCF7-E9F427C74524}"/>
              </a:ext>
            </a:extLst>
          </p:cNvPr>
          <p:cNvGraphicFramePr>
            <a:graphicFrameLocks noChangeAspect="1"/>
          </p:cNvGraphicFramePr>
          <p:nvPr>
            <p:extLst>
              <p:ext uri="{D42A27DB-BD31-4B8C-83A1-F6EECF244321}">
                <p14:modId xmlns:p14="http://schemas.microsoft.com/office/powerpoint/2010/main" val="3210626087"/>
              </p:ext>
            </p:extLst>
          </p:nvPr>
        </p:nvGraphicFramePr>
        <p:xfrm>
          <a:off x="3497263" y="1890713"/>
          <a:ext cx="5197475" cy="3116262"/>
        </p:xfrm>
        <a:graphic>
          <a:graphicData uri="http://schemas.openxmlformats.org/presentationml/2006/ole">
            <mc:AlternateContent xmlns:mc="http://schemas.openxmlformats.org/markup-compatibility/2006">
              <mc:Choice xmlns:v="urn:schemas-microsoft-com:vml" Requires="v">
                <p:oleObj name="Macro-Enabled Worksheet" r:id="rId2" imgW="5196769" imgH="3116588" progId="Excel.SheetMacroEnabled.12">
                  <p:link updateAutomatic="1"/>
                </p:oleObj>
              </mc:Choice>
              <mc:Fallback>
                <p:oleObj name="Macro-Enabled Worksheet" r:id="rId2" imgW="5196769" imgH="3116588" progId="Excel.SheetMacroEnabled.12">
                  <p:link updateAutomatic="1"/>
                  <p:pic>
                    <p:nvPicPr>
                      <p:cNvPr id="2" name="Object 1">
                        <a:extLst>
                          <a:ext uri="{FF2B5EF4-FFF2-40B4-BE49-F238E27FC236}">
                            <a16:creationId xmlns:a16="http://schemas.microsoft.com/office/drawing/2014/main" id="{B8B9ADBE-4D60-4D63-BCF7-E9F427C74524}"/>
                          </a:ext>
                        </a:extLst>
                      </p:cNvPr>
                      <p:cNvPicPr/>
                      <p:nvPr/>
                    </p:nvPicPr>
                    <p:blipFill>
                      <a:blip r:embed="rId3"/>
                      <a:stretch>
                        <a:fillRect/>
                      </a:stretch>
                    </p:blipFill>
                    <p:spPr>
                      <a:xfrm>
                        <a:off x="3497263" y="1890713"/>
                        <a:ext cx="5197475" cy="3116262"/>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Final Findings</a:t>
            </a:r>
          </a:p>
        </p:txBody>
      </p:sp>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2936713853"/>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name="Macro-Enabled Worksheet" r:id="rId4" imgW="5196769" imgH="670734" progId="Excel.SheetMacroEnabled.12">
                  <p:link updateAutomatic="1"/>
                </p:oleObj>
              </mc:Choice>
              <mc:Fallback>
                <p:oleObj name="Macro-Enabled Worksheet" r:id="rId4"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5"/>
                      <a:stretch>
                        <a:fillRect/>
                      </a:stretch>
                    </p:blipFill>
                    <p:spPr>
                      <a:xfrm>
                        <a:off x="3375025" y="5383213"/>
                        <a:ext cx="5440363" cy="661987"/>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9664E61-F038-4552-B7C5-B571E0E1A96A}"/>
              </a:ext>
            </a:extLst>
          </p:cNvPr>
          <p:cNvGraphicFramePr>
            <a:graphicFrameLocks noChangeAspect="1"/>
          </p:cNvGraphicFramePr>
          <p:nvPr>
            <p:extLst>
              <p:ext uri="{D42A27DB-BD31-4B8C-83A1-F6EECF244321}">
                <p14:modId xmlns:p14="http://schemas.microsoft.com/office/powerpoint/2010/main" val="1584021007"/>
              </p:ext>
            </p:extLst>
          </p:nvPr>
        </p:nvGraphicFramePr>
        <p:xfrm>
          <a:off x="3497263" y="5095875"/>
          <a:ext cx="5197475" cy="274638"/>
        </p:xfrm>
        <a:graphic>
          <a:graphicData uri="http://schemas.openxmlformats.org/presentationml/2006/ole">
            <mc:AlternateContent xmlns:mc="http://schemas.openxmlformats.org/markup-compatibility/2006">
              <mc:Choice xmlns:v="urn:schemas-microsoft-com:vml" Requires="v">
                <p:oleObj name="Macro-Enabled Worksheet" r:id="rId6" imgW="5196769" imgH="274178" progId="Excel.SheetMacroEnabled.12">
                  <p:link updateAutomatic="1"/>
                </p:oleObj>
              </mc:Choice>
              <mc:Fallback>
                <p:oleObj name="Macro-Enabled Worksheet" r:id="rId6" imgW="5196769" imgH="274178" progId="Excel.SheetMacroEnabled.12">
                  <p:link updateAutomatic="1"/>
                  <p:pic>
                    <p:nvPicPr>
                      <p:cNvPr id="5" name="Object 4">
                        <a:extLst>
                          <a:ext uri="{FF2B5EF4-FFF2-40B4-BE49-F238E27FC236}">
                            <a16:creationId xmlns:a16="http://schemas.microsoft.com/office/drawing/2014/main" id="{49664E61-F038-4552-B7C5-B571E0E1A96A}"/>
                          </a:ext>
                        </a:extLst>
                      </p:cNvPr>
                      <p:cNvPicPr/>
                      <p:nvPr/>
                    </p:nvPicPr>
                    <p:blipFill>
                      <a:blip r:embed="rId7"/>
                      <a:stretch>
                        <a:fillRect/>
                      </a:stretch>
                    </p:blipFill>
                    <p:spPr>
                      <a:xfrm>
                        <a:off x="3497263" y="50958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3">
            <a:extLst>
              <a:ext uri="{28A0092B-C50C-407E-A947-70E740481C1C}">
                <a14:useLocalDpi xmlns:a14="http://schemas.microsoft.com/office/drawing/2010/main" val="0"/>
              </a:ext>
            </a:extLst>
          </a:blip>
          <a:srcRect t="18393" b="22290"/>
          <a:stretch/>
        </p:blipFill>
        <p:spPr>
          <a:xfrm>
            <a:off x="3899604" y="5415749"/>
            <a:ext cx="1734754" cy="597600"/>
          </a:xfrm>
          <a:prstGeom prst="rect">
            <a:avLst/>
          </a:prstGeom>
          <a:ln>
            <a:solidFill>
              <a:schemeClr val="bg1"/>
            </a:solidFill>
          </a:ln>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noFill/>
            <a:prstDash val="solid"/>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9"/>
          <a:stretch>
            <a:fillRect/>
          </a:stretch>
        </p:blipFill>
        <p:spPr>
          <a:xfrm>
            <a:off x="8000113" y="1041906"/>
            <a:ext cx="1080000" cy="62985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13"/>
          <a:stretch>
            <a:fillRect/>
          </a:stretch>
        </p:blipFill>
        <p:spPr>
          <a:xfrm>
            <a:off x="2687402" y="2651707"/>
            <a:ext cx="1080000" cy="706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16"/>
          <a:stretch>
            <a:fillRect/>
          </a:stretch>
        </p:blipFill>
        <p:spPr>
          <a:xfrm>
            <a:off x="1353377" y="1047201"/>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17"/>
          <a:stretch>
            <a:fillRect/>
          </a:stretch>
        </p:blipFill>
        <p:spPr>
          <a:xfrm>
            <a:off x="1362529" y="1870870"/>
            <a:ext cx="1080000" cy="64435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18"/>
          <a:stretch>
            <a:fillRect/>
          </a:stretch>
        </p:blipFill>
        <p:spPr>
          <a:xfrm>
            <a:off x="9339663"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19"/>
          <a:stretch>
            <a:fillRect/>
          </a:stretch>
        </p:blipFill>
        <p:spPr>
          <a:xfrm>
            <a:off x="8000111" y="1849629"/>
            <a:ext cx="1080000" cy="64304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20"/>
          <a:srcRect b="6395"/>
          <a:stretch/>
        </p:blipFill>
        <p:spPr>
          <a:xfrm>
            <a:off x="6694728" y="1040336"/>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21"/>
          <a:stretch>
            <a:fillRect/>
          </a:stretch>
        </p:blipFill>
        <p:spPr>
          <a:xfrm>
            <a:off x="4025456" y="2644070"/>
            <a:ext cx="1080000" cy="706364"/>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22"/>
          <a:stretch>
            <a:fillRect/>
          </a:stretch>
        </p:blipFill>
        <p:spPr>
          <a:xfrm>
            <a:off x="6683311" y="1839722"/>
            <a:ext cx="1080000" cy="656775"/>
          </a:xfrm>
          <a:prstGeom prst="rect">
            <a:avLst/>
          </a:prstGeom>
          <a:ln w="952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87338"/>
            <a:ext cx="807720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GB" sz="2000" dirty="0">
                <a:latin typeface="+mn-lt"/>
                <a:ea typeface="Calibri"/>
              </a:rPr>
              <a:t>It is a pleasure and an honour to be here with you today. </a:t>
            </a:r>
          </a:p>
          <a:p>
            <a:pPr algn="ctr"/>
            <a:r>
              <a:rPr lang="en-GB" sz="2000" dirty="0">
                <a:latin typeface="+mn-lt"/>
                <a:ea typeface="Calibri"/>
              </a:rPr>
              <a:t>We are now looking forward to presenting to you the final findings.</a:t>
            </a:r>
            <a:endParaRPr lang="en-US" dirty="0">
              <a:ea typeface="Calibri"/>
            </a:endParaRPr>
          </a:p>
          <a:p>
            <a:pPr algn="ctr"/>
            <a:r>
              <a:rPr lang="zh-CN" altLang="en-GB" sz="2000" dirty="0" err="1">
                <a:solidFill>
                  <a:srgbClr val="1F497D"/>
                </a:solidFill>
                <a:latin typeface="SimSun"/>
                <a:ea typeface="SimSun"/>
              </a:rPr>
              <a:t>今天能和大家在一起，我感到非常荣幸。我们现在期待着向您展示贵司的最终结果</a:t>
            </a:r>
            <a:r>
              <a:rPr lang="zh-CN" altLang="en-GB" sz="2000" dirty="0">
                <a:solidFill>
                  <a:srgbClr val="1F497D"/>
                </a:solidFill>
                <a:latin typeface="SimSun"/>
                <a:ea typeface="SimSun"/>
              </a:rPr>
              <a:t>。</a:t>
            </a:r>
            <a:endParaRPr lang="zh-CN" dirty="0"/>
          </a:p>
          <a:p>
            <a:pPr algn="ctr"/>
            <a:endParaRPr lang="en-GB" altLang="zh-CN" sz="2000" dirty="0">
              <a:solidFill>
                <a:srgbClr val="000000"/>
              </a:solidFill>
              <a:latin typeface="Calibri"/>
              <a:ea typeface="等线"/>
              <a:cs typeface="Calibri"/>
            </a:endParaRP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dirty="0">
                <a:solidFill>
                  <a:srgbClr val="FF0000"/>
                </a:solidFill>
              </a:rPr>
              <a:t>Registered PRC trademark</a:t>
            </a:r>
          </a:p>
          <a:p>
            <a:pPr algn="ctr"/>
            <a:r>
              <a:rPr lang="en-US" sz="1400" b="1" dirty="0">
                <a:solidFill>
                  <a:srgbClr val="FF0000"/>
                </a:solidFill>
              </a:rPr>
              <a:t>21050449</a:t>
            </a:r>
          </a:p>
        </p:txBody>
      </p:sp>
      <p:pic>
        <p:nvPicPr>
          <p:cNvPr id="10" name="Picture 9">
            <a:extLst>
              <a:ext uri="{FF2B5EF4-FFF2-40B4-BE49-F238E27FC236}">
                <a16:creationId xmlns:a16="http://schemas.microsoft.com/office/drawing/2014/main" id="{B883F363-8032-AE88-2810-0BA8D55C91D7}"/>
              </a:ext>
            </a:extLst>
          </p:cNvPr>
          <p:cNvPicPr>
            <a:picLocks noChangeAspect="1"/>
          </p:cNvPicPr>
          <p:nvPr/>
        </p:nvPicPr>
        <p:blipFill>
          <a:blip r:embed="rId23"/>
          <a:stretch>
            <a:fillRect/>
          </a:stretch>
        </p:blipFill>
        <p:spPr>
          <a:xfrm>
            <a:off x="1344954" y="2695850"/>
            <a:ext cx="1080000" cy="70094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2050" name="Picture 2" descr="Flag of Costa Rica | Meaning, Colors &amp; History | Britannica">
            <a:extLst>
              <a:ext uri="{FF2B5EF4-FFF2-40B4-BE49-F238E27FC236}">
                <a16:creationId xmlns:a16="http://schemas.microsoft.com/office/drawing/2014/main" id="{53CD89D5-7FF2-D96B-EA13-4AAF739544D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316911" y="2641935"/>
            <a:ext cx="1080000" cy="676193"/>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18A0F27-07B8-024D-872C-BA34A00A1B7B}"/>
              </a:ext>
            </a:extLst>
          </p:cNvPr>
          <p:cNvPicPr>
            <a:picLocks noChangeAspect="1"/>
          </p:cNvPicPr>
          <p:nvPr/>
        </p:nvPicPr>
        <p:blipFill>
          <a:blip r:embed="rId25"/>
          <a:stretch>
            <a:fillRect/>
          </a:stretch>
        </p:blipFill>
        <p:spPr>
          <a:xfrm>
            <a:off x="6214623" y="5298840"/>
            <a:ext cx="2031326" cy="1015663"/>
          </a:xfrm>
          <a:prstGeom prst="rect">
            <a:avLst/>
          </a:prstGeom>
          <a:ln>
            <a:solidFill>
              <a:schemeClr val="bg1"/>
            </a:solidFill>
          </a:ln>
        </p:spPr>
      </p:pic>
      <p:pic>
        <p:nvPicPr>
          <p:cNvPr id="2052" name="Picture 4" descr="ISACA® Certifications | Global Lynx">
            <a:extLst>
              <a:ext uri="{FF2B5EF4-FFF2-40B4-BE49-F238E27FC236}">
                <a16:creationId xmlns:a16="http://schemas.microsoft.com/office/drawing/2014/main" id="{A29F4551-CAAD-E1A3-5ECA-FD1BF7217D0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740952" y="5508204"/>
            <a:ext cx="1892400" cy="5976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pic>
        <p:nvPicPr>
          <p:cNvPr id="2054" name="Picture 6" descr="Electrosoft rated CMMI Level 3 for both Development and Services |  Electrosoft">
            <a:extLst>
              <a:ext uri="{FF2B5EF4-FFF2-40B4-BE49-F238E27FC236}">
                <a16:creationId xmlns:a16="http://schemas.microsoft.com/office/drawing/2014/main" id="{16CD5BCC-1DFD-47FE-6550-69934F2DFEEE}"/>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t="24841" b="25354"/>
          <a:stretch/>
        </p:blipFill>
        <p:spPr bwMode="auto">
          <a:xfrm>
            <a:off x="1344954" y="5327940"/>
            <a:ext cx="2159999" cy="77321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6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Agenda </a:t>
            </a:r>
            <a:r>
              <a:rPr lang="zh-CN" altLang="en-US" dirty="0">
                <a:solidFill>
                  <a:srgbClr val="1F497D"/>
                </a:solidFill>
              </a:rPr>
              <a:t>议程</a:t>
            </a:r>
            <a:r>
              <a:rPr lang="en-ZA" dirty="0">
                <a:solidFill>
                  <a:srgbClr val="1F497D"/>
                </a:solidFill>
              </a:rPr>
              <a:t> </a:t>
            </a:r>
            <a:r>
              <a:rPr lang="en-ZA" dirty="0"/>
              <a:t> </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fontScale="92500" lnSpcReduction="10000"/>
          </a:bodyPr>
          <a:lstStyle/>
          <a:p>
            <a:r>
              <a:rPr lang="en-NZ" sz="2400" b="0" i="0" dirty="0">
                <a:solidFill>
                  <a:srgbClr val="000000"/>
                </a:solidFill>
                <a:effectLst/>
                <a:latin typeface="Calibri" panose="020F0502020204030204" pitchFamily="34" charset="0"/>
              </a:rPr>
              <a:t>Appraisal Overview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评估概述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Practice Area Findings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实践域发现</a:t>
            </a:r>
            <a:endParaRPr lang="en-NZ"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Performance Report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性能报告</a:t>
            </a:r>
            <a:r>
              <a:rPr lang="en-NZ" sz="2400" b="1" dirty="0">
                <a:solidFill>
                  <a:srgbClr val="1F497D"/>
                </a:solidFill>
                <a:ea typeface="+mj-ea"/>
                <a:cs typeface="+mj-cs"/>
              </a:rPr>
              <a:t>  </a:t>
            </a:r>
          </a:p>
          <a:p>
            <a:r>
              <a:rPr lang="en-NZ" sz="2400" b="0" i="0" dirty="0">
                <a:solidFill>
                  <a:srgbClr val="000000"/>
                </a:solidFill>
                <a:effectLst/>
                <a:latin typeface="Calibri" panose="020F0502020204030204" pitchFamily="34" charset="0"/>
              </a:rPr>
              <a:t>Ratings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评级</a:t>
            </a:r>
            <a:endParaRPr lang="en-ZA" altLang="zh-CN" sz="2400" b="1" dirty="0">
              <a:solidFill>
                <a:srgbClr val="1F497D"/>
              </a:solidFill>
              <a:ea typeface="+mj-ea"/>
              <a:cs typeface="+mj-cs"/>
            </a:endParaRPr>
          </a:p>
          <a:p>
            <a:r>
              <a:rPr lang="en-NZ" sz="2400" b="0" i="0" dirty="0">
                <a:solidFill>
                  <a:srgbClr val="000000"/>
                </a:solidFill>
                <a:effectLst/>
                <a:latin typeface="Calibri" panose="020F0502020204030204" pitchFamily="34" charset="0"/>
              </a:rPr>
              <a:t>Annexures </a:t>
            </a:r>
            <a:br>
              <a:rPr lang="en-NZ" sz="2400" b="0" i="0" dirty="0">
                <a:solidFill>
                  <a:srgbClr val="000000"/>
                </a:solidFill>
                <a:effectLst/>
                <a:latin typeface="Calibri" panose="020F0502020204030204" pitchFamily="34" charset="0"/>
              </a:rPr>
            </a:br>
            <a:r>
              <a:rPr lang="zh-CN" altLang="en-US" sz="2400" b="1" dirty="0">
                <a:solidFill>
                  <a:srgbClr val="1F497D"/>
                </a:solidFill>
                <a:ea typeface="+mj-ea"/>
                <a:cs typeface="+mj-cs"/>
              </a:rPr>
              <a:t>附加展示</a:t>
            </a:r>
            <a:endParaRPr lang="en-NZ" sz="2400" b="0" i="0" dirty="0">
              <a:solidFill>
                <a:srgbClr val="000000"/>
              </a:solidFill>
              <a:effectLst/>
              <a:latin typeface="Calibri" panose="020F0502020204030204" pitchFamily="34" charset="0"/>
            </a:endParaRPr>
          </a:p>
          <a:p>
            <a:pPr lvl="1"/>
            <a:r>
              <a:rPr lang="en-NZ" b="0" i="0" dirty="0">
                <a:solidFill>
                  <a:srgbClr val="000000"/>
                </a:solidFill>
                <a:effectLst/>
                <a:latin typeface="Calibri" panose="020F0502020204030204" pitchFamily="34" charset="0"/>
              </a:rPr>
              <a:t>Non model findings </a:t>
            </a:r>
            <a:endParaRPr lang="en-NZ" dirty="0">
              <a:solidFill>
                <a:srgbClr val="000000"/>
              </a:solidFill>
              <a:latin typeface="Calibri" panose="020F0502020204030204" pitchFamily="34" charset="0"/>
            </a:endParaRPr>
          </a:p>
          <a:p>
            <a:pPr lvl="1"/>
            <a:r>
              <a:rPr lang="en-NZ" b="0" i="0" dirty="0">
                <a:solidFill>
                  <a:srgbClr val="000000"/>
                </a:solidFill>
                <a:effectLst/>
                <a:latin typeface="Calibri" panose="020F0502020204030204" pitchFamily="34" charset="0"/>
              </a:rPr>
              <a:t>Improvement opportunities </a:t>
            </a:r>
          </a:p>
          <a:p>
            <a:pPr lvl="1"/>
            <a:r>
              <a:rPr lang="en-NZ" b="0" i="0" dirty="0">
                <a:solidFill>
                  <a:srgbClr val="000000"/>
                </a:solidFill>
                <a:effectLst/>
                <a:latin typeface="Calibri" panose="020F0502020204030204" pitchFamily="34" charset="0"/>
              </a:rPr>
              <a:t>Next steps </a:t>
            </a:r>
            <a:endParaRPr lang="en-US" sz="2000" dirty="0"/>
          </a:p>
        </p:txBody>
      </p:sp>
    </p:spTree>
    <p:extLst>
      <p:ext uri="{BB962C8B-B14F-4D97-AF65-F5344CB8AC3E}">
        <p14:creationId xmlns:p14="http://schemas.microsoft.com/office/powerpoint/2010/main" val="1569627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a:xfrm>
            <a:off x="962488" y="1039828"/>
            <a:ext cx="10515600" cy="602284"/>
          </a:xfrm>
        </p:spPr>
        <p:txBody>
          <a:bodyPr/>
          <a:lstStyle/>
          <a:p>
            <a:pPr eaLnBrk="1" hangingPunct="1"/>
            <a:r>
              <a:rPr lang="en-US" altLang="en-US" dirty="0">
                <a:ea typeface="ＭＳ Ｐゴシック" charset="-128"/>
              </a:rPr>
              <a:t>Appraisal Overview</a:t>
            </a:r>
          </a:p>
        </p:txBody>
      </p:sp>
      <p:graphicFrame>
        <p:nvGraphicFramePr>
          <p:cNvPr id="2" name="Object 1">
            <a:extLst>
              <a:ext uri="{FF2B5EF4-FFF2-40B4-BE49-F238E27FC236}">
                <a16:creationId xmlns:a16="http://schemas.microsoft.com/office/drawing/2014/main" id="{F0834E9F-5D77-4D80-9135-468AD546C5ED}"/>
              </a:ext>
            </a:extLst>
          </p:cNvPr>
          <p:cNvGraphicFramePr>
            <a:graphicFrameLocks noChangeAspect="1"/>
          </p:cNvGraphicFramePr>
          <p:nvPr>
            <p:extLst>
              <p:ext uri="{D42A27DB-BD31-4B8C-83A1-F6EECF244321}">
                <p14:modId xmlns:p14="http://schemas.microsoft.com/office/powerpoint/2010/main" val="847791808"/>
              </p:ext>
            </p:extLst>
          </p:nvPr>
        </p:nvGraphicFramePr>
        <p:xfrm>
          <a:off x="985838" y="2262188"/>
          <a:ext cx="8245475" cy="1431925"/>
        </p:xfrm>
        <a:graphic>
          <a:graphicData uri="http://schemas.openxmlformats.org/presentationml/2006/ole">
            <mc:AlternateContent xmlns:mc="http://schemas.openxmlformats.org/markup-compatibility/2006">
              <mc:Choice xmlns:v="urn:schemas-microsoft-com:vml" Requires="v">
                <p:oleObj name="Macro-Enabled Worksheet" r:id="rId3" imgW="8244911" imgH="1432718" progId="Excel.SheetMacroEnabled.12">
                  <p:link updateAutomatic="1"/>
                </p:oleObj>
              </mc:Choice>
              <mc:Fallback>
                <p:oleObj name="Macro-Enabled Worksheet" r:id="rId3" imgW="8244911" imgH="1432718" progId="Excel.SheetMacroEnabled.12">
                  <p:link updateAutomatic="1"/>
                  <p:pic>
                    <p:nvPicPr>
                      <p:cNvPr id="2" name="Object 1">
                        <a:extLst>
                          <a:ext uri="{FF2B5EF4-FFF2-40B4-BE49-F238E27FC236}">
                            <a16:creationId xmlns:a16="http://schemas.microsoft.com/office/drawing/2014/main" id="{F0834E9F-5D77-4D80-9135-468AD546C5ED}"/>
                          </a:ext>
                        </a:extLst>
                      </p:cNvPr>
                      <p:cNvPicPr/>
                      <p:nvPr/>
                    </p:nvPicPr>
                    <p:blipFill>
                      <a:blip r:embed="rId4"/>
                      <a:stretch>
                        <a:fillRect/>
                      </a:stretch>
                    </p:blipFill>
                    <p:spPr>
                      <a:xfrm>
                        <a:off x="985838" y="2262188"/>
                        <a:ext cx="8245475" cy="1431925"/>
                      </a:xfrm>
                      <a:prstGeom prst="rect">
                        <a:avLst/>
                      </a:prstGeom>
                    </p:spPr>
                  </p:pic>
                </p:oleObj>
              </mc:Fallback>
            </mc:AlternateContent>
          </a:graphicData>
        </a:graphic>
      </p:graphicFrame>
    </p:spTree>
    <p:extLst>
      <p:ext uri="{BB962C8B-B14F-4D97-AF65-F5344CB8AC3E}">
        <p14:creationId xmlns:p14="http://schemas.microsoft.com/office/powerpoint/2010/main" val="2391473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ＭＳ Ｐゴシック" charset="-128"/>
              </a:rPr>
              <a:t>Appraisal Overview</a:t>
            </a:r>
          </a:p>
        </p:txBody>
      </p:sp>
      <p:graphicFrame>
        <p:nvGraphicFramePr>
          <p:cNvPr id="3" name="Object 2">
            <a:extLst>
              <a:ext uri="{FF2B5EF4-FFF2-40B4-BE49-F238E27FC236}">
                <a16:creationId xmlns:a16="http://schemas.microsoft.com/office/drawing/2014/main" id="{0EB7EFCD-0F5E-4911-B397-E6C1C181361B}"/>
              </a:ext>
            </a:extLst>
          </p:cNvPr>
          <p:cNvGraphicFramePr>
            <a:graphicFrameLocks noChangeAspect="1"/>
          </p:cNvGraphicFramePr>
          <p:nvPr>
            <p:extLst>
              <p:ext uri="{D42A27DB-BD31-4B8C-83A1-F6EECF244321}">
                <p14:modId xmlns:p14="http://schemas.microsoft.com/office/powerpoint/2010/main" val="1337228355"/>
              </p:ext>
            </p:extLst>
          </p:nvPr>
        </p:nvGraphicFramePr>
        <p:xfrm>
          <a:off x="1106488" y="2220913"/>
          <a:ext cx="8245475" cy="1584325"/>
        </p:xfrm>
        <a:graphic>
          <a:graphicData uri="http://schemas.openxmlformats.org/presentationml/2006/ole">
            <mc:AlternateContent xmlns:mc="http://schemas.openxmlformats.org/markup-compatibility/2006">
              <mc:Choice xmlns:v="urn:schemas-microsoft-com:vml" Requires="v">
                <p:oleObj name="Macro-Enabled Worksheet" r:id="rId3" imgW="8244911" imgH="1584944" progId="Excel.SheetMacroEnabled.12">
                  <p:link updateAutomatic="1"/>
                </p:oleObj>
              </mc:Choice>
              <mc:Fallback>
                <p:oleObj name="Macro-Enabled Worksheet" r:id="rId3" imgW="8244911" imgH="1584944" progId="Excel.SheetMacroEnabled.12">
                  <p:link updateAutomatic="1"/>
                  <p:pic>
                    <p:nvPicPr>
                      <p:cNvPr id="3" name="Object 2">
                        <a:extLst>
                          <a:ext uri="{FF2B5EF4-FFF2-40B4-BE49-F238E27FC236}">
                            <a16:creationId xmlns:a16="http://schemas.microsoft.com/office/drawing/2014/main" id="{0EB7EFCD-0F5E-4911-B397-E6C1C181361B}"/>
                          </a:ext>
                        </a:extLst>
                      </p:cNvPr>
                      <p:cNvPicPr/>
                      <p:nvPr/>
                    </p:nvPicPr>
                    <p:blipFill>
                      <a:blip r:embed="rId4"/>
                      <a:stretch>
                        <a:fillRect/>
                      </a:stretch>
                    </p:blipFill>
                    <p:spPr>
                      <a:xfrm>
                        <a:off x="1106488" y="2220913"/>
                        <a:ext cx="8245475" cy="1584325"/>
                      </a:xfrm>
                      <a:prstGeom prst="rect">
                        <a:avLst/>
                      </a:prstGeom>
                    </p:spPr>
                  </p:pic>
                </p:oleObj>
              </mc:Fallback>
            </mc:AlternateContent>
          </a:graphicData>
        </a:graphic>
      </p:graphicFrame>
    </p:spTree>
    <p:extLst>
      <p:ext uri="{BB962C8B-B14F-4D97-AF65-F5344CB8AC3E}">
        <p14:creationId xmlns:p14="http://schemas.microsoft.com/office/powerpoint/2010/main" val="250580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pPr eaLnBrk="1" hangingPunct="1"/>
            <a:r>
              <a:rPr lang="en-US" altLang="en-US" dirty="0">
                <a:ea typeface="ＭＳ Ｐゴシック" charset="-128"/>
              </a:rPr>
              <a:t>Business and Appraisal Objectives</a:t>
            </a:r>
          </a:p>
        </p:txBody>
      </p:sp>
      <p:graphicFrame>
        <p:nvGraphicFramePr>
          <p:cNvPr id="3" name="Object 2">
            <a:extLst>
              <a:ext uri="{FF2B5EF4-FFF2-40B4-BE49-F238E27FC236}">
                <a16:creationId xmlns:a16="http://schemas.microsoft.com/office/drawing/2014/main" id="{CBD7C3AC-6FAD-48FF-80E6-B156EB53802A}"/>
              </a:ext>
            </a:extLst>
          </p:cNvPr>
          <p:cNvGraphicFramePr>
            <a:graphicFrameLocks noChangeAspect="1"/>
          </p:cNvGraphicFramePr>
          <p:nvPr>
            <p:extLst>
              <p:ext uri="{D42A27DB-BD31-4B8C-83A1-F6EECF244321}">
                <p14:modId xmlns:p14="http://schemas.microsoft.com/office/powerpoint/2010/main" val="3847304370"/>
              </p:ext>
            </p:extLst>
          </p:nvPr>
        </p:nvGraphicFramePr>
        <p:xfrm>
          <a:off x="1165225" y="2252663"/>
          <a:ext cx="7437438" cy="1393825"/>
        </p:xfrm>
        <a:graphic>
          <a:graphicData uri="http://schemas.openxmlformats.org/presentationml/2006/ole">
            <mc:AlternateContent xmlns:mc="http://schemas.openxmlformats.org/markup-compatibility/2006">
              <mc:Choice xmlns:v="urn:schemas-microsoft-com:vml" Requires="v">
                <p:oleObj name="Macro-Enabled Worksheet" r:id="rId3" imgW="7437262" imgH="1394342" progId="Excel.SheetMacroEnabled.12">
                  <p:link updateAutomatic="1"/>
                </p:oleObj>
              </mc:Choice>
              <mc:Fallback>
                <p:oleObj name="Macro-Enabled Worksheet" r:id="rId3" imgW="7437262" imgH="1394342" progId="Excel.SheetMacroEnabled.12">
                  <p:link updateAutomatic="1"/>
                  <p:pic>
                    <p:nvPicPr>
                      <p:cNvPr id="3" name="Object 2">
                        <a:extLst>
                          <a:ext uri="{FF2B5EF4-FFF2-40B4-BE49-F238E27FC236}">
                            <a16:creationId xmlns:a16="http://schemas.microsoft.com/office/drawing/2014/main" id="{CBD7C3AC-6FAD-48FF-80E6-B156EB53802A}"/>
                          </a:ext>
                        </a:extLst>
                      </p:cNvPr>
                      <p:cNvPicPr/>
                      <p:nvPr/>
                    </p:nvPicPr>
                    <p:blipFill>
                      <a:blip r:embed="rId4"/>
                      <a:stretch>
                        <a:fillRect/>
                      </a:stretch>
                    </p:blipFill>
                    <p:spPr>
                      <a:xfrm>
                        <a:off x="1165225" y="2252663"/>
                        <a:ext cx="7437438" cy="1393825"/>
                      </a:xfrm>
                      <a:prstGeom prst="rect">
                        <a:avLst/>
                      </a:prstGeom>
                    </p:spPr>
                  </p:pic>
                </p:oleObj>
              </mc:Fallback>
            </mc:AlternateContent>
          </a:graphicData>
        </a:graphic>
      </p:graphicFrame>
    </p:spTree>
    <p:extLst>
      <p:ext uri="{BB962C8B-B14F-4D97-AF65-F5344CB8AC3E}">
        <p14:creationId xmlns:p14="http://schemas.microsoft.com/office/powerpoint/2010/main" val="14859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057247"/>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br>
              <a:rPr lang="en-ZA" sz="1800" dirty="0">
                <a:latin typeface="Calibri" panose="020F0502020204030204" pitchFamily="34" charset="0"/>
                <a:ea typeface="Calibri" panose="020F0502020204030204" pitchFamily="34" charset="0"/>
              </a:rPr>
            </a:br>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489220"/>
            <a:ext cx="10397837" cy="4531043"/>
          </a:xfrm>
        </p:spPr>
        <p:txBody>
          <a:bodyPr>
            <a:noAutofit/>
          </a:bodyPr>
          <a:lstStyle/>
          <a:p>
            <a:pPr marL="0" indent="0">
              <a:spcBef>
                <a:spcPts val="300"/>
              </a:spcBef>
              <a:buNone/>
            </a:pPr>
            <a:r>
              <a:rPr lang="en-GB" sz="1600" dirty="0">
                <a:solidFill>
                  <a:srgbClr val="000000"/>
                </a:solidFill>
                <a:latin typeface="Arial" panose="020B0604020202020204" pitchFamily="34" charset="0"/>
                <a:ea typeface="Calibri" panose="020F0502020204030204" pitchFamily="34" charset="0"/>
              </a:rPr>
              <a:t>When virtual interviews are planned for the appraisal, then virtual face-to-face (</a:t>
            </a:r>
            <a:r>
              <a:rPr lang="en-GB" sz="1600" dirty="0" err="1">
                <a:solidFill>
                  <a:srgbClr val="000000"/>
                </a:solidFill>
                <a:latin typeface="Arial" panose="020B0604020202020204" pitchFamily="34" charset="0"/>
                <a:ea typeface="Calibri" panose="020F0502020204030204" pitchFamily="34" charset="0"/>
              </a:rPr>
              <a:t>F2F</a:t>
            </a:r>
            <a:r>
              <a:rPr lang="en-GB" sz="1600" dirty="0">
                <a:solidFill>
                  <a:srgbClr val="000000"/>
                </a:solidFill>
                <a:latin typeface="Arial" panose="020B0604020202020204" pitchFamily="34" charset="0"/>
                <a:ea typeface="Calibri" panose="020F0502020204030204" pitchFamily="34" charset="0"/>
              </a:rPr>
              <a:t>) interviews are required to confirm the following:</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interviewees are on camera</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ATM identities and maximizing their participation</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appraisal participant identities, e.g., interviewees, Appraisal Sponsor</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only planned appraisal participants are present</a:t>
            </a:r>
          </a:p>
          <a:p>
            <a:pPr>
              <a:spcBef>
                <a:spcPts val="300"/>
              </a:spcBef>
            </a:pPr>
            <a:r>
              <a:rPr lang="en-GB" sz="1600" dirty="0">
                <a:solidFill>
                  <a:srgbClr val="000000"/>
                </a:solidFill>
                <a:latin typeface="Arial" panose="020B0604020202020204" pitchFamily="34" charset="0"/>
                <a:ea typeface="Calibri" panose="020F0502020204030204" pitchFamily="34" charset="0"/>
              </a:rPr>
              <a:t>Verifying that non-attribution and confidentiality rules are being followed, e.g., no other participants are present, physical setting is appropriate</a:t>
            </a:r>
          </a:p>
          <a:p>
            <a:pPr>
              <a:spcBef>
                <a:spcPts val="300"/>
              </a:spcBef>
            </a:pPr>
            <a:r>
              <a:rPr lang="en-GB" sz="1600" dirty="0">
                <a:solidFill>
                  <a:srgbClr val="000000"/>
                </a:solidFill>
                <a:latin typeface="Arial" panose="020B0604020202020204" pitchFamily="34" charset="0"/>
                <a:ea typeface="Calibri" panose="020F0502020204030204" pitchFamily="34" charset="0"/>
              </a:rPr>
              <a:t>Monitoring non-verbal communication and appraisal participant engagement</a:t>
            </a:r>
          </a:p>
          <a:p>
            <a:pPr marL="0" indent="0" algn="l">
              <a:buNone/>
            </a:pPr>
            <a:r>
              <a:rPr lang="zh-CN" altLang="en-US" sz="1600" dirty="0">
                <a:solidFill>
                  <a:srgbClr val="1F497D"/>
                </a:solidFill>
                <a:latin typeface="宋体" panose="02010600030101010101" pitchFamily="2" charset="-122"/>
                <a:ea typeface="宋体" panose="02010600030101010101" pitchFamily="2" charset="-122"/>
              </a:rPr>
              <a:t>当评估计划进行虚拟面试时，需要进行虚拟面对面（</a:t>
            </a:r>
            <a:r>
              <a:rPr lang="en-US" altLang="zh-CN" sz="1600" dirty="0" err="1">
                <a:solidFill>
                  <a:srgbClr val="1F497D"/>
                </a:solidFill>
                <a:latin typeface="宋体" panose="02010600030101010101" pitchFamily="2" charset="-122"/>
                <a:ea typeface="宋体" panose="02010600030101010101" pitchFamily="2" charset="-122"/>
              </a:rPr>
              <a:t>F2F</a:t>
            </a:r>
            <a:r>
              <a:rPr lang="zh-CN" altLang="en-US" sz="1600" dirty="0">
                <a:solidFill>
                  <a:srgbClr val="1F497D"/>
                </a:solidFill>
                <a:latin typeface="宋体" panose="02010600030101010101" pitchFamily="2" charset="-122"/>
                <a:ea typeface="宋体" panose="02010600030101010101" pitchFamily="2" charset="-122"/>
              </a:rPr>
              <a:t>）面试以确认以下内容：</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确认受访者出现在摄像头前</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a:t>
            </a:r>
            <a:r>
              <a:rPr lang="en-US" altLang="zh-CN" sz="1600" dirty="0">
                <a:solidFill>
                  <a:srgbClr val="1F497D"/>
                </a:solidFill>
                <a:latin typeface="宋体" panose="02010600030101010101" pitchFamily="2" charset="-122"/>
                <a:ea typeface="宋体" panose="02010600030101010101" pitchFamily="2" charset="-122"/>
              </a:rPr>
              <a:t>ATM</a:t>
            </a:r>
            <a:r>
              <a:rPr lang="zh-CN" altLang="en-US" sz="1600" dirty="0">
                <a:solidFill>
                  <a:srgbClr val="1F497D"/>
                </a:solidFill>
                <a:latin typeface="宋体" panose="02010600030101010101" pitchFamily="2" charset="-122"/>
                <a:ea typeface="宋体" panose="02010600030101010101" pitchFamily="2" charset="-122"/>
              </a:rPr>
              <a:t>身份并最大化他们的参与</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验证评估参与者的身份，例如，受访者、评估赞助人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确认只有计划中的评估参与者在场</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验证非归属和保密规则是否被遵守，例如，没有其他参与者在场，物理环境是否适宜</a:t>
            </a:r>
          </a:p>
          <a:p>
            <a:pPr algn="l">
              <a:buFont typeface="Arial" panose="020B0604020202020204" pitchFamily="34" charset="0"/>
              <a:buChar char="•"/>
            </a:pPr>
            <a:r>
              <a:rPr lang="zh-CN" altLang="en-US" sz="1600" dirty="0">
                <a:solidFill>
                  <a:srgbClr val="1F497D"/>
                </a:solidFill>
                <a:latin typeface="宋体" panose="02010600030101010101" pitchFamily="2" charset="-122"/>
                <a:ea typeface="宋体" panose="02010600030101010101" pitchFamily="2" charset="-122"/>
              </a:rPr>
              <a:t>监控非言语交流和评估参与者的参与度</a:t>
            </a:r>
          </a:p>
          <a:p>
            <a:pPr marL="0" indent="0">
              <a:spcBef>
                <a:spcPts val="300"/>
              </a:spcBef>
              <a:buNone/>
            </a:pPr>
            <a:endParaRPr lang="en-GB" sz="1600" dirty="0">
              <a:solidFill>
                <a:srgbClr val="000000"/>
              </a:solidFill>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57226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ＭＳ Ｐゴシック" charset="-128"/>
              </a:rPr>
              <a:t>Appraisal Team and Support Personnel</a:t>
            </a:r>
          </a:p>
        </p:txBody>
      </p:sp>
      <p:graphicFrame>
        <p:nvGraphicFramePr>
          <p:cNvPr id="2" name="Object 1">
            <a:extLst>
              <a:ext uri="{FF2B5EF4-FFF2-40B4-BE49-F238E27FC236}">
                <a16:creationId xmlns:a16="http://schemas.microsoft.com/office/drawing/2014/main" id="{F449B2C3-7394-404B-BC0E-2D5A28533002}"/>
              </a:ext>
            </a:extLst>
          </p:cNvPr>
          <p:cNvGraphicFramePr>
            <a:graphicFrameLocks noChangeAspect="1"/>
          </p:cNvGraphicFramePr>
          <p:nvPr>
            <p:extLst>
              <p:ext uri="{D42A27DB-BD31-4B8C-83A1-F6EECF244321}">
                <p14:modId xmlns:p14="http://schemas.microsoft.com/office/powerpoint/2010/main" val="3419237890"/>
              </p:ext>
            </p:extLst>
          </p:nvPr>
        </p:nvGraphicFramePr>
        <p:xfrm>
          <a:off x="1122363" y="2225675"/>
          <a:ext cx="8245475" cy="2111375"/>
        </p:xfrm>
        <a:graphic>
          <a:graphicData uri="http://schemas.openxmlformats.org/presentationml/2006/ole">
            <mc:AlternateContent xmlns:mc="http://schemas.openxmlformats.org/markup-compatibility/2006">
              <mc:Choice xmlns:v="urn:schemas-microsoft-com:vml" Requires="v">
                <p:oleObj name="Macro-Enabled Worksheet" r:id="rId3" imgW="8244911" imgH="2110701" progId="Excel.SheetMacroEnabled.12">
                  <p:link updateAutomatic="1"/>
                </p:oleObj>
              </mc:Choice>
              <mc:Fallback>
                <p:oleObj name="Macro-Enabled Worksheet" r:id="rId3" imgW="8244911" imgH="2110701" progId="Excel.SheetMacroEnabled.12">
                  <p:link updateAutomatic="1"/>
                  <p:pic>
                    <p:nvPicPr>
                      <p:cNvPr id="2" name="Object 1">
                        <a:extLst>
                          <a:ext uri="{FF2B5EF4-FFF2-40B4-BE49-F238E27FC236}">
                            <a16:creationId xmlns:a16="http://schemas.microsoft.com/office/drawing/2014/main" id="{F449B2C3-7394-404B-BC0E-2D5A28533002}"/>
                          </a:ext>
                        </a:extLst>
                      </p:cNvPr>
                      <p:cNvPicPr/>
                      <p:nvPr/>
                    </p:nvPicPr>
                    <p:blipFill>
                      <a:blip r:embed="rId4"/>
                      <a:stretch>
                        <a:fillRect/>
                      </a:stretch>
                    </p:blipFill>
                    <p:spPr>
                      <a:xfrm>
                        <a:off x="1122363" y="2225675"/>
                        <a:ext cx="8245475" cy="2111375"/>
                      </a:xfrm>
                      <a:prstGeom prst="rect">
                        <a:avLst/>
                      </a:prstGeom>
                    </p:spPr>
                  </p:pic>
                </p:oleObj>
              </mc:Fallback>
            </mc:AlternateContent>
          </a:graphicData>
        </a:graphic>
      </p:graphicFrame>
    </p:spTree>
    <p:extLst>
      <p:ext uri="{BB962C8B-B14F-4D97-AF65-F5344CB8AC3E}">
        <p14:creationId xmlns:p14="http://schemas.microsoft.com/office/powerpoint/2010/main" val="48367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a:xfrm>
            <a:off x="1055688" y="892263"/>
            <a:ext cx="10397836" cy="602284"/>
          </a:xfrm>
        </p:spPr>
        <p:txBody>
          <a:bodyPr>
            <a:normAutofit/>
          </a:bodyPr>
          <a:lstStyle/>
          <a:p>
            <a:r>
              <a:rPr lang="en-US" altLang="en-US" dirty="0">
                <a:ea typeface="ＭＳ Ｐゴシック" charset="-128"/>
              </a:rPr>
              <a:t>Appraisal Scope – Benchmark Model View</a:t>
            </a:r>
          </a:p>
        </p:txBody>
      </p:sp>
      <p:graphicFrame>
        <p:nvGraphicFramePr>
          <p:cNvPr id="2" name="Object 1">
            <a:extLst>
              <a:ext uri="{FF2B5EF4-FFF2-40B4-BE49-F238E27FC236}">
                <a16:creationId xmlns:a16="http://schemas.microsoft.com/office/drawing/2014/main" id="{8484F069-F116-4F8E-91F9-6DA4C70CE468}"/>
              </a:ext>
            </a:extLst>
          </p:cNvPr>
          <p:cNvGraphicFramePr>
            <a:graphicFrameLocks noChangeAspect="1"/>
          </p:cNvGraphicFramePr>
          <p:nvPr>
            <p:extLst>
              <p:ext uri="{D42A27DB-BD31-4B8C-83A1-F6EECF244321}">
                <p14:modId xmlns:p14="http://schemas.microsoft.com/office/powerpoint/2010/main" val="3356204039"/>
              </p:ext>
            </p:extLst>
          </p:nvPr>
        </p:nvGraphicFramePr>
        <p:xfrm>
          <a:off x="1190625" y="1590675"/>
          <a:ext cx="8526463" cy="4565650"/>
        </p:xfrm>
        <a:graphic>
          <a:graphicData uri="http://schemas.openxmlformats.org/presentationml/2006/ole">
            <mc:AlternateContent xmlns:mc="http://schemas.openxmlformats.org/markup-compatibility/2006">
              <mc:Choice xmlns:v="urn:schemas-microsoft-com:vml" Requires="v">
                <p:oleObj name="Macro-Enabled Worksheet" r:id="rId3" imgW="9928683" imgH="5463516" progId="Excel.SheetMacroEnabled.12">
                  <p:link updateAutomatic="1"/>
                </p:oleObj>
              </mc:Choice>
              <mc:Fallback>
                <p:oleObj name="Macro-Enabled Worksheet" r:id="rId3" imgW="9928683" imgH="5463516" progId="Excel.SheetMacroEnabled.12">
                  <p:link updateAutomatic="1"/>
                  <p:pic>
                    <p:nvPicPr>
                      <p:cNvPr id="2" name="Object 1">
                        <a:extLst>
                          <a:ext uri="{FF2B5EF4-FFF2-40B4-BE49-F238E27FC236}">
                            <a16:creationId xmlns:a16="http://schemas.microsoft.com/office/drawing/2014/main" id="{8484F069-F116-4F8E-91F9-6DA4C70CE468}"/>
                          </a:ext>
                        </a:extLst>
                      </p:cNvPr>
                      <p:cNvPicPr/>
                      <p:nvPr/>
                    </p:nvPicPr>
                    <p:blipFill>
                      <a:blip r:embed="rId4"/>
                      <a:stretch>
                        <a:fillRect/>
                      </a:stretch>
                    </p:blipFill>
                    <p:spPr>
                      <a:xfrm>
                        <a:off x="1190625" y="1590675"/>
                        <a:ext cx="8526463" cy="4565650"/>
                      </a:xfrm>
                      <a:prstGeom prst="rect">
                        <a:avLst/>
                      </a:prstGeom>
                    </p:spPr>
                  </p:pic>
                </p:oleObj>
              </mc:Fallback>
            </mc:AlternateContent>
          </a:graphicData>
        </a:graphic>
      </p:graphicFrame>
    </p:spTree>
    <p:extLst>
      <p:ext uri="{BB962C8B-B14F-4D97-AF65-F5344CB8AC3E}">
        <p14:creationId xmlns:p14="http://schemas.microsoft.com/office/powerpoint/2010/main" val="2361070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Scope</a:t>
            </a:r>
          </a:p>
        </p:txBody>
      </p:sp>
      <p:graphicFrame>
        <p:nvGraphicFramePr>
          <p:cNvPr id="2" name="Object 1">
            <a:extLst>
              <a:ext uri="{FF2B5EF4-FFF2-40B4-BE49-F238E27FC236}">
                <a16:creationId xmlns:a16="http://schemas.microsoft.com/office/drawing/2014/main" id="{110942FF-2240-4B68-8644-23EA109C8919}"/>
              </a:ext>
            </a:extLst>
          </p:cNvPr>
          <p:cNvGraphicFramePr>
            <a:graphicFrameLocks noChangeAspect="1"/>
          </p:cNvGraphicFramePr>
          <p:nvPr>
            <p:extLst>
              <p:ext uri="{D42A27DB-BD31-4B8C-83A1-F6EECF244321}">
                <p14:modId xmlns:p14="http://schemas.microsoft.com/office/powerpoint/2010/main" val="795705134"/>
              </p:ext>
            </p:extLst>
          </p:nvPr>
        </p:nvGraphicFramePr>
        <p:xfrm>
          <a:off x="1128713" y="2419350"/>
          <a:ext cx="7721600" cy="1241425"/>
        </p:xfrm>
        <a:graphic>
          <a:graphicData uri="http://schemas.openxmlformats.org/presentationml/2006/ole">
            <mc:AlternateContent xmlns:mc="http://schemas.openxmlformats.org/markup-compatibility/2006">
              <mc:Choice xmlns:v="urn:schemas-microsoft-com:vml" Requires="v">
                <p:oleObj name="Macro-Enabled Worksheet" r:id="rId3" imgW="7437262" imgH="1196490" progId="Excel.SheetMacroEnabled.12">
                  <p:link updateAutomatic="1"/>
                </p:oleObj>
              </mc:Choice>
              <mc:Fallback>
                <p:oleObj name="Macro-Enabled Worksheet" r:id="rId3" imgW="7437262" imgH="1196490" progId="Excel.SheetMacroEnabled.12">
                  <p:link updateAutomatic="1"/>
                  <p:pic>
                    <p:nvPicPr>
                      <p:cNvPr id="2" name="Object 1">
                        <a:extLst>
                          <a:ext uri="{FF2B5EF4-FFF2-40B4-BE49-F238E27FC236}">
                            <a16:creationId xmlns:a16="http://schemas.microsoft.com/office/drawing/2014/main" id="{110942FF-2240-4B68-8644-23EA109C8919}"/>
                          </a:ext>
                        </a:extLst>
                      </p:cNvPr>
                      <p:cNvPicPr/>
                      <p:nvPr/>
                    </p:nvPicPr>
                    <p:blipFill>
                      <a:blip r:embed="rId4"/>
                      <a:stretch>
                        <a:fillRect/>
                      </a:stretch>
                    </p:blipFill>
                    <p:spPr>
                      <a:xfrm>
                        <a:off x="1128713" y="2419350"/>
                        <a:ext cx="7721600" cy="1241425"/>
                      </a:xfrm>
                      <a:prstGeom prst="rect">
                        <a:avLst/>
                      </a:prstGeom>
                    </p:spPr>
                  </p:pic>
                </p:oleObj>
              </mc:Fallback>
            </mc:AlternateContent>
          </a:graphicData>
        </a:graphic>
      </p:graphicFrame>
    </p:spTree>
    <p:extLst>
      <p:ext uri="{BB962C8B-B14F-4D97-AF65-F5344CB8AC3E}">
        <p14:creationId xmlns:p14="http://schemas.microsoft.com/office/powerpoint/2010/main" val="222638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212582CF-2677-4AC8-90A0-FD5C774ECFF6}"/>
              </a:ext>
            </a:extLst>
          </p:cNvPr>
          <p:cNvGraphicFramePr>
            <a:graphicFrameLocks noChangeAspect="1"/>
          </p:cNvGraphicFramePr>
          <p:nvPr>
            <p:extLst>
              <p:ext uri="{D42A27DB-BD31-4B8C-83A1-F6EECF244321}">
                <p14:modId xmlns:p14="http://schemas.microsoft.com/office/powerpoint/2010/main" val="2512421588"/>
              </p:ext>
            </p:extLst>
          </p:nvPr>
        </p:nvGraphicFramePr>
        <p:xfrm>
          <a:off x="152400" y="1873250"/>
          <a:ext cx="10412413" cy="3113088"/>
        </p:xfrm>
        <a:graphic>
          <a:graphicData uri="http://schemas.openxmlformats.org/presentationml/2006/ole">
            <mc:AlternateContent xmlns:mc="http://schemas.openxmlformats.org/markup-compatibility/2006">
              <mc:Choice xmlns:v="urn:schemas-microsoft-com:vml" Requires="v">
                <p:oleObj name="Macro-Enabled Worksheet" r:id="rId3" imgW="13403403" imgH="4008199" progId="Excel.SheetMacroEnabled.12">
                  <p:link updateAutomatic="1"/>
                </p:oleObj>
              </mc:Choice>
              <mc:Fallback>
                <p:oleObj name="Macro-Enabled Worksheet" r:id="rId3" imgW="13403403" imgH="4008199" progId="Excel.SheetMacroEnabled.12">
                  <p:link updateAutomatic="1"/>
                  <p:pic>
                    <p:nvPicPr>
                      <p:cNvPr id="3" name="Object 2">
                        <a:extLst>
                          <a:ext uri="{FF2B5EF4-FFF2-40B4-BE49-F238E27FC236}">
                            <a16:creationId xmlns:a16="http://schemas.microsoft.com/office/drawing/2014/main" id="{212582CF-2677-4AC8-90A0-FD5C774ECFF6}"/>
                          </a:ext>
                        </a:extLst>
                      </p:cNvPr>
                      <p:cNvPicPr/>
                      <p:nvPr/>
                    </p:nvPicPr>
                    <p:blipFill>
                      <a:blip r:embed="rId4"/>
                      <a:stretch>
                        <a:fillRect/>
                      </a:stretch>
                    </p:blipFill>
                    <p:spPr>
                      <a:xfrm>
                        <a:off x="152400" y="1873250"/>
                        <a:ext cx="10412413" cy="3113088"/>
                      </a:xfrm>
                      <a:prstGeom prst="rect">
                        <a:avLst/>
                      </a:prstGeom>
                    </p:spPr>
                  </p:pic>
                </p:oleObj>
              </mc:Fallback>
            </mc:AlternateContent>
          </a:graphicData>
        </a:graphic>
      </p:graphicFrame>
      <p:sp>
        <p:nvSpPr>
          <p:cNvPr id="21505" name="Title 3"/>
          <p:cNvSpPr>
            <a:spLocks noGrp="1"/>
          </p:cNvSpPr>
          <p:nvPr>
            <p:ph type="title"/>
          </p:nvPr>
        </p:nvSpPr>
        <p:spPr/>
        <p:txBody>
          <a:bodyPr>
            <a:normAutofit/>
          </a:bodyPr>
          <a:lstStyle/>
          <a:p>
            <a:r>
              <a:rPr lang="en-US" altLang="en-US" dirty="0">
                <a:ea typeface="ＭＳ Ｐゴシック" charset="-128"/>
              </a:rPr>
              <a:t>Appraisal Scope – Organizational Sample</a:t>
            </a:r>
          </a:p>
        </p:txBody>
      </p:sp>
    </p:spTree>
    <p:extLst>
      <p:ext uri="{BB962C8B-B14F-4D97-AF65-F5344CB8AC3E}">
        <p14:creationId xmlns:p14="http://schemas.microsoft.com/office/powerpoint/2010/main" val="139206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5379DEB1-F0B7-4BEB-8ADB-13FF265847B2}"/>
              </a:ext>
            </a:extLst>
          </p:cNvPr>
          <p:cNvGraphicFramePr>
            <a:graphicFrameLocks noChangeAspect="1"/>
          </p:cNvGraphicFramePr>
          <p:nvPr>
            <p:extLst>
              <p:ext uri="{D42A27DB-BD31-4B8C-83A1-F6EECF244321}">
                <p14:modId xmlns:p14="http://schemas.microsoft.com/office/powerpoint/2010/main" val="733703596"/>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3" name="Object 2">
                        <a:extLst>
                          <a:ext uri="{FF2B5EF4-FFF2-40B4-BE49-F238E27FC236}">
                            <a16:creationId xmlns:a16="http://schemas.microsoft.com/office/drawing/2014/main" id="{5379DEB1-F0B7-4BEB-8ADB-13FF265847B2}"/>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r>
              <a:rPr lang="en-ZA" dirty="0"/>
              <a:t> </a:t>
            </a:r>
          </a:p>
        </p:txBody>
      </p:sp>
    </p:spTree>
    <p:extLst>
      <p:ext uri="{BB962C8B-B14F-4D97-AF65-F5344CB8AC3E}">
        <p14:creationId xmlns:p14="http://schemas.microsoft.com/office/powerpoint/2010/main" val="2718433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43C-9D08-4642-A4DF-AF55E6513E46}"/>
              </a:ext>
            </a:extLst>
          </p:cNvPr>
          <p:cNvSpPr>
            <a:spLocks noGrp="1"/>
          </p:cNvSpPr>
          <p:nvPr>
            <p:ph type="title"/>
          </p:nvPr>
        </p:nvSpPr>
        <p:spPr/>
        <p:txBody>
          <a:bodyPr/>
          <a:lstStyle/>
          <a:p>
            <a:r>
              <a:rPr lang="en-US" altLang="en-US" dirty="0">
                <a:ea typeface="ＭＳ Ｐゴシック" charset="-128"/>
              </a:rPr>
              <a:t>Appraisal Scope – Organizational Sample</a:t>
            </a:r>
            <a:endParaRPr lang="en-ZA" dirty="0"/>
          </a:p>
        </p:txBody>
      </p:sp>
      <p:graphicFrame>
        <p:nvGraphicFramePr>
          <p:cNvPr id="4" name="Object 3">
            <a:extLst>
              <a:ext uri="{FF2B5EF4-FFF2-40B4-BE49-F238E27FC236}">
                <a16:creationId xmlns:a16="http://schemas.microsoft.com/office/drawing/2014/main" id="{A40969C2-A165-4C93-A3E6-CC9064950839}"/>
              </a:ext>
            </a:extLst>
          </p:cNvPr>
          <p:cNvGraphicFramePr>
            <a:graphicFrameLocks noChangeAspect="1"/>
          </p:cNvGraphicFramePr>
          <p:nvPr>
            <p:extLst>
              <p:ext uri="{D42A27DB-BD31-4B8C-83A1-F6EECF244321}">
                <p14:modId xmlns:p14="http://schemas.microsoft.com/office/powerpoint/2010/main" val="2280180642"/>
              </p:ext>
            </p:extLst>
          </p:nvPr>
        </p:nvGraphicFramePr>
        <p:xfrm>
          <a:off x="503238" y="1689100"/>
          <a:ext cx="11185525" cy="3475038"/>
        </p:xfrm>
        <a:graphic>
          <a:graphicData uri="http://schemas.openxmlformats.org/presentationml/2006/ole">
            <mc:AlternateContent xmlns:mc="http://schemas.openxmlformats.org/markup-compatibility/2006">
              <mc:Choice xmlns:v="urn:schemas-microsoft-com:vml" Requires="v">
                <p:oleObj name="Macro-Enabled Worksheet" r:id="rId2" imgW="11186302" imgH="3474767" progId="Excel.SheetMacroEnabled.12">
                  <p:link updateAutomatic="1"/>
                </p:oleObj>
              </mc:Choice>
              <mc:Fallback>
                <p:oleObj name="Macro-Enabled Worksheet" r:id="rId2" imgW="11186302" imgH="3474767" progId="Excel.SheetMacroEnabled.12">
                  <p:link updateAutomatic="1"/>
                  <p:pic>
                    <p:nvPicPr>
                      <p:cNvPr id="4" name="Object 3">
                        <a:extLst>
                          <a:ext uri="{FF2B5EF4-FFF2-40B4-BE49-F238E27FC236}">
                            <a16:creationId xmlns:a16="http://schemas.microsoft.com/office/drawing/2014/main" id="{A40969C2-A165-4C93-A3E6-CC9064950839}"/>
                          </a:ext>
                        </a:extLst>
                      </p:cNvPr>
                      <p:cNvPicPr/>
                      <p:nvPr/>
                    </p:nvPicPr>
                    <p:blipFill>
                      <a:blip r:embed="rId3"/>
                      <a:stretch>
                        <a:fillRect/>
                      </a:stretch>
                    </p:blipFill>
                    <p:spPr>
                      <a:xfrm>
                        <a:off x="503238" y="1689100"/>
                        <a:ext cx="11185525" cy="3475038"/>
                      </a:xfrm>
                      <a:prstGeom prst="rect">
                        <a:avLst/>
                      </a:prstGeom>
                    </p:spPr>
                  </p:pic>
                </p:oleObj>
              </mc:Fallback>
            </mc:AlternateContent>
          </a:graphicData>
        </a:graphic>
      </p:graphicFrame>
    </p:spTree>
    <p:extLst>
      <p:ext uri="{BB962C8B-B14F-4D97-AF65-F5344CB8AC3E}">
        <p14:creationId xmlns:p14="http://schemas.microsoft.com/office/powerpoint/2010/main" val="186037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a:bodyPr>
          <a:lstStyle/>
          <a:p>
            <a:pPr lvl="0"/>
            <a:r>
              <a:rPr lang="en-US" sz="1600" dirty="0"/>
              <a:t>Required Findings Categories:</a:t>
            </a:r>
          </a:p>
          <a:p>
            <a:pPr lvl="1"/>
            <a:r>
              <a:rPr lang="en-GB" sz="1400" u="sng" dirty="0"/>
              <a:t>Weaknesses: </a:t>
            </a:r>
            <a:r>
              <a:rPr lang="en-GB" sz="1400" dirty="0"/>
              <a:t>A type of preliminary or final finding, which is an ineffective, or lack of, implementation of one or more processes that meet the intent and value of a practice based on verified objective evidence, and applicable across the project(s) and organizational support functions (</a:t>
            </a:r>
            <a:r>
              <a:rPr lang="en-GB" sz="1400" dirty="0" err="1"/>
              <a:t>OSFs</a:t>
            </a:r>
            <a:r>
              <a:rPr lang="en-GB" sz="1400" dirty="0"/>
              <a:t>) or Organizational Unit as a whole. This is realized either by a) the process itself does not address a CMMI practice requirement, or b) the project(s) or </a:t>
            </a:r>
            <a:r>
              <a:rPr lang="en-GB" sz="1400" dirty="0" err="1"/>
              <a:t>OSFs</a:t>
            </a:r>
            <a:r>
              <a:rPr lang="en-GB" sz="1400" dirty="0"/>
              <a:t> are not following their process that meets the intent and value of the applicable CMMI practice.</a:t>
            </a:r>
          </a:p>
          <a:p>
            <a:pPr lvl="1"/>
            <a:r>
              <a:rPr lang="en-GB" sz="1400" u="sng" dirty="0"/>
              <a:t>Strengths: </a:t>
            </a:r>
            <a:r>
              <a:rPr lang="en-GB" sz="1400" dirty="0"/>
              <a:t>A type of preliminary or final finding, which is an exemplary or noteworthy implementation of a process that meets the intent and value of a CMMI model practice.</a:t>
            </a:r>
          </a:p>
          <a:p>
            <a:pPr marL="457200" lvl="1" indent="0">
              <a:buNone/>
            </a:pPr>
            <a:endParaRPr lang="en-GB" sz="1400" dirty="0"/>
          </a:p>
          <a:p>
            <a:r>
              <a:rPr lang="zh-CN" altLang="en-US" sz="1600" dirty="0">
                <a:solidFill>
                  <a:srgbClr val="1F497D"/>
                </a:solidFill>
              </a:rPr>
              <a:t>必需的调查结果分类：</a:t>
            </a:r>
            <a:endParaRPr lang="en-GB" altLang="zh-CN" sz="1600" dirty="0">
              <a:solidFill>
                <a:srgbClr val="1F497D"/>
              </a:solidFill>
            </a:endParaRPr>
          </a:p>
          <a:p>
            <a:pPr lvl="1"/>
            <a:r>
              <a:rPr lang="zh-CN" altLang="en-US" sz="1400" dirty="0">
                <a:solidFill>
                  <a:srgbClr val="1F497D"/>
                </a:solidFill>
              </a:rPr>
              <a:t>弱点：这是一种初步或最终的发现，涉及一个或多个流程的实施无效，或缺乏实施，这些流程基于验证的客观证据，旨在满足实践的意图和价值，并适用于整个项目、组织支持功能（</a:t>
            </a:r>
            <a:r>
              <a:rPr lang="en-US" altLang="zh-CN" sz="1400" dirty="0" err="1">
                <a:solidFill>
                  <a:srgbClr val="1F497D"/>
                </a:solidFill>
              </a:rPr>
              <a:t>OSFs</a:t>
            </a:r>
            <a:r>
              <a:rPr lang="zh-CN" altLang="en-US" sz="1400" dirty="0">
                <a:solidFill>
                  <a:srgbClr val="1F497D"/>
                </a:solidFill>
              </a:rPr>
              <a:t>）或组织单位。这种情况是由以下原因造成的：</a:t>
            </a:r>
            <a:r>
              <a:rPr lang="en-US" altLang="zh-CN" sz="1400" dirty="0">
                <a:solidFill>
                  <a:srgbClr val="1F497D"/>
                </a:solidFill>
              </a:rPr>
              <a:t>a) </a:t>
            </a:r>
            <a:r>
              <a:rPr lang="zh-CN" altLang="en-US" sz="1400" dirty="0">
                <a:solidFill>
                  <a:srgbClr val="1F497D"/>
                </a:solidFill>
              </a:rPr>
              <a:t>流程本身没有满足</a:t>
            </a:r>
            <a:r>
              <a:rPr lang="en-US" altLang="zh-CN" sz="1400" dirty="0">
                <a:solidFill>
                  <a:srgbClr val="1F497D"/>
                </a:solidFill>
              </a:rPr>
              <a:t>CMMI</a:t>
            </a:r>
            <a:r>
              <a:rPr lang="zh-CN" altLang="en-US" sz="1400" dirty="0">
                <a:solidFill>
                  <a:srgbClr val="1F497D"/>
                </a:solidFill>
              </a:rPr>
              <a:t>实践要求，或者</a:t>
            </a:r>
            <a:r>
              <a:rPr lang="en-US" altLang="zh-CN" sz="1400" dirty="0">
                <a:solidFill>
                  <a:srgbClr val="1F497D"/>
                </a:solidFill>
              </a:rPr>
              <a:t>b) </a:t>
            </a:r>
            <a:r>
              <a:rPr lang="zh-CN" altLang="en-US" sz="1400" dirty="0">
                <a:solidFill>
                  <a:srgbClr val="1F497D"/>
                </a:solidFill>
              </a:rPr>
              <a:t>项目或</a:t>
            </a:r>
            <a:r>
              <a:rPr lang="en-US" altLang="zh-CN" sz="1400" dirty="0" err="1">
                <a:solidFill>
                  <a:srgbClr val="1F497D"/>
                </a:solidFill>
              </a:rPr>
              <a:t>OSFs</a:t>
            </a:r>
            <a:r>
              <a:rPr lang="zh-CN" altLang="en-US" sz="1400" dirty="0">
                <a:solidFill>
                  <a:srgbClr val="1F497D"/>
                </a:solidFill>
              </a:rPr>
              <a:t>没有遵循符合适用</a:t>
            </a:r>
            <a:r>
              <a:rPr lang="en-US" altLang="zh-CN" sz="1400" dirty="0">
                <a:solidFill>
                  <a:srgbClr val="1F497D"/>
                </a:solidFill>
              </a:rPr>
              <a:t>CMMI</a:t>
            </a:r>
            <a:r>
              <a:rPr lang="zh-CN" altLang="en-US" sz="1400" dirty="0">
                <a:solidFill>
                  <a:srgbClr val="1F497D"/>
                </a:solidFill>
              </a:rPr>
              <a:t>实践的意图和价值的流程。</a:t>
            </a:r>
            <a:endParaRPr lang="en-GB" altLang="zh-CN" sz="1400" dirty="0">
              <a:solidFill>
                <a:srgbClr val="1F497D"/>
              </a:solidFill>
            </a:endParaRPr>
          </a:p>
          <a:p>
            <a:pPr lvl="1"/>
            <a:r>
              <a:rPr lang="zh-CN" altLang="en-US" sz="1600" dirty="0">
                <a:solidFill>
                  <a:srgbClr val="1F497D"/>
                </a:solidFill>
              </a:rPr>
              <a:t>优点：这是一种初步或最终的发现，涉及一个过程的示范性或值得注意的实施，该过程满足</a:t>
            </a:r>
            <a:r>
              <a:rPr lang="en-US" altLang="zh-CN" sz="1600" dirty="0">
                <a:solidFill>
                  <a:srgbClr val="1F497D"/>
                </a:solidFill>
              </a:rPr>
              <a:t>CMMI</a:t>
            </a:r>
            <a:r>
              <a:rPr lang="zh-CN" altLang="en-US" sz="1600" dirty="0">
                <a:solidFill>
                  <a:srgbClr val="1F497D"/>
                </a:solidFill>
              </a:rPr>
              <a:t>模型实践的意图和价值。</a:t>
            </a:r>
            <a:endParaRPr lang="en-US" sz="1600" dirty="0"/>
          </a:p>
        </p:txBody>
      </p:sp>
    </p:spTree>
    <p:extLst>
      <p:ext uri="{BB962C8B-B14F-4D97-AF65-F5344CB8AC3E}">
        <p14:creationId xmlns:p14="http://schemas.microsoft.com/office/powerpoint/2010/main" val="1784559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6591300" y="2954915"/>
            <a:ext cx="1371600" cy="65649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239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72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311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69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Ensures that the processes and assets important to an organization’s performance are habitually and persistently followed, used, and 	improved. </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确保对组织绩效重要的流程和资产得到习惯性和持久的遵循、使用和改进。</a:t>
            </a:r>
            <a:endParaRPr kumimoji="0" lang="en-US"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Sustains the ability to consistently achieve goals and objectives efficiently and effectively.</a:t>
            </a:r>
            <a:b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维持高效且有效地持续实现目标和任务的能力。</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11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Manages performance using measurement and analysis to achieve business objectives.</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使用测量和分析来管理绩效，以实现业务目标。</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Maximizes business return on investment by focusing management and improvement efforts on cost, schedule, and quality 	performance.</a:t>
            </a:r>
            <a:b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br>
            <a:r>
              <a:rPr kumimoji="0" lang="en-US" sz="1400" b="0" i="0" u="none" strike="noStrike" kern="1200" cap="none" spc="0" normalizeH="0" baseline="0" noProof="0" dirty="0">
                <a:ln>
                  <a:noFill/>
                </a:ln>
                <a:solidFill>
                  <a:srgbClr val="505050"/>
                </a:solidFill>
                <a:effectLst/>
                <a:highlight>
                  <a:srgbClr val="FFFFFF"/>
                </a:highlight>
                <a:uLnTx/>
                <a:uFillTx/>
                <a:latin typeface="Gotham A"/>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827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91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6288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Intent: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Identifies and addresses process performance and work product issues through reviews by the producer's peers or Subject Matter 	Experts (SMEs).</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通过由生产者的同行或专家进行的审查，识别和解决过程绩效和工作产品问题。</a:t>
            </a:r>
            <a:endParaRPr kumimoji="0" lang="en-ZA" altLang="zh-CN"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ZA" sz="14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Value: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GB" sz="1400" b="0" i="0" u="none" strike="noStrike" kern="1200" cap="none" spc="0" normalizeH="0" baseline="0" noProof="0" dirty="0">
                <a:ln>
                  <a:noFill/>
                </a:ln>
                <a:solidFill>
                  <a:prstClr val="black"/>
                </a:solidFill>
                <a:effectLst/>
                <a:uLnTx/>
                <a:uFillTx/>
                <a:latin typeface="Calibri" panose="020F0502020204030204"/>
                <a:ea typeface="+mn-ea"/>
                <a:cs typeface="+mn-cs"/>
              </a:rPr>
              <a:t>Reduces cost and rework by uncovering issues or defects early.</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zh-CN" alt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通过及早发现问题或缺陷，降低成本和返工。</a:t>
            </a:r>
            <a:endParaRPr kumimoji="0" lang="en-US" sz="14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998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9033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339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a:t>
            </a:r>
            <a:r>
              <a:rPr lang="en-GB" sz="1400"/>
              <a:t>meet business objectives </a:t>
            </a:r>
            <a:r>
              <a:rPr lang="en-GB" sz="1400" dirty="0"/>
              <a:t>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61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7685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4669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232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376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4749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Strengths </a:t>
            </a:r>
            <a:r>
              <a:rPr kumimoji="0" lang="ja-JP"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强项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没有</a:t>
            </a:r>
            <a:endParaRPr kumimoji="0" lang="en-US" sz="1800" b="0"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Weaknesses </a:t>
            </a:r>
            <a:r>
              <a:rPr kumimoji="0" lang="zh-CN" altLang="en-US" sz="1800" b="1" i="0" u="none" strike="noStrike" kern="1200" cap="none" spc="0" normalizeH="0" baseline="0" noProof="0" dirty="0">
                <a:ln>
                  <a:noFill/>
                </a:ln>
                <a:solidFill>
                  <a:srgbClr val="1F497D"/>
                </a:solidFill>
                <a:effectLst/>
                <a:uLnTx/>
                <a:uFillTx/>
                <a:latin typeface="DengXian" panose="02010600030101010101" pitchFamily="2" charset="-122"/>
                <a:ea typeface="DengXian" panose="02010600030101010101" pitchFamily="2" charset="-122"/>
                <a:cs typeface="+mn-cs"/>
              </a:rPr>
              <a:t>弱项</a:t>
            </a:r>
            <a:r>
              <a:rPr kumimoji="0"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None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ja-JP" altLang="en-US" sz="1800" b="0" i="0" u="none" strike="noStrike" kern="1200" cap="none" spc="0" normalizeH="0" baseline="0" noProof="0" dirty="0">
                <a:ln>
                  <a:noFill/>
                </a:ln>
                <a:solidFill>
                  <a:srgbClr val="1F497D"/>
                </a:solidFill>
                <a:effectLst/>
                <a:uLnTx/>
                <a:uFillTx/>
                <a:latin typeface="Calibri" panose="020F0502020204030204"/>
                <a:ea typeface="游ゴシック" panose="020B0400000000000000" pitchFamily="34" charset="-128"/>
                <a:cs typeface="+mn-cs"/>
              </a:rPr>
              <a:t>没有</a:t>
            </a:r>
            <a:endParaRPr kumimoji="0" lang="en-US" sz="1800" b="0" i="0" u="none" strike="noStrike" kern="1200" cap="none" spc="0" normalizeH="0" baseline="0" noProof="0" dirty="0">
              <a:ln>
                <a:noFill/>
              </a:ln>
              <a:solidFill>
                <a:srgbClr val="1F497D"/>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832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a:xfrm>
            <a:off x="838200" y="2002631"/>
            <a:ext cx="10515600" cy="2852737"/>
          </a:xfrm>
        </p:spPr>
        <p:txBody>
          <a:bodyPr/>
          <a:lstStyle/>
          <a:p>
            <a:r>
              <a:rPr lang="en-ZA" b="1" dirty="0">
                <a:latin typeface="+mn-lt"/>
              </a:rPr>
              <a:t>Performance Report</a:t>
            </a:r>
            <a:br>
              <a:rPr lang="en-US" b="1" dirty="0">
                <a:latin typeface="+mn-lt"/>
              </a:rPr>
            </a:br>
            <a:r>
              <a:rPr lang="zh-CN" altLang="en-US" b="1" dirty="0">
                <a:solidFill>
                  <a:srgbClr val="1F497D"/>
                </a:solidFill>
                <a:latin typeface="+mn-lt"/>
              </a:rPr>
              <a:t>性能报告</a:t>
            </a:r>
            <a:r>
              <a:rPr lang="en-NZ" b="1" dirty="0">
                <a:solidFill>
                  <a:srgbClr val="1F497D"/>
                </a:solidFill>
                <a:latin typeface="+mn-lt"/>
              </a:rPr>
              <a:t>  </a:t>
            </a:r>
            <a:endParaRPr lang="en-US" b="1" dirty="0">
              <a:solidFill>
                <a:srgbClr val="1F497D"/>
              </a:solidFill>
              <a:latin typeface="+mn-lt"/>
            </a:endParaRPr>
          </a:p>
        </p:txBody>
      </p:sp>
      <p:sp>
        <p:nvSpPr>
          <p:cNvPr id="2" name="Rectangle 1">
            <a:extLst>
              <a:ext uri="{FF2B5EF4-FFF2-40B4-BE49-F238E27FC236}">
                <a16:creationId xmlns:a16="http://schemas.microsoft.com/office/drawing/2014/main" id="{F3E0F357-D534-4D1A-B5E1-CC602B422F46}"/>
              </a:ext>
            </a:extLst>
          </p:cNvPr>
          <p:cNvSpPr/>
          <p:nvPr/>
        </p:nvSpPr>
        <p:spPr>
          <a:xfrm>
            <a:off x="218661" y="1192696"/>
            <a:ext cx="11509514" cy="51285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4216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Ratings</a:t>
            </a:r>
            <a:br>
              <a:rPr lang="en-US" b="1" dirty="0">
                <a:latin typeface="+mn-lt"/>
              </a:rPr>
            </a:br>
            <a:r>
              <a:rPr lang="zh-CN" altLang="en-US" b="1" dirty="0">
                <a:solidFill>
                  <a:srgbClr val="1F497D"/>
                </a:solidFill>
                <a:latin typeface="+mn-lt"/>
              </a:rPr>
              <a:t>評級</a:t>
            </a:r>
            <a:endParaRPr lang="en-US" b="1" dirty="0">
              <a:solidFill>
                <a:srgbClr val="1F497D"/>
              </a:solidFill>
              <a:latin typeface="+mn-lt"/>
            </a:endParaRPr>
          </a:p>
        </p:txBody>
      </p:sp>
    </p:spTree>
    <p:extLst>
      <p:ext uri="{BB962C8B-B14F-4D97-AF65-F5344CB8AC3E}">
        <p14:creationId xmlns:p14="http://schemas.microsoft.com/office/powerpoint/2010/main" val="1209401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2161953" cy="602284"/>
          </a:xfrm>
        </p:spPr>
        <p:txBody>
          <a:bodyPr/>
          <a:lstStyle/>
          <a:p>
            <a:r>
              <a:rPr lang="en-US" dirty="0"/>
              <a:t>Ratings for</a:t>
            </a:r>
          </a:p>
        </p:txBody>
      </p:sp>
      <p:graphicFrame>
        <p:nvGraphicFramePr>
          <p:cNvPr id="3" name="Object 2">
            <a:extLst>
              <a:ext uri="{FF2B5EF4-FFF2-40B4-BE49-F238E27FC236}">
                <a16:creationId xmlns:a16="http://schemas.microsoft.com/office/drawing/2014/main" id="{2A52746B-2DBE-49E0-BE4E-73E9F3A4814F}"/>
              </a:ext>
            </a:extLst>
          </p:cNvPr>
          <p:cNvGraphicFramePr>
            <a:graphicFrameLocks noChangeAspect="1"/>
          </p:cNvGraphicFramePr>
          <p:nvPr>
            <p:extLst>
              <p:ext uri="{D42A27DB-BD31-4B8C-83A1-F6EECF244321}">
                <p14:modId xmlns:p14="http://schemas.microsoft.com/office/powerpoint/2010/main" val="1148774258"/>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3" name="Object 2">
                        <a:extLst>
                          <a:ext uri="{FF2B5EF4-FFF2-40B4-BE49-F238E27FC236}">
                            <a16:creationId xmlns:a16="http://schemas.microsoft.com/office/drawing/2014/main" id="{2A52746B-2DBE-49E0-BE4E-73E9F3A4814F}"/>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1821A6FB-E09E-4F97-AC85-D866DE56A84A}"/>
              </a:ext>
            </a:extLst>
          </p:cNvPr>
          <p:cNvPicPr>
            <a:picLocks noChangeAspect="1"/>
          </p:cNvPicPr>
          <p:nvPr/>
        </p:nvPicPr>
        <p:blipFill>
          <a:blip r:embed="rId5"/>
          <a:stretch>
            <a:fillRect/>
          </a:stretch>
        </p:blipFill>
        <p:spPr>
          <a:xfrm>
            <a:off x="8971280" y="2172970"/>
            <a:ext cx="1723565" cy="2134870"/>
          </a:xfrm>
          <a:prstGeom prst="rect">
            <a:avLst/>
          </a:prstGeom>
        </p:spPr>
      </p:pic>
      <p:pic>
        <p:nvPicPr>
          <p:cNvPr id="6" name="Picture 5">
            <a:extLst>
              <a:ext uri="{FF2B5EF4-FFF2-40B4-BE49-F238E27FC236}">
                <a16:creationId xmlns:a16="http://schemas.microsoft.com/office/drawing/2014/main" id="{75484A1B-7A36-468A-93FF-9D86D7639B93}"/>
              </a:ext>
            </a:extLst>
          </p:cNvPr>
          <p:cNvPicPr>
            <a:picLocks noChangeAspect="1"/>
          </p:cNvPicPr>
          <p:nvPr/>
        </p:nvPicPr>
        <p:blipFill>
          <a:blip r:embed="rId6"/>
          <a:stretch>
            <a:fillRect/>
          </a:stretch>
        </p:blipFill>
        <p:spPr>
          <a:xfrm>
            <a:off x="1206408" y="1086644"/>
            <a:ext cx="6685788" cy="4988052"/>
          </a:xfrm>
          <a:prstGeom prst="rect">
            <a:avLst/>
          </a:prstGeom>
        </p:spPr>
      </p:pic>
    </p:spTree>
    <p:extLst>
      <p:ext uri="{BB962C8B-B14F-4D97-AF65-F5344CB8AC3E}">
        <p14:creationId xmlns:p14="http://schemas.microsoft.com/office/powerpoint/2010/main" val="4006735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C5D04-9640-3B48-820B-127523AD9848}"/>
              </a:ext>
            </a:extLst>
          </p:cNvPr>
          <p:cNvSpPr>
            <a:spLocks noGrp="1"/>
          </p:cNvSpPr>
          <p:nvPr>
            <p:ph type="title"/>
          </p:nvPr>
        </p:nvSpPr>
        <p:spPr>
          <a:xfrm>
            <a:off x="379228" y="233529"/>
            <a:ext cx="10515600" cy="602284"/>
          </a:xfrm>
        </p:spPr>
        <p:txBody>
          <a:bodyPr/>
          <a:lstStyle/>
          <a:p>
            <a:r>
              <a:rPr lang="en-US" dirty="0"/>
              <a:t>Ratings for</a:t>
            </a:r>
          </a:p>
        </p:txBody>
      </p:sp>
      <p:graphicFrame>
        <p:nvGraphicFramePr>
          <p:cNvPr id="7" name="Object 6">
            <a:extLst>
              <a:ext uri="{FF2B5EF4-FFF2-40B4-BE49-F238E27FC236}">
                <a16:creationId xmlns:a16="http://schemas.microsoft.com/office/drawing/2014/main" id="{7E382923-D01A-4807-A6F7-0DA8BA607675}"/>
              </a:ext>
            </a:extLst>
          </p:cNvPr>
          <p:cNvGraphicFramePr>
            <a:graphicFrameLocks noChangeAspect="1"/>
          </p:cNvGraphicFramePr>
          <p:nvPr>
            <p:extLst>
              <p:ext uri="{D42A27DB-BD31-4B8C-83A1-F6EECF244321}">
                <p14:modId xmlns:p14="http://schemas.microsoft.com/office/powerpoint/2010/main" val="22987012"/>
              </p:ext>
            </p:extLst>
          </p:nvPr>
        </p:nvGraphicFramePr>
        <p:xfrm>
          <a:off x="496888" y="903288"/>
          <a:ext cx="3330575" cy="184150"/>
        </p:xfrm>
        <a:graphic>
          <a:graphicData uri="http://schemas.openxmlformats.org/presentationml/2006/ole">
            <mc:AlternateContent xmlns:mc="http://schemas.openxmlformats.org/markup-compatibility/2006">
              <mc:Choice xmlns:v="urn:schemas-microsoft-com:vml" Requires="v">
                <p:oleObj name="Macro-Enabled Worksheet" r:id="rId3" imgW="3330117" imgH="182927" progId="Excel.SheetMacroEnabled.12">
                  <p:link updateAutomatic="1"/>
                </p:oleObj>
              </mc:Choice>
              <mc:Fallback>
                <p:oleObj name="Macro-Enabled Worksheet" r:id="rId3" imgW="3330117" imgH="182927" progId="Excel.SheetMacroEnabled.12">
                  <p:link updateAutomatic="1"/>
                  <p:pic>
                    <p:nvPicPr>
                      <p:cNvPr id="7" name="Object 6">
                        <a:extLst>
                          <a:ext uri="{FF2B5EF4-FFF2-40B4-BE49-F238E27FC236}">
                            <a16:creationId xmlns:a16="http://schemas.microsoft.com/office/drawing/2014/main" id="{7E382923-D01A-4807-A6F7-0DA8BA607675}"/>
                          </a:ext>
                        </a:extLst>
                      </p:cNvPr>
                      <p:cNvPicPr/>
                      <p:nvPr/>
                    </p:nvPicPr>
                    <p:blipFill>
                      <a:blip r:embed="rId4"/>
                      <a:stretch>
                        <a:fillRect/>
                      </a:stretch>
                    </p:blipFill>
                    <p:spPr>
                      <a:xfrm>
                        <a:off x="496888" y="903288"/>
                        <a:ext cx="3330575" cy="184150"/>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50226AA9-9A39-4C01-8812-581028B161A5}"/>
              </a:ext>
            </a:extLst>
          </p:cNvPr>
          <p:cNvPicPr>
            <a:picLocks noChangeAspect="1"/>
          </p:cNvPicPr>
          <p:nvPr/>
        </p:nvPicPr>
        <p:blipFill>
          <a:blip r:embed="rId5"/>
          <a:stretch>
            <a:fillRect/>
          </a:stretch>
        </p:blipFill>
        <p:spPr>
          <a:xfrm>
            <a:off x="9611360" y="2020570"/>
            <a:ext cx="1723565" cy="2134870"/>
          </a:xfrm>
          <a:prstGeom prst="rect">
            <a:avLst/>
          </a:prstGeom>
        </p:spPr>
      </p:pic>
      <p:pic>
        <p:nvPicPr>
          <p:cNvPr id="6" name="Picture 5">
            <a:extLst>
              <a:ext uri="{FF2B5EF4-FFF2-40B4-BE49-F238E27FC236}">
                <a16:creationId xmlns:a16="http://schemas.microsoft.com/office/drawing/2014/main" id="{5CE0B926-28FF-4FAF-A664-B5E841CD5D7E}"/>
              </a:ext>
            </a:extLst>
          </p:cNvPr>
          <p:cNvPicPr>
            <a:picLocks noChangeAspect="1"/>
          </p:cNvPicPr>
          <p:nvPr/>
        </p:nvPicPr>
        <p:blipFill>
          <a:blip r:embed="rId6"/>
          <a:stretch>
            <a:fillRect/>
          </a:stretch>
        </p:blipFill>
        <p:spPr>
          <a:xfrm>
            <a:off x="1204657" y="1154912"/>
            <a:ext cx="7545324" cy="4991100"/>
          </a:xfrm>
          <a:prstGeom prst="rect">
            <a:avLst/>
          </a:prstGeom>
        </p:spPr>
      </p:pic>
    </p:spTree>
    <p:extLst>
      <p:ext uri="{BB962C8B-B14F-4D97-AF65-F5344CB8AC3E}">
        <p14:creationId xmlns:p14="http://schemas.microsoft.com/office/powerpoint/2010/main" val="161362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544" y="908050"/>
            <a:ext cx="8153400" cy="935265"/>
          </a:xfrm>
        </p:spPr>
        <p:txBody>
          <a:bodyPr/>
          <a:lstStyle/>
          <a:p>
            <a:r>
              <a:rPr lang="en-ZA" dirty="0"/>
              <a:t>Congratulations!</a:t>
            </a:r>
          </a:p>
        </p:txBody>
      </p:sp>
      <p:sp>
        <p:nvSpPr>
          <p:cNvPr id="3" name="Content Placeholder 2"/>
          <p:cNvSpPr>
            <a:spLocks noGrp="1"/>
          </p:cNvSpPr>
          <p:nvPr>
            <p:ph idx="1"/>
          </p:nvPr>
        </p:nvSpPr>
        <p:spPr>
          <a:xfrm>
            <a:off x="993544" y="1754857"/>
            <a:ext cx="10337141" cy="4195093"/>
          </a:xfrm>
        </p:spPr>
        <p:txBody>
          <a:bodyPr>
            <a:normAutofit fontScale="62500" lnSpcReduction="20000"/>
          </a:bodyPr>
          <a:lstStyle/>
          <a:p>
            <a:pPr marL="0" indent="0">
              <a:buNone/>
            </a:pPr>
            <a:r>
              <a:rPr lang="en-ZA" sz="2000" dirty="0"/>
              <a:t>On being rated</a:t>
            </a:r>
          </a:p>
          <a:p>
            <a:pPr marL="0" indent="0">
              <a:buNone/>
            </a:pPr>
            <a:r>
              <a:rPr lang="en-ZA" sz="4800" b="1" dirty="0">
                <a:ea typeface="+mj-ea"/>
                <a:cs typeface="+mj-cs"/>
              </a:rPr>
              <a:t>Maturity</a:t>
            </a:r>
            <a:r>
              <a:rPr lang="en-ZA" sz="4400" dirty="0"/>
              <a:t> </a:t>
            </a:r>
            <a:r>
              <a:rPr lang="en-ZA" sz="4800" b="1" dirty="0">
                <a:ea typeface="+mj-ea"/>
                <a:cs typeface="+mj-cs"/>
              </a:rPr>
              <a:t>Level 5</a:t>
            </a:r>
          </a:p>
          <a:p>
            <a:pPr marL="0" indent="0">
              <a:buNone/>
            </a:pPr>
            <a:r>
              <a:rPr lang="zh-CN" altLang="en-US" sz="3200" dirty="0">
                <a:solidFill>
                  <a:srgbClr val="1F497D"/>
                </a:solidFill>
              </a:rPr>
              <a:t>恭喜贵公司顺利通过</a:t>
            </a:r>
            <a:r>
              <a:rPr lang="en-US" altLang="zh-CN" sz="3200" dirty="0">
                <a:solidFill>
                  <a:srgbClr val="1F497D"/>
                </a:solidFill>
              </a:rPr>
              <a:t>CMMI</a:t>
            </a:r>
            <a:r>
              <a:rPr lang="zh-CN" altLang="en-US" sz="3200" dirty="0">
                <a:solidFill>
                  <a:srgbClr val="1F497D"/>
                </a:solidFill>
              </a:rPr>
              <a:t>成熟度</a:t>
            </a:r>
            <a:r>
              <a:rPr lang="en-US" altLang="zh-CN" sz="3200" dirty="0">
                <a:solidFill>
                  <a:srgbClr val="1F497D"/>
                </a:solidFill>
              </a:rPr>
              <a:t>5</a:t>
            </a:r>
            <a:r>
              <a:rPr lang="zh-CN" altLang="en-US" sz="3200" dirty="0">
                <a:solidFill>
                  <a:srgbClr val="1F497D"/>
                </a:solidFill>
              </a:rPr>
              <a:t>级评估</a:t>
            </a:r>
          </a:p>
          <a:p>
            <a:pPr marL="0" indent="0" algn="just">
              <a:buNone/>
            </a:pPr>
            <a:r>
              <a:rPr lang="en-ZA" sz="2000" b="1" u="sng" dirty="0"/>
              <a:t>Note: </a:t>
            </a:r>
            <a:r>
              <a:rPr lang="zh-CN" altLang="en-US" sz="2000" b="1" u="sng" dirty="0"/>
              <a:t>注：</a:t>
            </a:r>
            <a:endParaRPr lang="en-ZA" sz="2000" b="1" u="sng" dirty="0"/>
          </a:p>
          <a:p>
            <a:pPr marL="0" indent="0" algn="just">
              <a:buNone/>
            </a:pPr>
            <a:r>
              <a:rPr lang="en-ZA" sz="2400" dirty="0"/>
              <a:t>Before the results of this appraisal become public record, e.g., announced in a press release or on an organization’s public Web site, or used in response to a request for proposal, the appraisal must first be accepted by the ISACA CMMI quality team. </a:t>
            </a:r>
          </a:p>
          <a:p>
            <a:pPr marL="0" indent="0" algn="just">
              <a:lnSpc>
                <a:spcPct val="120000"/>
              </a:lnSpc>
              <a:buNone/>
            </a:pPr>
            <a:r>
              <a:rPr lang="zh-CN" altLang="en-US" sz="3200" dirty="0">
                <a:solidFill>
                  <a:srgbClr val="1F497D"/>
                </a:solidFill>
              </a:rPr>
              <a:t>在评估结果正式公开之前，例如在新闻稿或公司官网上公开，或将其用于响应请求建议书之前，该评估须首先被</a:t>
            </a:r>
            <a:r>
              <a:rPr lang="en-US" altLang="zh-CN" sz="3200" dirty="0">
                <a:solidFill>
                  <a:srgbClr val="1F497D"/>
                </a:solidFill>
              </a:rPr>
              <a:t>ISACA CMMI </a:t>
            </a:r>
            <a:r>
              <a:rPr lang="zh-CN" altLang="en-US" sz="3200" dirty="0">
                <a:solidFill>
                  <a:srgbClr val="1F497D"/>
                </a:solidFill>
              </a:rPr>
              <a:t>质量团队认可</a:t>
            </a:r>
          </a:p>
          <a:p>
            <a:pPr marL="0" indent="0" algn="just">
              <a:buNone/>
            </a:pPr>
            <a:r>
              <a:rPr lang="en-ZA" sz="2400" dirty="0"/>
              <a:t>This can take up to </a:t>
            </a:r>
            <a:r>
              <a:rPr lang="en-ZA" sz="2400" b="1" dirty="0"/>
              <a:t>8 weeks </a:t>
            </a:r>
            <a:r>
              <a:rPr lang="en-ZA" sz="2400" dirty="0"/>
              <a:t>from the time that the appraisal results are submitted to the ISACA CMMI quality team for review. Results are submitted to the ISACA CMMI quality team typically within 4-6 working days after the final findings presentation has been made.</a:t>
            </a:r>
          </a:p>
          <a:p>
            <a:pPr marL="0" indent="0">
              <a:lnSpc>
                <a:spcPct val="120000"/>
              </a:lnSpc>
              <a:buNone/>
            </a:pPr>
            <a:r>
              <a:rPr lang="zh-CN" altLang="en-US" sz="3200" dirty="0">
                <a:solidFill>
                  <a:srgbClr val="1F497D"/>
                </a:solidFill>
              </a:rPr>
              <a:t>从将评估结果提交给</a:t>
            </a:r>
            <a:r>
              <a:rPr lang="en-US" altLang="zh-CN" sz="3200" dirty="0">
                <a:solidFill>
                  <a:srgbClr val="1F497D"/>
                </a:solidFill>
              </a:rPr>
              <a:t>ISACA CMMI</a:t>
            </a:r>
            <a:r>
              <a:rPr lang="zh-CN" altLang="en-US" sz="3200" dirty="0">
                <a:solidFill>
                  <a:srgbClr val="1F497D"/>
                </a:solidFill>
              </a:rPr>
              <a:t>质量团队起，最长可能需要</a:t>
            </a:r>
            <a:r>
              <a:rPr lang="en-US" altLang="zh-CN" sz="3200" dirty="0">
                <a:solidFill>
                  <a:srgbClr val="1F497D"/>
                </a:solidFill>
              </a:rPr>
              <a:t>8</a:t>
            </a:r>
            <a:r>
              <a:rPr lang="zh-CN" altLang="en-US" sz="3200" dirty="0">
                <a:solidFill>
                  <a:srgbClr val="1F497D"/>
                </a:solidFill>
              </a:rPr>
              <a:t>周进行审核。通常在完成最终发现展示后的</a:t>
            </a:r>
            <a:r>
              <a:rPr lang="en-US" altLang="zh-CN" sz="3200" dirty="0">
                <a:solidFill>
                  <a:srgbClr val="1F497D"/>
                </a:solidFill>
              </a:rPr>
              <a:t>4-6</a:t>
            </a:r>
            <a:r>
              <a:rPr lang="zh-CN" altLang="en-US" sz="3200" dirty="0">
                <a:solidFill>
                  <a:srgbClr val="1F497D"/>
                </a:solidFill>
              </a:rPr>
              <a:t>个工作日内，评估结果会提交给</a:t>
            </a:r>
            <a:r>
              <a:rPr lang="en-US" altLang="zh-CN" sz="3200" dirty="0">
                <a:solidFill>
                  <a:srgbClr val="1F497D"/>
                </a:solidFill>
              </a:rPr>
              <a:t>ISACA CMMI</a:t>
            </a:r>
            <a:r>
              <a:rPr lang="zh-CN" altLang="en-US" sz="3200" dirty="0">
                <a:solidFill>
                  <a:srgbClr val="1F497D"/>
                </a:solidFill>
              </a:rPr>
              <a:t>质量团队。</a:t>
            </a:r>
          </a:p>
        </p:txBody>
      </p:sp>
    </p:spTree>
    <p:extLst>
      <p:ext uri="{BB962C8B-B14F-4D97-AF65-F5344CB8AC3E}">
        <p14:creationId xmlns:p14="http://schemas.microsoft.com/office/powerpoint/2010/main" val="3886503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a:extLst>
              <a:ext uri="{FF2B5EF4-FFF2-40B4-BE49-F238E27FC236}">
                <a16:creationId xmlns:a16="http://schemas.microsoft.com/office/drawing/2014/main" id="{D2171307-9004-194B-9398-1B155E182EBC}"/>
              </a:ext>
            </a:extLst>
          </p:cNvPr>
          <p:cNvSpPr>
            <a:spLocks noGrp="1" noChangeArrowheads="1"/>
          </p:cNvSpPr>
          <p:nvPr>
            <p:ph type="title"/>
          </p:nvPr>
        </p:nvSpPr>
        <p:spPr>
          <a:xfrm>
            <a:off x="955964" y="1022653"/>
            <a:ext cx="10397836" cy="602284"/>
          </a:xfrm>
        </p:spPr>
        <p:txBody>
          <a:bodyPr>
            <a:normAutofit/>
          </a:bodyPr>
          <a:lstStyle/>
          <a:p>
            <a:pPr eaLnBrk="1" hangingPunct="1"/>
            <a:r>
              <a:rPr lang="en-US" altLang="en-US" sz="3200" dirty="0"/>
              <a:t>Appraisal Team Affirmations </a:t>
            </a:r>
            <a:r>
              <a:rPr lang="en-US" altLang="en-US" dirty="0"/>
              <a:t>– </a:t>
            </a:r>
            <a:r>
              <a:rPr lang="en-US" altLang="en-US" sz="3200" dirty="0"/>
              <a:t>Signature Page</a:t>
            </a:r>
          </a:p>
        </p:txBody>
      </p:sp>
      <p:sp>
        <p:nvSpPr>
          <p:cNvPr id="47108" name="Rectangle 3">
            <a:extLst>
              <a:ext uri="{FF2B5EF4-FFF2-40B4-BE49-F238E27FC236}">
                <a16:creationId xmlns:a16="http://schemas.microsoft.com/office/drawing/2014/main" id="{97924523-D0AC-3F42-BB46-91A314A482F5}"/>
              </a:ext>
            </a:extLst>
          </p:cNvPr>
          <p:cNvSpPr>
            <a:spLocks noGrp="1" noChangeArrowheads="1"/>
          </p:cNvSpPr>
          <p:nvPr>
            <p:ph type="body" sz="half" idx="4294967295"/>
          </p:nvPr>
        </p:nvSpPr>
        <p:spPr>
          <a:xfrm>
            <a:off x="955964" y="1665287"/>
            <a:ext cx="10647151" cy="868363"/>
          </a:xfrm>
        </p:spPr>
        <p:txBody>
          <a:bodyPr>
            <a:noAutofit/>
          </a:bodyPr>
          <a:lstStyle/>
          <a:p>
            <a:pPr marL="0" indent="0">
              <a:buNone/>
            </a:pPr>
            <a:r>
              <a:rPr lang="en-US" altLang="en-US" sz="2000" dirty="0"/>
              <a:t>I support the findings in this presentation and affirm that to the best of my knowledge it represents an accurate portrayal of the state of the process in the appraised organization.</a:t>
            </a:r>
            <a:br>
              <a:rPr lang="en-US" altLang="en-US" sz="2000" dirty="0"/>
            </a:br>
            <a:r>
              <a:rPr lang="zh-CN" altLang="en-US" sz="2000" dirty="0">
                <a:solidFill>
                  <a:srgbClr val="1F497D"/>
                </a:solidFill>
              </a:rPr>
              <a:t>我支持本报告中的发现结果，并确认以上发现准确地描述了被评估组织的过程状态。</a:t>
            </a:r>
            <a:endParaRPr lang="en-US" altLang="en-US" sz="2000" dirty="0">
              <a:solidFill>
                <a:srgbClr val="1F497D"/>
              </a:solidFill>
            </a:endParaRPr>
          </a:p>
        </p:txBody>
      </p:sp>
      <p:graphicFrame>
        <p:nvGraphicFramePr>
          <p:cNvPr id="2" name="Object 1">
            <a:extLst>
              <a:ext uri="{FF2B5EF4-FFF2-40B4-BE49-F238E27FC236}">
                <a16:creationId xmlns:a16="http://schemas.microsoft.com/office/drawing/2014/main" id="{58972A5E-A6FC-4357-9F5F-83EB57C57EE0}"/>
              </a:ext>
            </a:extLst>
          </p:cNvPr>
          <p:cNvGraphicFramePr>
            <a:graphicFrameLocks noChangeAspect="1"/>
          </p:cNvGraphicFramePr>
          <p:nvPr>
            <p:extLst>
              <p:ext uri="{D42A27DB-BD31-4B8C-83A1-F6EECF244321}">
                <p14:modId xmlns:p14="http://schemas.microsoft.com/office/powerpoint/2010/main" val="2444645588"/>
              </p:ext>
            </p:extLst>
          </p:nvPr>
        </p:nvGraphicFramePr>
        <p:xfrm>
          <a:off x="873125" y="2738438"/>
          <a:ext cx="10445750" cy="3170237"/>
        </p:xfrm>
        <a:graphic>
          <a:graphicData uri="http://schemas.openxmlformats.org/presentationml/2006/ole">
            <mc:AlternateContent xmlns:mc="http://schemas.openxmlformats.org/markup-compatibility/2006">
              <mc:Choice xmlns:v="urn:schemas-microsoft-com:vml" Requires="v">
                <p:oleObj name="Macro-Enabled Worksheet" r:id="rId3" imgW="12626375" imgH="4015874" progId="Excel.SheetMacroEnabled.12">
                  <p:link updateAutomatic="1"/>
                </p:oleObj>
              </mc:Choice>
              <mc:Fallback>
                <p:oleObj name="Macro-Enabled Worksheet" r:id="rId3" imgW="12626375" imgH="4015874" progId="Excel.SheetMacroEnabled.12">
                  <p:link updateAutomatic="1"/>
                  <p:pic>
                    <p:nvPicPr>
                      <p:cNvPr id="2" name="Object 1">
                        <a:extLst>
                          <a:ext uri="{FF2B5EF4-FFF2-40B4-BE49-F238E27FC236}">
                            <a16:creationId xmlns:a16="http://schemas.microsoft.com/office/drawing/2014/main" id="{58972A5E-A6FC-4357-9F5F-83EB57C57EE0}"/>
                          </a:ext>
                        </a:extLst>
                      </p:cNvPr>
                      <p:cNvPicPr/>
                      <p:nvPr/>
                    </p:nvPicPr>
                    <p:blipFill>
                      <a:blip r:embed="rId4"/>
                      <a:stretch>
                        <a:fillRect/>
                      </a:stretch>
                    </p:blipFill>
                    <p:spPr>
                      <a:xfrm>
                        <a:off x="873125" y="2738438"/>
                        <a:ext cx="10445750" cy="3170237"/>
                      </a:xfrm>
                      <a:prstGeom prst="rect">
                        <a:avLst/>
                      </a:prstGeom>
                    </p:spPr>
                  </p:pic>
                </p:oleObj>
              </mc:Fallback>
            </mc:AlternateContent>
          </a:graphicData>
        </a:graphic>
      </p:graphicFrame>
    </p:spTree>
    <p:extLst>
      <p:ext uri="{BB962C8B-B14F-4D97-AF65-F5344CB8AC3E}">
        <p14:creationId xmlns:p14="http://schemas.microsoft.com/office/powerpoint/2010/main" val="3738328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BA5C3F-5201-8B46-AF8B-D946599531E1}"/>
              </a:ext>
            </a:extLst>
          </p:cNvPr>
          <p:cNvSpPr>
            <a:spLocks noGrp="1"/>
          </p:cNvSpPr>
          <p:nvPr>
            <p:ph type="title"/>
          </p:nvPr>
        </p:nvSpPr>
        <p:spPr/>
        <p:txBody>
          <a:bodyPr/>
          <a:lstStyle/>
          <a:p>
            <a:r>
              <a:rPr lang="en-US" b="1" dirty="0">
                <a:latin typeface="+mn-lt"/>
              </a:rPr>
              <a:t>Annexures</a:t>
            </a:r>
            <a:br>
              <a:rPr lang="en-US" b="1" dirty="0">
                <a:latin typeface="+mn-lt"/>
              </a:rPr>
            </a:br>
            <a:r>
              <a:rPr lang="zh-CN" altLang="en-US" sz="6000" b="1" dirty="0">
                <a:solidFill>
                  <a:srgbClr val="1F497D"/>
                </a:solidFill>
                <a:ea typeface="+mj-ea"/>
                <a:cs typeface="+mj-cs"/>
              </a:rPr>
              <a:t>附加展示</a:t>
            </a:r>
            <a:endParaRPr lang="en-US" b="1" dirty="0">
              <a:solidFill>
                <a:srgbClr val="1F497D"/>
              </a:solidFill>
              <a:latin typeface="+mn-lt"/>
            </a:endParaRPr>
          </a:p>
        </p:txBody>
      </p:sp>
    </p:spTree>
    <p:extLst>
      <p:ext uri="{BB962C8B-B14F-4D97-AF65-F5344CB8AC3E}">
        <p14:creationId xmlns:p14="http://schemas.microsoft.com/office/powerpoint/2010/main" val="2196666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4" name="Object 3">
            <a:extLst>
              <a:ext uri="{FF2B5EF4-FFF2-40B4-BE49-F238E27FC236}">
                <a16:creationId xmlns:a16="http://schemas.microsoft.com/office/drawing/2014/main" id="{A69442D9-C7CA-46D7-9026-BAFCAC0C3C94}"/>
              </a:ext>
            </a:extLst>
          </p:cNvPr>
          <p:cNvGraphicFramePr>
            <a:graphicFrameLocks noChangeAspect="1"/>
          </p:cNvGraphicFramePr>
          <p:nvPr>
            <p:extLst>
              <p:ext uri="{D42A27DB-BD31-4B8C-83A1-F6EECF244321}">
                <p14:modId xmlns:p14="http://schemas.microsoft.com/office/powerpoint/2010/main" val="555935066"/>
              </p:ext>
            </p:extLst>
          </p:nvPr>
        </p:nvGraphicFramePr>
        <p:xfrm>
          <a:off x="931863" y="2282825"/>
          <a:ext cx="8985250" cy="1955800"/>
        </p:xfrm>
        <a:graphic>
          <a:graphicData uri="http://schemas.openxmlformats.org/presentationml/2006/ole">
            <mc:AlternateContent xmlns:mc="http://schemas.openxmlformats.org/markup-compatibility/2006">
              <mc:Choice xmlns:v="urn:schemas-microsoft-com:vml" Requires="v">
                <p:oleObj name="Macro-Enabled Worksheet" r:id="rId2" imgW="8580049" imgH="1988749" progId="Excel.SheetMacroEnabled.12">
                  <p:link updateAutomatic="1"/>
                </p:oleObj>
              </mc:Choice>
              <mc:Fallback>
                <p:oleObj name="Macro-Enabled Worksheet" r:id="rId2" imgW="8580049" imgH="1988749" progId="Excel.SheetMacroEnabled.12">
                  <p:link updateAutomatic="1"/>
                  <p:pic>
                    <p:nvPicPr>
                      <p:cNvPr id="4" name="Object 3">
                        <a:extLst>
                          <a:ext uri="{FF2B5EF4-FFF2-40B4-BE49-F238E27FC236}">
                            <a16:creationId xmlns:a16="http://schemas.microsoft.com/office/drawing/2014/main" id="{A69442D9-C7CA-46D7-9026-BAFCAC0C3C94}"/>
                          </a:ext>
                        </a:extLst>
                      </p:cNvPr>
                      <p:cNvPicPr/>
                      <p:nvPr/>
                    </p:nvPicPr>
                    <p:blipFill>
                      <a:blip r:embed="rId3"/>
                      <a:stretch>
                        <a:fillRect/>
                      </a:stretch>
                    </p:blipFill>
                    <p:spPr>
                      <a:xfrm>
                        <a:off x="931863" y="2282825"/>
                        <a:ext cx="8985250" cy="1955800"/>
                      </a:xfrm>
                      <a:prstGeom prst="rect">
                        <a:avLst/>
                      </a:prstGeom>
                    </p:spPr>
                  </p:pic>
                </p:oleObj>
              </mc:Fallback>
            </mc:AlternateContent>
          </a:graphicData>
        </a:graphic>
      </p:graphicFrame>
    </p:spTree>
    <p:extLst>
      <p:ext uri="{BB962C8B-B14F-4D97-AF65-F5344CB8AC3E}">
        <p14:creationId xmlns:p14="http://schemas.microsoft.com/office/powerpoint/2010/main" val="64724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4DA-31D0-475D-9F89-8DFFD4763FDD}"/>
              </a:ext>
            </a:extLst>
          </p:cNvPr>
          <p:cNvSpPr>
            <a:spLocks noGrp="1"/>
          </p:cNvSpPr>
          <p:nvPr>
            <p:ph type="title"/>
          </p:nvPr>
        </p:nvSpPr>
        <p:spPr/>
        <p:txBody>
          <a:bodyPr/>
          <a:lstStyle/>
          <a:p>
            <a:r>
              <a:rPr lang="en-ZA" dirty="0"/>
              <a:t>Non model findings</a:t>
            </a:r>
          </a:p>
        </p:txBody>
      </p:sp>
      <p:graphicFrame>
        <p:nvGraphicFramePr>
          <p:cNvPr id="3" name="Object 2">
            <a:extLst>
              <a:ext uri="{FF2B5EF4-FFF2-40B4-BE49-F238E27FC236}">
                <a16:creationId xmlns:a16="http://schemas.microsoft.com/office/drawing/2014/main" id="{F0C0BC17-AB37-4DA5-A9B9-89E64CFEB916}"/>
              </a:ext>
            </a:extLst>
          </p:cNvPr>
          <p:cNvGraphicFramePr>
            <a:graphicFrameLocks noChangeAspect="1"/>
          </p:cNvGraphicFramePr>
          <p:nvPr>
            <p:extLst>
              <p:ext uri="{D42A27DB-BD31-4B8C-83A1-F6EECF244321}">
                <p14:modId xmlns:p14="http://schemas.microsoft.com/office/powerpoint/2010/main" val="4146074126"/>
              </p:ext>
            </p:extLst>
          </p:nvPr>
        </p:nvGraphicFramePr>
        <p:xfrm>
          <a:off x="1044575" y="2317750"/>
          <a:ext cx="8985250" cy="2930525"/>
        </p:xfrm>
        <a:graphic>
          <a:graphicData uri="http://schemas.openxmlformats.org/presentationml/2006/ole">
            <mc:AlternateContent xmlns:mc="http://schemas.openxmlformats.org/markup-compatibility/2006">
              <mc:Choice xmlns:v="urn:schemas-microsoft-com:vml" Requires="v">
                <p:oleObj name="Macro-Enabled Worksheet" r:id="rId2" imgW="8580049" imgH="2979286" progId="Excel.SheetMacroEnabled.12">
                  <p:link updateAutomatic="1"/>
                </p:oleObj>
              </mc:Choice>
              <mc:Fallback>
                <p:oleObj name="Macro-Enabled Worksheet" r:id="rId2" imgW="8580049" imgH="2979286" progId="Excel.SheetMacroEnabled.12">
                  <p:link updateAutomatic="1"/>
                  <p:pic>
                    <p:nvPicPr>
                      <p:cNvPr id="3" name="Object 2">
                        <a:extLst>
                          <a:ext uri="{FF2B5EF4-FFF2-40B4-BE49-F238E27FC236}">
                            <a16:creationId xmlns:a16="http://schemas.microsoft.com/office/drawing/2014/main" id="{F0C0BC17-AB37-4DA5-A9B9-89E64CFEB916}"/>
                          </a:ext>
                        </a:extLst>
                      </p:cNvPr>
                      <p:cNvPicPr/>
                      <p:nvPr/>
                    </p:nvPicPr>
                    <p:blipFill>
                      <a:blip r:embed="rId3"/>
                      <a:stretch>
                        <a:fillRect/>
                      </a:stretch>
                    </p:blipFill>
                    <p:spPr>
                      <a:xfrm>
                        <a:off x="1044575" y="2317750"/>
                        <a:ext cx="8985250" cy="2930525"/>
                      </a:xfrm>
                      <a:prstGeom prst="rect">
                        <a:avLst/>
                      </a:prstGeom>
                    </p:spPr>
                  </p:pic>
                </p:oleObj>
              </mc:Fallback>
            </mc:AlternateContent>
          </a:graphicData>
        </a:graphic>
      </p:graphicFrame>
    </p:spTree>
    <p:extLst>
      <p:ext uri="{BB962C8B-B14F-4D97-AF65-F5344CB8AC3E}">
        <p14:creationId xmlns:p14="http://schemas.microsoft.com/office/powerpoint/2010/main" val="834503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Optional Findings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p:txBody>
          <a:bodyPr>
            <a:normAutofit fontScale="700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p>
          <a:p>
            <a:pPr>
              <a:lnSpc>
                <a:spcPct val="95000"/>
              </a:lnSpc>
            </a:pPr>
            <a:r>
              <a:rPr lang="en-US" u="sng" dirty="0"/>
              <a:t>Improvement Opportunity</a:t>
            </a:r>
            <a:r>
              <a:rPr lang="en-US" dirty="0"/>
              <a:t>: A type of preliminary or Final Findings about a particular process that meets the intent and value of a model practice but represents an opportunity where the process could be improved to provide more value.</a:t>
            </a:r>
          </a:p>
          <a:p>
            <a:pPr>
              <a:lnSpc>
                <a:spcPct val="95000"/>
              </a:lnSpc>
            </a:pPr>
            <a:r>
              <a:rPr lang="en-US" u="sng" dirty="0"/>
              <a:t>Improvements in Progress</a:t>
            </a:r>
            <a:r>
              <a:rPr lang="en-US" dirty="0"/>
              <a:t>: A type of preliminary or Final Findings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p>
        </p:txBody>
      </p:sp>
    </p:spTree>
    <p:extLst>
      <p:ext uri="{BB962C8B-B14F-4D97-AF65-F5344CB8AC3E}">
        <p14:creationId xmlns:p14="http://schemas.microsoft.com/office/powerpoint/2010/main" val="40149867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2868254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F0C2E-1DA5-4B8A-8EA9-A8A74D5EEDCB}"/>
              </a:ext>
            </a:extLst>
          </p:cNvPr>
          <p:cNvSpPr>
            <a:spLocks noGrp="1"/>
          </p:cNvSpPr>
          <p:nvPr>
            <p:ph type="title"/>
          </p:nvPr>
        </p:nvSpPr>
        <p:spPr/>
        <p:txBody>
          <a:bodyPr vert="horz" lIns="91440" tIns="45720" rIns="91440" bIns="45720" rtlCol="0" anchor="ctr">
            <a:normAutofit/>
          </a:bodyPr>
          <a:lstStyle/>
          <a:p>
            <a:r>
              <a:rPr lang="en-US" dirty="0"/>
              <a:t>Improvement Opportunities - continued</a:t>
            </a:r>
            <a:endParaRPr lang="en-ZA" dirty="0"/>
          </a:p>
        </p:txBody>
      </p:sp>
      <p:sp>
        <p:nvSpPr>
          <p:cNvPr id="5" name="Content Placeholder 4">
            <a:extLst>
              <a:ext uri="{FF2B5EF4-FFF2-40B4-BE49-F238E27FC236}">
                <a16:creationId xmlns:a16="http://schemas.microsoft.com/office/drawing/2014/main" id="{3C5B1544-5F60-4280-9237-53230A016280}"/>
              </a:ext>
            </a:extLst>
          </p:cNvPr>
          <p:cNvSpPr>
            <a:spLocks noGrp="1"/>
          </p:cNvSpPr>
          <p:nvPr>
            <p:ph idx="1"/>
          </p:nvPr>
        </p:nvSpPr>
        <p:spPr/>
        <p:txBody>
          <a:bodyPr>
            <a:normAutofit/>
          </a:bodyPr>
          <a:lstStyle/>
          <a:p>
            <a:r>
              <a:rPr lang="en-ZA" dirty="0"/>
              <a:t>CAR 2.1 - Consider also using opportunity data as outcomes for further analysis.</a:t>
            </a:r>
            <a:br>
              <a:rPr lang="en-ZA" dirty="0"/>
            </a:br>
            <a:r>
              <a:rPr lang="zh-CN" altLang="en-US" sz="2900" dirty="0">
                <a:solidFill>
                  <a:srgbClr val="1F497D"/>
                </a:solidFill>
              </a:rPr>
              <a:t>考虑将机会数据用作进一步分析的结果</a:t>
            </a:r>
            <a:r>
              <a:rPr lang="zh-CN" altLang="en-US" dirty="0"/>
              <a:t>。</a:t>
            </a:r>
            <a:endParaRPr lang="en-ZA" altLang="zh-CN" dirty="0"/>
          </a:p>
        </p:txBody>
      </p:sp>
    </p:spTree>
    <p:extLst>
      <p:ext uri="{BB962C8B-B14F-4D97-AF65-F5344CB8AC3E}">
        <p14:creationId xmlns:p14="http://schemas.microsoft.com/office/powerpoint/2010/main" val="18693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Re-appraisal</a:t>
            </a:r>
          </a:p>
        </p:txBody>
      </p:sp>
      <p:sp>
        <p:nvSpPr>
          <p:cNvPr id="5" name="Pentagon 4"/>
          <p:cNvSpPr/>
          <p:nvPr/>
        </p:nvSpPr>
        <p:spPr>
          <a:xfrm flipH="1">
            <a:off x="4904085" y="3665236"/>
            <a:ext cx="4503405" cy="596769"/>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Pentagon 5"/>
          <p:cNvSpPr/>
          <p:nvPr/>
        </p:nvSpPr>
        <p:spPr>
          <a:xfrm>
            <a:off x="4557975" y="3009156"/>
            <a:ext cx="3775111" cy="612881"/>
          </a:xfrm>
          <a:prstGeom prst="homePlate">
            <a:avLst/>
          </a:prstGeom>
          <a:solidFill>
            <a:srgbClr val="4584D3">
              <a:alpha val="30196"/>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Title 1"/>
          <p:cNvSpPr txBox="1">
            <a:spLocks/>
          </p:cNvSpPr>
          <p:nvPr/>
        </p:nvSpPr>
        <p:spPr bwMode="auto">
          <a:xfrm>
            <a:off x="5101757" y="3043438"/>
            <a:ext cx="1343772" cy="544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Continuous improvement over next 3 years</a:t>
            </a:r>
          </a:p>
        </p:txBody>
      </p:sp>
      <p:sp>
        <p:nvSpPr>
          <p:cNvPr id="13" name="Title 1"/>
          <p:cNvSpPr txBox="1">
            <a:spLocks/>
          </p:cNvSpPr>
          <p:nvPr/>
        </p:nvSpPr>
        <p:spPr bwMode="auto">
          <a:xfrm>
            <a:off x="4958143" y="3862596"/>
            <a:ext cx="1343772" cy="2156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3500" tIns="25400" rIns="63500" bIns="25400" numCol="1" anchor="t" anchorCtr="0" compatLnSpc="1">
            <a:prstTxWarp prst="textNoShape">
              <a:avLst/>
            </a:prstTxWarp>
            <a:spAutoFit/>
          </a:bodyPr>
          <a:lstStyle>
            <a:defPPr>
              <a:defRPr lang="en-US"/>
            </a:defPPr>
            <a:lvl1pPr marL="0" indent="0" algn="ctr" eaLnBrk="1" hangingPunct="1">
              <a:lnSpc>
                <a:spcPct val="89000"/>
              </a:lnSpc>
              <a:spcBef>
                <a:spcPct val="44000"/>
              </a:spcBef>
              <a:buFont typeface="Arial" charset="0"/>
              <a:buNone/>
              <a:defRPr sz="1200">
                <a:latin typeface="Arial" charset="0"/>
                <a:cs typeface="Arial" pitchFamily="34" charset="0"/>
              </a:defRPr>
            </a:lvl1pPr>
            <a:lvl2pPr marL="742950" indent="-285750" eaLnBrk="0" hangingPunct="0">
              <a:spcBef>
                <a:spcPct val="20000"/>
              </a:spcBef>
              <a:buFont typeface="Arial" charset="0"/>
              <a:buChar char="–"/>
              <a:defRPr sz="1800">
                <a:latin typeface="Arial" pitchFamily="34" charset="0"/>
                <a:cs typeface="Arial" pitchFamily="34" charset="0"/>
              </a:defRPr>
            </a:lvl2pPr>
            <a:lvl3pPr marL="1143000" indent="-228600" eaLnBrk="0" hangingPunct="0">
              <a:spcBef>
                <a:spcPct val="20000"/>
              </a:spcBef>
              <a:buFont typeface="Arial" charset="0"/>
              <a:buChar char="•"/>
              <a:defRPr sz="1600">
                <a:latin typeface="Arial" pitchFamily="34" charset="0"/>
                <a:cs typeface="Arial" pitchFamily="34" charset="0"/>
              </a:defRPr>
            </a:lvl3pPr>
            <a:lvl4pPr marL="1600200" indent="-228600" eaLnBrk="0" hangingPunct="0">
              <a:spcBef>
                <a:spcPct val="20000"/>
              </a:spcBef>
              <a:buFont typeface="Arial" charset="0"/>
              <a:buChar char="–"/>
              <a:defRPr sz="1400">
                <a:latin typeface="Arial" pitchFamily="34" charset="0"/>
                <a:cs typeface="Arial" pitchFamily="34" charset="0"/>
              </a:defRPr>
            </a:lvl4pPr>
            <a:lvl5pPr marL="2057400" indent="-228600" eaLnBrk="0" hangingPunct="0">
              <a:spcBef>
                <a:spcPct val="20000"/>
              </a:spcBef>
              <a:buFont typeface="Arial" charset="0"/>
              <a:buChar char="»"/>
              <a:defRPr sz="1400">
                <a:latin typeface="Arial" pitchFamily="34" charset="0"/>
                <a:cs typeface="Arial" pitchFamily="34" charset="0"/>
              </a:defRPr>
            </a:lvl5pPr>
            <a:lvl6pPr marL="2514600" indent="-228600">
              <a:spcBef>
                <a:spcPct val="20000"/>
              </a:spcBef>
              <a:buFont typeface="Arial" pitchFamily="34" charset="0"/>
              <a:buChar char="•"/>
              <a:defRPr sz="2000">
                <a:latin typeface="+mn-lt"/>
              </a:defRPr>
            </a:lvl6pPr>
            <a:lvl7pPr marL="2971800" indent="-228600">
              <a:spcBef>
                <a:spcPct val="20000"/>
              </a:spcBef>
              <a:buFont typeface="Arial" pitchFamily="34" charset="0"/>
              <a:buChar char="•"/>
              <a:defRPr sz="2000">
                <a:latin typeface="+mn-lt"/>
              </a:defRPr>
            </a:lvl7pPr>
            <a:lvl8pPr marL="3429000" indent="-228600">
              <a:spcBef>
                <a:spcPct val="20000"/>
              </a:spcBef>
              <a:buFont typeface="Arial" pitchFamily="34" charset="0"/>
              <a:buChar char="•"/>
              <a:defRPr sz="2000">
                <a:latin typeface="+mn-lt"/>
              </a:defRPr>
            </a:lvl8pPr>
            <a:lvl9pPr marL="3886200" indent="-228600">
              <a:spcBef>
                <a:spcPct val="20000"/>
              </a:spcBef>
              <a:buFont typeface="Arial" pitchFamily="34" charset="0"/>
              <a:buChar char="•"/>
              <a:defRPr sz="2000">
                <a:latin typeface="+mn-lt"/>
              </a:defRPr>
            </a:lvl9pPr>
          </a:lstStyle>
          <a:p>
            <a:r>
              <a:rPr lang="en-US" dirty="0"/>
              <a:t>Re appraise</a:t>
            </a:r>
          </a:p>
        </p:txBody>
      </p:sp>
      <p:sp>
        <p:nvSpPr>
          <p:cNvPr id="14" name="Hexagon 13">
            <a:extLst>
              <a:ext uri="{FF2B5EF4-FFF2-40B4-BE49-F238E27FC236}">
                <a16:creationId xmlns:a16="http://schemas.microsoft.com/office/drawing/2014/main" id="{D634449D-A3DC-485A-AC6D-C782A8DB06E5}"/>
              </a:ext>
            </a:extLst>
          </p:cNvPr>
          <p:cNvSpPr/>
          <p:nvPr/>
        </p:nvSpPr>
        <p:spPr>
          <a:xfrm>
            <a:off x="7611632" y="2237448"/>
            <a:ext cx="2508651" cy="2171265"/>
          </a:xfrm>
          <a:prstGeom prst="hexagon">
            <a:avLst/>
          </a:prstGeom>
          <a:solidFill>
            <a:srgbClr val="FF0000"/>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bg1"/>
              </a:solidFill>
            </a:endParaRPr>
          </a:p>
        </p:txBody>
      </p:sp>
      <p:graphicFrame>
        <p:nvGraphicFramePr>
          <p:cNvPr id="3" name="Object 2">
            <a:extLst>
              <a:ext uri="{FF2B5EF4-FFF2-40B4-BE49-F238E27FC236}">
                <a16:creationId xmlns:a16="http://schemas.microsoft.com/office/drawing/2014/main" id="{0087D77D-32ED-46B1-B2AA-DF1650A818EF}"/>
              </a:ext>
            </a:extLst>
          </p:cNvPr>
          <p:cNvGraphicFramePr>
            <a:graphicFrameLocks noChangeAspect="1"/>
          </p:cNvGraphicFramePr>
          <p:nvPr>
            <p:extLst>
              <p:ext uri="{D42A27DB-BD31-4B8C-83A1-F6EECF244321}">
                <p14:modId xmlns:p14="http://schemas.microsoft.com/office/powerpoint/2010/main" val="4031691758"/>
              </p:ext>
            </p:extLst>
          </p:nvPr>
        </p:nvGraphicFramePr>
        <p:xfrm>
          <a:off x="7448550" y="3009900"/>
          <a:ext cx="2933700" cy="693738"/>
        </p:xfrm>
        <a:graphic>
          <a:graphicData uri="http://schemas.openxmlformats.org/presentationml/2006/ole">
            <mc:AlternateContent xmlns:mc="http://schemas.openxmlformats.org/markup-compatibility/2006">
              <mc:Choice xmlns:v="urn:schemas-microsoft-com:vml" Requires="v">
                <p:oleObj name="Macro-Enabled Worksheet" r:id="rId2" imgW="2933735" imgH="693333" progId="Excel.SheetMacroEnabled.12">
                  <p:link updateAutomatic="1"/>
                </p:oleObj>
              </mc:Choice>
              <mc:Fallback>
                <p:oleObj name="Macro-Enabled Worksheet" r:id="rId2" imgW="2933735" imgH="693333" progId="Excel.SheetMacroEnabled.12">
                  <p:link updateAutomatic="1"/>
                  <p:pic>
                    <p:nvPicPr>
                      <p:cNvPr id="3" name="Object 2">
                        <a:extLst>
                          <a:ext uri="{FF2B5EF4-FFF2-40B4-BE49-F238E27FC236}">
                            <a16:creationId xmlns:a16="http://schemas.microsoft.com/office/drawing/2014/main" id="{0087D77D-32ED-46B1-B2AA-DF1650A818EF}"/>
                          </a:ext>
                        </a:extLst>
                      </p:cNvPr>
                      <p:cNvPicPr/>
                      <p:nvPr/>
                    </p:nvPicPr>
                    <p:blipFill>
                      <a:blip r:embed="rId3"/>
                      <a:stretch>
                        <a:fillRect/>
                      </a:stretch>
                    </p:blipFill>
                    <p:spPr>
                      <a:xfrm>
                        <a:off x="7448550" y="3009900"/>
                        <a:ext cx="2933700" cy="69373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CBA07428-451E-F6A3-ACDF-8EF7D79B49AE}"/>
              </a:ext>
            </a:extLst>
          </p:cNvPr>
          <p:cNvGrpSpPr/>
          <p:nvPr/>
        </p:nvGrpSpPr>
        <p:grpSpPr>
          <a:xfrm>
            <a:off x="1838923" y="1654853"/>
            <a:ext cx="2719052" cy="4415485"/>
            <a:chOff x="4440140" y="1417173"/>
            <a:chExt cx="2719052" cy="4415485"/>
          </a:xfrm>
        </p:grpSpPr>
        <p:sp>
          <p:nvSpPr>
            <p:cNvPr id="9" name="Arrow: Up 8">
              <a:extLst>
                <a:ext uri="{FF2B5EF4-FFF2-40B4-BE49-F238E27FC236}">
                  <a16:creationId xmlns:a16="http://schemas.microsoft.com/office/drawing/2014/main" id="{2AFEA2DC-D104-EF77-8C09-B0623C6A3AF8}"/>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10" name="Picture 9">
              <a:extLst>
                <a:ext uri="{FF2B5EF4-FFF2-40B4-BE49-F238E27FC236}">
                  <a16:creationId xmlns:a16="http://schemas.microsoft.com/office/drawing/2014/main" id="{6887DBA4-CD22-80D1-1550-1A1956746C05}"/>
                </a:ext>
              </a:extLst>
            </p:cNvPr>
            <p:cNvPicPr>
              <a:picLocks noChangeAspect="1"/>
            </p:cNvPicPr>
            <p:nvPr/>
          </p:nvPicPr>
          <p:blipFill>
            <a:blip r:embed="rId4"/>
            <a:stretch>
              <a:fillRect/>
            </a:stretch>
          </p:blipFill>
          <p:spPr>
            <a:xfrm>
              <a:off x="4440140" y="2583208"/>
              <a:ext cx="2719052" cy="3249450"/>
            </a:xfrm>
            <a:prstGeom prst="rect">
              <a:avLst/>
            </a:prstGeom>
          </p:spPr>
        </p:pic>
      </p:grpSp>
      <p:sp>
        <p:nvSpPr>
          <p:cNvPr id="12" name="TextBox 11">
            <a:extLst>
              <a:ext uri="{FF2B5EF4-FFF2-40B4-BE49-F238E27FC236}">
                <a16:creationId xmlns:a16="http://schemas.microsoft.com/office/drawing/2014/main" id="{C48EC7F7-2F02-15A2-9385-4E0E4C1320DB}"/>
              </a:ext>
            </a:extLst>
          </p:cNvPr>
          <p:cNvSpPr txBox="1"/>
          <p:nvPr/>
        </p:nvSpPr>
        <p:spPr>
          <a:xfrm>
            <a:off x="207241" y="5682923"/>
            <a:ext cx="6094674" cy="584775"/>
          </a:xfrm>
          <a:prstGeom prst="rect">
            <a:avLst/>
          </a:prstGeom>
          <a:noFill/>
        </p:spPr>
        <p:txBody>
          <a:bodyPr wrap="square">
            <a:spAutoFit/>
          </a:bodyPr>
          <a:lstStyle/>
          <a:p>
            <a:pPr algn="ctr"/>
            <a:r>
              <a:rPr lang="en-ZA" sz="1600" dirty="0">
                <a:hlinkClick r:id="rId5"/>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Tree>
    <p:extLst>
      <p:ext uri="{BB962C8B-B14F-4D97-AF65-F5344CB8AC3E}">
        <p14:creationId xmlns:p14="http://schemas.microsoft.com/office/powerpoint/2010/main" val="1833212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56AC6-8B5D-4EE0-897A-9EECC0280655}"/>
              </a:ext>
            </a:extLst>
          </p:cNvPr>
          <p:cNvSpPr>
            <a:spLocks noGrp="1"/>
          </p:cNvSpPr>
          <p:nvPr>
            <p:ph type="title"/>
          </p:nvPr>
        </p:nvSpPr>
        <p:spPr>
          <a:xfrm>
            <a:off x="951442" y="908050"/>
            <a:ext cx="10397836" cy="602284"/>
          </a:xfrm>
        </p:spPr>
        <p:txBody>
          <a:bodyPr/>
          <a:lstStyle/>
          <a:p>
            <a:r>
              <a:rPr lang="en-ZA" dirty="0"/>
              <a:t>DEMIXIUM™</a:t>
            </a:r>
          </a:p>
        </p:txBody>
      </p:sp>
      <p:grpSp>
        <p:nvGrpSpPr>
          <p:cNvPr id="14" name="Group 13">
            <a:extLst>
              <a:ext uri="{FF2B5EF4-FFF2-40B4-BE49-F238E27FC236}">
                <a16:creationId xmlns:a16="http://schemas.microsoft.com/office/drawing/2014/main" id="{9BCE02E9-B639-4352-9CD8-7319ACA08735}"/>
              </a:ext>
            </a:extLst>
          </p:cNvPr>
          <p:cNvGrpSpPr/>
          <p:nvPr/>
        </p:nvGrpSpPr>
        <p:grpSpPr>
          <a:xfrm>
            <a:off x="4528986" y="1701637"/>
            <a:ext cx="2719052" cy="4415485"/>
            <a:chOff x="4440140" y="1417173"/>
            <a:chExt cx="2719052" cy="4415485"/>
          </a:xfrm>
        </p:grpSpPr>
        <p:sp>
          <p:nvSpPr>
            <p:cNvPr id="4" name="Arrow: Up 3">
              <a:extLst>
                <a:ext uri="{FF2B5EF4-FFF2-40B4-BE49-F238E27FC236}">
                  <a16:creationId xmlns:a16="http://schemas.microsoft.com/office/drawing/2014/main" id="{2D3100A3-8319-4488-9BD8-FA36065DF984}"/>
                </a:ext>
              </a:extLst>
            </p:cNvPr>
            <p:cNvSpPr/>
            <p:nvPr/>
          </p:nvSpPr>
          <p:spPr>
            <a:xfrm>
              <a:off x="4638776" y="1417173"/>
              <a:ext cx="2321781" cy="3657600"/>
            </a:xfrm>
            <a:prstGeom prst="upArrow">
              <a:avLst/>
            </a:prstGeom>
            <a:solidFill>
              <a:srgbClr val="299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3" name="Picture 2">
              <a:extLst>
                <a:ext uri="{FF2B5EF4-FFF2-40B4-BE49-F238E27FC236}">
                  <a16:creationId xmlns:a16="http://schemas.microsoft.com/office/drawing/2014/main" id="{F78F0F7F-3E23-4ED2-ABCC-98187E77EC22}"/>
                </a:ext>
              </a:extLst>
            </p:cNvPr>
            <p:cNvPicPr>
              <a:picLocks noChangeAspect="1"/>
            </p:cNvPicPr>
            <p:nvPr/>
          </p:nvPicPr>
          <p:blipFill>
            <a:blip r:embed="rId2"/>
            <a:stretch>
              <a:fillRect/>
            </a:stretch>
          </p:blipFill>
          <p:spPr>
            <a:xfrm>
              <a:off x="4440140" y="2583208"/>
              <a:ext cx="2719052" cy="3249450"/>
            </a:xfrm>
            <a:prstGeom prst="rect">
              <a:avLst/>
            </a:prstGeom>
          </p:spPr>
        </p:pic>
      </p:grpSp>
      <p:sp>
        <p:nvSpPr>
          <p:cNvPr id="15" name="TextBox 14">
            <a:extLst>
              <a:ext uri="{FF2B5EF4-FFF2-40B4-BE49-F238E27FC236}">
                <a16:creationId xmlns:a16="http://schemas.microsoft.com/office/drawing/2014/main" id="{8D84EF48-EF5E-49FA-B6A9-E5C80B9C0007}"/>
              </a:ext>
            </a:extLst>
          </p:cNvPr>
          <p:cNvSpPr txBox="1"/>
          <p:nvPr/>
        </p:nvSpPr>
        <p:spPr>
          <a:xfrm>
            <a:off x="951442" y="1307835"/>
            <a:ext cx="3432286" cy="369332"/>
          </a:xfrm>
          <a:prstGeom prst="rect">
            <a:avLst/>
          </a:prstGeom>
          <a:noFill/>
        </p:spPr>
        <p:txBody>
          <a:bodyPr wrap="none" rtlCol="0">
            <a:spAutoFit/>
          </a:bodyPr>
          <a:lstStyle/>
          <a:p>
            <a:r>
              <a:rPr lang="en-ZA" dirty="0"/>
              <a:t>Demixium™ Copyright </a:t>
            </a:r>
            <a:r>
              <a:rPr lang="en-ZA" dirty="0" err="1"/>
              <a:t>Demix</a:t>
            </a:r>
            <a:r>
              <a:rPr lang="en-ZA" dirty="0"/>
              <a:t> 2025</a:t>
            </a:r>
          </a:p>
        </p:txBody>
      </p:sp>
      <p:sp>
        <p:nvSpPr>
          <p:cNvPr id="8" name="TextBox 7">
            <a:extLst>
              <a:ext uri="{FF2B5EF4-FFF2-40B4-BE49-F238E27FC236}">
                <a16:creationId xmlns:a16="http://schemas.microsoft.com/office/drawing/2014/main" id="{C5021C6B-98B3-4617-86D6-C346F83D70CA}"/>
              </a:ext>
            </a:extLst>
          </p:cNvPr>
          <p:cNvSpPr txBox="1"/>
          <p:nvPr/>
        </p:nvSpPr>
        <p:spPr>
          <a:xfrm>
            <a:off x="2841175" y="5686214"/>
            <a:ext cx="6094674" cy="584775"/>
          </a:xfrm>
          <a:prstGeom prst="rect">
            <a:avLst/>
          </a:prstGeom>
          <a:noFill/>
        </p:spPr>
        <p:txBody>
          <a:bodyPr wrap="square">
            <a:spAutoFit/>
          </a:bodyPr>
          <a:lstStyle/>
          <a:p>
            <a:pPr algn="ctr"/>
            <a:r>
              <a:rPr lang="en-ZA" sz="1600" dirty="0">
                <a:hlinkClick r:id="rId3"/>
              </a:rPr>
              <a:t>www.demixium.com</a:t>
            </a:r>
            <a:endParaRPr lang="en-ZA" sz="1600" dirty="0"/>
          </a:p>
          <a:p>
            <a:pPr algn="ctr"/>
            <a:r>
              <a:rPr lang="en-ZA" sz="1600" b="0" i="0" dirty="0">
                <a:solidFill>
                  <a:srgbClr val="000000"/>
                </a:solidFill>
                <a:effectLst/>
                <a:latin typeface="Open Sans"/>
              </a:rPr>
              <a:t>Knowledge | </a:t>
            </a:r>
            <a:r>
              <a:rPr lang="en-ZA" sz="1600" dirty="0">
                <a:solidFill>
                  <a:srgbClr val="000000"/>
                </a:solidFill>
                <a:latin typeface="Open Sans"/>
              </a:rPr>
              <a:t>Performance</a:t>
            </a:r>
            <a:r>
              <a:rPr lang="en-ZA" sz="1600" b="0" i="0" dirty="0">
                <a:solidFill>
                  <a:srgbClr val="000000"/>
                </a:solidFill>
                <a:effectLst/>
                <a:latin typeface="Open Sans"/>
              </a:rPr>
              <a:t> | Results</a:t>
            </a:r>
            <a:r>
              <a:rPr lang="en-ZA" sz="1600" dirty="0"/>
              <a:t> </a:t>
            </a:r>
          </a:p>
        </p:txBody>
      </p:sp>
      <p:sp>
        <p:nvSpPr>
          <p:cNvPr id="9" name="TextBox 8">
            <a:extLst>
              <a:ext uri="{FF2B5EF4-FFF2-40B4-BE49-F238E27FC236}">
                <a16:creationId xmlns:a16="http://schemas.microsoft.com/office/drawing/2014/main" id="{0E56B3AA-4ADA-412B-9A45-4D5AA4F494AE}"/>
              </a:ext>
            </a:extLst>
          </p:cNvPr>
          <p:cNvSpPr txBox="1"/>
          <p:nvPr/>
        </p:nvSpPr>
        <p:spPr>
          <a:xfrm>
            <a:off x="1179784" y="2389117"/>
            <a:ext cx="2719052" cy="1200329"/>
          </a:xfrm>
          <a:prstGeom prst="rect">
            <a:avLst/>
          </a:prstGeom>
          <a:noFill/>
        </p:spPr>
        <p:txBody>
          <a:bodyPr wrap="square" rtlCol="0">
            <a:spAutoFit/>
          </a:bodyPr>
          <a:lstStyle>
            <a:defPPr>
              <a:defRPr lang="en-US"/>
            </a:defPPr>
            <a:lvl1pPr algn="ctr">
              <a:defRPr>
                <a:solidFill>
                  <a:srgbClr val="1F497D"/>
                </a:solidFill>
              </a:defRPr>
            </a:lvl1pPr>
          </a:lstStyle>
          <a:p>
            <a:r>
              <a:rPr lang="en-GB" dirty="0"/>
              <a:t>Half of all organizations fail to execute strategy effectively. Demix empowers success.</a:t>
            </a:r>
            <a:endParaRPr lang="en-ZA" dirty="0"/>
          </a:p>
        </p:txBody>
      </p:sp>
      <p:sp>
        <p:nvSpPr>
          <p:cNvPr id="10" name="TextBox 9">
            <a:extLst>
              <a:ext uri="{FF2B5EF4-FFF2-40B4-BE49-F238E27FC236}">
                <a16:creationId xmlns:a16="http://schemas.microsoft.com/office/drawing/2014/main" id="{4E369FE8-DAF2-49E0-852E-C869E262D50E}"/>
              </a:ext>
            </a:extLst>
          </p:cNvPr>
          <p:cNvSpPr txBox="1"/>
          <p:nvPr/>
        </p:nvSpPr>
        <p:spPr>
          <a:xfrm>
            <a:off x="1308059" y="4005710"/>
            <a:ext cx="2719052" cy="646331"/>
          </a:xfrm>
          <a:prstGeom prst="rect">
            <a:avLst/>
          </a:prstGeom>
          <a:noFill/>
        </p:spPr>
        <p:txBody>
          <a:bodyPr wrap="square" rtlCol="0">
            <a:spAutoFit/>
          </a:bodyPr>
          <a:lstStyle/>
          <a:p>
            <a:pPr algn="ctr"/>
            <a:r>
              <a:rPr lang="zh-CN" altLang="en-US" b="1" dirty="0">
                <a:solidFill>
                  <a:srgbClr val="FF0000"/>
                </a:solidFill>
              </a:rPr>
              <a:t>一半的组织无法有效执行战略。</a:t>
            </a:r>
            <a:r>
              <a:rPr lang="en-US" altLang="zh-CN" b="1" dirty="0">
                <a:solidFill>
                  <a:srgbClr val="FF0000"/>
                </a:solidFill>
              </a:rPr>
              <a:t>Demix </a:t>
            </a:r>
            <a:r>
              <a:rPr lang="zh-CN" altLang="en-US" b="1" dirty="0">
                <a:solidFill>
                  <a:srgbClr val="FF0000"/>
                </a:solidFill>
              </a:rPr>
              <a:t>赋能成功。</a:t>
            </a:r>
            <a:endParaRPr lang="en-ZA" b="1" dirty="0">
              <a:solidFill>
                <a:srgbClr val="FF0000"/>
              </a:solidFill>
            </a:endParaRPr>
          </a:p>
        </p:txBody>
      </p:sp>
      <p:pic>
        <p:nvPicPr>
          <p:cNvPr id="1026" name="Picture 2">
            <a:extLst>
              <a:ext uri="{FF2B5EF4-FFF2-40B4-BE49-F238E27FC236}">
                <a16:creationId xmlns:a16="http://schemas.microsoft.com/office/drawing/2014/main" id="{0072F935-8217-6CE4-4503-62D4545B0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548" y="2200661"/>
            <a:ext cx="3260157" cy="2173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hlinkClick r:id="rId5"/>
            <a:extLst>
              <a:ext uri="{FF2B5EF4-FFF2-40B4-BE49-F238E27FC236}">
                <a16:creationId xmlns:a16="http://schemas.microsoft.com/office/drawing/2014/main" id="{9586E270-888A-1598-78F1-3370E9ADD0D1}"/>
              </a:ext>
            </a:extLst>
          </p:cNvPr>
          <p:cNvSpPr txBox="1"/>
          <p:nvPr/>
        </p:nvSpPr>
        <p:spPr>
          <a:xfrm>
            <a:off x="8189352" y="4491322"/>
            <a:ext cx="3019353" cy="369332"/>
          </a:xfrm>
          <a:prstGeom prst="rect">
            <a:avLst/>
          </a:prstGeom>
          <a:noFill/>
        </p:spPr>
        <p:txBody>
          <a:bodyPr wrap="none" rtlCol="0">
            <a:spAutoFit/>
          </a:bodyPr>
          <a:lstStyle/>
          <a:p>
            <a:r>
              <a:rPr lang="en-US" b="0" i="0" dirty="0">
                <a:solidFill>
                  <a:srgbClr val="000000"/>
                </a:solidFill>
                <a:effectLst/>
                <a:latin typeface="-apple-system"/>
                <a:hlinkClick r:id="rId5"/>
              </a:rPr>
              <a:t>Strategy Execution with CMMI</a:t>
            </a:r>
            <a:endParaRPr lang="en-US" b="0" i="0" dirty="0">
              <a:solidFill>
                <a:srgbClr val="000000"/>
              </a:solidFill>
              <a:effectLst/>
              <a:latin typeface="-apple-system"/>
            </a:endParaRPr>
          </a:p>
        </p:txBody>
      </p:sp>
    </p:spTree>
    <p:extLst>
      <p:ext uri="{BB962C8B-B14F-4D97-AF65-F5344CB8AC3E}">
        <p14:creationId xmlns:p14="http://schemas.microsoft.com/office/powerpoint/2010/main" val="35468183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438F48CD-7B73-434D-8CB1-0209E90E0D00}"/>
              </a:ext>
            </a:extLst>
          </p:cNvPr>
          <p:cNvGraphicFramePr>
            <a:graphicFrameLocks noChangeAspect="1"/>
          </p:cNvGraphicFramePr>
          <p:nvPr>
            <p:extLst>
              <p:ext uri="{D42A27DB-BD31-4B8C-83A1-F6EECF244321}">
                <p14:modId xmlns:p14="http://schemas.microsoft.com/office/powerpoint/2010/main" val="2774625938"/>
              </p:ext>
            </p:extLst>
          </p:nvPr>
        </p:nvGraphicFramePr>
        <p:xfrm>
          <a:off x="1066800" y="2062163"/>
          <a:ext cx="9059863" cy="1820862"/>
        </p:xfrm>
        <a:graphic>
          <a:graphicData uri="http://schemas.openxmlformats.org/presentationml/2006/ole">
            <mc:AlternateContent xmlns:mc="http://schemas.openxmlformats.org/markup-compatibility/2006">
              <mc:Choice xmlns:v="urn:schemas-microsoft-com:vml" Requires="v">
                <p:oleObj name="Macro-Enabled Worksheet" r:id="rId2" imgW="9060215" imgH="1821172" progId="Excel.SheetMacroEnabled.12">
                  <p:link updateAutomatic="1"/>
                </p:oleObj>
              </mc:Choice>
              <mc:Fallback>
                <p:oleObj name="Macro-Enabled Worksheet" r:id="rId2" imgW="9060215" imgH="1821172" progId="Excel.SheetMacroEnabled.12">
                  <p:link updateAutomatic="1"/>
                  <p:pic>
                    <p:nvPicPr>
                      <p:cNvPr id="4" name="Object 3">
                        <a:extLst>
                          <a:ext uri="{FF2B5EF4-FFF2-40B4-BE49-F238E27FC236}">
                            <a16:creationId xmlns:a16="http://schemas.microsoft.com/office/drawing/2014/main" id="{438F48CD-7B73-434D-8CB1-0209E90E0D00}"/>
                          </a:ext>
                        </a:extLst>
                      </p:cNvPr>
                      <p:cNvPicPr/>
                      <p:nvPr/>
                    </p:nvPicPr>
                    <p:blipFill>
                      <a:blip r:embed="rId3"/>
                      <a:stretch>
                        <a:fillRect/>
                      </a:stretch>
                    </p:blipFill>
                    <p:spPr>
                      <a:xfrm>
                        <a:off x="1066800" y="2062163"/>
                        <a:ext cx="9059863" cy="1820862"/>
                      </a:xfrm>
                      <a:prstGeom prst="rect">
                        <a:avLst/>
                      </a:prstGeom>
                    </p:spPr>
                  </p:pic>
                </p:oleObj>
              </mc:Fallback>
            </mc:AlternateContent>
          </a:graphicData>
        </a:graphic>
      </p:graphicFrame>
      <p:sp>
        <p:nvSpPr>
          <p:cNvPr id="2" name="Title 1"/>
          <p:cNvSpPr>
            <a:spLocks noGrp="1"/>
          </p:cNvSpPr>
          <p:nvPr>
            <p:ph type="title"/>
          </p:nvPr>
        </p:nvSpPr>
        <p:spPr>
          <a:xfrm>
            <a:off x="703243" y="749147"/>
            <a:ext cx="8153400" cy="935265"/>
          </a:xfrm>
        </p:spPr>
        <p:txBody>
          <a:bodyPr/>
          <a:lstStyle/>
          <a:p>
            <a:r>
              <a:rPr lang="en-ZA" dirty="0"/>
              <a:t>Next steps</a:t>
            </a:r>
          </a:p>
        </p:txBody>
      </p:sp>
    </p:spTree>
    <p:extLst>
      <p:ext uri="{BB962C8B-B14F-4D97-AF65-F5344CB8AC3E}">
        <p14:creationId xmlns:p14="http://schemas.microsoft.com/office/powerpoint/2010/main" val="2592682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69704-CCDD-47E9-9932-964965E91D94}"/>
              </a:ext>
            </a:extLst>
          </p:cNvPr>
          <p:cNvSpPr>
            <a:spLocks noGrp="1"/>
          </p:cNvSpPr>
          <p:nvPr>
            <p:ph idx="1"/>
          </p:nvPr>
        </p:nvSpPr>
        <p:spPr/>
        <p:txBody>
          <a:bodyPr/>
          <a:lstStyle/>
          <a:p>
            <a:r>
              <a:rPr lang="en-ZA" dirty="0"/>
              <a:t>CERTIFICATE</a:t>
            </a:r>
          </a:p>
        </p:txBody>
      </p:sp>
    </p:spTree>
    <p:extLst>
      <p:ext uri="{BB962C8B-B14F-4D97-AF65-F5344CB8AC3E}">
        <p14:creationId xmlns:p14="http://schemas.microsoft.com/office/powerpoint/2010/main" val="1028804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F07B0D7-F930-4230-933E-ABA84959494E}">
  <ds:schemaRefs>
    <ds:schemaRef ds:uri="http://purl.org/dc/dcmitype/"/>
    <ds:schemaRef ds:uri="http://schemas.microsoft.com/office/2006/metadata/properties"/>
    <ds:schemaRef ds:uri="72e3a154-4955-46c3-9573-e9dec3e1f195"/>
    <ds:schemaRef ds:uri="http://schemas.microsoft.com/office/2006/documentManagement/types"/>
    <ds:schemaRef ds:uri="http://purl.org/dc/terms/"/>
    <ds:schemaRef ds:uri="http://purl.org/dc/elements/1.1/"/>
    <ds:schemaRef ds:uri="http://schemas.microsoft.com/office/infopath/2007/PartnerControls"/>
    <ds:schemaRef ds:uri="http://schemas.openxmlformats.org/package/2006/metadata/core-properties"/>
    <ds:schemaRef ds:uri="ec500478-62e0-46fc-87f1-cfa988e486b4"/>
    <ds:schemaRef ds:uri="http://www.w3.org/XML/1998/namespace"/>
    <ds:schemaRef ds:uri="25bcabcf-d275-4206-9fb1-2f2d419cd22b"/>
  </ds:schemaRefs>
</ds:datastoreItem>
</file>

<file path=customXml/itemProps2.xml><?xml version="1.0" encoding="utf-8"?>
<ds:datastoreItem xmlns:ds="http://schemas.openxmlformats.org/officeDocument/2006/customXml" ds:itemID="{33DCEA0D-FB29-4652-B8AF-FA167DDC99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bcabcf-d275-4206-9fb1-2f2d419cd22b"/>
    <ds:schemaRef ds:uri="ec500478-62e0-46fc-87f1-cfa988e486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B49826-D5EE-4D24-B649-7C3A19B527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1119</TotalTime>
  <Words>3750</Words>
  <Application>Microsoft Office PowerPoint</Application>
  <PresentationFormat>Widescreen</PresentationFormat>
  <Paragraphs>293</Paragraphs>
  <Slides>53</Slides>
  <Notes>15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Links</vt:lpstr>
      </vt:variant>
      <vt:variant>
        <vt:i4>19</vt:i4>
      </vt:variant>
      <vt:variant>
        <vt:lpstr>Slide Titles</vt:lpstr>
      </vt:variant>
      <vt:variant>
        <vt:i4>53</vt:i4>
      </vt:variant>
    </vt:vector>
  </HeadingPairs>
  <TitlesOfParts>
    <vt:vector size="85" baseType="lpstr">
      <vt:lpstr>-apple-system</vt:lpstr>
      <vt:lpstr>DengXian</vt:lpstr>
      <vt:lpstr>DengXian Light</vt:lpstr>
      <vt:lpstr>Gotham A</vt:lpstr>
      <vt:lpstr>ＭＳ Ｐゴシック</vt:lpstr>
      <vt:lpstr>SimSun</vt:lpstr>
      <vt:lpstr>SimSun</vt:lpstr>
      <vt:lpstr>Söhne</vt:lpstr>
      <vt:lpstr>Arial</vt:lpstr>
      <vt:lpstr>Calibri</vt:lpstr>
      <vt:lpstr>Calibri Light</vt:lpstr>
      <vt:lpstr>Open Sans</vt:lpstr>
      <vt:lpstr>Office Theme</vt:lpstr>
      <vt:lpstr>file:///G:\2024-05-04to05-10%20(A5)%20C384400%20NASA\00_Data_Reference.xlsm!pptxCover!R4C2:R13C2</vt:lpstr>
      <vt:lpstr>file:///G:\2024-05-04to05-10%20(A5)%20C384400%20NASA\00_Data_Reference.xlsm!pptxCover!R15C2:R17C2</vt:lpstr>
      <vt:lpstr>file:///G:\2024-05-04to05-10%20(A5)%20C384400%20NASA\00_Data_Reference.xlsm!pptxCover!R22C2</vt:lpstr>
      <vt:lpstr>file:///G:\2024-05-04to05-10%20(A5)%20C384400%20NASA\00_Data_Reference.xlsm!pptxLink1!R1C1:R7C2</vt:lpstr>
      <vt:lpstr>file:///G:\2024-05-04to05-10%20(A5)%20C384400%20NASA\00_Data_Reference.xlsm!pptxLink1!R10C1:R18C2</vt:lpstr>
      <vt:lpstr>file:///G:\2024-05-04to05-10%20(A5)%20C384400%20NASA\00_Data_Reference.xlsm!pptxLink2!R1C1:R4C1</vt:lpstr>
      <vt:lpstr>file:///G:\2024-05-04to05-10%20(A5)%20C384400%20NASA\00_Data_Reference.xlsm!pptxLink1!R20C1:R31C2</vt:lpstr>
      <vt:lpstr>file:///G:\2024-05-04to05-10%20(A5)%20C384400%20NASA\00_Data_Reference.xlsm!pptxLink3!R2C1:R24C9</vt:lpstr>
      <vt:lpstr>file:///G:\2024-05-04to05-10%20(A5)%20C384400%20NASA\00_Data_Reference.xlsm!pptxLink2!R30C1:R35C1</vt:lpstr>
      <vt:lpstr>file:///G:\2024-05-04to05-10%20(A5)%20C384400%20NASA\00_Data_Reference.xlsm!pptxLink4!R10C1:R27C20</vt:lpstr>
      <vt:lpstr>file:///G:\2024-05-04to05-10%20(A5)%20C384400%20NASA\00_Data_Reference.xlsm!pptxLink5!R1C1:R11C5</vt:lpstr>
      <vt:lpstr>file:///G:\2024-05-04to05-10%20(A5)%20C384400%20NASA\00_Data_Reference.xlsm!pptxLink5!R15C1:R21C5</vt:lpstr>
      <vt:lpstr>file:///G:\2024-05-04to05-10%20(A5)%20C384400%20NASA\00_Data_Reference.xlsm!pptxLink1!R9C4</vt:lpstr>
      <vt:lpstr>file:///G:\2024-05-04to05-10%20(A5)%20C384400%20NASA\00_Data_Reference.xlsm!pptxLink1!R9C4</vt:lpstr>
      <vt:lpstr>file:///G:\2024-05-04to05-10%20(A5)%20C384400%20NASA\00_Data_Reference.xlsm!pptxLink6!R2C2:R13C5</vt:lpstr>
      <vt:lpstr>file:///G:\2024-05-04to05-10%20(A5)%20C384400%20NASA\00_Data_Reference.xlsm!pptxLink7!R2C2:R16C4</vt:lpstr>
      <vt:lpstr>file:///G:\2024-05-04to05-10%20(A5)%20C384400%20NASA\00_Data_Reference.xlsm!pptxLink7!R18C2:R32C4</vt:lpstr>
      <vt:lpstr>file:///G:\2024-05-04to05-10%20(A5)%20C384400%20NASA\00_Data_Reference.xlsm!pptxCover!R23C7</vt:lpstr>
      <vt:lpstr>file:///G:\2024-05-04to05-10%20(A5)%20C384400%20NASA\00_Data_Reference.xlsm!pptxCover!R26C2:R33C4</vt:lpstr>
      <vt:lpstr>PowerPoint Presentation</vt:lpstr>
      <vt:lpstr>PowerPoint Presentation</vt:lpstr>
      <vt:lpstr>Agenda 议程  </vt:lpstr>
      <vt:lpstr>Appraisal Overview  评估概述</vt:lpstr>
      <vt:lpstr>Appraisal Overview</vt:lpstr>
      <vt:lpstr>Appraisal Overview</vt:lpstr>
      <vt:lpstr>Business and Appraisal Objectives</vt:lpstr>
      <vt:lpstr>Appraisal Principles</vt:lpstr>
      <vt:lpstr>Virtual appraisals – Code of Conduct</vt:lpstr>
      <vt:lpstr>Appraisal Team and Support Personnel</vt:lpstr>
      <vt:lpstr>Appraisal Scope – Benchmark Model View</vt:lpstr>
      <vt:lpstr>Appraisal Scope – Organizational Scope</vt:lpstr>
      <vt:lpstr>Appraisal Scope – Organizational Sample</vt:lpstr>
      <vt:lpstr>Appraisal Scope – Organizational Sample </vt:lpstr>
      <vt:lpstr>Appraisal Scope – Organizational Sample</vt:lpstr>
      <vt:lpstr>Findings Definitions – Required Categories</vt:lpstr>
      <vt:lpstr>PowerPoint Presentation</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Performance Report 性能报告  </vt:lpstr>
      <vt:lpstr>Ratings 評級</vt:lpstr>
      <vt:lpstr>Ratings for</vt:lpstr>
      <vt:lpstr>Ratings for</vt:lpstr>
      <vt:lpstr>Congratulations!</vt:lpstr>
      <vt:lpstr>Appraisal Team Affirmations – Signature Page</vt:lpstr>
      <vt:lpstr>Annexures 附加展示</vt:lpstr>
      <vt:lpstr>Non model findings</vt:lpstr>
      <vt:lpstr>Non model findings</vt:lpstr>
      <vt:lpstr>Findings Definitions – Optional Findings Categories</vt:lpstr>
      <vt:lpstr>Improvement Opportunities</vt:lpstr>
      <vt:lpstr>Improvement Opportunities - continued</vt:lpstr>
      <vt:lpstr>Re-appraisal</vt:lpstr>
      <vt:lpstr>DEMIXIUM™</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Pieter van Zyl</dc:creator>
  <cp:lastModifiedBy>Pieter van Zyl</cp:lastModifiedBy>
  <cp:revision>104</cp:revision>
  <cp:lastPrinted>2020-11-23T18:22:15Z</cp:lastPrinted>
  <dcterms:created xsi:type="dcterms:W3CDTF">2020-11-22T06:57:57Z</dcterms:created>
  <dcterms:modified xsi:type="dcterms:W3CDTF">2025-07-11T06:19:22Z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MediaServiceImageTags">
    <vt:lpwstr/>
  </property>
</Properties>
</file>