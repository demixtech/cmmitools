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493" r:id="rId6"/>
    <p:sldId id="1547" r:id="rId7"/>
    <p:sldId id="1549" r:id="rId8"/>
    <p:sldId id="270" r:id="rId9"/>
    <p:sldId id="928" r:id="rId10"/>
    <p:sldId id="310" r:id="rId11"/>
    <p:sldId id="1550" r:id="rId12"/>
    <p:sldId id="1543" r:id="rId13"/>
    <p:sldId id="923" r:id="rId14"/>
    <p:sldId id="298" r:id="rId15"/>
    <p:sldId id="151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77"/>
      </p:cViewPr>
      <p:guideLst>
        <p:guide orient="horz" pos="572"/>
        <p:guide pos="6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099496-721A-4B0D-B357-5A8DC480C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01FCCC-D92F-479A-AE81-4AF151999C1E}"/>
              </a:ext>
            </a:extLst>
          </p:cNvPr>
          <p:cNvSpPr txBox="1">
            <a:spLocks/>
          </p:cNvSpPr>
          <p:nvPr userDrawn="1"/>
        </p:nvSpPr>
        <p:spPr>
          <a:xfrm>
            <a:off x="7617887" y="636612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2024.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F4958DF-9AD5-4A3E-B744-025664AA9B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98DC70-FE5E-4AA2-B75F-8AFA6EF0CE40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E7D29-D718-4785-BD74-CEDB36AEF0A1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1D74AC-75DA-40D8-8D43-B279F9A15243}"/>
              </a:ext>
            </a:extLst>
          </p:cNvPr>
          <p:cNvSpPr txBox="1"/>
          <p:nvPr userDrawn="1"/>
        </p:nvSpPr>
        <p:spPr>
          <a:xfrm>
            <a:off x="7906722" y="6215770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file:///G:\2024-05-04to05-10%20(A5)%20C384400%20NASA\00_Data_Reference.xlsm!pptxCover!R4C2:R12C2" TargetMode="External"/><Relationship Id="rId7" Type="http://schemas.openxmlformats.org/officeDocument/2006/relationships/oleObject" Target="file:///G:\2024-05-04to05-10%20(A5)%20C384400%20NASA\00_Data_Reference.xlsm!pptxCover!R24C2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file:///G:\2024-05-04to05-10%20(A5)%20C384400%20NASA\00_Data_Reference.xlsm!pptxCover!R15C2:R17C2" TargetMode="Externa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jpe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gif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gif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jpe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emf"/><Relationship Id="rId4" Type="http://schemas.openxmlformats.org/officeDocument/2006/relationships/oleObject" Target="file:///G:\2024-05-04to05-10%20(A5)%20C384400%20NASA\00_Data_Reference.xlsm!pptxLink1!R1C1:R7C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9.emf"/><Relationship Id="rId4" Type="http://schemas.openxmlformats.org/officeDocument/2006/relationships/oleObject" Target="file:///G:\2024-05-04to05-10%20(A5)%20C384400%20NASA\00_Data_Reference.xlsm!pptxLink1!R10C1:R18C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0.emf"/><Relationship Id="rId4" Type="http://schemas.openxmlformats.org/officeDocument/2006/relationships/oleObject" Target="file:///G:\2024-05-04to05-10%20(A5)%20C384400%20NASA\00_Data_Reference.xlsm!pptxLink1!R20C1:R31C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mix.org/too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Technology Test</a:t>
            </a:r>
            <a:endParaRPr lang="en-US" sz="480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760067"/>
              </p:ext>
            </p:extLst>
          </p:nvPr>
        </p:nvGraphicFramePr>
        <p:xfrm>
          <a:off x="3375025" y="2062163"/>
          <a:ext cx="5441950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Macro-Enabled Worksheet" r:id="rId3" imgW="5196769" imgH="2918310" progId="Excel.SheetMacroEnabled.12">
                  <p:link updateAutomatic="1"/>
                </p:oleObj>
              </mc:Choice>
              <mc:Fallback>
                <p:oleObj name="Macro-Enabled Worksheet" r:id="rId3" imgW="5196769" imgH="291831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5025" y="2062163"/>
                        <a:ext cx="5441950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344552"/>
              </p:ext>
            </p:extLst>
          </p:nvPr>
        </p:nvGraphicFramePr>
        <p:xfrm>
          <a:off x="3375025" y="5383213"/>
          <a:ext cx="54419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Macro-Enabled Worksheet" r:id="rId5" imgW="5196769" imgH="670734" progId="Excel.SheetMacroEnabled.12">
                  <p:link updateAutomatic="1"/>
                </p:oleObj>
              </mc:Choice>
              <mc:Fallback>
                <p:oleObj name="Macro-Enabled Worksheet" r:id="rId5" imgW="5196769" imgH="67073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75025" y="5383213"/>
                        <a:ext cx="5441950" cy="661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7DEC329-0B61-46C2-ACE8-B24E3494B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200268"/>
              </p:ext>
            </p:extLst>
          </p:nvPr>
        </p:nvGraphicFramePr>
        <p:xfrm>
          <a:off x="3497262" y="5078413"/>
          <a:ext cx="51974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Macro-Enabled Worksheet" r:id="rId7" imgW="5196769" imgH="304879" progId="Excel.SheetMacroEnabled.12">
                  <p:link updateAutomatic="1"/>
                </p:oleObj>
              </mc:Choice>
              <mc:Fallback>
                <p:oleObj name="Macro-Enabled Worksheet" r:id="rId7" imgW="5196769" imgH="3048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7262" y="5078413"/>
                        <a:ext cx="5197475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3BC500A-BFD5-4AA6-A547-A5D9086C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018" y="5136108"/>
            <a:ext cx="2294990" cy="547267"/>
          </a:xfrm>
          <a:prstGeom prst="rect">
            <a:avLst/>
          </a:prstGeom>
        </p:spPr>
      </p:pic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2057399" y="3550122"/>
            <a:ext cx="8077201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ZA" altLang="zh-CN" sz="1800" dirty="0">
                <a:latin typeface="+mn-lt"/>
              </a:rPr>
              <a:t>It is a pleasure and an honour to be here with you today. We are looking forward to working with you and your team over the coming days.</a:t>
            </a:r>
          </a:p>
          <a:p>
            <a:pPr algn="ctr" eaLnBrk="1" hangingPunct="1"/>
            <a:r>
              <a:rPr lang="zh-TW" altLang="en-US" sz="200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今天我很高興和榮幸來到這裡，我期待著在未來的几天里與您和您的團隊一起工作。</a:t>
            </a:r>
            <a:endParaRPr lang="en-ZA" altLang="zh-CN" sz="20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954CA7-005C-4F39-92CE-D8155080ED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24" y="4999368"/>
            <a:ext cx="728200" cy="810578"/>
          </a:xfrm>
          <a:prstGeom prst="rect">
            <a:avLst/>
          </a:prstGeom>
        </p:spPr>
      </p:pic>
      <p:pic>
        <p:nvPicPr>
          <p:cNvPr id="32" name="Picture 31" descr="A close up of a sign&#10;&#10;Description automatically generated">
            <a:extLst>
              <a:ext uri="{FF2B5EF4-FFF2-40B4-BE49-F238E27FC236}">
                <a16:creationId xmlns:a16="http://schemas.microsoft.com/office/drawing/2014/main" id="{3E788F89-59DA-4112-8599-0FCF45176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51" y="5011695"/>
            <a:ext cx="812573" cy="7859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B2B80C-7265-40EB-97CE-CE0C4FE7D9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0" t="2007" r="14562" b="-2007"/>
          <a:stretch/>
        </p:blipFill>
        <p:spPr>
          <a:xfrm>
            <a:off x="9478501" y="4999368"/>
            <a:ext cx="1116817" cy="81057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EBEE5F4-012C-410B-AC0D-D34E631EDC0C}"/>
              </a:ext>
            </a:extLst>
          </p:cNvPr>
          <p:cNvGrpSpPr/>
          <p:nvPr/>
        </p:nvGrpSpPr>
        <p:grpSpPr>
          <a:xfrm>
            <a:off x="10669668" y="5099783"/>
            <a:ext cx="846120" cy="609751"/>
            <a:chOff x="152400" y="4012035"/>
            <a:chExt cx="1986438" cy="117974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2AEB9D-8841-45F7-8CAB-1B38968DF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920" b="21052"/>
            <a:stretch/>
          </p:blipFill>
          <p:spPr>
            <a:xfrm>
              <a:off x="152400" y="4058960"/>
              <a:ext cx="1986438" cy="1132820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D9B4C94-FB3C-43D3-BABE-98A6FFD0C43F}"/>
                </a:ext>
              </a:extLst>
            </p:cNvPr>
            <p:cNvGrpSpPr/>
            <p:nvPr/>
          </p:nvGrpSpPr>
          <p:grpSpPr>
            <a:xfrm>
              <a:off x="252395" y="4012035"/>
              <a:ext cx="1756513" cy="441334"/>
              <a:chOff x="3505200" y="5861931"/>
              <a:chExt cx="1754272" cy="58475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8A3EA6-FBEC-43F7-A250-298AFED49EDC}"/>
                  </a:ext>
                </a:extLst>
              </p:cNvPr>
              <p:cNvSpPr/>
              <p:nvPr/>
            </p:nvSpPr>
            <p:spPr>
              <a:xfrm>
                <a:off x="3505200" y="5861931"/>
                <a:ext cx="1754272" cy="5847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638D3C24-2693-4B6E-8918-A946A332A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505200" y="5861931"/>
                <a:ext cx="1754272" cy="584757"/>
              </a:xfrm>
              <a:prstGeom prst="rect">
                <a:avLst/>
              </a:prstGeom>
            </p:spPr>
          </p:pic>
        </p:grpSp>
      </p:grpSp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17" y="5036857"/>
            <a:ext cx="1266632" cy="73560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0F9EC6-7007-442F-9B14-472D791273E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375" y="5036857"/>
            <a:ext cx="728200" cy="7356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C067E0-B1E2-4ABB-954D-E36139045FC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774" y="5148463"/>
            <a:ext cx="592894" cy="51239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A8C5C63-6380-45A7-84FE-5E6876A175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85" y="5054186"/>
            <a:ext cx="670188" cy="70094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94C16C1-AB6D-486E-B218-635DBF4B8F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27" y="4983314"/>
            <a:ext cx="812573" cy="842689"/>
          </a:xfrm>
          <a:prstGeom prst="rect">
            <a:avLst/>
          </a:prstGeom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578021" y="999391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21050449</a:t>
            </a:r>
          </a:p>
        </p:txBody>
      </p:sp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DEMIXIUM™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465481" y="1878295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43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Demixium™ Copyright Demix 2021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777670" y="5844796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www.demixium.com</a:t>
            </a:r>
            <a:endParaRPr lang="en-ZA" sz="1600" dirty="0"/>
          </a:p>
          <a:p>
            <a:pPr algn="ctr"/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Knowledge 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Performance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 | Results</a:t>
            </a:r>
            <a:r>
              <a:rPr lang="en-ZA" sz="1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308059" y="2606819"/>
            <a:ext cx="2719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Demixium is a collection of best practices to assess an organisation across a variety of domains and best practice models. It is available for free use under the MIT free use license agreement.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7821539" y="3022317"/>
            <a:ext cx="271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F497D"/>
                </a:solidFill>
              </a:rPr>
              <a:t>Demixium </a:t>
            </a:r>
            <a:r>
              <a:rPr lang="zh-CN" altLang="en-US" dirty="0">
                <a:solidFill>
                  <a:srgbClr val="1F497D"/>
                </a:solidFill>
              </a:rPr>
              <a:t>是一组最佳实践的集合，用于跨各种领域和最佳实践模型评估组织。 它可根据 </a:t>
            </a:r>
            <a:r>
              <a:rPr lang="en-US" altLang="zh-CN" dirty="0">
                <a:solidFill>
                  <a:srgbClr val="1F497D"/>
                </a:solidFill>
              </a:rPr>
              <a:t>MIT </a:t>
            </a:r>
            <a:r>
              <a:rPr lang="zh-CN" altLang="en-US" dirty="0">
                <a:solidFill>
                  <a:srgbClr val="1F497D"/>
                </a:solidFill>
              </a:rPr>
              <a:t>免费使用许可协议免费使用。</a:t>
            </a:r>
            <a:endParaRPr lang="en-ZA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F159CF9-D190-4108-A66F-758467A67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499967"/>
              </p:ext>
            </p:extLst>
          </p:nvPr>
        </p:nvGraphicFramePr>
        <p:xfrm>
          <a:off x="1060450" y="1860550"/>
          <a:ext cx="824547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Macro-Enabled Worksheet" r:id="rId4" imgW="8244911" imgH="1432718" progId="Excel.SheetMacroEnabled.12">
                  <p:link updateAutomatic="1"/>
                </p:oleObj>
              </mc:Choice>
              <mc:Fallback>
                <p:oleObj name="Macro-Enabled Worksheet" r:id="rId4" imgW="8244911" imgH="143271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0450" y="1860550"/>
                        <a:ext cx="8245475" cy="143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070E001-535C-4B2C-BF94-3257A2286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240140"/>
              </p:ext>
            </p:extLst>
          </p:nvPr>
        </p:nvGraphicFramePr>
        <p:xfrm>
          <a:off x="1082675" y="2003425"/>
          <a:ext cx="86645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Macro-Enabled Worksheet" r:id="rId4" imgW="8244911" imgH="1584944" progId="Excel.SheetMacroEnabled.12">
                  <p:link updateAutomatic="1"/>
                </p:oleObj>
              </mc:Choice>
              <mc:Fallback>
                <p:oleObj name="Macro-Enabled Worksheet" r:id="rId4" imgW="8244911" imgH="158494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2675" y="2003425"/>
                        <a:ext cx="8664575" cy="174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B50E02C-C716-4CC3-8BC3-51D125EDB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780166"/>
              </p:ext>
            </p:extLst>
          </p:nvPr>
        </p:nvGraphicFramePr>
        <p:xfrm>
          <a:off x="1131888" y="2087563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Macro-Enabled Worksheet" r:id="rId4" imgW="8244911" imgH="2110701" progId="Excel.SheetMacroEnabled.12">
                  <p:link updateAutomatic="1"/>
                </p:oleObj>
              </mc:Choice>
              <mc:Fallback>
                <p:oleObj name="Macro-Enabled Worksheet" r:id="rId4" imgW="8244911" imgH="2110701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1888" y="2087563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305716" y="1052815"/>
            <a:ext cx="515461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ED6D-359B-4DB9-A138-F6149B35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C33A-3F28-4A57-89CE-6D34B3F7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pptx has embedded links to </a:t>
            </a:r>
            <a:r>
              <a:rPr lang="en-US" sz="2000" dirty="0" err="1"/>
              <a:t>00_Data_Reference.xlsm</a:t>
            </a:r>
            <a:endParaRPr lang="en-US" sz="2000" dirty="0"/>
          </a:p>
          <a:p>
            <a:r>
              <a:rPr lang="en-US" sz="2000" dirty="0"/>
              <a:t>The latest information and version of the Benchmark Appraiser Support Environment (BASE) can be accessed at </a:t>
            </a:r>
            <a:r>
              <a:rPr lang="en-US" sz="2000" dirty="0" err="1">
                <a:hlinkClick r:id="rId2"/>
              </a:rPr>
              <a:t>www.demix.org</a:t>
            </a:r>
            <a:r>
              <a:rPr lang="en-US" sz="2000" dirty="0">
                <a:hlinkClick r:id="rId2"/>
              </a:rPr>
              <a:t>/tools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70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09BF33-704F-47FE-9432-1ADA93819C4C}"/>
</file>

<file path=customXml/itemProps2.xml><?xml version="1.0" encoding="utf-8"?>
<ds:datastoreItem xmlns:ds="http://schemas.openxmlformats.org/officeDocument/2006/customXml" ds:itemID="{5F07B0D7-F930-4230-933E-ABA84959494E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c500478-62e0-46fc-87f1-cfa988e486b4"/>
    <ds:schemaRef ds:uri="72e3a154-4955-46c3-9573-e9dec3e1f195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789</Words>
  <Application>Microsoft Office PowerPoint</Application>
  <PresentationFormat>Widescreen</PresentationFormat>
  <Paragraphs>63</Paragraphs>
  <Slides>12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等线</vt:lpstr>
      <vt:lpstr>宋体</vt:lpstr>
      <vt:lpstr>Arial</vt:lpstr>
      <vt:lpstr>Calibri</vt:lpstr>
      <vt:lpstr>Calibri Light</vt:lpstr>
      <vt:lpstr>Open Sans</vt:lpstr>
      <vt:lpstr>Office Theme</vt:lpstr>
      <vt:lpstr>file:///G:\2024-05-04to05-10%20(A5)%20C384400%20NASA\00_Data_Reference.xlsm!pptxCover!R4C2:R12C2</vt:lpstr>
      <vt:lpstr>file:///G:\2024-05-04to05-10%20(A5)%20C384400%20NASA\00_Data_Reference.xlsm!pptxCover!R15C2:R17C2</vt:lpstr>
      <vt:lpstr>file:///G:\2024-05-04to05-10%20(A5)%20C384400%20NASA\00_Data_Reference.xlsm!pptxCover!R24C2</vt:lpstr>
      <vt:lpstr>file:///G:\2024-05-04to05-10%20(A5)%20C384400%20NASA\00_Data_Reference.xlsm!pptxLink1!R1C1:R7C2</vt:lpstr>
      <vt:lpstr>file:///G:\2024-05-04to05-10%20(A5)%20C384400%20NASA\00_Data_Reference.xlsm!pptxLink1!R10C1:R18C2</vt:lpstr>
      <vt:lpstr>file:///G:\2024-05-04to05-10%20(A5)%20C384400%20NASA\00_Data_Reference.xlsm!pptxLink1!R20C1:R31C2</vt:lpstr>
      <vt:lpstr>PowerPoint Presentation</vt:lpstr>
      <vt:lpstr>PowerPoint Presentation</vt:lpstr>
      <vt:lpstr>DEMIXIUM™</vt:lpstr>
      <vt:lpstr>Appraisal Overview  评估概述</vt:lpstr>
      <vt:lpstr>Appraisal Overview</vt:lpstr>
      <vt:lpstr>Appraisal Overview</vt:lpstr>
      <vt:lpstr>Appraisal Team and Support Personnel</vt:lpstr>
      <vt:lpstr>Appraisal Principles</vt:lpstr>
      <vt:lpstr>Virtual appraisals – code of conduct</vt:lpstr>
      <vt:lpstr>PowerPoint Presentation</vt:lpstr>
      <vt:lpstr>PowerPoint Presentation</vt:lpstr>
      <vt:lpstr>Notice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75</cp:revision>
  <dcterms:created xsi:type="dcterms:W3CDTF">2018-03-14T12:19:45Z</dcterms:created>
  <dcterms:modified xsi:type="dcterms:W3CDTF">2024-08-11T07:55:02Z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</Properties>
</file>