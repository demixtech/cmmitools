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1553" r:id="rId6"/>
    <p:sldId id="1575" r:id="rId7"/>
    <p:sldId id="1549" r:id="rId8"/>
    <p:sldId id="270" r:id="rId9"/>
    <p:sldId id="928" r:id="rId10"/>
    <p:sldId id="913" r:id="rId11"/>
    <p:sldId id="1550" r:id="rId12"/>
    <p:sldId id="1543" r:id="rId13"/>
    <p:sldId id="310" r:id="rId14"/>
    <p:sldId id="1513" r:id="rId15"/>
    <p:sldId id="914" r:id="rId16"/>
    <p:sldId id="915" r:id="rId17"/>
    <p:sldId id="1506" r:id="rId18"/>
    <p:sldId id="1507" r:id="rId19"/>
    <p:sldId id="923" r:id="rId20"/>
    <p:sldId id="919" r:id="rId21"/>
    <p:sldId id="1552" r:id="rId22"/>
    <p:sldId id="1514" r:id="rId23"/>
    <p:sldId id="483" r:id="rId24"/>
    <p:sldId id="2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1487A-1EE4-184B-38CF-636CAB486C45}" v="45" dt="2025-08-04T09:02:27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2593" autoAdjust="0"/>
  </p:normalViewPr>
  <p:slideViewPr>
    <p:cSldViewPr snapToGrid="0">
      <p:cViewPr varScale="1">
        <p:scale>
          <a:sx n="62" d="100"/>
          <a:sy n="62" d="100"/>
        </p:scale>
        <p:origin x="90" y="882"/>
      </p:cViewPr>
      <p:guideLst>
        <p:guide orient="horz" pos="572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9.xml" Id="rId13" /><Relationship Type="http://schemas.openxmlformats.org/officeDocument/2006/relationships/slide" Target="slides/slide14.xml" Id="rId18" /><Relationship Type="http://schemas.openxmlformats.org/officeDocument/2006/relationships/notesMaster" Target="notesMasters/notesMaster1.xml" Id="rId26" /><Relationship Type="http://schemas.openxmlformats.org/officeDocument/2006/relationships/customXml" Target="../customXml/item3.xml" Id="rId3" /><Relationship Type="http://schemas.openxmlformats.org/officeDocument/2006/relationships/slide" Target="slides/slide17.xml" Id="rId21" /><Relationship Type="http://schemas.microsoft.com/office/2015/10/relationships/revisionInfo" Target="revisionInfo.xml" Id="rId34" /><Relationship Type="http://schemas.openxmlformats.org/officeDocument/2006/relationships/slide" Target="slides/slide3.xml" Id="rId7" /><Relationship Type="http://schemas.openxmlformats.org/officeDocument/2006/relationships/slide" Target="slides/slide8.xml" Id="rId12" /><Relationship Type="http://schemas.openxmlformats.org/officeDocument/2006/relationships/slide" Target="slides/slide13.xml" Id="rId17" /><Relationship Type="http://schemas.openxmlformats.org/officeDocument/2006/relationships/slide" Target="slides/slide21.xml" Id="rId25" /><Relationship Type="http://schemas.openxmlformats.org/officeDocument/2006/relationships/customXml" Target="../customXml/item2.xml" Id="rId2" /><Relationship Type="http://schemas.openxmlformats.org/officeDocument/2006/relationships/slide" Target="slides/slide12.xml" Id="rId16" /><Relationship Type="http://schemas.openxmlformats.org/officeDocument/2006/relationships/slide" Target="slides/slide16.xml" Id="rId20" /><Relationship Type="http://schemas.openxmlformats.org/officeDocument/2006/relationships/presProps" Target="presProps.xml" Id="rId29" /><Relationship Type="http://schemas.openxmlformats.org/officeDocument/2006/relationships/customXml" Target="../customXml/item1.xml" Id="rId1" /><Relationship Type="http://schemas.openxmlformats.org/officeDocument/2006/relationships/slide" Target="slides/slide2.xml" Id="rId6" /><Relationship Type="http://schemas.openxmlformats.org/officeDocument/2006/relationships/slide" Target="slides/slide7.xml" Id="rId11" /><Relationship Type="http://schemas.openxmlformats.org/officeDocument/2006/relationships/slide" Target="slides/slide20.xml" Id="rId24" /><Relationship Type="http://schemas.openxmlformats.org/officeDocument/2006/relationships/tableStyles" Target="tableStyles.xml" Id="rId32" /><Relationship Type="http://schemas.openxmlformats.org/officeDocument/2006/relationships/slide" Target="slides/slide1.xml" Id="rId5" /><Relationship Type="http://schemas.openxmlformats.org/officeDocument/2006/relationships/slide" Target="slides/slide11.xml" Id="rId15" /><Relationship Type="http://schemas.openxmlformats.org/officeDocument/2006/relationships/slide" Target="slides/slide19.xml" Id="rId23" /><Relationship Type="http://schemas.openxmlformats.org/officeDocument/2006/relationships/commentAuthors" Target="commentAuthors.xml" Id="rId28" /><Relationship Type="http://schemas.openxmlformats.org/officeDocument/2006/relationships/slide" Target="slides/slide6.xml" Id="rId10" /><Relationship Type="http://schemas.openxmlformats.org/officeDocument/2006/relationships/slide" Target="slides/slide15.xml" Id="rId19" /><Relationship Type="http://schemas.openxmlformats.org/officeDocument/2006/relationships/theme" Target="theme/theme1.xml" Id="rId31" /><Relationship Type="http://schemas.openxmlformats.org/officeDocument/2006/relationships/slideMaster" Target="slideMasters/slideMaster1.xml" Id="rId4" /><Relationship Type="http://schemas.openxmlformats.org/officeDocument/2006/relationships/slide" Target="slides/slide5.xml" Id="rId9" /><Relationship Type="http://schemas.openxmlformats.org/officeDocument/2006/relationships/slide" Target="slides/slide10.xml" Id="rId14" /><Relationship Type="http://schemas.openxmlformats.org/officeDocument/2006/relationships/slide" Target="slides/slide18.xml" Id="rId22" /><Relationship Type="http://schemas.openxmlformats.org/officeDocument/2006/relationships/handoutMaster" Target="handoutMasters/handoutMaster1.xml" Id="rId27" /><Relationship Type="http://schemas.openxmlformats.org/officeDocument/2006/relationships/viewProps" Target="viewProps.xml" Id="rId30" /><Relationship Type="http://schemas.openxmlformats.org/officeDocument/2006/relationships/slide" Target="slides/slide4.xml" Id="rId8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Make sure the version of the model is correct when this slide is built. Replace the bold, italicized </a:t>
            </a:r>
            <a:r>
              <a:rPr lang="en-US" b="1" i="1"/>
              <a:t>x</a:t>
            </a:r>
            <a:r>
              <a:rPr lang="en-US" b="0" i="0"/>
              <a:t> with the correct version number.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ATL can show the chart from the generated random sample, but there must be a description of the sampled projects and their selected CA/PA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practice, enter the OU-Level characterization (FM, LM, PM, DM, NY). The chart will set a color.</a:t>
            </a:r>
          </a:p>
          <a:p>
            <a:endParaRPr lang="en-US"/>
          </a:p>
          <a:p>
            <a:r>
              <a:rPr lang="en-US"/>
              <a:t>Based on the characterizations of all practices in each practice level, set the Practice Level rating to “S” (Satisfied) or “U” (Unsatisfied).</a:t>
            </a:r>
          </a:p>
          <a:p>
            <a:endParaRPr lang="en-US"/>
          </a:p>
          <a:p>
            <a:r>
              <a:rPr lang="en-US"/>
              <a:t>The PA Rating is the Highest Practice Level at which all practices for it, and all lower Practice Levels, are Satisfied.</a:t>
            </a:r>
          </a:p>
          <a:p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details, see the MDD, Activity 2.3.2 Determine Practice Group Ratings, and Activity </a:t>
            </a:r>
            <a:r>
              <a:rPr lang="en-US" b="0"/>
              <a:t>2.3.3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Practice Area and Maturity Level or Capability Level Profile Rating.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2B81C3-8382-4113-BAD0-010A13E4D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0C077D-8819-4F9D-8722-D73A05643AA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2025.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71D06-6ED0-464B-BBB6-E62FF3A17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C3F22-7FA0-47B5-A977-F0D9B341A6A5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DCE-B80F-4E81-9623-EF0D27922F8E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9AE7E-D327-4FF2-B770-2F2569C1F76A}"/>
              </a:ext>
            </a:extLst>
          </p:cNvPr>
          <p:cNvSpPr txBox="1"/>
          <p:nvPr userDrawn="1"/>
        </p:nvSpPr>
        <p:spPr>
          <a:xfrm>
            <a:off x="8509110" y="6223327"/>
            <a:ext cx="3447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898989"/>
                </a:solidFill>
              </a:rPr>
              <a:t>Demix Logo is a registered trademark in PRC and RSA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file:///G:\2024-05-04to05-10%20(A5)%20C384400%20NASA\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file:///G:\2024-05-04to05-10%20(A5)%20C384400%20NASA\00_Data_Reference.xlsm!pptxCover!R20C2" TargetMode="External"/><Relationship Id="rId5" Type="http://schemas.openxmlformats.org/officeDocument/2006/relationships/image" Target="../media/image4.emf"/><Relationship Id="rId4" Type="http://schemas.openxmlformats.org/officeDocument/2006/relationships/oleObject" Target="file:///G:\2024-05-04to05-10%20(A5)%20C384400%20NASA\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jpg"/><Relationship Id="rId21" Type="http://schemas.openxmlformats.org/officeDocument/2006/relationships/image" Target="../media/image24.pn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11" Type="http://schemas.openxmlformats.org/officeDocument/2006/relationships/image" Target="../media/image14.png"/><Relationship Id="rId24" Type="http://schemas.openxmlformats.org/officeDocument/2006/relationships/image" Target="../media/image27.jpe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gif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mixium.com/?page_id=99" TargetMode="External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C1:R7C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0C1:R18C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2!R1C1:R4C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20C1:R31C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3!R2C1:R24C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6C1:R7C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4!R10C1:R27C2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file:///G:\2024-05-04to05-10%20(A5)%20C384400%20NASA\00_Data_Reference.xlsm!pptxLink5!R1C1:R11C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file:///G:\2024-05-04to05-10%20(A5)%20C384400%20NASA\00_Data_Reference.xlsm!pptxLink5!R15C1:R21C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OULC!R50C2:R89C22" TargetMode="External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oleObject" Target="file:///G:\2024-05-04to05-10%20(A5)%20C384400%20NASA\00_Data_Reference.xlsm!pptxLink1!R8C4" TargetMode="External"/><Relationship Id="rId4" Type="http://schemas.openxmlformats.org/officeDocument/2006/relationships/image" Target="../media/image43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file:///G:\2024-05-04to05-10%20(A5)%20C384400%20NASA\00_Data_Reference.xlsm!pptxLink1!R33C1:R40C2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elete/Schedule.pdf" TargetMode="External"/><Relationship Id="rId2" Type="http://schemas.openxmlformats.org/officeDocument/2006/relationships/hyperlink" Target="99_vf01_Schedule.pdf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Opening Briefing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885730"/>
              </p:ext>
            </p:extLst>
          </p:nvPr>
        </p:nvGraphicFramePr>
        <p:xfrm>
          <a:off x="3375025" y="2052638"/>
          <a:ext cx="5440363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196769" imgH="2918310" progId="Excel.SheetMacroEnabled.12">
                  <p:link updateAutomatic="1"/>
                </p:oleObj>
              </mc:Choice>
              <mc:Fallback>
                <p:oleObj name="Macro-Enabled Worksheet" r:id="rId2" imgW="5196769" imgH="2918310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75025" y="2052638"/>
                        <a:ext cx="5440363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61898"/>
              </p:ext>
            </p:extLst>
          </p:nvPr>
        </p:nvGraphicFramePr>
        <p:xfrm>
          <a:off x="3497263" y="5378450"/>
          <a:ext cx="51974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196769" imgH="670734" progId="Excel.SheetMacroEnabled.12">
                  <p:link updateAutomatic="1"/>
                </p:oleObj>
              </mc:Choice>
              <mc:Fallback>
                <p:oleObj name="Macro-Enabled Worksheet" r:id="rId4" imgW="5196769" imgH="670734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97263" y="5378450"/>
                        <a:ext cx="519747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536454-AD5B-4F94-8339-31EA3769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605245"/>
              </p:ext>
            </p:extLst>
          </p:nvPr>
        </p:nvGraphicFramePr>
        <p:xfrm>
          <a:off x="3497263" y="5168900"/>
          <a:ext cx="51974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196769" imgH="274178" progId="Excel.SheetMacroEnabled.12">
                  <p:link updateAutomatic="1"/>
                </p:oleObj>
              </mc:Choice>
              <mc:Fallback>
                <p:oleObj name="Macro-Enabled Worksheet" r:id="rId6" imgW="5196769" imgH="27417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536454-AD5B-4F94-8339-31EA3769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97263" y="5168900"/>
                        <a:ext cx="5197475" cy="27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3899604" y="5415749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912730"/>
            <a:ext cx="807720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sz="1800" dirty="0">
                <a:latin typeface="+mn-lt"/>
                <a:ea typeface="Calibri"/>
              </a:rPr>
              <a:t>It is a pleasure and an honour to be here with you today. We are looking forward to working with you and your team over the coming days.</a:t>
            </a:r>
            <a:endParaRPr lang="en-US" sz="1800" dirty="0">
              <a:ea typeface="Calibri"/>
            </a:endParaRPr>
          </a:p>
          <a:p>
            <a:pPr algn="ctr"/>
            <a:r>
              <a:rPr lang="zh-CN" altLang="en-GB" sz="2000">
                <a:solidFill>
                  <a:srgbClr val="1F497D"/>
                </a:solidFill>
                <a:latin typeface="SimSun"/>
                <a:ea typeface="SimSun"/>
              </a:rPr>
              <a:t>今天我很高興和榮幸來到這裡，我期待著在未來的几天里與您和您的團隊一起工作。</a:t>
            </a:r>
            <a:endParaRPr lang="zh-CN"/>
          </a:p>
          <a:p>
            <a:pPr algn="ctr"/>
            <a:endParaRPr lang="en-GB" altLang="zh-CN" sz="2000" dirty="0">
              <a:solidFill>
                <a:srgbClr val="000000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65831" y="2664535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8A0F27-07B8-024D-872C-BA34A00A1B7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00462" y="5323020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52" name="Picture 4" descr="ISACA® Certifications | Global Lynx">
            <a:extLst>
              <a:ext uri="{FF2B5EF4-FFF2-40B4-BE49-F238E27FC236}">
                <a16:creationId xmlns:a16="http://schemas.microsoft.com/office/drawing/2014/main" id="{A29F4551-CAAD-E1A3-5ECA-FD1BF7217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410" y="5416637"/>
            <a:ext cx="1892400" cy="5976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ectrosoft rated CMMI Level 3 for both Development and Services |  Electrosoft">
            <a:extLst>
              <a:ext uri="{FF2B5EF4-FFF2-40B4-BE49-F238E27FC236}">
                <a16:creationId xmlns:a16="http://schemas.microsoft.com/office/drawing/2014/main" id="{16CD5BCC-1DFD-47FE-6550-69934F2DFE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41" b="25354"/>
          <a:stretch/>
        </p:blipFill>
        <p:spPr bwMode="auto">
          <a:xfrm>
            <a:off x="1344954" y="5327940"/>
            <a:ext cx="2159999" cy="7732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6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528986" y="1701637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12611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ZA" dirty="0" err="1"/>
              <a:t>Demix</a:t>
            </a:r>
            <a:r>
              <a:rPr lang="en-ZA" dirty="0"/>
              <a:t>™ Copyright </a:t>
            </a:r>
            <a:r>
              <a:rPr lang="en-ZA" dirty="0" err="1"/>
              <a:t>Demix</a:t>
            </a:r>
            <a:r>
              <a:rPr lang="en-ZA" dirty="0"/>
              <a:t>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841175" y="5686214"/>
            <a:ext cx="609467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www.demixglobal.com</a:t>
            </a:r>
            <a:endParaRPr lang="en-ZA" sz="1600" dirty="0"/>
          </a:p>
          <a:p>
            <a:pPr algn="ctr"/>
            <a:r>
              <a:rPr lang="en-ZA" sz="1600" dirty="0">
                <a:solidFill>
                  <a:srgbClr val="000000"/>
                </a:solidFill>
                <a:latin typeface="Open Sans"/>
              </a:rPr>
              <a:t>Create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Evolve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Perfect</a:t>
            </a:r>
            <a:endParaRPr lang="en-ZA" sz="1600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179784" y="2389117"/>
            <a:ext cx="2719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1F497D"/>
                </a:solidFill>
              </a:defRPr>
            </a:lvl1pPr>
          </a:lstStyle>
          <a:p>
            <a:r>
              <a:rPr lang="en-GB" dirty="0"/>
              <a:t>Half of all organizations fail to execute strategy effectively. Demix empowers success.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1308059" y="4005710"/>
            <a:ext cx="2719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一半的组织无法有效执行战略。</a:t>
            </a:r>
            <a:r>
              <a:rPr lang="en-US" altLang="zh-CN" b="1" dirty="0">
                <a:solidFill>
                  <a:srgbClr val="FF0000"/>
                </a:solidFill>
              </a:rPr>
              <a:t>Demix </a:t>
            </a:r>
            <a:r>
              <a:rPr lang="zh-CN" altLang="en-US" b="1" dirty="0">
                <a:solidFill>
                  <a:srgbClr val="FF0000"/>
                </a:solidFill>
              </a:rPr>
              <a:t>赋能成功。</a:t>
            </a:r>
            <a:endParaRPr lang="en-ZA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72F935-8217-6CE4-4503-62D4545B0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548" y="2200661"/>
            <a:ext cx="3260157" cy="217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9586E270-888A-1598-78F1-3370E9ADD0D1}"/>
              </a:ext>
            </a:extLst>
          </p:cNvPr>
          <p:cNvSpPr txBox="1"/>
          <p:nvPr/>
        </p:nvSpPr>
        <p:spPr>
          <a:xfrm>
            <a:off x="8189352" y="4491322"/>
            <a:ext cx="3019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  <a:hlinkClick r:id="rId5"/>
              </a:rPr>
              <a:t>Strategy Execution with CMMI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D9062E2-4292-411C-8888-3870D8C3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083095"/>
              </p:ext>
            </p:extLst>
          </p:nvPr>
        </p:nvGraphicFramePr>
        <p:xfrm>
          <a:off x="1030288" y="2095500"/>
          <a:ext cx="84836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432718" progId="Excel.SheetMacroEnabled.12">
                  <p:link updateAutomatic="1"/>
                </p:oleObj>
              </mc:Choice>
              <mc:Fallback>
                <p:oleObj name="Macro-Enabled Worksheet" r:id="rId3" imgW="8244911" imgH="1432718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D9062E2-4292-411C-8888-3870D8C307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0288" y="2095500"/>
                        <a:ext cx="8483600" cy="151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2D3759-24A7-42E2-82DB-6309FF00C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25279"/>
              </p:ext>
            </p:extLst>
          </p:nvPr>
        </p:nvGraphicFramePr>
        <p:xfrm>
          <a:off x="1189038" y="2009775"/>
          <a:ext cx="848201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584944" progId="Excel.SheetMacroEnabled.12">
                  <p:link updateAutomatic="1"/>
                </p:oleObj>
              </mc:Choice>
              <mc:Fallback>
                <p:oleObj name="Macro-Enabled Worksheet" r:id="rId3" imgW="8244911" imgH="1584944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82D3759-24A7-42E2-82DB-6309FF00C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9038" y="2009775"/>
                        <a:ext cx="8482012" cy="171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Business and Appraisal Objectives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1738B5-23C6-457B-BB18-AD965FCE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163602"/>
              </p:ext>
            </p:extLst>
          </p:nvPr>
        </p:nvGraphicFramePr>
        <p:xfrm>
          <a:off x="1103313" y="1790919"/>
          <a:ext cx="7643812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7437262" imgH="1394342" progId="Excel.SheetMacroEnabled.12">
                  <p:link updateAutomatic="1"/>
                </p:oleObj>
              </mc:Choice>
              <mc:Fallback>
                <p:oleObj name="Macro-Enabled Worksheet" r:id="rId3" imgW="7437262" imgH="1394342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41738B5-23C6-457B-BB18-AD965FCE0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3313" y="1790919"/>
                        <a:ext cx="7643812" cy="137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B14951-7702-4C0F-B6A6-21391A66B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029463"/>
              </p:ext>
            </p:extLst>
          </p:nvPr>
        </p:nvGraphicFramePr>
        <p:xfrm>
          <a:off x="1033463" y="1936750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2110701" progId="Excel.SheetMacroEnabled.12">
                  <p:link updateAutomatic="1"/>
                </p:oleObj>
              </mc:Choice>
              <mc:Fallback>
                <p:oleObj name="Macro-Enabled Worksheet" r:id="rId3" imgW="8244911" imgH="2110701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CB14951-7702-4C0F-B6A6-21391A66B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3463" y="1936750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>
          <a:xfrm>
            <a:off x="1055688" y="892263"/>
            <a:ext cx="10397836" cy="60228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Benchmark Model View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46B053-1B94-4E5C-BCF3-2B2E652C7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992395"/>
              </p:ext>
            </p:extLst>
          </p:nvPr>
        </p:nvGraphicFramePr>
        <p:xfrm>
          <a:off x="1217613" y="1585913"/>
          <a:ext cx="8277225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9928683" imgH="5463516" progId="Excel.SheetMacroEnabled.12">
                  <p:link updateAutomatic="1"/>
                </p:oleObj>
              </mc:Choice>
              <mc:Fallback>
                <p:oleObj name="Macro-Enabled Worksheet" r:id="rId3" imgW="9928683" imgH="5463516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8F46B053-1B94-4E5C-BCF3-2B2E652C78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7613" y="1585913"/>
                        <a:ext cx="8277225" cy="443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3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Scope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1E92499-A6AA-4251-A074-798371D4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898879"/>
              </p:ext>
            </p:extLst>
          </p:nvPr>
        </p:nvGraphicFramePr>
        <p:xfrm>
          <a:off x="1250950" y="2544763"/>
          <a:ext cx="84836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358179" progId="Excel.SheetMacroEnabled.12">
                  <p:link updateAutomatic="1"/>
                </p:oleObj>
              </mc:Choice>
              <mc:Fallback>
                <p:oleObj name="Macro-Enabled Worksheet" r:id="rId3" imgW="8244911" imgH="358179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1E92499-A6AA-4251-A074-798371D4D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0950" y="2544763"/>
                        <a:ext cx="8483600" cy="38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Sample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1A5A95-7C57-4184-BE79-BFD78ABD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608831"/>
              </p:ext>
            </p:extLst>
          </p:nvPr>
        </p:nvGraphicFramePr>
        <p:xfrm>
          <a:off x="1384300" y="2100263"/>
          <a:ext cx="9217025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3403403" imgH="4008199" progId="Excel.SheetMacroEnabled.12">
                  <p:link updateAutomatic="1"/>
                </p:oleObj>
              </mc:Choice>
              <mc:Fallback>
                <p:oleObj name="Macro-Enabled Worksheet" r:id="rId3" imgW="13403403" imgH="4008199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21A5A95-7C57-4184-BE79-BFD78ABD81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4300" y="2100263"/>
                        <a:ext cx="9217025" cy="266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73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6564A6-5108-42B5-A49B-FB8D3BA28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618834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186302" imgH="3474767" progId="Excel.SheetMacroEnabled.12">
                  <p:link updateAutomatic="1"/>
                </p:oleObj>
              </mc:Choice>
              <mc:Fallback>
                <p:oleObj name="Macro-Enabled Worksheet" r:id="rId2" imgW="11186302" imgH="3474767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26564A6-5108-42B5-A49B-FB8D3BA28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43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EE0D9B-0FA4-4BC3-A0BF-07768E78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409798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186302" imgH="3474767" progId="Excel.SheetMacroEnabled.12">
                  <p:link updateAutomatic="1"/>
                </p:oleObj>
              </mc:Choice>
              <mc:Fallback>
                <p:oleObj name="Macro-Enabled Worksheet" r:id="rId2" imgW="11186302" imgH="3474767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3EE0D9B-0FA4-4BC3-A0BF-07768E7882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0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DEF144-708A-4FEC-9EEA-C59932602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13411"/>
              </p:ext>
            </p:extLst>
          </p:nvPr>
        </p:nvGraphicFramePr>
        <p:xfrm>
          <a:off x="1109663" y="1454150"/>
          <a:ext cx="6737350" cy="439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2489003" imgH="9060235" progId="Excel.SheetMacroEnabled.12">
                  <p:link updateAutomatic="1"/>
                </p:oleObj>
              </mc:Choice>
              <mc:Fallback>
                <p:oleObj name="Macro-Enabled Worksheet" r:id="rId3" imgW="12489003" imgH="9060235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DEF144-708A-4FEC-9EEA-C59932602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9663" y="1454150"/>
                        <a:ext cx="6737350" cy="439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9C5D04-9640-3B48-820B-127523AD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28" y="233529"/>
            <a:ext cx="10515600" cy="602284"/>
          </a:xfrm>
        </p:spPr>
        <p:txBody>
          <a:bodyPr/>
          <a:lstStyle/>
          <a:p>
            <a:r>
              <a:rPr lang="en-US" dirty="0"/>
              <a:t>Ratings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894F-6E9F-4254-B365-2F77C95564B1}"/>
              </a:ext>
            </a:extLst>
          </p:cNvPr>
          <p:cNvSpPr/>
          <p:nvPr/>
        </p:nvSpPr>
        <p:spPr>
          <a:xfrm rot="19278004">
            <a:off x="6788537" y="4560584"/>
            <a:ext cx="293061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EXAMPLE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263901-0FC3-47D8-A1D7-1F48982B2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827685"/>
              </p:ext>
            </p:extLst>
          </p:nvPr>
        </p:nvGraphicFramePr>
        <p:xfrm>
          <a:off x="882650" y="942975"/>
          <a:ext cx="3424238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3330117" imgH="7675" progId="Excel.SheetMacroEnabled.12">
                  <p:link updateAutomatic="1"/>
                </p:oleObj>
              </mc:Choice>
              <mc:Fallback>
                <p:oleObj name="Macro-Enabled Worksheet" r:id="rId5" imgW="3330117" imgH="7675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6263901-0FC3-47D8-A1D7-1F48982B27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2650" y="942975"/>
                        <a:ext cx="3424238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A9BF04E-9042-4397-8AD5-790E790EB2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360" y="2020570"/>
            <a:ext cx="1723565" cy="21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Required Findings Categories:</a:t>
            </a:r>
          </a:p>
          <a:p>
            <a:pPr lvl="1"/>
            <a:r>
              <a:rPr lang="en-US" sz="2100" u="sng" dirty="0"/>
              <a:t>Weaknesses</a:t>
            </a:r>
            <a:r>
              <a:rPr lang="en-US" sz="2100" dirty="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2100" b="1" dirty="0"/>
          </a:p>
          <a:p>
            <a:pPr lvl="1"/>
            <a:endParaRPr lang="en-US" sz="2100" dirty="0"/>
          </a:p>
          <a:p>
            <a:pPr lvl="1"/>
            <a:r>
              <a:rPr lang="en-US" sz="2100" u="sng" dirty="0"/>
              <a:t>Strengths</a:t>
            </a:r>
            <a:r>
              <a:rPr lang="en-US" sz="2100" dirty="0"/>
              <a:t> - A type of preliminary or final finding, which is an exemplary or noteworthy implementation of a process that meets the intent and value of a CMMI model practice.</a:t>
            </a:r>
            <a:endParaRPr lang="en-US" sz="2100" b="1" dirty="0"/>
          </a:p>
          <a:p>
            <a:r>
              <a:rPr lang="zh-CN" altLang="en-US" sz="2400" dirty="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弱项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2100" dirty="0">
                <a:solidFill>
                  <a:srgbClr val="1F497D"/>
                </a:solidFill>
              </a:rPr>
              <a:t>a</a:t>
            </a:r>
            <a:r>
              <a:rPr lang="zh-CN" altLang="en-US" sz="2100" dirty="0">
                <a:solidFill>
                  <a:srgbClr val="1F497D"/>
                </a:solidFill>
              </a:rPr>
              <a:t>）过程本身没有满足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实践需求，或者</a:t>
            </a:r>
            <a:r>
              <a:rPr lang="en-US" altLang="zh-CN" sz="2100" dirty="0">
                <a:solidFill>
                  <a:srgbClr val="1F497D"/>
                </a:solidFill>
              </a:rPr>
              <a:t>b</a:t>
            </a:r>
            <a:r>
              <a:rPr lang="zh-CN" altLang="en-US" sz="2100" dirty="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实践意图和价值的过程。</a:t>
            </a:r>
            <a:endParaRPr lang="en-ZA" altLang="zh-CN" sz="2100" dirty="0">
              <a:solidFill>
                <a:srgbClr val="1F497D"/>
              </a:solidFill>
            </a:endParaRP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强项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模型实践的意图和价值。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14371"/>
            <a:ext cx="10397836" cy="602284"/>
          </a:xfrm>
        </p:spPr>
        <p:txBody>
          <a:bodyPr/>
          <a:lstStyle/>
          <a:p>
            <a:r>
              <a:rPr lang="en-US" dirty="0"/>
              <a:t>Appraisal Outputs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A6108F-A3D4-45BE-B8CA-9186C4E63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028959"/>
              </p:ext>
            </p:extLst>
          </p:nvPr>
        </p:nvGraphicFramePr>
        <p:xfrm>
          <a:off x="1006475" y="1606550"/>
          <a:ext cx="824547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8244911" imgH="2819384" progId="Excel.SheetMacroEnabled.12">
                  <p:link updateAutomatic="1"/>
                </p:oleObj>
              </mc:Choice>
              <mc:Fallback>
                <p:oleObj name="Macro-Enabled Worksheet" r:id="rId2" imgW="8244911" imgH="2819384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A6108F-A3D4-45BE-B8CA-9186C4E63F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6475" y="1606550"/>
                        <a:ext cx="824547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4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hlinkClick r:id="rId2" action="ppaction://hlinkfile"/>
              </a:rPr>
              <a:t>Appraisal Schedule</a:t>
            </a:r>
            <a:endParaRPr lang="en-ZA" dirty="0">
              <a:hlinkClick r:id="rId3" action="ppaction://hlinkfile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7940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621809" y="1669312"/>
            <a:ext cx="4069207" cy="406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454F92-845F-4796-B81A-588E55CC8C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bcabcf-d275-4206-9fb1-2f2d419cd22b"/>
    <ds:schemaRef ds:uri="ec500478-62e0-46fc-87f1-cfa988e486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07B0D7-F930-4230-933E-ABA84959494E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ec500478-62e0-46fc-87f1-cfa988e486b4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72e3a154-4955-46c3-9573-e9dec3e1f195"/>
    <ds:schemaRef ds:uri="25bcabcf-d275-4206-9fb1-2f2d419cd22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1108</Words>
  <Application>Microsoft Office PowerPoint</Application>
  <PresentationFormat>Widescreen</PresentationFormat>
  <Paragraphs>93</Paragraphs>
  <Slides>21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DEMIX™</vt:lpstr>
      <vt:lpstr>Appraisal Overview  评估概述</vt:lpstr>
      <vt:lpstr>Appraisal Overview</vt:lpstr>
      <vt:lpstr>Appraisal Overview</vt:lpstr>
      <vt:lpstr>Business and Appraisal Objectives</vt:lpstr>
      <vt:lpstr>Appraisal Principles</vt:lpstr>
      <vt:lpstr>Virtual appraisals – code of conduct</vt:lpstr>
      <vt:lpstr>Appraisal Team and Support Personnel</vt:lpstr>
      <vt:lpstr>Appraisal Scope – Benchmark Model View</vt:lpstr>
      <vt:lpstr>Appraisal Scope – Organizational Scope</vt:lpstr>
      <vt:lpstr>Appraisal Scope – Organizational Sample</vt:lpstr>
      <vt:lpstr>Appraisal Scope – Organizational Sample </vt:lpstr>
      <vt:lpstr>Appraisal Scope – Organizational Sample</vt:lpstr>
      <vt:lpstr>PowerPoint Presentation</vt:lpstr>
      <vt:lpstr>Ratings for</vt:lpstr>
      <vt:lpstr>Findings Definitions – Required Categories</vt:lpstr>
      <vt:lpstr>Appraisal Outputs</vt:lpstr>
      <vt:lpstr>Appraisal Schedule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Pieter van Zyl</cp:lastModifiedBy>
  <cp:revision>110</cp:revision>
  <dcterms:created xsi:type="dcterms:W3CDTF">2018-03-14T12:19:45Z</dcterms:created>
  <dcterms:modified xsi:type="dcterms:W3CDTF">2025-08-04T09:02:35Z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