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1553" r:id="rId6"/>
    <p:sldId id="1575" r:id="rId7"/>
    <p:sldId id="1549" r:id="rId8"/>
    <p:sldId id="270" r:id="rId9"/>
    <p:sldId id="928" r:id="rId10"/>
    <p:sldId id="913" r:id="rId11"/>
    <p:sldId id="1550" r:id="rId12"/>
    <p:sldId id="1543" r:id="rId13"/>
    <p:sldId id="310" r:id="rId14"/>
    <p:sldId id="1513" r:id="rId15"/>
    <p:sldId id="914" r:id="rId16"/>
    <p:sldId id="915" r:id="rId17"/>
    <p:sldId id="1506" r:id="rId18"/>
    <p:sldId id="1507" r:id="rId19"/>
    <p:sldId id="923" r:id="rId20"/>
    <p:sldId id="919" r:id="rId21"/>
    <p:sldId id="1552" r:id="rId22"/>
    <p:sldId id="1514" r:id="rId23"/>
    <p:sldId id="483" r:id="rId24"/>
    <p:sldId id="29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6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een Harrison" initials="KH" lastIdx="5" clrIdx="0">
    <p:extLst>
      <p:ext uri="{19B8F6BF-5375-455C-9EA6-DF929625EA0E}">
        <p15:presenceInfo xmlns:p15="http://schemas.microsoft.com/office/powerpoint/2012/main" userId="S::kharrison@cmmiinstitute.com::066fb363-8edf-4a5b-8ebc-c72612b552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B1487A-1EE4-184B-38CF-636CAB486C45}" v="45" dt="2025-08-04T09:02:27.5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2593" autoAdjust="0"/>
  </p:normalViewPr>
  <p:slideViewPr>
    <p:cSldViewPr snapToGrid="0">
      <p:cViewPr varScale="1">
        <p:scale>
          <a:sx n="62" d="100"/>
          <a:sy n="62" d="100"/>
        </p:scale>
        <p:origin x="90" y="882"/>
      </p:cViewPr>
      <p:guideLst>
        <p:guide orient="horz" pos="572"/>
        <p:guide pos="6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eter van Zyl" userId="a087f150-e9eb-40d9-8ea7-74329b4a43e2" providerId="ADAL" clId="{A0429EBF-EB78-4E2F-998F-2D8D5BF7173C}"/>
    <pc:docChg chg="addSld delSld modSld">
      <pc:chgData name="Pieter van Zyl" userId="a087f150-e9eb-40d9-8ea7-74329b4a43e2" providerId="ADAL" clId="{A0429EBF-EB78-4E2F-998F-2D8D5BF7173C}" dt="2025-04-20T07:48:07.638" v="3" actId="47"/>
      <pc:docMkLst>
        <pc:docMk/>
      </pc:docMkLst>
      <pc:sldChg chg="del">
        <pc:chgData name="Pieter van Zyl" userId="a087f150-e9eb-40d9-8ea7-74329b4a43e2" providerId="ADAL" clId="{A0429EBF-EB78-4E2F-998F-2D8D5BF7173C}" dt="2025-04-20T07:31:09.544" v="1" actId="47"/>
        <pc:sldMkLst>
          <pc:docMk/>
          <pc:sldMk cId="3546818394" sldId="1547"/>
        </pc:sldMkLst>
      </pc:sldChg>
      <pc:sldChg chg="add del">
        <pc:chgData name="Pieter van Zyl" userId="a087f150-e9eb-40d9-8ea7-74329b4a43e2" providerId="ADAL" clId="{A0429EBF-EB78-4E2F-998F-2D8D5BF7173C}" dt="2025-04-20T07:48:07.638" v="3" actId="47"/>
        <pc:sldMkLst>
          <pc:docMk/>
          <pc:sldMk cId="3160111729" sldId="1554"/>
        </pc:sldMkLst>
      </pc:sldChg>
      <pc:sldChg chg="add">
        <pc:chgData name="Pieter van Zyl" userId="a087f150-e9eb-40d9-8ea7-74329b4a43e2" providerId="ADAL" clId="{A0429EBF-EB78-4E2F-998F-2D8D5BF7173C}" dt="2025-04-20T07:48:02.694" v="2"/>
        <pc:sldMkLst>
          <pc:docMk/>
          <pc:sldMk cId="3546818394" sldId="1575"/>
        </pc:sldMkLst>
      </pc:sldChg>
    </pc:docChg>
  </pc:docChgLst>
  <pc:docChgLst>
    <pc:chgData name="Melanie Spies" userId="S::melanie.spies@demix.org::ef25dda8-0341-4aab-b4c7-f9ee53be8909" providerId="AD" clId="Web-{A3B1487A-1EE4-184B-38CF-636CAB486C45}"/>
    <pc:docChg chg="modSld">
      <pc:chgData name="Melanie Spies" userId="S::melanie.spies@demix.org::ef25dda8-0341-4aab-b4c7-f9ee53be8909" providerId="AD" clId="Web-{A3B1487A-1EE4-184B-38CF-636CAB486C45}" dt="2025-08-04T09:02:27.072" v="21" actId="20577"/>
      <pc:docMkLst>
        <pc:docMk/>
      </pc:docMkLst>
      <pc:sldChg chg="modSp">
        <pc:chgData name="Melanie Spies" userId="S::melanie.spies@demix.org::ef25dda8-0341-4aab-b4c7-f9ee53be8909" providerId="AD" clId="Web-{A3B1487A-1EE4-184B-38CF-636CAB486C45}" dt="2025-08-04T09:02:27.072" v="21" actId="20577"/>
        <pc:sldMkLst>
          <pc:docMk/>
          <pc:sldMk cId="3546818394" sldId="1575"/>
        </pc:sldMkLst>
        <pc:spChg chg="mod">
          <ac:chgData name="Melanie Spies" userId="S::melanie.spies@demix.org::ef25dda8-0341-4aab-b4c7-f9ee53be8909" providerId="AD" clId="Web-{A3B1487A-1EE4-184B-38CF-636CAB486C45}" dt="2025-08-04T09:02:04.774" v="0" actId="20577"/>
          <ac:spMkLst>
            <pc:docMk/>
            <pc:sldMk cId="3546818394" sldId="1575"/>
            <ac:spMk id="2" creationId="{67B56AC6-8B5D-4EE0-897A-9EECC0280655}"/>
          </ac:spMkLst>
        </pc:spChg>
        <pc:spChg chg="mod">
          <ac:chgData name="Melanie Spies" userId="S::melanie.spies@demix.org::ef25dda8-0341-4aab-b4c7-f9ee53be8909" providerId="AD" clId="Web-{A3B1487A-1EE4-184B-38CF-636CAB486C45}" dt="2025-08-04T09:02:27.072" v="21" actId="20577"/>
          <ac:spMkLst>
            <pc:docMk/>
            <pc:sldMk cId="3546818394" sldId="1575"/>
            <ac:spMk id="8" creationId="{C5021C6B-98B3-4617-86D6-C346F83D70CA}"/>
          </ac:spMkLst>
        </pc:spChg>
        <pc:spChg chg="mod">
          <ac:chgData name="Melanie Spies" userId="S::melanie.spies@demix.org::ef25dda8-0341-4aab-b4c7-f9ee53be8909" providerId="AD" clId="Web-{A3B1487A-1EE4-184B-38CF-636CAB486C45}" dt="2025-08-04T09:02:09.368" v="3" actId="20577"/>
          <ac:spMkLst>
            <pc:docMk/>
            <pc:sldMk cId="3546818394" sldId="1575"/>
            <ac:spMk id="15" creationId="{8D84EF48-EF5E-49FA-B6A9-E5C80B9C000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D12530-4A8B-41BC-A28E-0663BC5734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BDF21-21FA-4508-B148-E15B854EE3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9E496-E8FF-4856-B08F-DBE14D18B236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1EC23-CDF3-4827-AE9E-C49A859BD4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02880-E203-4DFE-B721-9D7EB321BB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40B20-082D-4EEF-8BA5-D9F0CCFBD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869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2F63B-EF0F-9942-98B2-F67CC88AF236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13DA5-2DE0-6D49-B0F1-8E4B6A1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919663"/>
            <a:ext cx="5680075" cy="4025900"/>
          </a:xfrm>
          <a:prstGeom prst="rect">
            <a:avLst/>
          </a:prstGeom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Introduction. Also an opportunity to talk a bit about </a:t>
            </a:r>
            <a:r>
              <a:rPr lang="en-ZA" altLang="zh-CN" dirty="0" err="1"/>
              <a:t>Demix</a:t>
            </a:r>
            <a:endParaRPr lang="en-ZA" altLang="zh-CN" dirty="0"/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 err="1"/>
              <a:t>Demix</a:t>
            </a:r>
            <a:r>
              <a:rPr lang="en-ZA" altLang="zh-CN" dirty="0"/>
              <a:t> has </a:t>
            </a:r>
            <a:r>
              <a:rPr lang="en-ZA" altLang="zh-CN" dirty="0" err="1"/>
              <a:t>LAs</a:t>
            </a:r>
            <a:r>
              <a:rPr lang="en-ZA" altLang="zh-CN" dirty="0"/>
              <a:t> from across the globe and performs appraisals around the world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is one of the largest CMMI services providers globally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also provide other citification services, such as ISO, COBIT, MAX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It is a pleasure and honour to be here with you today. We are looking forward to work with you and your team over the coming days.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早晨好。今天我很高興和榮幸來到這裡，我期待著在未來的几天里與您和您的團隊一起工作。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</p:txBody>
      </p:sp>
    </p:spTree>
    <p:extLst>
      <p:ext uri="{BB962C8B-B14F-4D97-AF65-F5344CB8AC3E}">
        <p14:creationId xmlns:p14="http://schemas.microsoft.com/office/powerpoint/2010/main" val="3008295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 in this section should come from the appraisal plan. The idea here is not to duplicate the contents of the plan, but to provide a summary for the Appraisal Sponsor, and the personnel from the OU who will see these findings.</a:t>
            </a:r>
          </a:p>
          <a:p>
            <a:endParaRPr lang="en-US" dirty="0"/>
          </a:p>
          <a:p>
            <a:r>
              <a:rPr lang="en-US" dirty="0"/>
              <a:t>The ATL may add additional information to the final findings presentation, but this minimum content must be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20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872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704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B35EA84-EF00-9842-8E6A-A2B5DD6BA8D8}" type="slidenum">
              <a:rPr lang="en-US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466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9613" y="4856163"/>
            <a:ext cx="5680075" cy="4600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84" tIns="49492" rIns="98984" bIns="49492"/>
          <a:lstStyle/>
          <a:p>
            <a:r>
              <a:rPr lang="en-ZA" altLang="zh-CN" dirty="0"/>
              <a:t>1, what ever you share</a:t>
            </a:r>
            <a:r>
              <a:rPr lang="en-ZA" altLang="zh-CN" baseline="0" dirty="0"/>
              <a:t> is confidential with the ATM’s and </a:t>
            </a:r>
          </a:p>
          <a:p>
            <a:r>
              <a:rPr lang="en-ZA" altLang="zh-CN" baseline="0" dirty="0"/>
              <a:t>2, non – your name will not appear in any reports        </a:t>
            </a:r>
          </a:p>
          <a:p>
            <a:r>
              <a:rPr lang="en-ZA" altLang="zh-CN" baseline="0" dirty="0"/>
              <a:t>collaboratively – we have representation from your side as well as ours  last at the end there are always weaknesses and from there an improvement action is always undertaken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865418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BEF3818-E2D8-F947-8FE2-5E7634526F96}" type="slidenum">
              <a:rPr lang="en-US" altLang="en-US" sz="1200" b="0">
                <a:solidFill>
                  <a:schemeClr val="tx1"/>
                </a:solidFill>
              </a:rPr>
              <a:pPr/>
              <a:t>10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538" y="614363"/>
            <a:ext cx="6534150" cy="3676650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1913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Take basic information from the appraisal plan.</a:t>
            </a:r>
          </a:p>
        </p:txBody>
      </p:sp>
    </p:spTree>
    <p:extLst>
      <p:ext uri="{BB962C8B-B14F-4D97-AF65-F5344CB8AC3E}">
        <p14:creationId xmlns:p14="http://schemas.microsoft.com/office/powerpoint/2010/main" val="14189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Make sure the version of the model is correct when this slide is built. Replace the bold, italicized </a:t>
            </a:r>
            <a:r>
              <a:rPr lang="en-US" b="1" i="1"/>
              <a:t>x</a:t>
            </a:r>
            <a:r>
              <a:rPr lang="en-US" b="0" i="0"/>
              <a:t> with the correct version number.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74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58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ATL can show the chart from the generated random sample, but there must be a description of the sampled projects and their selected CA/PA grouping.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2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191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each practice, enter the OU-Level characterization (FM, LM, PM, DM, NY). The chart will set a color.</a:t>
            </a:r>
          </a:p>
          <a:p>
            <a:endParaRPr lang="en-US"/>
          </a:p>
          <a:p>
            <a:r>
              <a:rPr lang="en-US"/>
              <a:t>Based on the characterizations of all practices in each practice level, set the Practice Level rating to “S” (Satisfied) or “U” (Unsatisfied).</a:t>
            </a:r>
          </a:p>
          <a:p>
            <a:endParaRPr lang="en-US"/>
          </a:p>
          <a:p>
            <a:r>
              <a:rPr lang="en-US"/>
              <a:t>The PA Rating is the Highest Practice Level at which all practices for it, and all lower Practice Levels, are Satisfied.</a:t>
            </a:r>
          </a:p>
          <a:p>
            <a:endParaRPr lang="en-US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details, see the MDD, Activity 2.3.2 Determine Practice Group Ratings, and Activity </a:t>
            </a:r>
            <a:r>
              <a:rPr lang="en-US" b="0"/>
              <a:t>2.3.3 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 Practice Area and Maturity Level or Capability Level Profile Rating.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04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E611DA0-981B-B047-981C-E490A72360DD}" type="slidenum">
              <a:rPr lang="en-US" altLang="en-US" sz="1200" b="0">
                <a:solidFill>
                  <a:schemeClr val="tx1"/>
                </a:solidFill>
              </a:rPr>
              <a:pPr/>
              <a:t>21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231775"/>
            <a:ext cx="4959350" cy="2790825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3098800"/>
            <a:ext cx="6075363" cy="557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2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8DBD-6861-9443-ABFC-B68F7FC4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8EBE0-674E-E14C-BF5A-2277457EB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9444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82D3-B5B2-604E-8894-27346F937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0509"/>
            <a:ext cx="10397836" cy="602284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33C6-B055-6244-B86B-3C81D067D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962" y="1645919"/>
            <a:ext cx="10397837" cy="45310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04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0A10-6417-4845-A710-C912A19B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E0AD3-2F11-2548-A8B7-E12BBE4F4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15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988F-4DD4-B34F-ACAA-8CEF3DD3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5F42-98CE-024C-AE1D-1D828A0A6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2D5B5-C925-D342-A0BB-7B5AC4381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84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AFD3-29DE-9349-A0DA-3033DCE9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6B9A2-28E2-FC4E-BB3E-D80D55842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8654B-5FDB-DE43-BE9E-C62E6CC2A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11820-D9F0-F84A-8BA7-C696340CA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82BB8-18EA-6F4F-AC36-5A96594F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882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C732-D1A0-3345-8796-9B608802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831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73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CDD0-C745-004E-BBC9-C79A3ABA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35FFB-2029-4641-A69B-2EB72A22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37B1C-5062-C644-8590-D10E966CE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94312"/>
            <a:ext cx="3932237" cy="35746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612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1DDE-5CF8-9147-A11B-0EFC6B81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F5909-A9FE-7341-A8D9-1CB7D35C5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37FC7-DD0D-6141-93DD-4C2B36A2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02624"/>
            <a:ext cx="3932237" cy="35663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86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61E6-C672-9B40-B472-25BC7EE6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E2238-F94B-2141-B1ED-7911EB86C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0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CBEBA-2D10-D04A-9561-8952D30E1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97525"/>
            <a:ext cx="2628900" cy="51794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68D5F-AEB5-1240-BFCF-EF0B50707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527"/>
            <a:ext cx="7734300" cy="517943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316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 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299" y="907750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E75C74-DD57-384F-B628-ADA3B172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63040"/>
            <a:ext cx="11265408" cy="1572768"/>
          </a:xfrm>
        </p:spPr>
        <p:txBody>
          <a:bodyPr/>
          <a:lstStyle>
            <a:lvl3pPr marL="914400" indent="0"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2990088"/>
            <a:ext cx="11265408" cy="3097485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Strengths: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Weaknesses: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Notes: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26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_Additional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916063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1463040"/>
            <a:ext cx="11265408" cy="4417807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&lt;Additional Findings&gt;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2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58735"/>
            <a:ext cx="10363200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68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E2FE11-7EFA-4C7B-A5E5-4A66E770BA9E}"/>
              </a:ext>
            </a:extLst>
          </p:cNvPr>
          <p:cNvSpPr/>
          <p:nvPr userDrawn="1"/>
        </p:nvSpPr>
        <p:spPr>
          <a:xfrm>
            <a:off x="0" y="0"/>
            <a:ext cx="12192000" cy="908049"/>
          </a:xfrm>
          <a:prstGeom prst="rect">
            <a:avLst/>
          </a:prstGeom>
          <a:gradFill flip="none" rotWithShape="1">
            <a:gsLst>
              <a:gs pos="0">
                <a:srgbClr val="004D8A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D32B81C3-8382-4113-BAD0-010A13E4DD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8280" b="89809" l="7505" r="89452">
                        <a14:foregroundMark x1="11765" y1="60510" x2="22110" y2="29936"/>
                        <a14:foregroundMark x1="15416" y1="18471" x2="13793" y2="61783"/>
                        <a14:foregroundMark x1="8722" y1="29936" x2="9331" y2="54140"/>
                        <a14:foregroundMark x1="7911" y1="33121" x2="9331" y2="56051"/>
                        <a14:foregroundMark x1="7505" y1="43949" x2="10345" y2="57962"/>
                        <a14:foregroundMark x1="7911" y1="51592" x2="7911" y2="51592"/>
                        <a14:foregroundMark x1="8316" y1="53503" x2="8316" y2="54140"/>
                        <a14:foregroundMark x1="9128" y1="57325" x2="9128" y2="57325"/>
                        <a14:foregroundMark x1="22718" y1="25478" x2="22718" y2="25478"/>
                        <a14:foregroundMark x1="7302" y1="76433" x2="9533" y2="75796"/>
                        <a14:foregroundMark x1="35953" y1="33121" x2="37728" y2="29936"/>
                        <a14:foregroundMark x1="47606" y1="56051" x2="47059" y2="61783"/>
                        <a14:foregroundMark x1="47667" y1="55414" x2="47606" y2="56051"/>
                        <a14:foregroundMark x1="47728" y1="54777" x2="47667" y2="55414"/>
                        <a14:foregroundMark x1="48276" y1="49045" x2="47728" y2="54777"/>
                        <a14:foregroundMark x1="56998" y1="61783" x2="67140" y2="61783"/>
                        <a14:foregroundMark x1="75254" y1="36943" x2="75254" y2="59236"/>
                        <a14:foregroundMark x1="74848" y1="25478" x2="74848" y2="25478"/>
                        <a14:foregroundMark x1="82556" y1="41401" x2="87424" y2="61783"/>
                        <a14:foregroundMark x1="58824" y1="59873" x2="58824" y2="59873"/>
                        <a14:foregroundMark x1="59026" y1="60510" x2="59026" y2="60510"/>
                        <a14:foregroundMark x1="58824" y1="61783" x2="58824" y2="61783"/>
                        <a14:foregroundMark x1="59229" y1="60510" x2="59229" y2="60510"/>
                        <a14:foregroundMark x1="59229" y1="60510" x2="59229" y2="60510"/>
                        <a14:foregroundMark x1="8316" y1="29936" x2="22515" y2="59873"/>
                        <a14:foregroundMark x1="22515" y1="59873" x2="8316" y2="29299"/>
                        <a14:foregroundMark x1="8316" y1="73885" x2="9128" y2="72611"/>
                        <a14:foregroundMark x1="30020" y1="47771" x2="30020" y2="47771"/>
                        <a14:foregroundMark x1="34280" y1="38854" x2="34280" y2="38854"/>
                        <a14:foregroundMark x1="34686" y1="44586" x2="34686" y2="44586"/>
                        <a14:foregroundMark x1="34888" y1="44586" x2="34888" y2="44586"/>
                        <a14:foregroundMark x1="34888" y1="45860" x2="34888" y2="45860"/>
                        <a14:foregroundMark x1="34888" y1="42038" x2="34888" y2="42038"/>
                        <a14:foregroundMark x1="34888" y1="32484" x2="34888" y2="32484"/>
                        <a14:foregroundMark x1="34888" y1="34395" x2="34888" y2="34395"/>
                        <a14:foregroundMark x1="34888" y1="33758" x2="34686" y2="46497"/>
                        <a14:foregroundMark x1="34686" y1="33121" x2="34888" y2="36306"/>
                        <a14:foregroundMark x1="34888" y1="45860" x2="34888" y2="47134"/>
                        <a14:foregroundMark x1="34888" y1="47771" x2="35091" y2="48408"/>
                        <a14:backgroundMark x1="47262" y1="54777" x2="47262" y2="54777"/>
                        <a14:backgroundMark x1="47870" y1="54777" x2="47870" y2="54777"/>
                        <a14:backgroundMark x1="47667" y1="55414" x2="47667" y2="55414"/>
                        <a14:backgroundMark x1="47465" y1="56051" x2="47465" y2="56051"/>
                        <a14:backgroundMark x1="59838" y1="61783" x2="59838" y2="61783"/>
                        <a14:backgroundMark x1="59635" y1="60510" x2="59635" y2="60510"/>
                        <a14:backgroundMark x1="59635" y1="61783" x2="59635" y2="61783"/>
                        <a14:backgroundMark x1="65517" y1="55414" x2="65517" y2="55414"/>
                        <a14:backgroundMark x1="65517" y1="61146" x2="65517" y2="61146"/>
                        <a14:backgroundMark x1="65517" y1="61783" x2="65517" y2="61783"/>
                        <a14:backgroundMark x1="65517" y1="61146" x2="65517" y2="61146"/>
                        <a14:backgroundMark x1="65517" y1="61783" x2="65517" y2="61783"/>
                        <a14:backgroundMark x1="65314" y1="61146" x2="65314" y2="61146"/>
                        <a14:backgroundMark x1="59432" y1="61146" x2="59432" y2="61146"/>
                        <a14:backgroundMark x1="8722" y1="71975" x2="8722" y2="71975"/>
                        <a14:backgroundMark x1="9331" y1="71975" x2="9331" y2="71975"/>
                        <a14:backgroundMark x1="9128" y1="71975" x2="9128" y2="71975"/>
                        <a14:backgroundMark x1="8114" y1="72611" x2="8114" y2="72611"/>
                        <a14:backgroundMark x1="35091" y1="48409" x2="35091" y2="503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258" y="21957"/>
            <a:ext cx="2748742" cy="908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DA56B-DFD6-9B40-BB39-797690CA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8049"/>
            <a:ext cx="10515600" cy="782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AD0E0-2188-A543-BA66-C44F0D724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D14D-7206-614E-9BDE-7A2B1DCC8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E0C077D-8819-4F9D-8722-D73A05643AAF}"/>
              </a:ext>
            </a:extLst>
          </p:cNvPr>
          <p:cNvSpPr txBox="1">
            <a:spLocks/>
          </p:cNvSpPr>
          <p:nvPr userDrawn="1"/>
        </p:nvSpPr>
        <p:spPr>
          <a:xfrm>
            <a:off x="8229600" y="6403975"/>
            <a:ext cx="3735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© ISACA 2025. All Rights Reserved.​</a:t>
            </a:r>
            <a:r>
              <a:rPr lang="en-US" dirty="0"/>
              <a:t>  |  </a:t>
            </a:r>
            <a:fld id="{85F78CEA-3B00-9E49-94E0-DC9AF1E867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871D06-6ED0-464B-BBB6-E62FF3A17D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82469" y="6358332"/>
            <a:ext cx="1371600" cy="3631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1C3F22-7FA0-47B5-A977-F0D9B341A6A5}"/>
              </a:ext>
            </a:extLst>
          </p:cNvPr>
          <p:cNvSpPr txBox="1"/>
          <p:nvPr userDrawn="1"/>
        </p:nvSpPr>
        <p:spPr>
          <a:xfrm>
            <a:off x="10316993" y="614825"/>
            <a:ext cx="1610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100" dirty="0">
                <a:solidFill>
                  <a:schemeClr val="bg1"/>
                </a:solidFill>
              </a:rPr>
              <a:t>Create | Evolve | Perfect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8C8DCE-B80F-4E81-9623-EF0D27922F8E}"/>
              </a:ext>
            </a:extLst>
          </p:cNvPr>
          <p:cNvSpPr txBox="1"/>
          <p:nvPr userDrawn="1"/>
        </p:nvSpPr>
        <p:spPr>
          <a:xfrm>
            <a:off x="11832867" y="533486"/>
            <a:ext cx="33392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00" b="1" dirty="0">
                <a:solidFill>
                  <a:schemeClr val="bg1"/>
                </a:solidFill>
              </a:rPr>
              <a:t>TM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49AE7E-D327-4FF2-B770-2F2569C1F76A}"/>
              </a:ext>
            </a:extLst>
          </p:cNvPr>
          <p:cNvSpPr txBox="1"/>
          <p:nvPr userDrawn="1"/>
        </p:nvSpPr>
        <p:spPr>
          <a:xfrm>
            <a:off x="8509110" y="6223327"/>
            <a:ext cx="34470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100" i="0" dirty="0">
                <a:solidFill>
                  <a:srgbClr val="898989"/>
                </a:solidFill>
              </a:rPr>
              <a:t>Demix Logo is a registered trademark in PRC and RSA</a:t>
            </a:r>
          </a:p>
        </p:txBody>
      </p:sp>
    </p:spTree>
    <p:extLst>
      <p:ext uri="{BB962C8B-B14F-4D97-AF65-F5344CB8AC3E}">
        <p14:creationId xmlns:p14="http://schemas.microsoft.com/office/powerpoint/2010/main" val="99151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2" Type="http://schemas.openxmlformats.org/officeDocument/2006/relationships/oleObject" Target="file:///G:\2024-05-04to05-10%20(A5)%20C384400%20NASA\00_Data_Reference.xlsm!pptxCover!R4C2:R12C2" TargetMode="External"/><Relationship Id="rId1" Type="http://schemas.openxmlformats.org/officeDocument/2006/relationships/slideLayout" Target="../slideLayouts/slideLayout1.xml"/><Relationship Id="rId6" Type="http://schemas.openxmlformats.org/officeDocument/2006/relationships/oleObject" Target="file:///G:\2024-05-04to05-10%20(A5)%20C384400%20NASA\00_Data_Reference.xlsm!pptxCover!R20C2" TargetMode="External"/><Relationship Id="rId5" Type="http://schemas.openxmlformats.org/officeDocument/2006/relationships/image" Target="../media/image4.emf"/><Relationship Id="rId4" Type="http://schemas.openxmlformats.org/officeDocument/2006/relationships/oleObject" Target="file:///G:\2024-05-04to05-10%20(A5)%20C384400%20NASA\00_Data_Reference.xlsm!pptxCover!R15C2:R17C2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jpg"/><Relationship Id="rId21" Type="http://schemas.openxmlformats.org/officeDocument/2006/relationships/image" Target="../media/image24.png"/><Relationship Id="rId7" Type="http://schemas.openxmlformats.org/officeDocument/2006/relationships/image" Target="../media/image10.jpe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gif"/><Relationship Id="rId11" Type="http://schemas.openxmlformats.org/officeDocument/2006/relationships/image" Target="../media/image14.png"/><Relationship Id="rId24" Type="http://schemas.openxmlformats.org/officeDocument/2006/relationships/image" Target="../media/image27.jpe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gif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mixium.com/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mixium.com/?page_id=99" TargetMode="External"/><Relationship Id="rId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1C1:R7C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10C1:R18C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2!R1C1:R4C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20C1:R31C2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3!R2C1:R24C9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6C1:R7C2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4!R10C1:R27C20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file:///G:\2024-05-04to05-10%20(A5)%20C384400%20NASA\00_Data_Reference.xlsm!pptxLink5!R1C1:R11C5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oleObject" Target="file:///G:\2024-05-04to05-10%20(A5)%20C384400%20NASA\00_Data_Reference.xlsm!pptxLink5!R15C1:R21C5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OULC!R50C2:R89C22" TargetMode="External"/><Relationship Id="rId7" Type="http://schemas.openxmlformats.org/officeDocument/2006/relationships/image" Target="../media/image4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5" Type="http://schemas.openxmlformats.org/officeDocument/2006/relationships/oleObject" Target="file:///G:\2024-05-04to05-10%20(A5)%20C384400%20NASA\00_Data_Reference.xlsm!pptxLink1!R8C4" TargetMode="External"/><Relationship Id="rId4" Type="http://schemas.openxmlformats.org/officeDocument/2006/relationships/image" Target="../media/image43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oleObject" Target="file:///G:\2024-05-04to05-10%20(A5)%20C384400%20NASA\00_Data_Reference.xlsm!pptxLink1!R33C1:R40C2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../delete/Schedule.pdf" TargetMode="External"/><Relationship Id="rId2" Type="http://schemas.openxmlformats.org/officeDocument/2006/relationships/hyperlink" Target="../99_vf01_Schedule.pdf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60CCB3-17E5-4DE9-9235-B3AD912C038A}"/>
              </a:ext>
            </a:extLst>
          </p:cNvPr>
          <p:cNvSpPr txBox="1">
            <a:spLocks/>
          </p:cNvSpPr>
          <p:nvPr/>
        </p:nvSpPr>
        <p:spPr>
          <a:xfrm>
            <a:off x="1524000" y="922975"/>
            <a:ext cx="9144000" cy="8989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Opening Briefing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6609E4-9291-48F4-B53A-32D535DF0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885730"/>
              </p:ext>
            </p:extLst>
          </p:nvPr>
        </p:nvGraphicFramePr>
        <p:xfrm>
          <a:off x="3375025" y="2052638"/>
          <a:ext cx="5440363" cy="288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5196769" imgH="2918310" progId="Excel.SheetMacroEnabled.12">
                  <p:link updateAutomatic="1"/>
                </p:oleObj>
              </mc:Choice>
              <mc:Fallback>
                <p:oleObj name="Macro-Enabled Worksheet" r:id="rId2" imgW="5196769" imgH="2918310" progId="Excel.SheetMacroEnabled.12">
                  <p:link updateAutomatic="1"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36609E4-9291-48F4-B53A-32D535DF0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75025" y="2052638"/>
                        <a:ext cx="5440363" cy="288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376B0D6-A6B1-4DF8-BDB4-D2848D8958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261898"/>
              </p:ext>
            </p:extLst>
          </p:nvPr>
        </p:nvGraphicFramePr>
        <p:xfrm>
          <a:off x="3497263" y="5378450"/>
          <a:ext cx="519747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" imgW="5196769" imgH="670734" progId="Excel.SheetMacroEnabled.12">
                  <p:link updateAutomatic="1"/>
                </p:oleObj>
              </mc:Choice>
              <mc:Fallback>
                <p:oleObj name="Macro-Enabled Worksheet" r:id="rId4" imgW="5196769" imgH="670734" progId="Excel.SheetMacroEnabled.12">
                  <p:link updateAutomatic="1"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6376B0D6-A6B1-4DF8-BDB4-D2848D8958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97263" y="5378450"/>
                        <a:ext cx="5197475" cy="671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9536454-AD5B-4F94-8339-31EA376903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605245"/>
              </p:ext>
            </p:extLst>
          </p:nvPr>
        </p:nvGraphicFramePr>
        <p:xfrm>
          <a:off x="3497263" y="5168900"/>
          <a:ext cx="5197475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6" imgW="5196769" imgH="274178" progId="Excel.SheetMacroEnabled.12">
                  <p:link updateAutomatic="1"/>
                </p:oleObj>
              </mc:Choice>
              <mc:Fallback>
                <p:oleObj name="Macro-Enabled Worksheet" r:id="rId6" imgW="5196769" imgH="274178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59536454-AD5B-4F94-8339-31EA3769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97263" y="5168900"/>
                        <a:ext cx="5197475" cy="274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862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 descr="A picture containing clipart&#10;&#10;Description automatically generated">
            <a:extLst>
              <a:ext uri="{FF2B5EF4-FFF2-40B4-BE49-F238E27FC236}">
                <a16:creationId xmlns:a16="http://schemas.microsoft.com/office/drawing/2014/main" id="{528DADE8-D1C4-46AD-8EA1-39B725B1F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3" b="22290"/>
          <a:stretch/>
        </p:blipFill>
        <p:spPr>
          <a:xfrm>
            <a:off x="3899604" y="5415749"/>
            <a:ext cx="1734754" cy="5976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0" name="Picture 2" descr="http://eurasiangroup.org/clones/photos/photo3/Flag_China.gif">
            <a:extLst>
              <a:ext uri="{FF2B5EF4-FFF2-40B4-BE49-F238E27FC236}">
                <a16:creationId xmlns:a16="http://schemas.microsoft.com/office/drawing/2014/main" id="{0DB3A38A-CE0C-488A-B87F-37FFDD2E1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579" y="1038146"/>
            <a:ext cx="1080000" cy="643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https://www.cia.gov/library/publications/the-world-factbook/graphics/flags/large/sf-lgflag.gif">
            <a:extLst>
              <a:ext uri="{FF2B5EF4-FFF2-40B4-BE49-F238E27FC236}">
                <a16:creationId xmlns:a16="http://schemas.microsoft.com/office/drawing/2014/main" id="{5804FC85-67E1-4C1D-A768-A4E046E7F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863" y="2641935"/>
            <a:ext cx="1080000" cy="706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diabetesmine.com/wp-content/uploads/2011/02/spain-flag.gif">
            <a:extLst>
              <a:ext uri="{FF2B5EF4-FFF2-40B4-BE49-F238E27FC236}">
                <a16:creationId xmlns:a16="http://schemas.microsoft.com/office/drawing/2014/main" id="{5D685488-5751-4610-AE1F-6A7C4BE39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18" y="1849451"/>
            <a:ext cx="1080000" cy="644357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http://1.bp.blogspot.com/-dCG_ru9E2jY/Twy2lX1A4MI/AAAAAAABCVQ/sk5d4dhnIhM/s1600/Switzerland_Flag.jpg">
            <a:extLst>
              <a:ext uri="{FF2B5EF4-FFF2-40B4-BE49-F238E27FC236}">
                <a16:creationId xmlns:a16="http://schemas.microsoft.com/office/drawing/2014/main" id="{1CCB6A1E-9C8F-4CF7-8854-7EAED2AC6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456" y="1844427"/>
            <a:ext cx="1080000" cy="649614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8">
            <a:extLst>
              <a:ext uri="{FF2B5EF4-FFF2-40B4-BE49-F238E27FC236}">
                <a16:creationId xmlns:a16="http://schemas.microsoft.com/office/drawing/2014/main" id="{906DB6B8-FB70-49A9-90A8-CE08CF7A3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111" y="2655335"/>
            <a:ext cx="1080000" cy="695098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9E41C9-1208-4F5B-9B72-C350895017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0113" y="1041906"/>
            <a:ext cx="1080000" cy="62985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9" name="Picture 48" descr="http://www.onlinenewspapers.com/images/germany.gif">
            <a:extLst>
              <a:ext uri="{FF2B5EF4-FFF2-40B4-BE49-F238E27FC236}">
                <a16:creationId xmlns:a16="http://schemas.microsoft.com/office/drawing/2014/main" id="{3F300468-6315-4AAF-9348-32BCBBA8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7" y="1038146"/>
            <a:ext cx="1080000" cy="6430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722CF4D-7FE1-45B8-81FB-B3A16FBB595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402" y="1047201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1" name="Picture 50" descr="A close up of a logo&#10;&#10;Description automatically generated">
            <a:extLst>
              <a:ext uri="{FF2B5EF4-FFF2-40B4-BE49-F238E27FC236}">
                <a16:creationId xmlns:a16="http://schemas.microsoft.com/office/drawing/2014/main" id="{71E22DBF-B29C-4402-8AEA-178EA306352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663" y="1054688"/>
            <a:ext cx="1080000" cy="63556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9C0948D-3FA9-4C7F-8D52-47741C98F9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87402" y="2651707"/>
            <a:ext cx="1080000" cy="70636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4" name="Picture 2" descr="Flag of the United Arab Emirates.svg">
            <a:extLst>
              <a:ext uri="{FF2B5EF4-FFF2-40B4-BE49-F238E27FC236}">
                <a16:creationId xmlns:a16="http://schemas.microsoft.com/office/drawing/2014/main" id="{F3617B43-1542-4F3C-956C-3E408F634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6" y="1839721"/>
            <a:ext cx="1080000" cy="6430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India - Wikipedia">
            <a:extLst>
              <a:ext uri="{FF2B5EF4-FFF2-40B4-BE49-F238E27FC236}">
                <a16:creationId xmlns:a16="http://schemas.microsoft.com/office/drawing/2014/main" id="{2850122E-32F6-40C4-AEC8-C4B0EC34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11" y="2644070"/>
            <a:ext cx="1080000" cy="706364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EF7BC6-DE2A-1BA8-D162-418AA6F248B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53377" y="1047201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91D709-B59F-05B8-0708-2944651EA14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62529" y="1870870"/>
            <a:ext cx="1080000" cy="64435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5B9EE7-D463-5A58-9C5D-FBEAF1BD6F1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39663" y="1849629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6B6DC8-AFD9-1013-CFA4-A5009EC830E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00111" y="1849629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D91F97-81EF-55DD-1241-7E663D88BFFB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b="6395"/>
          <a:stretch/>
        </p:blipFill>
        <p:spPr>
          <a:xfrm>
            <a:off x="6694728" y="1040336"/>
            <a:ext cx="1080000" cy="656775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4F9AAA-F25B-7B38-EE7D-9D1B63F7470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25456" y="2644070"/>
            <a:ext cx="1080000" cy="706364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5A4E54-8846-BE30-E77E-8EA0B484170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83311" y="1839722"/>
            <a:ext cx="1080000" cy="656775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CB425F2D-C583-0A76-4E83-380A21373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399" y="3912730"/>
            <a:ext cx="8077201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GB" sz="1800" dirty="0">
                <a:latin typeface="+mn-lt"/>
                <a:ea typeface="Calibri"/>
              </a:rPr>
              <a:t>It is a pleasure and an honour to be here with you today. We are looking forward to working with you and your team over the coming days.</a:t>
            </a:r>
            <a:endParaRPr lang="en-US" sz="1800" dirty="0">
              <a:ea typeface="Calibri"/>
            </a:endParaRPr>
          </a:p>
          <a:p>
            <a:pPr algn="ctr"/>
            <a:r>
              <a:rPr lang="zh-CN" altLang="en-GB" sz="2000">
                <a:solidFill>
                  <a:srgbClr val="1F497D"/>
                </a:solidFill>
                <a:latin typeface="SimSun"/>
                <a:ea typeface="SimSun"/>
              </a:rPr>
              <a:t>今天我很高興和榮幸來到這裡，我期待著在未來的几天里與您和您的團隊一起工作。</a:t>
            </a:r>
            <a:endParaRPr lang="zh-CN"/>
          </a:p>
          <a:p>
            <a:pPr algn="ctr"/>
            <a:endParaRPr lang="en-GB" altLang="zh-CN" sz="2000" dirty="0">
              <a:solidFill>
                <a:srgbClr val="000000"/>
              </a:solidFill>
              <a:latin typeface="Calibri"/>
              <a:ea typeface="等线"/>
              <a:cs typeface="Calibri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2945E9-2F57-4420-BA56-8960D3908F35}"/>
              </a:ext>
            </a:extLst>
          </p:cNvPr>
          <p:cNvSpPr txBox="1"/>
          <p:nvPr/>
        </p:nvSpPr>
        <p:spPr>
          <a:xfrm>
            <a:off x="10628572" y="1054688"/>
            <a:ext cx="1356866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rgbClr val="FF0000"/>
                </a:solidFill>
              </a:rPr>
              <a:t>Registered PRC trademark</a:t>
            </a:r>
          </a:p>
          <a:p>
            <a:pPr algn="ctr"/>
            <a:r>
              <a:rPr lang="en-US" sz="1400" b="1" dirty="0">
                <a:solidFill>
                  <a:srgbClr val="FF0000"/>
                </a:solidFill>
              </a:rPr>
              <a:t>21050449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83F363-8032-AE88-2810-0BA8D55C91D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65831" y="2664535"/>
            <a:ext cx="1080000" cy="70094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050" name="Picture 2" descr="Flag of Costa Rica | Meaning, Colors &amp; History | Britannica">
            <a:extLst>
              <a:ext uri="{FF2B5EF4-FFF2-40B4-BE49-F238E27FC236}">
                <a16:creationId xmlns:a16="http://schemas.microsoft.com/office/drawing/2014/main" id="{53CD89D5-7FF2-D96B-EA13-4AAF73954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911" y="2641935"/>
            <a:ext cx="1080000" cy="676193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8A0F27-07B8-024D-872C-BA34A00A1B7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00462" y="5323020"/>
            <a:ext cx="2031326" cy="101566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052" name="Picture 4" descr="ISACA® Certifications | Global Lynx">
            <a:extLst>
              <a:ext uri="{FF2B5EF4-FFF2-40B4-BE49-F238E27FC236}">
                <a16:creationId xmlns:a16="http://schemas.microsoft.com/office/drawing/2014/main" id="{A29F4551-CAAD-E1A3-5ECA-FD1BF7217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410" y="5416637"/>
            <a:ext cx="1892400" cy="59760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Electrosoft rated CMMI Level 3 for both Development and Services |  Electrosoft">
            <a:extLst>
              <a:ext uri="{FF2B5EF4-FFF2-40B4-BE49-F238E27FC236}">
                <a16:creationId xmlns:a16="http://schemas.microsoft.com/office/drawing/2014/main" id="{16CD5BCC-1DFD-47FE-6550-69934F2DFE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41" b="25354"/>
          <a:stretch/>
        </p:blipFill>
        <p:spPr bwMode="auto">
          <a:xfrm>
            <a:off x="1344954" y="5327940"/>
            <a:ext cx="2159999" cy="77321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269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6AC6-8B5D-4EE0-897A-9EECC028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442" y="908050"/>
            <a:ext cx="10397836" cy="602284"/>
          </a:xfrm>
        </p:spPr>
        <p:txBody>
          <a:bodyPr/>
          <a:lstStyle/>
          <a:p>
            <a:r>
              <a:rPr lang="en-ZA" dirty="0"/>
              <a:t>DEMIX™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CE02E9-B639-4352-9CD8-7319ACA08735}"/>
              </a:ext>
            </a:extLst>
          </p:cNvPr>
          <p:cNvGrpSpPr/>
          <p:nvPr/>
        </p:nvGrpSpPr>
        <p:grpSpPr>
          <a:xfrm>
            <a:off x="4528986" y="1701637"/>
            <a:ext cx="2719052" cy="4415485"/>
            <a:chOff x="4440140" y="1417173"/>
            <a:chExt cx="2719052" cy="4415485"/>
          </a:xfrm>
        </p:grpSpPr>
        <p:sp>
          <p:nvSpPr>
            <p:cNvPr id="4" name="Arrow: Up 3">
              <a:extLst>
                <a:ext uri="{FF2B5EF4-FFF2-40B4-BE49-F238E27FC236}">
                  <a16:creationId xmlns:a16="http://schemas.microsoft.com/office/drawing/2014/main" id="{2D3100A3-8319-4488-9BD8-FA36065DF984}"/>
                </a:ext>
              </a:extLst>
            </p:cNvPr>
            <p:cNvSpPr/>
            <p:nvPr/>
          </p:nvSpPr>
          <p:spPr>
            <a:xfrm>
              <a:off x="4638776" y="1417173"/>
              <a:ext cx="2321781" cy="3657600"/>
            </a:xfrm>
            <a:prstGeom prst="upArrow">
              <a:avLst/>
            </a:prstGeom>
            <a:solidFill>
              <a:srgbClr val="299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8F0F7F-3E23-4ED2-ABCC-98187E77E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40140" y="2583208"/>
              <a:ext cx="2719052" cy="324945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D84EF48-EF5E-49FA-B6A9-E5C80B9C0007}"/>
              </a:ext>
            </a:extLst>
          </p:cNvPr>
          <p:cNvSpPr txBox="1"/>
          <p:nvPr/>
        </p:nvSpPr>
        <p:spPr>
          <a:xfrm>
            <a:off x="951442" y="1307835"/>
            <a:ext cx="3126112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ZA" dirty="0" err="1"/>
              <a:t>Demix</a:t>
            </a:r>
            <a:r>
              <a:rPr lang="en-ZA" dirty="0"/>
              <a:t>™ Copyright </a:t>
            </a:r>
            <a:r>
              <a:rPr lang="en-ZA" dirty="0" err="1"/>
              <a:t>Demix</a:t>
            </a:r>
            <a:r>
              <a:rPr lang="en-ZA" dirty="0"/>
              <a:t>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21C6B-98B3-4617-86D6-C346F83D70CA}"/>
              </a:ext>
            </a:extLst>
          </p:cNvPr>
          <p:cNvSpPr txBox="1"/>
          <p:nvPr/>
        </p:nvSpPr>
        <p:spPr>
          <a:xfrm>
            <a:off x="2841175" y="5686214"/>
            <a:ext cx="609467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ZA" sz="1600" dirty="0">
                <a:hlinkClick r:id="rId3"/>
              </a:rPr>
              <a:t>www.demixglobal.com</a:t>
            </a:r>
            <a:endParaRPr lang="en-ZA" sz="1600" dirty="0"/>
          </a:p>
          <a:p>
            <a:pPr algn="ctr"/>
            <a:r>
              <a:rPr lang="en-ZA" sz="1600" dirty="0">
                <a:solidFill>
                  <a:srgbClr val="000000"/>
                </a:solidFill>
                <a:latin typeface="Open Sans"/>
              </a:rPr>
              <a:t>Create</a:t>
            </a:r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| </a:t>
            </a:r>
            <a:r>
              <a:rPr lang="en-ZA" sz="1600" dirty="0">
                <a:solidFill>
                  <a:srgbClr val="000000"/>
                </a:solidFill>
                <a:latin typeface="Open Sans"/>
              </a:rPr>
              <a:t>Evolve</a:t>
            </a:r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| </a:t>
            </a:r>
            <a:r>
              <a:rPr lang="en-ZA" sz="1600" dirty="0">
                <a:solidFill>
                  <a:srgbClr val="000000"/>
                </a:solidFill>
                <a:latin typeface="Open Sans"/>
              </a:rPr>
              <a:t>Perfect</a:t>
            </a:r>
            <a:endParaRPr lang="en-ZA" sz="1600" dirty="0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6B3AA-4ADA-412B-9A45-4D5AA4F494AE}"/>
              </a:ext>
            </a:extLst>
          </p:cNvPr>
          <p:cNvSpPr txBox="1"/>
          <p:nvPr/>
        </p:nvSpPr>
        <p:spPr>
          <a:xfrm>
            <a:off x="1179784" y="2389117"/>
            <a:ext cx="27190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1F497D"/>
                </a:solidFill>
              </a:defRPr>
            </a:lvl1pPr>
          </a:lstStyle>
          <a:p>
            <a:r>
              <a:rPr lang="en-GB" dirty="0"/>
              <a:t>Half of all organizations fail to execute strategy effectively. Demix empowers success.</a:t>
            </a:r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369FE8-DAF2-49E0-852E-C869E262D50E}"/>
              </a:ext>
            </a:extLst>
          </p:cNvPr>
          <p:cNvSpPr txBox="1"/>
          <p:nvPr/>
        </p:nvSpPr>
        <p:spPr>
          <a:xfrm>
            <a:off x="1308059" y="4005710"/>
            <a:ext cx="2719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一半的组织无法有效执行战略。</a:t>
            </a:r>
            <a:r>
              <a:rPr lang="en-US" altLang="zh-CN" b="1" dirty="0">
                <a:solidFill>
                  <a:srgbClr val="FF0000"/>
                </a:solidFill>
              </a:rPr>
              <a:t>Demix </a:t>
            </a:r>
            <a:r>
              <a:rPr lang="zh-CN" altLang="en-US" b="1" dirty="0">
                <a:solidFill>
                  <a:srgbClr val="FF0000"/>
                </a:solidFill>
              </a:rPr>
              <a:t>赋能成功。</a:t>
            </a:r>
            <a:endParaRPr lang="en-ZA" b="1" dirty="0">
              <a:solidFill>
                <a:srgbClr val="FF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72F935-8217-6CE4-4503-62D4545B0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548" y="2200661"/>
            <a:ext cx="3260157" cy="2173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hlinkClick r:id="rId5"/>
            <a:extLst>
              <a:ext uri="{FF2B5EF4-FFF2-40B4-BE49-F238E27FC236}">
                <a16:creationId xmlns:a16="http://schemas.microsoft.com/office/drawing/2014/main" id="{9586E270-888A-1598-78F1-3370E9ADD0D1}"/>
              </a:ext>
            </a:extLst>
          </p:cNvPr>
          <p:cNvSpPr txBox="1"/>
          <p:nvPr/>
        </p:nvSpPr>
        <p:spPr>
          <a:xfrm>
            <a:off x="8189352" y="4491322"/>
            <a:ext cx="3019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  <a:hlinkClick r:id="rId5"/>
              </a:rPr>
              <a:t>Strategy Execution with CMMI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4681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629AD6-E198-3A47-A696-9DF21F27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Appraisal Overview </a:t>
            </a:r>
            <a:br>
              <a:rPr lang="en-US" b="1" dirty="0">
                <a:latin typeface="+mn-lt"/>
              </a:rPr>
            </a:br>
            <a:r>
              <a:rPr lang="zh-CN" altLang="en-US" sz="6000" b="1" dirty="0">
                <a:solidFill>
                  <a:srgbClr val="1F497D"/>
                </a:solidFill>
                <a:latin typeface="+mn-ea"/>
                <a:ea typeface="+mn-ea"/>
              </a:rPr>
              <a:t>评估概述</a:t>
            </a:r>
            <a:endParaRPr lang="en-US" b="1" dirty="0">
              <a:solidFill>
                <a:srgbClr val="1F497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8322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D9062E2-4292-411C-8888-3870D8C307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083095"/>
              </p:ext>
            </p:extLst>
          </p:nvPr>
        </p:nvGraphicFramePr>
        <p:xfrm>
          <a:off x="1030288" y="2095500"/>
          <a:ext cx="8483600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244911" imgH="1432718" progId="Excel.SheetMacroEnabled.12">
                  <p:link updateAutomatic="1"/>
                </p:oleObj>
              </mc:Choice>
              <mc:Fallback>
                <p:oleObj name="Macro-Enabled Worksheet" r:id="rId3" imgW="8244911" imgH="1432718" progId="Excel.SheetMacroEnabled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D9062E2-4292-411C-8888-3870D8C307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0288" y="2095500"/>
                        <a:ext cx="8483600" cy="1516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>
          <a:xfrm>
            <a:off x="962488" y="1039828"/>
            <a:ext cx="10515600" cy="602284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391473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82D3759-24A7-42E2-82DB-6309FF00C1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625279"/>
              </p:ext>
            </p:extLst>
          </p:nvPr>
        </p:nvGraphicFramePr>
        <p:xfrm>
          <a:off x="1189038" y="2009775"/>
          <a:ext cx="8482012" cy="171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244911" imgH="1584944" progId="Excel.SheetMacroEnabled.12">
                  <p:link updateAutomatic="1"/>
                </p:oleObj>
              </mc:Choice>
              <mc:Fallback>
                <p:oleObj name="Macro-Enabled Worksheet" r:id="rId3" imgW="8244911" imgH="1584944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382D3759-24A7-42E2-82DB-6309FF00C1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9038" y="2009775"/>
                        <a:ext cx="8482012" cy="1712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50580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Business and Appraisal Objectives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41738B5-23C6-457B-BB18-AD965FCE01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163602"/>
              </p:ext>
            </p:extLst>
          </p:nvPr>
        </p:nvGraphicFramePr>
        <p:xfrm>
          <a:off x="1103313" y="1790919"/>
          <a:ext cx="7643812" cy="137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7437262" imgH="1394342" progId="Excel.SheetMacroEnabled.12">
                  <p:link updateAutomatic="1"/>
                </p:oleObj>
              </mc:Choice>
              <mc:Fallback>
                <p:oleObj name="Macro-Enabled Worksheet" r:id="rId3" imgW="7437262" imgH="1394342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641738B5-23C6-457B-BB18-AD965FCE01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3313" y="1790919"/>
                        <a:ext cx="7643812" cy="137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59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84020" y="995024"/>
            <a:ext cx="7772400" cy="609600"/>
          </a:xfrm>
          <a:noFill/>
        </p:spPr>
        <p:txBody>
          <a:bodyPr vert="horz" wrap="none" lIns="90488" tIns="44450" rIns="90488" bIns="44450" rtlCol="0" anchor="ctr">
            <a:normAutofit/>
          </a:bodyPr>
          <a:lstStyle/>
          <a:p>
            <a:pPr algn="l" eaLnBrk="1" hangingPunct="1">
              <a:lnSpc>
                <a:spcPct val="85000"/>
              </a:lnSpc>
            </a:pPr>
            <a:r>
              <a:rPr lang="en-US" altLang="zh-CN" dirty="0">
                <a:latin typeface="Arial" charset="0"/>
              </a:rPr>
              <a:t>Appraisal Principles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055688" y="1848439"/>
            <a:ext cx="7772400" cy="3057247"/>
          </a:xfrm>
        </p:spPr>
        <p:txBody>
          <a:bodyPr vert="horz" lIns="63500" tIns="25400" rIns="63500" bIns="25400" rtlCol="0">
            <a:spAutoFit/>
          </a:bodyPr>
          <a:lstStyle/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Start with a process framework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以一个过程框架作为开始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Observe strict confidentiality and non-attribution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严格遵循保密性和不归因性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Involve senior management as appraisal sponsor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把高层作为评估发起人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Approach appraisal collaboratively to the extent possible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评估需要协调合作进行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Focus on action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关注行动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8F63-43DB-4D03-99F8-9DDEC68E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Virtual appraisals – code of conduct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612D-EFDE-4142-8FD5-20FE5144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562793"/>
            <a:ext cx="10397837" cy="4531043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600" dirty="0"/>
              <a:t>When virtual interviews are planned for the appraisal, then virtual face-to-face (</a:t>
            </a:r>
            <a:r>
              <a:rPr lang="en-GB" sz="1600" dirty="0" err="1"/>
              <a:t>F2F</a:t>
            </a:r>
            <a:r>
              <a:rPr lang="en-GB" sz="1600" dirty="0"/>
              <a:t>) interviews are required to confirm the following: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interviewees are on camera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ATM identities and maximizing their participation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appraisal participant identities, e.g., interviewees, Appraisal Sponsor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only planned appraisal participants are present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that non-attribution and confidentiality rules are being followed, e.g., no other participants are present, physical setting is appropriate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Monitoring non-verbal communication and appraisal participant engagement</a:t>
            </a:r>
          </a:p>
          <a:p>
            <a:pPr marL="0" indent="0">
              <a:spcBef>
                <a:spcPts val="300"/>
              </a:spcBef>
              <a:buNone/>
            </a:pPr>
            <a:endParaRPr lang="en-ZA" sz="1600" dirty="0"/>
          </a:p>
          <a:p>
            <a:pPr marL="0" indent="0">
              <a:spcBef>
                <a:spcPts val="300"/>
              </a:spcBef>
              <a:buNone/>
            </a:pPr>
            <a:r>
              <a:rPr lang="zh-CN" altLang="en-US" sz="1600" dirty="0">
                <a:solidFill>
                  <a:srgbClr val="1F497D"/>
                </a:solidFill>
              </a:rPr>
              <a:t>当计划进行虚拟面试以进行评估时，需要进行虚拟面对面（</a:t>
            </a:r>
            <a:r>
              <a:rPr lang="en-US" altLang="zh-CN" sz="1600" dirty="0" err="1">
                <a:solidFill>
                  <a:srgbClr val="1F497D"/>
                </a:solidFill>
              </a:rPr>
              <a:t>F2F</a:t>
            </a:r>
            <a:r>
              <a:rPr lang="zh-CN" altLang="en-US" sz="1600" dirty="0">
                <a:solidFill>
                  <a:srgbClr val="1F497D"/>
                </a:solidFill>
              </a:rPr>
              <a:t>）面试以确认以下内容：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确认受访者在镜头前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</a:t>
            </a:r>
            <a:r>
              <a:rPr lang="en-US" altLang="zh-CN" sz="1600" dirty="0">
                <a:solidFill>
                  <a:srgbClr val="1F497D"/>
                </a:solidFill>
              </a:rPr>
              <a:t>ATM</a:t>
            </a:r>
            <a:r>
              <a:rPr lang="zh-CN" altLang="en-US" sz="1600" dirty="0">
                <a:solidFill>
                  <a:srgbClr val="1F497D"/>
                </a:solidFill>
              </a:rPr>
              <a:t>身份并最大化他们的参与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核实评估参与者身份，例如，受访者，评估发起人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确认只有计划中的评估参与者在场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确认遵守了非归因和保密规则，例如，没有其他参与者在场，物理环境适当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监控非语言交流和评估参与者的参与情况</a:t>
            </a:r>
            <a:endParaRPr lang="en-ZA" sz="1600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22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Team and Support Personnel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CB14951-7702-4C0F-B6A6-21391A66B7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029463"/>
              </p:ext>
            </p:extLst>
          </p:nvPr>
        </p:nvGraphicFramePr>
        <p:xfrm>
          <a:off x="1033463" y="1936750"/>
          <a:ext cx="8245475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244911" imgH="2110701" progId="Excel.SheetMacroEnabled.12">
                  <p:link updateAutomatic="1"/>
                </p:oleObj>
              </mc:Choice>
              <mc:Fallback>
                <p:oleObj name="Macro-Enabled Worksheet" r:id="rId3" imgW="8244911" imgH="2110701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CB14951-7702-4C0F-B6A6-21391A66B7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3463" y="1936750"/>
                        <a:ext cx="8245475" cy="2111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3676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>
          <a:xfrm>
            <a:off x="1055688" y="892263"/>
            <a:ext cx="10397836" cy="602284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charset="-128"/>
              </a:rPr>
              <a:t>Appraisal Scope – Benchmark Model View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F46B053-1B94-4E5C-BCF3-2B2E652C78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992395"/>
              </p:ext>
            </p:extLst>
          </p:nvPr>
        </p:nvGraphicFramePr>
        <p:xfrm>
          <a:off x="1217613" y="1585913"/>
          <a:ext cx="8277225" cy="443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9928683" imgH="5463516" progId="Excel.SheetMacroEnabled.12">
                  <p:link updateAutomatic="1"/>
                </p:oleObj>
              </mc:Choice>
              <mc:Fallback>
                <p:oleObj name="Macro-Enabled Worksheet" r:id="rId3" imgW="9928683" imgH="5463516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8F46B053-1B94-4E5C-BCF3-2B2E652C78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7613" y="1585913"/>
                        <a:ext cx="8277225" cy="443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0380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ea typeface="ＭＳ Ｐゴシック" charset="-128"/>
              </a:rPr>
              <a:t>Appraisal Scope – Organizational Scope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1E92499-A6AA-4251-A074-798371D4DD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898879"/>
              </p:ext>
            </p:extLst>
          </p:nvPr>
        </p:nvGraphicFramePr>
        <p:xfrm>
          <a:off x="1250950" y="2544763"/>
          <a:ext cx="848360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244911" imgH="358179" progId="Excel.SheetMacroEnabled.12">
                  <p:link updateAutomatic="1"/>
                </p:oleObj>
              </mc:Choice>
              <mc:Fallback>
                <p:oleObj name="Macro-Enabled Worksheet" r:id="rId3" imgW="8244911" imgH="358179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1E92499-A6AA-4251-A074-798371D4DD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0950" y="2544763"/>
                        <a:ext cx="8483600" cy="385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6382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ea typeface="ＭＳ Ｐゴシック" charset="-128"/>
              </a:rPr>
              <a:t>Appraisal Scope – Organizational Sample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21A5A95-7C57-4184-BE79-BFD78ABD81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608831"/>
              </p:ext>
            </p:extLst>
          </p:nvPr>
        </p:nvGraphicFramePr>
        <p:xfrm>
          <a:off x="1384300" y="2100263"/>
          <a:ext cx="9217025" cy="266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13403403" imgH="4008199" progId="Excel.SheetMacroEnabled.12">
                  <p:link updateAutomatic="1"/>
                </p:oleObj>
              </mc:Choice>
              <mc:Fallback>
                <p:oleObj name="Macro-Enabled Worksheet" r:id="rId3" imgW="13403403" imgH="4008199" progId="Excel.SheetMacroEnabled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21A5A95-7C57-4184-BE79-BFD78ABD81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4300" y="2100263"/>
                        <a:ext cx="9217025" cy="2665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4739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26564A6-5108-42B5-A49B-FB8D3BA281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618834"/>
              </p:ext>
            </p:extLst>
          </p:nvPr>
        </p:nvGraphicFramePr>
        <p:xfrm>
          <a:off x="1019175" y="1849388"/>
          <a:ext cx="10669588" cy="33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11186302" imgH="3474767" progId="Excel.SheetMacroEnabled.12">
                  <p:link updateAutomatic="1"/>
                </p:oleObj>
              </mc:Choice>
              <mc:Fallback>
                <p:oleObj name="Macro-Enabled Worksheet" r:id="rId2" imgW="11186302" imgH="3474767" progId="Excel.SheetMacroEnabled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26564A6-5108-42B5-A49B-FB8D3BA281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19175" y="1849388"/>
                        <a:ext cx="10669588" cy="331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EA3843C-9D08-4642-A4DF-AF55E651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Appraisal Scope – Organizational Sample</a:t>
            </a:r>
            <a:r>
              <a:rPr lang="en-Z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8433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3EE0D9B-0FA4-4BC3-A0BF-07768E7882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409798"/>
              </p:ext>
            </p:extLst>
          </p:nvPr>
        </p:nvGraphicFramePr>
        <p:xfrm>
          <a:off x="1019175" y="1849388"/>
          <a:ext cx="10669588" cy="33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11186302" imgH="3474767" progId="Excel.SheetMacroEnabled.12">
                  <p:link updateAutomatic="1"/>
                </p:oleObj>
              </mc:Choice>
              <mc:Fallback>
                <p:oleObj name="Macro-Enabled Worksheet" r:id="rId2" imgW="11186302" imgH="3474767" progId="Excel.SheetMacroEnabled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3EE0D9B-0FA4-4BC3-A0BF-07768E7882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19175" y="1849388"/>
                        <a:ext cx="10669588" cy="331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EA3843C-9D08-4642-A4DF-AF55E651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Appraisal Scope – Organizational Sample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60371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FB86F-F314-2808-D124-99FF9729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5811" y="1295264"/>
            <a:ext cx="9040378" cy="4632289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E4158602-CE03-D865-8B96-7884DB0F17A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0228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E2C5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500" b="1" dirty="0">
                <a:latin typeface="+mn-lt"/>
                <a:ea typeface="ＭＳ Ｐゴシック" charset="-128"/>
              </a:rPr>
              <a:t>CMMI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sz="3500" b="1" dirty="0">
                <a:latin typeface="+mn-lt"/>
                <a:ea typeface="ＭＳ Ｐゴシック" charset="-128"/>
              </a:rPr>
              <a:t>Appraisal Process – Appraisal Phases</a:t>
            </a:r>
          </a:p>
        </p:txBody>
      </p:sp>
    </p:spTree>
    <p:extLst>
      <p:ext uri="{BB962C8B-B14F-4D97-AF65-F5344CB8AC3E}">
        <p14:creationId xmlns:p14="http://schemas.microsoft.com/office/powerpoint/2010/main" val="3113447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DEF144-708A-4FEC-9EEA-C59932602B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613411"/>
              </p:ext>
            </p:extLst>
          </p:nvPr>
        </p:nvGraphicFramePr>
        <p:xfrm>
          <a:off x="1109663" y="1454150"/>
          <a:ext cx="6737350" cy="439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12489003" imgH="9060235" progId="Excel.SheetMacroEnabled.12">
                  <p:link updateAutomatic="1"/>
                </p:oleObj>
              </mc:Choice>
              <mc:Fallback>
                <p:oleObj name="Macro-Enabled Worksheet" r:id="rId3" imgW="12489003" imgH="9060235" progId="Excel.SheetMacroEnabled.12">
                  <p:link updateAutomatic="1"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3DEF144-708A-4FEC-9EEA-C59932602B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9663" y="1454150"/>
                        <a:ext cx="6737350" cy="4391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89C5D04-9640-3B48-820B-127523AD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28" y="233529"/>
            <a:ext cx="10515600" cy="602284"/>
          </a:xfrm>
        </p:spPr>
        <p:txBody>
          <a:bodyPr/>
          <a:lstStyle/>
          <a:p>
            <a:r>
              <a:rPr lang="en-US" dirty="0"/>
              <a:t>Ratings for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8894F-6E9F-4254-B365-2F77C95564B1}"/>
              </a:ext>
            </a:extLst>
          </p:cNvPr>
          <p:cNvSpPr/>
          <p:nvPr/>
        </p:nvSpPr>
        <p:spPr>
          <a:xfrm rot="19278004">
            <a:off x="6788537" y="4560584"/>
            <a:ext cx="293061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EXAMPLE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6263901-0FC3-47D8-A1D7-1F48982B27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827685"/>
              </p:ext>
            </p:extLst>
          </p:nvPr>
        </p:nvGraphicFramePr>
        <p:xfrm>
          <a:off x="882650" y="942975"/>
          <a:ext cx="3424238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3330117" imgH="7675" progId="Excel.SheetMacroEnabled.12">
                  <p:link updateAutomatic="1"/>
                </p:oleObj>
              </mc:Choice>
              <mc:Fallback>
                <p:oleObj name="Macro-Enabled Worksheet" r:id="rId5" imgW="3330117" imgH="7675" progId="Excel.SheetMacroEnabled.12">
                  <p:link updateAutomatic="1"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76263901-0FC3-47D8-A1D7-1F48982B27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82650" y="942975"/>
                        <a:ext cx="3424238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A9BF04E-9042-4397-8AD5-790E790EB2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1360" y="2020570"/>
            <a:ext cx="1723565" cy="213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735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47C9-2410-0F46-A0CE-9498896D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Definitions – Required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982AE-496D-8E4C-B62D-137BEFC39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sz="2400" dirty="0"/>
              <a:t>Required Findings Categories:</a:t>
            </a:r>
          </a:p>
          <a:p>
            <a:pPr lvl="1"/>
            <a:r>
              <a:rPr lang="en-US" sz="2100" u="sng" dirty="0"/>
              <a:t>Weaknesses</a:t>
            </a:r>
            <a:r>
              <a:rPr lang="en-US" sz="2100" dirty="0"/>
              <a:t> - A type of preliminary or final finding, which is an ineffective, or lack of implementation of one or more processes that meet the intent and value of a practice based on verified objective evidence, and applicable across the project(s) and organizational support functions or Organizational Unit as a whole. This is realized either by a) the process itself does not address a CMMI practice requirement, or b) the project(s) or organizational support functions are not following their process that IS compliant with the intent and value of the applicable CMMI practice.</a:t>
            </a:r>
            <a:endParaRPr lang="en-US" sz="2100" b="1" dirty="0"/>
          </a:p>
          <a:p>
            <a:pPr lvl="1"/>
            <a:endParaRPr lang="en-US" sz="2100" dirty="0"/>
          </a:p>
          <a:p>
            <a:pPr lvl="1"/>
            <a:r>
              <a:rPr lang="en-US" sz="2100" u="sng" dirty="0"/>
              <a:t>Strengths</a:t>
            </a:r>
            <a:r>
              <a:rPr lang="en-US" sz="2100" dirty="0"/>
              <a:t> - A type of preliminary or final finding, which is an exemplary or noteworthy implementation of a process that meets the intent and value of a CMMI model practice.</a:t>
            </a:r>
            <a:endParaRPr lang="en-US" sz="2100" b="1" dirty="0"/>
          </a:p>
          <a:p>
            <a:r>
              <a:rPr lang="zh-CN" altLang="en-US" sz="2400" dirty="0">
                <a:solidFill>
                  <a:srgbClr val="1F497D"/>
                </a:solidFill>
              </a:rPr>
              <a:t>所需结果类别：</a:t>
            </a:r>
          </a:p>
          <a:p>
            <a:pPr lvl="1"/>
            <a:r>
              <a:rPr lang="zh-CN" altLang="en-US" sz="2100" dirty="0">
                <a:solidFill>
                  <a:srgbClr val="1F497D"/>
                </a:solidFill>
              </a:rPr>
              <a:t>弱项</a:t>
            </a:r>
            <a:r>
              <a:rPr lang="en-US" altLang="zh-CN" sz="2100" dirty="0">
                <a:solidFill>
                  <a:srgbClr val="1F497D"/>
                </a:solidFill>
              </a:rPr>
              <a:t>——</a:t>
            </a:r>
            <a:r>
              <a:rPr lang="zh-CN" altLang="en-US" sz="2100" dirty="0">
                <a:solidFill>
                  <a:srgbClr val="1F497D"/>
                </a:solidFill>
              </a:rPr>
              <a:t>一种初步或最终的发现，是指一个或多个过程实施无效或缺乏实施，这些过程基于已验证的客观证据，符合实践的意图和价值，适用于整个项目和组织支持职能组或组织单元。这可以通过以下两种方式实现：</a:t>
            </a:r>
            <a:r>
              <a:rPr lang="en-US" altLang="zh-CN" sz="2100" dirty="0">
                <a:solidFill>
                  <a:srgbClr val="1F497D"/>
                </a:solidFill>
              </a:rPr>
              <a:t>a</a:t>
            </a:r>
            <a:r>
              <a:rPr lang="zh-CN" altLang="en-US" sz="2100" dirty="0">
                <a:solidFill>
                  <a:srgbClr val="1F497D"/>
                </a:solidFill>
              </a:rPr>
              <a:t>）过程本身没有满足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实践需求，或者</a:t>
            </a:r>
            <a:r>
              <a:rPr lang="en-US" altLang="zh-CN" sz="2100" dirty="0">
                <a:solidFill>
                  <a:srgbClr val="1F497D"/>
                </a:solidFill>
              </a:rPr>
              <a:t>b</a:t>
            </a:r>
            <a:r>
              <a:rPr lang="zh-CN" altLang="en-US" sz="2100" dirty="0">
                <a:solidFill>
                  <a:srgbClr val="1F497D"/>
                </a:solidFill>
              </a:rPr>
              <a:t>）项目或组织支持职能组没有遵循符合适用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实践意图和价值的过程。</a:t>
            </a:r>
            <a:endParaRPr lang="en-ZA" altLang="zh-CN" sz="2100" dirty="0">
              <a:solidFill>
                <a:srgbClr val="1F497D"/>
              </a:solidFill>
            </a:endParaRPr>
          </a:p>
          <a:p>
            <a:pPr lvl="1"/>
            <a:r>
              <a:rPr lang="zh-CN" altLang="en-US" sz="2100" dirty="0">
                <a:solidFill>
                  <a:srgbClr val="1F497D"/>
                </a:solidFill>
              </a:rPr>
              <a:t>强项</a:t>
            </a:r>
            <a:r>
              <a:rPr lang="en-US" altLang="zh-CN" sz="2100" dirty="0">
                <a:solidFill>
                  <a:srgbClr val="1F497D"/>
                </a:solidFill>
              </a:rPr>
              <a:t>——</a:t>
            </a:r>
            <a:r>
              <a:rPr lang="zh-CN" altLang="en-US" sz="2100" dirty="0">
                <a:solidFill>
                  <a:srgbClr val="1F497D"/>
                </a:solidFill>
              </a:rPr>
              <a:t>一种初步或最终的发现，是一个模范性或值得注意的过程实现，其符合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模型实践的意图和价值。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42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16E6-A265-E647-863D-E6356B5F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214371"/>
            <a:ext cx="10397836" cy="602284"/>
          </a:xfrm>
        </p:spPr>
        <p:txBody>
          <a:bodyPr/>
          <a:lstStyle/>
          <a:p>
            <a:r>
              <a:rPr lang="en-US" dirty="0"/>
              <a:t>Appraisal Outputs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BA6108F-A3D4-45BE-B8CA-9186C4E63F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028959"/>
              </p:ext>
            </p:extLst>
          </p:nvPr>
        </p:nvGraphicFramePr>
        <p:xfrm>
          <a:off x="1006475" y="1606550"/>
          <a:ext cx="8245475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8244911" imgH="2819384" progId="Excel.SheetMacroEnabled.12">
                  <p:link updateAutomatic="1"/>
                </p:oleObj>
              </mc:Choice>
              <mc:Fallback>
                <p:oleObj name="Macro-Enabled Worksheet" r:id="rId2" imgW="8244911" imgH="2819384" progId="Excel.SheetMacroEnabled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BA6108F-A3D4-45BE-B8CA-9186C4E63F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06475" y="1606550"/>
                        <a:ext cx="8245475" cy="281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5494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hlinkClick r:id="rId2" action="ppaction://hlinkfile"/>
              </a:rPr>
              <a:t>Appraisal Schedule</a:t>
            </a:r>
            <a:endParaRPr lang="en-ZA" dirty="0">
              <a:hlinkClick r:id="rId3" action="ppaction://hlinkfile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07940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3621809" y="1669312"/>
            <a:ext cx="4069207" cy="406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7672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acfac7a7740a1b2d1a4bdbff0c117f3f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f1327b100fd5e593709bdd676db08f2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8B49826-D5EE-4D24-B649-7C3A19B527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454F92-845F-4796-B81A-588E55CC8C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bcabcf-d275-4206-9fb1-2f2d419cd22b"/>
    <ds:schemaRef ds:uri="ec500478-62e0-46fc-87f1-cfa988e486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07B0D7-F930-4230-933E-ABA84959494E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ec500478-62e0-46fc-87f1-cfa988e486b4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72e3a154-4955-46c3-9573-e9dec3e1f195"/>
    <ds:schemaRef ds:uri="25bcabcf-d275-4206-9fb1-2f2d419cd22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1108</Words>
  <Application>Microsoft Office PowerPoint</Application>
  <PresentationFormat>Widescreen</PresentationFormat>
  <Paragraphs>93</Paragraphs>
  <Slides>21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DEMIX™</vt:lpstr>
      <vt:lpstr>Appraisal Overview  评估概述</vt:lpstr>
      <vt:lpstr>Appraisal Overview</vt:lpstr>
      <vt:lpstr>Appraisal Overview</vt:lpstr>
      <vt:lpstr>Business and Appraisal Objectives</vt:lpstr>
      <vt:lpstr>Appraisal Principles</vt:lpstr>
      <vt:lpstr>Virtual appraisals – code of conduct</vt:lpstr>
      <vt:lpstr>Appraisal Team and Support Personnel</vt:lpstr>
      <vt:lpstr>Appraisal Scope – Benchmark Model View</vt:lpstr>
      <vt:lpstr>Appraisal Scope – Organizational Scope</vt:lpstr>
      <vt:lpstr>Appraisal Scope – Organizational Sample</vt:lpstr>
      <vt:lpstr>Appraisal Scope – Organizational Sample </vt:lpstr>
      <vt:lpstr>Appraisal Scope – Organizational Sample</vt:lpstr>
      <vt:lpstr>PowerPoint Presentation</vt:lpstr>
      <vt:lpstr>Ratings for</vt:lpstr>
      <vt:lpstr>Findings Definitions – Required Categories</vt:lpstr>
      <vt:lpstr>Appraisal Outputs</vt:lpstr>
      <vt:lpstr>Appraisal Schedule</vt:lpstr>
      <vt:lpstr>PowerPoint Presentation</vt:lpstr>
    </vt:vector>
  </TitlesOfParts>
  <Company>ISACA-CMMI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MDD-Toolkit-Appraisal Final Findings Template</dc:title>
  <dc:creator>ISACA-CMMI</dc:creator>
  <cp:lastModifiedBy>Pieter van Zyl</cp:lastModifiedBy>
  <cp:revision>110</cp:revision>
  <dcterms:created xsi:type="dcterms:W3CDTF">2018-03-14T12:19:45Z</dcterms:created>
  <dcterms:modified xsi:type="dcterms:W3CDTF">2025-08-04T09:02:35Z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0x010100F041F74863103D4C9C3AA0A07291BB02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TemplateUrl">
    <vt:lpwstr/>
  </property>
  <property fmtid="{D5CDD505-2E9C-101B-9397-08002B2CF9AE}" pid="6" name="ComplianceAssetId">
    <vt:lpwstr/>
  </property>
  <property fmtid="{D5CDD505-2E9C-101B-9397-08002B2CF9AE}" pid="7" name="AuthorIds_UIVersion_3601">
    <vt:lpwstr>40</vt:lpwstr>
  </property>
  <property fmtid="{D5CDD505-2E9C-101B-9397-08002B2CF9AE}" pid="8" name="_ShortcutWebId">
    <vt:lpwstr/>
  </property>
  <property fmtid="{D5CDD505-2E9C-101B-9397-08002B2CF9AE}" pid="9" name="_ShortcutUniqueId">
    <vt:lpwstr/>
  </property>
  <property fmtid="{D5CDD505-2E9C-101B-9397-08002B2CF9AE}" pid="10" name="_ShortcutSiteId">
    <vt:lpwstr/>
  </property>
  <property fmtid="{D5CDD505-2E9C-101B-9397-08002B2CF9AE}" pid="11" name="Class">
    <vt:lpwstr/>
  </property>
  <property fmtid="{D5CDD505-2E9C-101B-9397-08002B2CF9AE}" pid="12" name="Model Component">
    <vt:lpwstr/>
  </property>
  <property fmtid="{D5CDD505-2E9C-101B-9397-08002B2CF9AE}" pid="13" name="_ShortcutUrl">
    <vt:lpwstr/>
  </property>
  <property fmtid="{D5CDD505-2E9C-101B-9397-08002B2CF9AE}" pid="14" name="Class Component">
    <vt:lpwstr/>
  </property>
  <property fmtid="{D5CDD505-2E9C-101B-9397-08002B2CF9AE}" pid="15" name="MediaServiceImageTags">
    <vt:lpwstr/>
  </property>
</Properties>
</file>