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handoutMasterIdLst>
    <p:handoutMasterId r:id="rId60"/>
  </p:handoutMasterIdLst>
  <p:sldIdLst>
    <p:sldId id="256" r:id="rId5"/>
    <p:sldId id="1552"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92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1547" r:id="rId54"/>
    <p:sldId id="1475" r:id="rId55"/>
    <p:sldId id="989" r:id="rId56"/>
    <p:sldId id="1509" r:id="rId57"/>
    <p:sldId id="1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1632" autoAdjust="0"/>
  </p:normalViewPr>
  <p:slideViewPr>
    <p:cSldViewPr snapToGrid="0">
      <p:cViewPr varScale="1">
        <p:scale>
          <a:sx n="110" d="100"/>
          <a:sy n="110" d="100"/>
        </p:scale>
        <p:origin x="630" y="102"/>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8/11/2024</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8/11/2024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
        <p:nvSpPr>
          <p:cNvPr id="16" name="TextBox 15">
            <a:extLst>
              <a:ext uri="{FF2B5EF4-FFF2-40B4-BE49-F238E27FC236}">
                <a16:creationId xmlns:a16="http://schemas.microsoft.com/office/drawing/2014/main" id="{5B9D368A-4410-479D-A732-7C84530FBC22}"/>
              </a:ext>
            </a:extLst>
          </p:cNvPr>
          <p:cNvSpPr txBox="1"/>
          <p:nvPr userDrawn="1"/>
        </p:nvSpPr>
        <p:spPr>
          <a:xfrm>
            <a:off x="8480467" y="6235176"/>
            <a:ext cx="3447077" cy="261610"/>
          </a:xfrm>
          <a:prstGeom prst="rect">
            <a:avLst/>
          </a:prstGeom>
          <a:noFill/>
        </p:spPr>
        <p:txBody>
          <a:bodyPr wrap="square" rtlCol="0">
            <a:spAutoFit/>
          </a:bodyPr>
          <a:lstStyle/>
          <a:p>
            <a:pPr algn="r"/>
            <a:r>
              <a:rPr lang="en-ZA" sz="1100" i="0" dirty="0">
                <a:solidFill>
                  <a:srgbClr val="898989"/>
                </a:solidFill>
              </a:rPr>
              <a:t>Demix Logo is a registered trademark in PRC and RSA</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G:\2024-05-04to05-10%20(A5)%20C384400%20NASA\00_Data_Reference.xlsm!pptxCover!R4C2:R13C2" TargetMode="External"/><Relationship Id="rId7" Type="http://schemas.openxmlformats.org/officeDocument/2006/relationships/oleObject" Target="file:///G:\2024-05-04to05-10%20(A5)%20C384400%20NASA\00_Data_Reference.xlsm!pptxCover!R22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G:\2024-05-04to05-10%20(A5)%20C384400%20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7.emf"/><Relationship Id="rId4" Type="http://schemas.openxmlformats.org/officeDocument/2006/relationships/oleObject" Target="file:///G:\2024-05-04to05-10%20(A5)%20C384400%20NASA\00_Data_Reference.xlsm!pptxLink1!R1C1:R7C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8.emf"/><Relationship Id="rId4" Type="http://schemas.openxmlformats.org/officeDocument/2006/relationships/oleObject" Target="file:///G:\2024-05-04to05-10%20(A5)%20C384400%20NASA\00_Data_Reference.xlsm!pptxLink1!R10C1:R18C2"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9.emf"/><Relationship Id="rId4" Type="http://schemas.openxmlformats.org/officeDocument/2006/relationships/oleObject" Target="file:///G:\2024-05-04to05-10%20(A5)%20C384400%20NASA\00_Data_Reference.xlsm!pptxLink2!R1C1:R4C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0.emf"/><Relationship Id="rId4" Type="http://schemas.openxmlformats.org/officeDocument/2006/relationships/oleObject" Target="file:///G:\2024-05-04to05-10%20(A5)%20C384400%20NASA\00_Data_Reference.xlsm!pptxLink1!R20C1:R31C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1.emf"/><Relationship Id="rId4" Type="http://schemas.openxmlformats.org/officeDocument/2006/relationships/oleObject" Target="file:///G:\2024-05-04to05-10%20(A5)%20C384400%20NASA\00_Data_Reference.xlsm!pptxLink3!R2C1:R24C9"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2.emf"/><Relationship Id="rId4" Type="http://schemas.openxmlformats.org/officeDocument/2006/relationships/oleObject" Target="file:///G:\2024-05-04to05-10%20(A5)%20C384400%20NASA\00_Data_Reference.xlsm!pptxLink2!R30C1:R35C1"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3.emf"/><Relationship Id="rId4" Type="http://schemas.openxmlformats.org/officeDocument/2006/relationships/oleObject" Target="file:///G:\2024-05-04to05-10%20(A5)%20C384400%20NASA\00_Data_Reference.xlsm!pptxLink4!R10C1:R27C20"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5!R1C1:R11C5" TargetMode="Externa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5!R15C1:R21C5" TargetMode="External"/><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8.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G:\2024-05-04to05-10%20(A5)%20C384400%20NASA\00_Data_Reference.xlsm!pptxLink1!R9C4" TargetMode="Externa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69.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G:\2024-05-04to05-10%20(A5)%20C384400%20NASA\00_Data_Reference.xlsm!pptxLink1!R9C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70.emf"/><Relationship Id="rId4" Type="http://schemas.openxmlformats.org/officeDocument/2006/relationships/oleObject" Target="file:///G:\2024-05-04to05-10%20(A5)%20C384400%20NASA\00_Data_Reference.xlsm!pptxLink6!R2C2:R13C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7!R2C2:R16C4" TargetMode="External"/><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71.emf"/></Relationships>
</file>

<file path=ppt/slides/_rels/slide46.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7!R18C2:R32C4" TargetMode="External"/><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72.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Cover!R26C2:R33C4" TargetMode="External"/><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74.emf"/></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75.emf"/><Relationship Id="rId5" Type="http://schemas.openxmlformats.org/officeDocument/2006/relationships/oleObject" Target="file:///G:\2024-05-04to05-10%20(A5)%20C384400%20NASA\00_Data_Reference.xlsm!pptxCover!R23C7" TargetMode="External"/><Relationship Id="rId4" Type="http://schemas.openxmlformats.org/officeDocument/2006/relationships/hyperlink" Target="https://resources.sei.cmu.edu/library/asset-view.cfm?assetid=2020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www.demix.org/too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3210626087"/>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spid="_x0000_s1047" name="Macro-Enabled Worksheet" r:id="rId3" imgW="5196769" imgH="3116588" progId="Excel.SheetMacroEnabled.12">
                  <p:link updateAutomatic="1"/>
                </p:oleObj>
              </mc:Choice>
              <mc:Fallback>
                <p:oleObj name="Macro-Enabled Worksheet" r:id="rId3" imgW="5196769" imgH="3116588" progId="Excel.SheetMacroEnabled.12">
                  <p:link updateAutomatic="1"/>
                  <p:pic>
                    <p:nvPicPr>
                      <p:cNvPr id="0" name=""/>
                      <p:cNvPicPr/>
                      <p:nvPr/>
                    </p:nvPicPr>
                    <p:blipFill>
                      <a:blip r:embed="rId4"/>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936713853"/>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spid="_x0000_s1048"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0" name=""/>
                      <p:cNvPicPr/>
                      <p:nvPr/>
                    </p:nvPicPr>
                    <p:blipFill>
                      <a:blip r:embed="rId6"/>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1584021007"/>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spid="_x0000_s1049"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0" name=""/>
                      <p:cNvPicPr/>
                      <p:nvPr/>
                    </p:nvPicPr>
                    <p:blipFill>
                      <a:blip r:embed="rId8"/>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10" name="TextBox 4">
            <a:extLst>
              <a:ext uri="{FF2B5EF4-FFF2-40B4-BE49-F238E27FC236}">
                <a16:creationId xmlns:a16="http://schemas.microsoft.com/office/drawing/2014/main" id="{AC1EA764-7D4B-C769-4665-B3752500D321}"/>
              </a:ext>
            </a:extLst>
          </p:cNvPr>
          <p:cNvSpPr txBox="1">
            <a:spLocks noChangeArrowheads="1"/>
          </p:cNvSpPr>
          <p:nvPr/>
        </p:nvSpPr>
        <p:spPr bwMode="auto">
          <a:xfrm>
            <a:off x="2057399" y="3606720"/>
            <a:ext cx="80772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is a pleasure and an honour to be here with you today. We are now looking forward to presenting to you the final findings.</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今天能和大家在一起，我感到非常荣幸。我们现在期待着向您展示贵司的最终结果。</a:t>
            </a:r>
            <a:endParaRPr lang="en-ZA" altLang="zh-CN" sz="2000" dirty="0">
              <a:solidFill>
                <a:srgbClr val="1F497D"/>
              </a:solidFill>
              <a:latin typeface="宋体" panose="02010600030101010101" pitchFamily="2" charset="-122"/>
              <a:ea typeface="宋体" panose="02010600030101010101" pitchFamily="2" charset="-122"/>
            </a:endParaRPr>
          </a:p>
        </p:txBody>
      </p:sp>
      <p:sp>
        <p:nvSpPr>
          <p:cNvPr id="52" name="TextBox 51">
            <a:extLst>
              <a:ext uri="{FF2B5EF4-FFF2-40B4-BE49-F238E27FC236}">
                <a16:creationId xmlns:a16="http://schemas.microsoft.com/office/drawing/2014/main" id="{382945E9-2F57-4420-BA56-8960D3908F35}"/>
              </a:ext>
            </a:extLst>
          </p:cNvPr>
          <p:cNvSpPr txBox="1"/>
          <p:nvPr/>
        </p:nvSpPr>
        <p:spPr>
          <a:xfrm>
            <a:off x="1062773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rgbClr val="FF0000"/>
                </a:solidFill>
              </a:rPr>
              <a:t>Registered PRC trademark</a:t>
            </a:r>
          </a:p>
          <a:p>
            <a:pPr algn="ctr"/>
            <a:r>
              <a:rPr lang="en-US" sz="1400" dirty="0">
                <a:solidFill>
                  <a:srgbClr val="FF0000"/>
                </a:solidFill>
              </a:rPr>
              <a:t>21050449</a:t>
            </a:r>
          </a:p>
        </p:txBody>
      </p:sp>
    </p:spTree>
    <p:extLst>
      <p:ext uri="{BB962C8B-B14F-4D97-AF65-F5344CB8AC3E}">
        <p14:creationId xmlns:p14="http://schemas.microsoft.com/office/powerpoint/2010/main" val="613650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84779180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spid="_x0000_s2057" name="Macro-Enabled Worksheet" r:id="rId4" imgW="8244911" imgH="1432718" progId="Excel.SheetMacroEnabled.12">
                  <p:link updateAutomatic="1"/>
                </p:oleObj>
              </mc:Choice>
              <mc:Fallback>
                <p:oleObj name="Macro-Enabled Worksheet" r:id="rId4" imgW="8244911" imgH="1432718" progId="Excel.SheetMacroEnabled.12">
                  <p:link updateAutomatic="1"/>
                  <p:pic>
                    <p:nvPicPr>
                      <p:cNvPr id="0" name=""/>
                      <p:cNvPicPr/>
                      <p:nvPr/>
                    </p:nvPicPr>
                    <p:blipFill>
                      <a:blip r:embed="rId5"/>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1337228355"/>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spid="_x0000_s3081" name="Macro-Enabled Worksheet" r:id="rId4" imgW="8244911" imgH="1584944" progId="Excel.SheetMacroEnabled.12">
                  <p:link updateAutomatic="1"/>
                </p:oleObj>
              </mc:Choice>
              <mc:Fallback>
                <p:oleObj name="Macro-Enabled Worksheet" r:id="rId4" imgW="8244911" imgH="1584944" progId="Excel.SheetMacroEnabled.12">
                  <p:link updateAutomatic="1"/>
                  <p:pic>
                    <p:nvPicPr>
                      <p:cNvPr id="0" name=""/>
                      <p:cNvPicPr/>
                      <p:nvPr/>
                    </p:nvPicPr>
                    <p:blipFill>
                      <a:blip r:embed="rId5"/>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84730437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spid="_x0000_s4105" name="Macro-Enabled Worksheet" r:id="rId4" imgW="7437262" imgH="1394342" progId="Excel.SheetMacroEnabled.12">
                  <p:link updateAutomatic="1"/>
                </p:oleObj>
              </mc:Choice>
              <mc:Fallback>
                <p:oleObj name="Macro-Enabled Worksheet" r:id="rId4" imgW="7437262" imgH="1394342" progId="Excel.SheetMacroEnabled.12">
                  <p:link updateAutomatic="1"/>
                  <p:pic>
                    <p:nvPicPr>
                      <p:cNvPr id="0" name=""/>
                      <p:cNvPicPr/>
                      <p:nvPr/>
                    </p:nvPicPr>
                    <p:blipFill>
                      <a:blip r:embed="rId5"/>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3419237890"/>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spid="_x0000_s5129" name="Macro-Enabled Worksheet" r:id="rId4" imgW="8244911" imgH="2110701" progId="Excel.SheetMacroEnabled.12">
                  <p:link updateAutomatic="1"/>
                </p:oleObj>
              </mc:Choice>
              <mc:Fallback>
                <p:oleObj name="Macro-Enabled Worksheet" r:id="rId4" imgW="8244911" imgH="2110701" progId="Excel.SheetMacroEnabled.12">
                  <p:link updateAutomatic="1"/>
                  <p:pic>
                    <p:nvPicPr>
                      <p:cNvPr id="0" name=""/>
                      <p:cNvPicPr/>
                      <p:nvPr/>
                    </p:nvPicPr>
                    <p:blipFill>
                      <a:blip r:embed="rId5"/>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356204039"/>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spid="_x0000_s6153" name="Macro-Enabled Worksheet" r:id="rId4" imgW="9928683" imgH="5463516" progId="Excel.SheetMacroEnabled.12">
                  <p:link updateAutomatic="1"/>
                </p:oleObj>
              </mc:Choice>
              <mc:Fallback>
                <p:oleObj name="Macro-Enabled Worksheet" r:id="rId4" imgW="9928683" imgH="5463516" progId="Excel.SheetMacroEnabled.12">
                  <p:link updateAutomatic="1"/>
                  <p:pic>
                    <p:nvPicPr>
                      <p:cNvPr id="0" name=""/>
                      <p:cNvPicPr/>
                      <p:nvPr/>
                    </p:nvPicPr>
                    <p:blipFill>
                      <a:blip r:embed="rId5"/>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795705134"/>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spid="_x0000_s7177" name="Macro-Enabled Worksheet" r:id="rId4" imgW="7437262" imgH="1196490" progId="Excel.SheetMacroEnabled.12">
                  <p:link updateAutomatic="1"/>
                </p:oleObj>
              </mc:Choice>
              <mc:Fallback>
                <p:oleObj name="Macro-Enabled Worksheet" r:id="rId4" imgW="7437262" imgH="1196490" progId="Excel.SheetMacroEnabled.12">
                  <p:link updateAutomatic="1"/>
                  <p:pic>
                    <p:nvPicPr>
                      <p:cNvPr id="0" name=""/>
                      <p:cNvPicPr/>
                      <p:nvPr/>
                    </p:nvPicPr>
                    <p:blipFill>
                      <a:blip r:embed="rId5"/>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512421588"/>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spid="_x0000_s8201" name="Macro-Enabled Worksheet" r:id="rId4" imgW="13403403" imgH="4008199" progId="Excel.SheetMacroEnabled.12">
                  <p:link updateAutomatic="1"/>
                </p:oleObj>
              </mc:Choice>
              <mc:Fallback>
                <p:oleObj name="Macro-Enabled Worksheet" r:id="rId4" imgW="13403403" imgH="4008199" progId="Excel.SheetMacroEnabled.12">
                  <p:link updateAutomatic="1"/>
                  <p:pic>
                    <p:nvPicPr>
                      <p:cNvPr id="0" name=""/>
                      <p:cNvPicPr/>
                      <p:nvPr/>
                    </p:nvPicPr>
                    <p:blipFill>
                      <a:blip r:embed="rId5"/>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73370359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9225"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2280180642"/>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10249"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6591300" y="2954915"/>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14877425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spid="_x0000_s11273"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0" name=""/>
                      <p:cNvPicPr/>
                      <p:nvPr/>
                    </p:nvPicPr>
                    <p:blipFill>
                      <a:blip r:embed="rId5"/>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6"/>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7"/>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22987012"/>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spid="_x0000_s12297"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5"/>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6"/>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7"/>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244464558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spid="_x0000_s13321" name="Macro-Enabled Worksheet" r:id="rId4" imgW="12626375" imgH="4015874" progId="Excel.SheetMacroEnabled.12">
                  <p:link updateAutomatic="1"/>
                </p:oleObj>
              </mc:Choice>
              <mc:Fallback>
                <p:oleObj name="Macro-Enabled Worksheet" r:id="rId4" imgW="12626375" imgH="4015874" progId="Excel.SheetMacroEnabled.12">
                  <p:link updateAutomatic="1"/>
                  <p:pic>
                    <p:nvPicPr>
                      <p:cNvPr id="0" name=""/>
                      <p:cNvPicPr/>
                      <p:nvPr/>
                    </p:nvPicPr>
                    <p:blipFill>
                      <a:blip r:embed="rId5"/>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55593506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spid="_x0000_s14345" name="Macro-Enabled Worksheet" r:id="rId3" imgW="8580049" imgH="1988749" progId="Excel.SheetMacroEnabled.12">
                  <p:link updateAutomatic="1"/>
                </p:oleObj>
              </mc:Choice>
              <mc:Fallback>
                <p:oleObj name="Macro-Enabled Worksheet" r:id="rId3" imgW="8580049" imgH="1988749" progId="Excel.SheetMacroEnabled.12">
                  <p:link updateAutomatic="1"/>
                  <p:pic>
                    <p:nvPicPr>
                      <p:cNvPr id="0" name=""/>
                      <p:cNvPicPr/>
                      <p:nvPr/>
                    </p:nvPicPr>
                    <p:blipFill>
                      <a:blip r:embed="rId4"/>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4146074126"/>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spid="_x0000_s15369" name="Macro-Enabled Worksheet" r:id="rId3" imgW="8580049" imgH="2979286" progId="Excel.SheetMacroEnabled.12">
                  <p:link updateAutomatic="1"/>
                </p:oleObj>
              </mc:Choice>
              <mc:Fallback>
                <p:oleObj name="Macro-Enabled Worksheet" r:id="rId3" imgW="8580049" imgH="2979286" progId="Excel.SheetMacroEnabled.12">
                  <p:link updateAutomatic="1"/>
                  <p:pic>
                    <p:nvPicPr>
                      <p:cNvPr id="0" name=""/>
                      <p:cNvPicPr/>
                      <p:nvPr/>
                    </p:nvPicPr>
                    <p:blipFill>
                      <a:blip r:embed="rId4"/>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465481" y="1878295"/>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970895" cy="369332"/>
          </a:xfrm>
          <a:prstGeom prst="rect">
            <a:avLst/>
          </a:prstGeom>
          <a:noFill/>
        </p:spPr>
        <p:txBody>
          <a:bodyPr wrap="none" rtlCol="0">
            <a:spAutoFit/>
          </a:bodyPr>
          <a:lstStyle/>
          <a:p>
            <a:r>
              <a:rPr lang="en-ZA" dirty="0"/>
              <a:t>Demixium™ Copyright </a:t>
            </a:r>
            <a:r>
              <a:rPr lang="en-ZA" dirty="0" err="1"/>
              <a:t>Demix</a:t>
            </a:r>
            <a:r>
              <a:rPr lang="en-ZA" dirty="0"/>
              <a:t> 2021-2023</a:t>
            </a:r>
          </a:p>
        </p:txBody>
      </p:sp>
      <p:sp>
        <p:nvSpPr>
          <p:cNvPr id="8" name="TextBox 7">
            <a:extLst>
              <a:ext uri="{FF2B5EF4-FFF2-40B4-BE49-F238E27FC236}">
                <a16:creationId xmlns:a16="http://schemas.microsoft.com/office/drawing/2014/main" id="{C5021C6B-98B3-4617-86D6-C346F83D70CA}"/>
              </a:ext>
            </a:extLst>
          </p:cNvPr>
          <p:cNvSpPr txBox="1"/>
          <p:nvPr/>
        </p:nvSpPr>
        <p:spPr>
          <a:xfrm>
            <a:off x="2777670" y="5844796"/>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1308059" y="2606819"/>
            <a:ext cx="2719052" cy="2308324"/>
          </a:xfrm>
          <a:prstGeom prst="rect">
            <a:avLst/>
          </a:prstGeom>
          <a:noFill/>
        </p:spPr>
        <p:txBody>
          <a:bodyPr wrap="square" rtlCol="0">
            <a:spAutoFit/>
          </a:bodyPr>
          <a:lstStyle/>
          <a:p>
            <a:pPr algn="ctr"/>
            <a:r>
              <a:rPr lang="en-ZA" dirty="0"/>
              <a:t>Demixium is a collection of best practices to assess an organisation across a variety of domains and best practice models. It is available for free use under the MIT free use license agreement. </a:t>
            </a:r>
          </a:p>
        </p:txBody>
      </p:sp>
      <p:sp>
        <p:nvSpPr>
          <p:cNvPr id="10" name="TextBox 9">
            <a:extLst>
              <a:ext uri="{FF2B5EF4-FFF2-40B4-BE49-F238E27FC236}">
                <a16:creationId xmlns:a16="http://schemas.microsoft.com/office/drawing/2014/main" id="{4E369FE8-DAF2-49E0-852E-C869E262D50E}"/>
              </a:ext>
            </a:extLst>
          </p:cNvPr>
          <p:cNvSpPr txBox="1"/>
          <p:nvPr/>
        </p:nvSpPr>
        <p:spPr>
          <a:xfrm>
            <a:off x="7821539" y="3022317"/>
            <a:ext cx="2719052" cy="1477328"/>
          </a:xfrm>
          <a:prstGeom prst="rect">
            <a:avLst/>
          </a:prstGeom>
          <a:noFill/>
        </p:spPr>
        <p:txBody>
          <a:bodyPr wrap="square" rtlCol="0">
            <a:spAutoFit/>
          </a:bodyPr>
          <a:lstStyle/>
          <a:p>
            <a:pPr algn="ctr"/>
            <a:r>
              <a:rPr lang="en-US" altLang="zh-CN" dirty="0">
                <a:solidFill>
                  <a:srgbClr val="1F497D"/>
                </a:solidFill>
              </a:rPr>
              <a:t>Demixium </a:t>
            </a:r>
            <a:r>
              <a:rPr lang="zh-CN" altLang="en-US" dirty="0">
                <a:solidFill>
                  <a:srgbClr val="1F497D"/>
                </a:solidFill>
              </a:rPr>
              <a:t>是一组最佳实践的集合，用于跨各种领域和最佳实践模型评估组织。 它可根据 </a:t>
            </a:r>
            <a:r>
              <a:rPr lang="en-US" altLang="zh-CN" dirty="0">
                <a:solidFill>
                  <a:srgbClr val="1F497D"/>
                </a:solidFill>
              </a:rPr>
              <a:t>MIT </a:t>
            </a:r>
            <a:r>
              <a:rPr lang="zh-CN" altLang="en-US" dirty="0">
                <a:solidFill>
                  <a:srgbClr val="1F497D"/>
                </a:solidFill>
              </a:rPr>
              <a:t>免费使用许可协议免费使用。</a:t>
            </a:r>
            <a:endParaRPr lang="en-ZA" dirty="0">
              <a:solidFill>
                <a:srgbClr val="1F497D"/>
              </a:solidFill>
            </a:endParaRPr>
          </a:p>
        </p:txBody>
      </p:sp>
    </p:spTree>
    <p:extLst>
      <p:ext uri="{BB962C8B-B14F-4D97-AF65-F5344CB8AC3E}">
        <p14:creationId xmlns:p14="http://schemas.microsoft.com/office/powerpoint/2010/main" val="3636925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277462593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spid="_x0000_s16393" name="Macro-Enabled Worksheet" r:id="rId3" imgW="9060215" imgH="1821172" progId="Excel.SheetMacroEnabled.12">
                  <p:link updateAutomatic="1"/>
                </p:oleObj>
              </mc:Choice>
              <mc:Fallback>
                <p:oleObj name="Macro-Enabled Worksheet" r:id="rId3" imgW="9060215" imgH="1821172" progId="Excel.SheetMacroEnabled.12">
                  <p:link updateAutomatic="1"/>
                  <p:pic>
                    <p:nvPicPr>
                      <p:cNvPr id="0" name=""/>
                      <p:cNvPicPr/>
                      <p:nvPr/>
                    </p:nvPicPr>
                    <p:blipFill>
                      <a:blip r:embed="rId4"/>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7" name="Picture 45" descr="DEV-Module 12.pdf"/>
          <p:cNvPicPr>
            <a:picLocks noChangeAspect="1"/>
          </p:cNvPicPr>
          <p:nvPr/>
        </p:nvPicPr>
        <p:blipFill rotWithShape="1">
          <a:blip r:embed="rId3" cstate="print"/>
          <a:srcRect t="8787" b="16112"/>
          <a:stretch/>
        </p:blipFill>
        <p:spPr bwMode="auto">
          <a:xfrm>
            <a:off x="1972389" y="1706694"/>
            <a:ext cx="6360696" cy="3762121"/>
          </a:xfrm>
          <a:prstGeom prst="rect">
            <a:avLst/>
          </a:prstGeom>
          <a:noFill/>
          <a:ln>
            <a:noFill/>
          </a:ln>
        </p:spPr>
      </p:pic>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sp>
        <p:nvSpPr>
          <p:cNvPr id="11" name="Rectangle 3">
            <a:extLst>
              <a:ext uri="{FF2B5EF4-FFF2-40B4-BE49-F238E27FC236}">
                <a16:creationId xmlns:a16="http://schemas.microsoft.com/office/drawing/2014/main" id="{8595402B-6A67-487D-BE45-48413B9C755B}"/>
              </a:ext>
            </a:extLst>
          </p:cNvPr>
          <p:cNvSpPr>
            <a:spLocks noChangeArrowheads="1"/>
          </p:cNvSpPr>
          <p:nvPr/>
        </p:nvSpPr>
        <p:spPr bwMode="auto">
          <a:xfrm>
            <a:off x="2559329" y="5894090"/>
            <a:ext cx="8077200" cy="430887"/>
          </a:xfrm>
          <a:prstGeom prst="rect">
            <a:avLst/>
          </a:prstGeom>
          <a:noFill/>
          <a:ln w="9525">
            <a:noFill/>
            <a:miter lim="800000"/>
            <a:headEnd/>
            <a:tailEnd/>
          </a:ln>
        </p:spPr>
        <p:txBody>
          <a:bodyPr wrap="square" lIns="0" tIns="0" rIns="0" bIns="0">
            <a:spAutoFit/>
          </a:bodyPr>
          <a:lstStyle/>
          <a:p>
            <a:pPr defTabSz="1027113"/>
            <a:r>
              <a:rPr lang="en-US" sz="1400" dirty="0">
                <a:solidFill>
                  <a:schemeClr val="tx2"/>
                </a:solidFill>
                <a:hlinkClick r:id="rId4"/>
              </a:rPr>
              <a:t>The IDEAL Model</a:t>
            </a:r>
            <a:r>
              <a:rPr lang="en-US" sz="1400" dirty="0">
                <a:solidFill>
                  <a:schemeClr val="tx2"/>
                </a:solidFill>
              </a:rPr>
              <a:t> </a:t>
            </a:r>
          </a:p>
          <a:p>
            <a:pPr defTabSz="1027113"/>
            <a:endParaRPr lang="en-US" sz="1400" dirty="0">
              <a:solidFill>
                <a:schemeClr val="tx2"/>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4031691758"/>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spid="_x0000_s17417" name="Macro-Enabled Worksheet" r:id="rId5" imgW="2933735" imgH="693333" progId="Excel.SheetMacroEnabled.12">
                  <p:link updateAutomatic="1"/>
                </p:oleObj>
              </mc:Choice>
              <mc:Fallback>
                <p:oleObj name="Macro-Enabled Worksheet" r:id="rId5" imgW="2933735" imgH="693333" progId="Excel.SheetMacroEnabled.12">
                  <p:link updateAutomatic="1"/>
                  <p:pic>
                    <p:nvPicPr>
                      <p:cNvPr id="0" name=""/>
                      <p:cNvPicPr/>
                      <p:nvPr/>
                    </p:nvPicPr>
                    <p:blipFill>
                      <a:blip r:embed="rId6"/>
                      <a:stretch>
                        <a:fillRect/>
                      </a:stretch>
                    </p:blipFill>
                    <p:spPr>
                      <a:xfrm>
                        <a:off x="7448550" y="3009900"/>
                        <a:ext cx="2933700" cy="693738"/>
                      </a:xfrm>
                      <a:prstGeom prst="rect">
                        <a:avLst/>
                      </a:prstGeom>
                    </p:spPr>
                  </p:pic>
                </p:oleObj>
              </mc:Fallback>
            </mc:AlternateContent>
          </a:graphicData>
        </a:graphic>
      </p:graphicFrame>
    </p:spTree>
    <p:extLst>
      <p:ext uri="{BB962C8B-B14F-4D97-AF65-F5344CB8AC3E}">
        <p14:creationId xmlns:p14="http://schemas.microsoft.com/office/powerpoint/2010/main" val="183321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00_Data_Reference.xlsm</a:t>
            </a:r>
          </a:p>
          <a:p>
            <a:r>
              <a:rPr lang="en-US" sz="2000" dirty="0"/>
              <a:t>The latest information and version of the Benchmark Appraiser Support Environment (BASE) can be accessed at </a:t>
            </a:r>
            <a:r>
              <a:rPr lang="en-US" sz="2000" dirty="0">
                <a:hlinkClick r:id="rId2"/>
              </a:rPr>
              <a:t>www.demix.org/tools</a:t>
            </a:r>
            <a:r>
              <a:rPr lang="en-US" sz="2000" dirty="0"/>
              <a:t> </a:t>
            </a:r>
          </a:p>
        </p:txBody>
      </p:sp>
    </p:spTree>
    <p:extLst>
      <p:ext uri="{BB962C8B-B14F-4D97-AF65-F5344CB8AC3E}">
        <p14:creationId xmlns:p14="http://schemas.microsoft.com/office/powerpoint/2010/main" val="415421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s>
</ds:datastoreItem>
</file>

<file path=customXml/itemProps3.xml><?xml version="1.0" encoding="utf-8"?>
<ds:datastoreItem xmlns:ds="http://schemas.openxmlformats.org/officeDocument/2006/customXml" ds:itemID="{33DCEA0D-FB29-4652-B8AF-FA167DDC996A}"/>
</file>

<file path=docProps/app.xml><?xml version="1.0" encoding="utf-8"?>
<Properties xmlns="http://schemas.openxmlformats.org/officeDocument/2006/extended-properties" xmlns:vt="http://schemas.openxmlformats.org/officeDocument/2006/docPropsVTypes">
  <TotalTime>1109</TotalTime>
  <Words>4644</Words>
  <Application>Microsoft Office PowerPoint</Application>
  <PresentationFormat>Widescreen</PresentationFormat>
  <Paragraphs>293</Paragraphs>
  <Slides>54</Slides>
  <Notes>15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Links</vt:lpstr>
      </vt:variant>
      <vt:variant>
        <vt:i4>19</vt:i4>
      </vt:variant>
      <vt:variant>
        <vt:lpstr>Slide Titles</vt:lpstr>
      </vt:variant>
      <vt:variant>
        <vt:i4>54</vt:i4>
      </vt:variant>
    </vt:vector>
  </HeadingPairs>
  <TitlesOfParts>
    <vt:vector size="85" baseType="lpstr">
      <vt:lpstr>DengXian</vt:lpstr>
      <vt:lpstr>DengXian</vt:lpstr>
      <vt:lpstr>等线 Light</vt:lpstr>
      <vt:lpstr>等线 Light</vt:lpstr>
      <vt:lpstr>宋体</vt:lpstr>
      <vt:lpstr>Arial</vt:lpstr>
      <vt:lpstr>Calibri</vt:lpstr>
      <vt:lpstr>Calibri Light</vt:lpstr>
      <vt:lpstr>Gotham A</vt:lpstr>
      <vt:lpstr>Open Sans</vt:lpstr>
      <vt:lpstr>Söhne</vt:lpstr>
      <vt:lpstr>Office Theme</vt:lpstr>
      <vt:lpstr>file:///G:\2024-05-04to05-10%20(A5)%20C384400%20NASA\00_Data_Reference.xlsm!pptxCover!R4C2:R13C2</vt:lpstr>
      <vt:lpstr>file:///G:\2024-05-04to05-10%20(A5)%20C384400%20NASA\00_Data_Reference.xlsm!pptxCover!R15C2:R17C2</vt:lpstr>
      <vt:lpstr>file:///G:\2024-05-04to05-10%20(A5)%20C384400%20NASA\00_Data_Reference.xlsm!pptxCover!R22C2</vt:lpstr>
      <vt:lpstr>file:///G:\2024-05-04to05-10%20(A5)%20C384400%20NASA\00_Data_Reference.xlsm!pptxLink1!R1C1:R7C2</vt:lpstr>
      <vt:lpstr>file:///G:\2024-05-04to05-10%20(A5)%20C384400%20NASA\00_Data_Reference.xlsm!pptxLink1!R10C1:R18C2</vt:lpstr>
      <vt:lpstr>file:///G:\2024-05-04to05-10%20(A5)%20C384400%20NASA\00_Data_Reference.xlsm!pptxLink2!R1C1:R4C1</vt:lpstr>
      <vt:lpstr>file:///G:\2024-05-04to05-10%20(A5)%20C384400%20NASA\00_Data_Reference.xlsm!pptxLink1!R20C1:R31C2</vt:lpstr>
      <vt:lpstr>file:///G:\2024-05-04to05-10%20(A5)%20C384400%20NASA\00_Data_Reference.xlsm!pptxLink3!R2C1:R24C9</vt:lpstr>
      <vt:lpstr>file:///G:\2024-05-04to05-10%20(A5)%20C384400%20NASA\00_Data_Reference.xlsm!pptxLink2!R30C1:R35C1</vt:lpstr>
      <vt:lpstr>file:///G:\2024-05-04to05-10%20(A5)%20C384400%20NASA\00_Data_Reference.xlsm!pptxLink4!R10C1:R27C20</vt:lpstr>
      <vt:lpstr>file:///G:\2024-05-04to05-10%20(A5)%20C384400%20NASA\00_Data_Reference.xlsm!pptxLink5!R1C1:R11C5</vt:lpstr>
      <vt:lpstr>file:///G:\2024-05-04to05-10%20(A5)%20C384400%20NASA\00_Data_Reference.xlsm!pptxLink5!R15C1:R21C5</vt:lpstr>
      <vt:lpstr>file:///G:\2024-05-04to05-10%20(A5)%20C384400%20NASA\00_Data_Reference.xlsm!pptxLink1!R9C4</vt:lpstr>
      <vt:lpstr>file:///G:\2024-05-04to05-10%20(A5)%20C384400%20NASA\00_Data_Reference.xlsm!pptxLink1!R9C4</vt:lpstr>
      <vt:lpstr>file:///G:\2024-05-04to05-10%20(A5)%20C384400%20NASA\00_Data_Reference.xlsm!pptxLink6!R2C2:R13C5</vt:lpstr>
      <vt:lpstr>file:///G:\2024-05-04to05-10%20(A5)%20C384400%20NASA\00_Data_Reference.xlsm!pptxLink7!R2C2:R16C4</vt:lpstr>
      <vt:lpstr>file:///G:\2024-05-04to05-10%20(A5)%20C384400%20NASA\00_Data_Reference.xlsm!pptxLink7!R18C2:R32C4</vt:lpstr>
      <vt:lpstr>file:///G:\2024-05-04to05-10%20(A5)%20C384400%20NASA\00_Data_Reference.xlsm!pptxCover!R26C2:R33C4</vt:lpstr>
      <vt:lpstr>file:///G:\2024-05-04to05-10%20(A5)%20C384400%20NASA\00_Data_Reference.xlsm!pptxCover!R23C7</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DEMIXIUM™</vt:lpstr>
      <vt:lpstr>Next steps</vt:lpstr>
      <vt:lpstr>Re-appraisal</vt:lpstr>
      <vt:lpstr>PowerPoint Presentation</vt:lpstr>
      <vt:lpstr>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Pieter van Zyl</cp:lastModifiedBy>
  <cp:revision>99</cp:revision>
  <cp:lastPrinted>2020-11-23T18:22:15Z</cp:lastPrinted>
  <dcterms:created xsi:type="dcterms:W3CDTF">2020-11-22T06:57:57Z</dcterms:created>
  <dcterms:modified xsi:type="dcterms:W3CDTF">2024-08-11T08:02:11Z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ies>
</file>