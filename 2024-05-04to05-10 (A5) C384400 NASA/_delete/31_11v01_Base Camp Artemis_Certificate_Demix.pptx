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58" r:id="rId6"/>
  </p:sldIdLst>
  <p:sldSz cx="10693400" cy="75565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E5B5EE-93DC-4DEB-A6F2-90AB61DBDAF2}" v="2" dt="2025-09-15T05:00:44.0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848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anie Spies" userId="ef25dda8-0341-4aab-b4c7-f9ee53be8909" providerId="ADAL" clId="{58349FDB-4F03-45F7-9587-A31371CABC64}"/>
    <pc:docChg chg="custSel modSld">
      <pc:chgData name="Melanie Spies" userId="ef25dda8-0341-4aab-b4c7-f9ee53be8909" providerId="ADAL" clId="{58349FDB-4F03-45F7-9587-A31371CABC64}" dt="2025-09-15T05:00:44.008" v="13"/>
      <pc:docMkLst>
        <pc:docMk/>
      </pc:docMkLst>
      <pc:sldChg chg="addSp modSp mod">
        <pc:chgData name="Melanie Spies" userId="ef25dda8-0341-4aab-b4c7-f9ee53be8909" providerId="ADAL" clId="{58349FDB-4F03-45F7-9587-A31371CABC64}" dt="2025-09-15T05:00:34.918" v="11" actId="1076"/>
        <pc:sldMkLst>
          <pc:docMk/>
          <pc:sldMk cId="0" sldId="256"/>
        </pc:sldMkLst>
        <pc:picChg chg="add mod">
          <ac:chgData name="Melanie Spies" userId="ef25dda8-0341-4aab-b4c7-f9ee53be8909" providerId="ADAL" clId="{58349FDB-4F03-45F7-9587-A31371CABC64}" dt="2025-09-15T05:00:34.918" v="11" actId="1076"/>
          <ac:picMkLst>
            <pc:docMk/>
            <pc:sldMk cId="0" sldId="256"/>
            <ac:picMk id="7" creationId="{E79DD4C2-75AD-E563-032C-0FA335E478A1}"/>
          </ac:picMkLst>
        </pc:picChg>
        <pc:picChg chg="mod">
          <ac:chgData name="Melanie Spies" userId="ef25dda8-0341-4aab-b4c7-f9ee53be8909" providerId="ADAL" clId="{58349FDB-4F03-45F7-9587-A31371CABC64}" dt="2025-09-15T05:00:32.459" v="10" actId="1076"/>
          <ac:picMkLst>
            <pc:docMk/>
            <pc:sldMk cId="0" sldId="256"/>
            <ac:picMk id="22" creationId="{81B2049F-EB2D-4B63-B33C-D128C22C705F}"/>
          </ac:picMkLst>
        </pc:picChg>
      </pc:sldChg>
      <pc:sldChg chg="addSp delSp modSp mod">
        <pc:chgData name="Melanie Spies" userId="ef25dda8-0341-4aab-b4c7-f9ee53be8909" providerId="ADAL" clId="{58349FDB-4F03-45F7-9587-A31371CABC64}" dt="2025-09-15T05:00:44.008" v="13"/>
        <pc:sldMkLst>
          <pc:docMk/>
          <pc:sldMk cId="2094772015" sldId="258"/>
        </pc:sldMkLst>
        <pc:picChg chg="add mod">
          <ac:chgData name="Melanie Spies" userId="ef25dda8-0341-4aab-b4c7-f9ee53be8909" providerId="ADAL" clId="{58349FDB-4F03-45F7-9587-A31371CABC64}" dt="2025-09-15T05:00:44.008" v="13"/>
          <ac:picMkLst>
            <pc:docMk/>
            <pc:sldMk cId="2094772015" sldId="258"/>
            <ac:picMk id="3" creationId="{F8A08E23-E230-7E2D-BA07-662391528FA8}"/>
          </ac:picMkLst>
        </pc:picChg>
        <pc:picChg chg="add mod">
          <ac:chgData name="Melanie Spies" userId="ef25dda8-0341-4aab-b4c7-f9ee53be8909" providerId="ADAL" clId="{58349FDB-4F03-45F7-9587-A31371CABC64}" dt="2025-09-15T05:00:44.008" v="13"/>
          <ac:picMkLst>
            <pc:docMk/>
            <pc:sldMk cId="2094772015" sldId="258"/>
            <ac:picMk id="6" creationId="{8CB31FCD-7A83-CF7E-A728-2BB55E838BFC}"/>
          </ac:picMkLst>
        </pc:picChg>
        <pc:picChg chg="del">
          <ac:chgData name="Melanie Spies" userId="ef25dda8-0341-4aab-b4c7-f9ee53be8909" providerId="ADAL" clId="{58349FDB-4F03-45F7-9587-A31371CABC64}" dt="2025-09-15T05:00:42.795" v="12" actId="478"/>
          <ac:picMkLst>
            <pc:docMk/>
            <pc:sldMk cId="2094772015" sldId="258"/>
            <ac:picMk id="21" creationId="{59653584-A295-45B5-B872-95129987FEB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0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 lIns="84756" tIns="42378" rIns="84756" bIns="42378"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1828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 lIns="84756" tIns="42378" rIns="84756" bIns="42378"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151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678" y="2342518"/>
            <a:ext cx="909702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5357" y="4231642"/>
            <a:ext cx="749166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119" y="1737997"/>
            <a:ext cx="46555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11730" y="1737997"/>
            <a:ext cx="46555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119" y="302262"/>
            <a:ext cx="96321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119" y="1737997"/>
            <a:ext cx="96321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8812" y="7027547"/>
            <a:ext cx="34247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5119" y="7027547"/>
            <a:ext cx="24615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05719" y="7027547"/>
            <a:ext cx="24615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46957">
        <a:defRPr>
          <a:latin typeface="+mn-lt"/>
          <a:ea typeface="+mn-ea"/>
          <a:cs typeface="+mn-cs"/>
        </a:defRPr>
      </a:lvl2pPr>
      <a:lvl3pPr marL="1293915">
        <a:defRPr>
          <a:latin typeface="+mn-lt"/>
          <a:ea typeface="+mn-ea"/>
          <a:cs typeface="+mn-cs"/>
        </a:defRPr>
      </a:lvl3pPr>
      <a:lvl4pPr marL="1940869">
        <a:defRPr>
          <a:latin typeface="+mn-lt"/>
          <a:ea typeface="+mn-ea"/>
          <a:cs typeface="+mn-cs"/>
        </a:defRPr>
      </a:lvl4pPr>
      <a:lvl5pPr marL="2587825">
        <a:defRPr>
          <a:latin typeface="+mn-lt"/>
          <a:ea typeface="+mn-ea"/>
          <a:cs typeface="+mn-cs"/>
        </a:defRPr>
      </a:lvl5pPr>
      <a:lvl6pPr marL="3234786">
        <a:defRPr>
          <a:latin typeface="+mn-lt"/>
          <a:ea typeface="+mn-ea"/>
          <a:cs typeface="+mn-cs"/>
        </a:defRPr>
      </a:lvl6pPr>
      <a:lvl7pPr marL="3881740">
        <a:defRPr>
          <a:latin typeface="+mn-lt"/>
          <a:ea typeface="+mn-ea"/>
          <a:cs typeface="+mn-cs"/>
        </a:defRPr>
      </a:lvl7pPr>
      <a:lvl8pPr marL="4528698">
        <a:defRPr>
          <a:latin typeface="+mn-lt"/>
          <a:ea typeface="+mn-ea"/>
          <a:cs typeface="+mn-cs"/>
        </a:defRPr>
      </a:lvl8pPr>
      <a:lvl9pPr marL="517565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46957">
        <a:defRPr>
          <a:latin typeface="+mn-lt"/>
          <a:ea typeface="+mn-ea"/>
          <a:cs typeface="+mn-cs"/>
        </a:defRPr>
      </a:lvl2pPr>
      <a:lvl3pPr marL="1293915">
        <a:defRPr>
          <a:latin typeface="+mn-lt"/>
          <a:ea typeface="+mn-ea"/>
          <a:cs typeface="+mn-cs"/>
        </a:defRPr>
      </a:lvl3pPr>
      <a:lvl4pPr marL="1940869">
        <a:defRPr>
          <a:latin typeface="+mn-lt"/>
          <a:ea typeface="+mn-ea"/>
          <a:cs typeface="+mn-cs"/>
        </a:defRPr>
      </a:lvl4pPr>
      <a:lvl5pPr marL="2587825">
        <a:defRPr>
          <a:latin typeface="+mn-lt"/>
          <a:ea typeface="+mn-ea"/>
          <a:cs typeface="+mn-cs"/>
        </a:defRPr>
      </a:lvl5pPr>
      <a:lvl6pPr marL="3234786">
        <a:defRPr>
          <a:latin typeface="+mn-lt"/>
          <a:ea typeface="+mn-ea"/>
          <a:cs typeface="+mn-cs"/>
        </a:defRPr>
      </a:lvl6pPr>
      <a:lvl7pPr marL="3881740">
        <a:defRPr>
          <a:latin typeface="+mn-lt"/>
          <a:ea typeface="+mn-ea"/>
          <a:cs typeface="+mn-cs"/>
        </a:defRPr>
      </a:lvl7pPr>
      <a:lvl8pPr marL="4528698">
        <a:defRPr>
          <a:latin typeface="+mn-lt"/>
          <a:ea typeface="+mn-ea"/>
          <a:cs typeface="+mn-cs"/>
        </a:defRPr>
      </a:lvl8pPr>
      <a:lvl9pPr marL="517565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image" Target="../media/image7.png"/><Relationship Id="rId1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oleObject" Target="file:///G:\2024-05-04to05-10%20(A5)%20C384400%20NASA\00_Data_Reference.xlsm!pptxCertificate!R2C2:R3C9" TargetMode="External"/><Relationship Id="rId12" Type="http://schemas.openxmlformats.org/officeDocument/2006/relationships/image" Target="../media/image6.emf"/><Relationship Id="rId17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6" Type="http://schemas.openxmlformats.org/officeDocument/2006/relationships/oleObject" Target="file:///G:\2024-05-04to05-10%20(A5)%20C384400%20NASA\00_Data_Reference.xlsm!pptxCertificate!R11C6:R11C8" TargetMode="Externa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emf"/><Relationship Id="rId11" Type="http://schemas.openxmlformats.org/officeDocument/2006/relationships/oleObject" Target="file:///G:\2024-05-04to05-10%20(A5)%20C384400%20NASA\00_Data_Reference.xlsm!pptxCertificate!R7C2:R7C9" TargetMode="External"/><Relationship Id="rId5" Type="http://schemas.openxmlformats.org/officeDocument/2006/relationships/oleObject" Target="file:///G:\2024-05-04to05-10%20(A5)%20C384400%20NASA\00_Data_Reference.xlsm!pptxCertificate!R9C7:R9C8" TargetMode="External"/><Relationship Id="rId15" Type="http://schemas.openxmlformats.org/officeDocument/2006/relationships/image" Target="../media/image8.emf"/><Relationship Id="rId10" Type="http://schemas.openxmlformats.org/officeDocument/2006/relationships/image" Target="../media/image5.emf"/><Relationship Id="rId19" Type="http://schemas.openxmlformats.org/officeDocument/2006/relationships/image" Target="../media/image11.jpeg"/><Relationship Id="rId4" Type="http://schemas.openxmlformats.org/officeDocument/2006/relationships/image" Target="../media/image2.jpg"/><Relationship Id="rId9" Type="http://schemas.openxmlformats.org/officeDocument/2006/relationships/oleObject" Target="file:///G:\2024-05-04to05-10%20(A5)%20C384400%20NASA\00_Data_Reference.xlsm!pptxCertificate!R4C2:R5C9" TargetMode="External"/><Relationship Id="rId14" Type="http://schemas.openxmlformats.org/officeDocument/2006/relationships/oleObject" Target="file:///G:\2024-05-04to05-10%20(A5)%20C384400%20NASA\00_Data_Reference.xlsm!pptxCertificate!R13C7:R15C9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0.png"/><Relationship Id="rId1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oleObject" Target="file:///G:\2024-05-04to05-10%20(A5)%20C384400%20NASA\00_Data_Reference.xlsm!pptxCertificate!R7C2:R7C9" TargetMode="External"/><Relationship Id="rId12" Type="http://schemas.openxmlformats.org/officeDocument/2006/relationships/image" Target="../media/image9.emf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2.xml"/><Relationship Id="rId16" Type="http://schemas.openxmlformats.org/officeDocument/2006/relationships/oleObject" Target="file:///G:\2024-05-04to05-10%20(A5)%20C384400%20NASA\00_Data_Reference.xlsm!pptxCertificate!R4C2:R4C9" TargetMode="Externa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emf"/><Relationship Id="rId11" Type="http://schemas.openxmlformats.org/officeDocument/2006/relationships/oleObject" Target="file:///G:\2024-05-04to05-10%20(A5)%20C384400%20NASA\00_Data_Reference.xlsm!pptxCertificate!R11C6:R11C8" TargetMode="External"/><Relationship Id="rId5" Type="http://schemas.openxmlformats.org/officeDocument/2006/relationships/oleObject" Target="file:///G:\2024-05-04to05-10%20(A5)%20C384400%20NASA\00_Data_Reference.xlsm!pptxCertificate!R9C7:R9C8" TargetMode="External"/><Relationship Id="rId15" Type="http://schemas.openxmlformats.org/officeDocument/2006/relationships/image" Target="../media/image14.emf"/><Relationship Id="rId10" Type="http://schemas.openxmlformats.org/officeDocument/2006/relationships/image" Target="../media/image8.emf"/><Relationship Id="rId19" Type="http://schemas.openxmlformats.org/officeDocument/2006/relationships/image" Target="../media/image11.jpeg"/><Relationship Id="rId4" Type="http://schemas.openxmlformats.org/officeDocument/2006/relationships/image" Target="../media/image2.jpg"/><Relationship Id="rId9" Type="http://schemas.openxmlformats.org/officeDocument/2006/relationships/oleObject" Target="file:///G:\2024-05-04to05-10%20(A5)%20C384400%20NASA\00_Data_Reference.xlsm!pptxCertificate!R13C7:R15C9" TargetMode="External"/><Relationship Id="rId14" Type="http://schemas.openxmlformats.org/officeDocument/2006/relationships/oleObject" Target="file:///G:\2024-05-04to05-10%20(A5)%20C384400%20NASA\00_Data_Reference.xlsm!pptxCertificate!R2C2:R2C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3400" y="-1365251"/>
            <a:ext cx="7162800" cy="10287000"/>
          </a:xfrm>
          <a:prstGeom prst="rect">
            <a:avLst/>
          </a:prstGeom>
        </p:spPr>
      </p:pic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91168"/>
              </p:ext>
            </p:extLst>
          </p:nvPr>
        </p:nvGraphicFramePr>
        <p:xfrm>
          <a:off x="2579698" y="882650"/>
          <a:ext cx="5534005" cy="67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042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C</a:t>
                      </a:r>
                      <a:r>
                        <a:rPr lang="en-ZA" sz="3600" b="1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ertificate </a:t>
                      </a: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of Achievement</a:t>
                      </a:r>
                    </a:p>
                  </a:txBody>
                  <a:tcPr marL="129399" marR="129399" marT="64701" marB="64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 rot="16200000">
            <a:off x="5307854" y="-3444617"/>
            <a:ext cx="153888" cy="7620002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972" algn="ctr"/>
            <a:r>
              <a:rPr sz="1000" dirty="0">
                <a:solidFill>
                  <a:srgbClr val="231F20"/>
                </a:solidFill>
                <a:cs typeface="Microsoft PhagsPa"/>
              </a:rPr>
              <a:t>® 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elin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a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nd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CMM</a:t>
            </a:r>
            <a:r>
              <a:rPr lang="en-US"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is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in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he 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.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S.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P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ent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&amp; 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rad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k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O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ffi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e.</a:t>
            </a:r>
            <a:endParaRPr sz="1000" dirty="0">
              <a:cs typeface="Microsoft PhagsPa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71" y="5345260"/>
            <a:ext cx="3502529" cy="947590"/>
          </a:xfrm>
          <a:prstGeom prst="rect">
            <a:avLst/>
          </a:prstGeom>
        </p:spPr>
      </p:pic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46333"/>
              </p:ext>
            </p:extLst>
          </p:nvPr>
        </p:nvGraphicFramePr>
        <p:xfrm>
          <a:off x="1081292" y="1438922"/>
          <a:ext cx="8607011" cy="515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749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r>
                        <a:rPr lang="en-ZA" sz="24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Benchmark Appraisal</a:t>
                      </a: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against the </a:t>
                      </a: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L="0" marR="825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Development (CMMI-DEV)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bk object 16"/>
          <p:cNvSpPr/>
          <p:nvPr/>
        </p:nvSpPr>
        <p:spPr>
          <a:xfrm flipV="1">
            <a:off x="6353342" y="5593415"/>
            <a:ext cx="1927897" cy="45719"/>
          </a:xfrm>
          <a:custGeom>
            <a:avLst/>
            <a:gdLst/>
            <a:ahLst/>
            <a:cxnLst/>
            <a:rect l="l" t="t" r="r" b="b"/>
            <a:pathLst>
              <a:path w="2026285">
                <a:moveTo>
                  <a:pt x="0" y="0"/>
                </a:moveTo>
                <a:lnTo>
                  <a:pt x="2026079" y="0"/>
                </a:lnTo>
              </a:path>
            </a:pathLst>
          </a:custGeom>
          <a:ln w="90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546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168958"/>
              </p:ext>
            </p:extLst>
          </p:nvPr>
        </p:nvGraphicFramePr>
        <p:xfrm>
          <a:off x="5041900" y="5457713"/>
          <a:ext cx="4607348" cy="114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0958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600" dirty="0">
                        <a:solidFill>
                          <a:schemeClr val="lt1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79ABC3-5F4E-41B4-BF14-E7C6A7DBC9E4}"/>
              </a:ext>
            </a:extLst>
          </p:cNvPr>
          <p:cNvSpPr/>
          <p:nvPr/>
        </p:nvSpPr>
        <p:spPr>
          <a:xfrm>
            <a:off x="546100" y="442330"/>
            <a:ext cx="9677400" cy="6649876"/>
          </a:xfrm>
          <a:prstGeom prst="roundRect">
            <a:avLst>
              <a:gd name="adj" fmla="val 530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1905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C8E1A4-DACD-46E5-B3A8-3D99FE6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977791"/>
              </p:ext>
            </p:extLst>
          </p:nvPr>
        </p:nvGraphicFramePr>
        <p:xfrm>
          <a:off x="4598988" y="4795838"/>
          <a:ext cx="261143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522043" imgH="335154" progId="Excel.SheetMacroEnabled.12">
                  <p:link updateAutomatic="1"/>
                </p:oleObj>
              </mc:Choice>
              <mc:Fallback>
                <p:oleObj name="Macro-Enabled Worksheet" r:id="rId5" imgW="2522043" imgH="335154" progId="Excel.SheetMacroEnabled.12">
                  <p:link updateAutomatic="1"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CC8E1A4-DACD-46E5-B3A8-3D99FE60E3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98988" y="4795838"/>
                        <a:ext cx="2611437" cy="32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BD05F25-B019-4315-AE22-D0939A9F1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099943"/>
              </p:ext>
            </p:extLst>
          </p:nvPr>
        </p:nvGraphicFramePr>
        <p:xfrm>
          <a:off x="1792288" y="2122488"/>
          <a:ext cx="7110412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6819723" imgH="548782" progId="Excel.SheetMacroEnabled.12">
                  <p:link updateAutomatic="1"/>
                </p:oleObj>
              </mc:Choice>
              <mc:Fallback>
                <p:oleObj name="Macro-Enabled Worksheet" r:id="rId7" imgW="6819723" imgH="548782" progId="Excel.SheetMacroEnabled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BD05F25-B019-4315-AE22-D0939A9F11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2288" y="2122488"/>
                        <a:ext cx="7110412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AD7DDDC-0AB7-4F41-8650-581DCBDF3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339608"/>
              </p:ext>
            </p:extLst>
          </p:nvPr>
        </p:nvGraphicFramePr>
        <p:xfrm>
          <a:off x="1712913" y="2913063"/>
          <a:ext cx="71104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6819723" imgH="640033" progId="Excel.SheetMacroEnabled.12">
                  <p:link updateAutomatic="1"/>
                </p:oleObj>
              </mc:Choice>
              <mc:Fallback>
                <p:oleObj name="Macro-Enabled Worksheet" r:id="rId9" imgW="6819723" imgH="640033" progId="Excel.SheetMacroEnabled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AD7DDDC-0AB7-4F41-8650-581DCBDF3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12913" y="2913063"/>
                        <a:ext cx="7110412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98D737-2470-466C-A00A-4F41B5A3B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635191"/>
              </p:ext>
            </p:extLst>
          </p:nvPr>
        </p:nvGraphicFramePr>
        <p:xfrm>
          <a:off x="1830388" y="3717925"/>
          <a:ext cx="71104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6819723" imgH="335154" progId="Excel.SheetMacroEnabled.12">
                  <p:link updateAutomatic="1"/>
                </p:oleObj>
              </mc:Choice>
              <mc:Fallback>
                <p:oleObj name="Macro-Enabled Worksheet" r:id="rId11" imgW="6819723" imgH="335154" progId="Excel.SheetMacroEnabled.12">
                  <p:link updateAutomatic="1"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998D737-2470-466C-A00A-4F41B5A3B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30388" y="3717925"/>
                        <a:ext cx="7110412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close up of ware&#10;&#10;Description automatically generated">
            <a:extLst>
              <a:ext uri="{FF2B5EF4-FFF2-40B4-BE49-F238E27FC236}">
                <a16:creationId xmlns:a16="http://schemas.microsoft.com/office/drawing/2014/main" id="{C91F64D8-352C-48E9-B9A6-DEB1BA226E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381" y="2534123"/>
            <a:ext cx="1608779" cy="1616863"/>
          </a:xfrm>
          <a:prstGeom prst="rect">
            <a:avLst/>
          </a:prstGeom>
        </p:spPr>
      </p:pic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8B2CB21-1644-4E2B-ADF6-6DE333311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352840"/>
              </p:ext>
            </p:extLst>
          </p:nvPr>
        </p:nvGraphicFramePr>
        <p:xfrm>
          <a:off x="5208588" y="5902325"/>
          <a:ext cx="3933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4" imgW="3779662" imgH="906962" progId="Excel.SheetMacroEnabled.12">
                  <p:link updateAutomatic="1"/>
                </p:oleObj>
              </mc:Choice>
              <mc:Fallback>
                <p:oleObj name="Macro-Enabled Worksheet" r:id="rId14" imgW="3779662" imgH="906962" progId="Excel.SheetMacroEnabled.12">
                  <p:link updateAutomatic="1"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8B2CB21-1644-4E2B-ADF6-6DE333311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08588" y="5902325"/>
                        <a:ext cx="393382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C8715-1259-49D1-9C80-B137EDDE0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642541"/>
              </p:ext>
            </p:extLst>
          </p:nvPr>
        </p:nvGraphicFramePr>
        <p:xfrm>
          <a:off x="3694113" y="4876800"/>
          <a:ext cx="32146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6" imgW="3093649" imgH="251578" progId="Excel.SheetMacroEnabled.12">
                  <p:link updateAutomatic="1"/>
                </p:oleObj>
              </mc:Choice>
              <mc:Fallback>
                <p:oleObj name="Macro-Enabled Worksheet" r:id="rId16" imgW="3093649" imgH="251578" progId="Excel.SheetMacroEnabled.12">
                  <p:link updateAutomatic="1"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BCC8715-1259-49D1-9C80-B137EDDE0B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694113" y="4876800"/>
                        <a:ext cx="3214687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 descr="A picture containing sitting&#10;&#10;Description automatically generated">
            <a:extLst>
              <a:ext uri="{FF2B5EF4-FFF2-40B4-BE49-F238E27FC236}">
                <a16:creationId xmlns:a16="http://schemas.microsoft.com/office/drawing/2014/main" id="{5F65ABCE-EF2F-47AD-9772-4A796DE4991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24" y="4990347"/>
            <a:ext cx="1594684" cy="9961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1B2049F-EB2D-4B63-B33C-D128C22C705F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752411" y="6460334"/>
            <a:ext cx="1932631" cy="5116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7F89CD-651A-4523-BAC1-712F5F88B523}"/>
              </a:ext>
            </a:extLst>
          </p:cNvPr>
          <p:cNvSpPr txBox="1"/>
          <p:nvPr/>
        </p:nvSpPr>
        <p:spPr>
          <a:xfrm>
            <a:off x="2048946" y="5224256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haroni" panose="02010803020104030203" pitchFamily="2" charset="-79"/>
                <a:cs typeface="Aharoni" panose="02010803020104030203" pitchFamily="2" charset="-79"/>
              </a:rPr>
              <a:t>TM</a:t>
            </a:r>
            <a:endParaRPr lang="en-US" sz="1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E78C70-3ECB-47E5-B82E-3ED3545C3FB5}"/>
              </a:ext>
            </a:extLst>
          </p:cNvPr>
          <p:cNvSpPr txBox="1"/>
          <p:nvPr/>
        </p:nvSpPr>
        <p:spPr>
          <a:xfrm>
            <a:off x="2727325" y="7043283"/>
            <a:ext cx="5081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FF0000"/>
                </a:solidFill>
              </a:rPr>
              <a:t>Demix Logo is a registered trademark in PRC# 21050449 and RSA# 2016/17910</a:t>
            </a:r>
          </a:p>
        </p:txBody>
      </p: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E79DD4C2-75AD-E563-032C-0FA335E478A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593" y="6306995"/>
            <a:ext cx="3013303" cy="846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3400" y="-1365251"/>
            <a:ext cx="7162800" cy="10287000"/>
          </a:xfrm>
          <a:prstGeom prst="rect">
            <a:avLst/>
          </a:prstGeom>
        </p:spPr>
      </p:pic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2579698" y="882650"/>
          <a:ext cx="5534005" cy="67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042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C</a:t>
                      </a:r>
                      <a:r>
                        <a:rPr lang="en-ZA" sz="3600" b="1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ertificate </a:t>
                      </a: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of Achievement</a:t>
                      </a:r>
                    </a:p>
                  </a:txBody>
                  <a:tcPr marL="129399" marR="129399" marT="64701" marB="64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 rot="16200000">
            <a:off x="5307854" y="-3444617"/>
            <a:ext cx="153888" cy="7620002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972" algn="ctr"/>
            <a:r>
              <a:rPr sz="1000" dirty="0">
                <a:solidFill>
                  <a:srgbClr val="231F20"/>
                </a:solidFill>
                <a:cs typeface="Microsoft PhagsPa"/>
              </a:rPr>
              <a:t>® 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elin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a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nd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CMM</a:t>
            </a:r>
            <a:r>
              <a:rPr lang="en-US"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is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in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he 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.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S.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P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ent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&amp; 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rad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k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O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ffi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e.</a:t>
            </a:r>
            <a:endParaRPr sz="1000" dirty="0">
              <a:cs typeface="Microsoft PhagsPa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71" y="5345260"/>
            <a:ext cx="3502529" cy="947590"/>
          </a:xfrm>
          <a:prstGeom prst="rect">
            <a:avLst/>
          </a:prstGeom>
        </p:spPr>
      </p:pic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93990"/>
              </p:ext>
            </p:extLst>
          </p:nvPr>
        </p:nvGraphicFramePr>
        <p:xfrm>
          <a:off x="1049149" y="1438922"/>
          <a:ext cx="8607011" cy="515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749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r>
                        <a:rPr lang="en-ZA" sz="24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Benchmark Appraisal</a:t>
                      </a: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against the </a:t>
                      </a: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L="0" marR="825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Development (CMMI-DEV)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bk object 16"/>
          <p:cNvSpPr/>
          <p:nvPr/>
        </p:nvSpPr>
        <p:spPr>
          <a:xfrm flipV="1">
            <a:off x="6353342" y="5593415"/>
            <a:ext cx="1927897" cy="45719"/>
          </a:xfrm>
          <a:custGeom>
            <a:avLst/>
            <a:gdLst/>
            <a:ahLst/>
            <a:cxnLst/>
            <a:rect l="l" t="t" r="r" b="b"/>
            <a:pathLst>
              <a:path w="2026285">
                <a:moveTo>
                  <a:pt x="0" y="0"/>
                </a:moveTo>
                <a:lnTo>
                  <a:pt x="2026079" y="0"/>
                </a:lnTo>
              </a:path>
            </a:pathLst>
          </a:custGeom>
          <a:ln w="90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546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41900" y="5457713"/>
          <a:ext cx="4607348" cy="114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0958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600" dirty="0">
                        <a:solidFill>
                          <a:schemeClr val="lt1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79ABC3-5F4E-41B4-BF14-E7C6A7DBC9E4}"/>
              </a:ext>
            </a:extLst>
          </p:cNvPr>
          <p:cNvSpPr/>
          <p:nvPr/>
        </p:nvSpPr>
        <p:spPr>
          <a:xfrm>
            <a:off x="546100" y="442330"/>
            <a:ext cx="9677400" cy="6649876"/>
          </a:xfrm>
          <a:prstGeom prst="roundRect">
            <a:avLst>
              <a:gd name="adj" fmla="val 530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1905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C8E1A4-DACD-46E5-B3A8-3D99FE6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568758"/>
              </p:ext>
            </p:extLst>
          </p:nvPr>
        </p:nvGraphicFramePr>
        <p:xfrm>
          <a:off x="4598988" y="4795838"/>
          <a:ext cx="261143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522043" imgH="335154" progId="Excel.SheetMacroEnabled.12">
                  <p:link updateAutomatic="1"/>
                </p:oleObj>
              </mc:Choice>
              <mc:Fallback>
                <p:oleObj name="Macro-Enabled Worksheet" r:id="rId5" imgW="2522043" imgH="335154" progId="Excel.SheetMacroEnabled.12">
                  <p:link updateAutomatic="1"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CC8E1A4-DACD-46E5-B3A8-3D99FE60E3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98988" y="4795838"/>
                        <a:ext cx="2611437" cy="32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98D737-2470-466C-A00A-4F41B5A3B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267764"/>
              </p:ext>
            </p:extLst>
          </p:nvPr>
        </p:nvGraphicFramePr>
        <p:xfrm>
          <a:off x="1839913" y="3565525"/>
          <a:ext cx="711041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6819723" imgH="335154" progId="Excel.SheetMacroEnabled.12">
                  <p:link updateAutomatic="1"/>
                </p:oleObj>
              </mc:Choice>
              <mc:Fallback>
                <p:oleObj name="Macro-Enabled Worksheet" r:id="rId7" imgW="6819723" imgH="335154" progId="Excel.SheetMacroEnabled.12">
                  <p:link updateAutomatic="1"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998D737-2470-466C-A00A-4F41B5A3B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9913" y="3565525"/>
                        <a:ext cx="7110412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8B2CB21-1644-4E2B-ADF6-6DE333311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399034"/>
              </p:ext>
            </p:extLst>
          </p:nvPr>
        </p:nvGraphicFramePr>
        <p:xfrm>
          <a:off x="5208588" y="5902325"/>
          <a:ext cx="3933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779662" imgH="906962" progId="Excel.SheetMacroEnabled.12">
                  <p:link updateAutomatic="1"/>
                </p:oleObj>
              </mc:Choice>
              <mc:Fallback>
                <p:oleObj name="Macro-Enabled Worksheet" r:id="rId9" imgW="3779662" imgH="906962" progId="Excel.SheetMacroEnabled.12">
                  <p:link updateAutomatic="1"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8B2CB21-1644-4E2B-ADF6-6DE333311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08588" y="5902325"/>
                        <a:ext cx="393382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C8715-1259-49D1-9C80-B137EDDE0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872362"/>
              </p:ext>
            </p:extLst>
          </p:nvPr>
        </p:nvGraphicFramePr>
        <p:xfrm>
          <a:off x="3694113" y="4876800"/>
          <a:ext cx="3214687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3093649" imgH="251578" progId="Excel.SheetMacroEnabled.12">
                  <p:link updateAutomatic="1"/>
                </p:oleObj>
              </mc:Choice>
              <mc:Fallback>
                <p:oleObj name="Macro-Enabled Worksheet" r:id="rId11" imgW="3093649" imgH="251578" progId="Excel.SheetMacroEnabled.12">
                  <p:link updateAutomatic="1"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BCC8715-1259-49D1-9C80-B137EDDE0B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94113" y="4876800"/>
                        <a:ext cx="3214687" cy="261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 descr="A picture containing sitting&#10;&#10;Description automatically generated">
            <a:extLst>
              <a:ext uri="{FF2B5EF4-FFF2-40B4-BE49-F238E27FC236}">
                <a16:creationId xmlns:a16="http://schemas.microsoft.com/office/drawing/2014/main" id="{5F65ABCE-EF2F-47AD-9772-4A796DE4991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24" y="4990347"/>
            <a:ext cx="1594684" cy="996154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A94E6B8-41B2-425D-B6C8-A4B5B1D35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420572"/>
              </p:ext>
            </p:extLst>
          </p:nvPr>
        </p:nvGraphicFramePr>
        <p:xfrm>
          <a:off x="1830388" y="2341563"/>
          <a:ext cx="71104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4" imgW="6819723" imgH="304879" progId="Excel.SheetMacroEnabled.12">
                  <p:link updateAutomatic="1"/>
                </p:oleObj>
              </mc:Choice>
              <mc:Fallback>
                <p:oleObj name="Macro-Enabled Worksheet" r:id="rId14" imgW="6819723" imgH="304879" progId="Excel.SheetMacroEnabled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A94E6B8-41B2-425D-B6C8-A4B5B1D35E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30388" y="2341563"/>
                        <a:ext cx="7110412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C138D35-4CC4-4B05-BA00-378FB0473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324866"/>
              </p:ext>
            </p:extLst>
          </p:nvPr>
        </p:nvGraphicFramePr>
        <p:xfrm>
          <a:off x="1792288" y="2928938"/>
          <a:ext cx="7110412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6" imgW="6819723" imgH="312554" progId="Excel.SheetMacroEnabled.12">
                  <p:link updateAutomatic="1"/>
                </p:oleObj>
              </mc:Choice>
              <mc:Fallback>
                <p:oleObj name="Macro-Enabled Worksheet" r:id="rId16" imgW="6819723" imgH="312554" progId="Excel.SheetMacroEnabled.12">
                  <p:link updateAutomatic="1"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2C138D35-4CC4-4B05-BA00-378FB04737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92288" y="2928938"/>
                        <a:ext cx="7110412" cy="309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close up of ware&#10;&#10;Description automatically generated">
            <a:extLst>
              <a:ext uri="{FF2B5EF4-FFF2-40B4-BE49-F238E27FC236}">
                <a16:creationId xmlns:a16="http://schemas.microsoft.com/office/drawing/2014/main" id="{C91F64D8-352C-48E9-B9A6-DEB1BA226E7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381" y="2534123"/>
            <a:ext cx="1608779" cy="161686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4FEFC90-5E36-4D99-ABF8-8A7E5BB1829D}"/>
              </a:ext>
            </a:extLst>
          </p:cNvPr>
          <p:cNvSpPr txBox="1"/>
          <p:nvPr/>
        </p:nvSpPr>
        <p:spPr>
          <a:xfrm>
            <a:off x="2048946" y="5224256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haroni" panose="02010803020104030203" pitchFamily="2" charset="-79"/>
                <a:cs typeface="Aharoni" panose="02010803020104030203" pitchFamily="2" charset="-79"/>
              </a:rPr>
              <a:t>TM</a:t>
            </a:r>
            <a:endParaRPr lang="en-US" sz="1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F16FF9-5789-47F3-BACE-2CA609CF68EA}"/>
              </a:ext>
            </a:extLst>
          </p:cNvPr>
          <p:cNvSpPr txBox="1"/>
          <p:nvPr/>
        </p:nvSpPr>
        <p:spPr>
          <a:xfrm>
            <a:off x="2727325" y="7043283"/>
            <a:ext cx="5081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FF0000"/>
                </a:solidFill>
              </a:rPr>
              <a:t>Demix Logo is a registered trademark in PRC# 21050449 and RSA# 2016/17910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A08E23-E230-7E2D-BA07-662391528FA8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752411" y="6460334"/>
            <a:ext cx="1932631" cy="511681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8CB31FCD-7A83-CF7E-A728-2BB55E838BF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593" y="6306995"/>
            <a:ext cx="3013303" cy="84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7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8621ed04baf9bb831d48409b5d3151d6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140f437a681dba5a8fcdfdbc513fc392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FEE0E7-65B5-4841-9A79-244D5C373752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72e3a154-4955-46c3-9573-e9dec3e1f195"/>
    <ds:schemaRef ds:uri="http://schemas.microsoft.com/office/2006/documentManagement/types"/>
    <ds:schemaRef ds:uri="http://schemas.microsoft.com/office/infopath/2007/PartnerControls"/>
    <ds:schemaRef ds:uri="ec500478-62e0-46fc-87f1-cfa988e486b4"/>
    <ds:schemaRef ds:uri="http://www.w3.org/XML/1998/namespace"/>
    <ds:schemaRef ds:uri="http://purl.org/dc/dcmitype/"/>
    <ds:schemaRef ds:uri="25bcabcf-d275-4206-9fb1-2f2d419cd22b"/>
  </ds:schemaRefs>
</ds:datastoreItem>
</file>

<file path=customXml/itemProps2.xml><?xml version="1.0" encoding="utf-8"?>
<ds:datastoreItem xmlns:ds="http://schemas.openxmlformats.org/officeDocument/2006/customXml" ds:itemID="{163DDE5B-9594-4FF4-BA45-732F4D906A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623B15-1DC7-4794-AFCE-0C7FF9124B3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519</TotalTime>
  <Words>110</Words>
  <Application>Microsoft Office PowerPoint</Application>
  <PresentationFormat>Custom</PresentationFormat>
  <Paragraphs>30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Links</vt:lpstr>
      </vt:variant>
      <vt:variant>
        <vt:i4>12</vt:i4>
      </vt:variant>
      <vt:variant>
        <vt:lpstr>Slide Titles</vt:lpstr>
      </vt:variant>
      <vt:variant>
        <vt:i4>2</vt:i4>
      </vt:variant>
    </vt:vector>
  </HeadingPairs>
  <TitlesOfParts>
    <vt:vector size="19" baseType="lpstr">
      <vt:lpstr>Aharoni</vt:lpstr>
      <vt:lpstr>Arial</vt:lpstr>
      <vt:lpstr>Calibri</vt:lpstr>
      <vt:lpstr>Microsoft PhagsPa</vt:lpstr>
      <vt:lpstr>Office Theme</vt:lpstr>
      <vt:lpstr>file:///G:\2024-05-04to05-10%20(A5)%20C384400%20NASA\00_Data_Reference.xlsm!pptxCertificate!R9C7:R9C8</vt:lpstr>
      <vt:lpstr>file:///G:\2024-05-04to05-10%20(A5)%20C384400%20NASA\00_Data_Reference.xlsm!pptxCertificate!R2C2:R3C9</vt:lpstr>
      <vt:lpstr>file:///G:\2024-05-04to05-10%20(A5)%20C384400%20NASA\00_Data_Reference.xlsm!pptxCertificate!R4C2:R5C9</vt:lpstr>
      <vt:lpstr>file:///G:\2024-05-04to05-10%20(A5)%20C384400%20NASA\00_Data_Reference.xlsm!pptxCertificate!R7C2:R7C9</vt:lpstr>
      <vt:lpstr>file:///G:\2024-05-04to05-10%20(A5)%20C384400%20NASA\00_Data_Reference.xlsm!pptxCertificate!R13C7:R15C9</vt:lpstr>
      <vt:lpstr>file:///G:\2024-05-04to05-10%20(A5)%20C384400%20NASA\00_Data_Reference.xlsm!pptxCertificate!R11C6:R11C8</vt:lpstr>
      <vt:lpstr>file:///G:\2024-05-04to05-10%20(A5)%20C384400%20NASA\00_Data_Reference.xlsm!pptxCertificate!R9C7:R9C8</vt:lpstr>
      <vt:lpstr>file:///G:\2024-05-04to05-10%20(A5)%20C384400%20NASA\00_Data_Reference.xlsm!pptxCertificate!R7C2:R7C9</vt:lpstr>
      <vt:lpstr>file:///G:\2024-05-04to05-10%20(A5)%20C384400%20NASA\00_Data_Reference.xlsm!pptxCertificate!R13C7:R15C9</vt:lpstr>
      <vt:lpstr>file:///G:\2024-05-04to05-10%20(A5)%20C384400%20NASA\00_Data_Reference.xlsm!pptxCertificate!R11C6:R11C8</vt:lpstr>
      <vt:lpstr>file:///G:\2024-05-04to05-10%20(A5)%20C384400%20NASA\00_Data_Reference.xlsm!pptxCertificate!R2C2:R2C9</vt:lpstr>
      <vt:lpstr>file:///G:\2024-05-04to05-10%20(A5)%20C384400%20NASA\00_Data_Reference.xlsm!pptxCertificate!R4C2:R4C9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07 - Dummy - Certificate Chinese</dc:title>
  <dc:creator>Pieter</dc:creator>
  <cp:lastModifiedBy>Melanie Van Zyl</cp:lastModifiedBy>
  <cp:revision>111</cp:revision>
  <cp:lastPrinted>2017-07-31T10:32:34Z</cp:lastPrinted>
  <dcterms:created xsi:type="dcterms:W3CDTF">2014-06-04T13:42:15Z</dcterms:created>
  <dcterms:modified xsi:type="dcterms:W3CDTF">2025-09-15T05:00:46Z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2014-06-04T00:00:00Z</vt:filetime>
  </property>
  <property fmtid="{D5CDD505-2E9C-101B-9397-08002B2CF9AE}" pid="3" name="LastSaved">
    <vt:filetime>2014-06-04T00:00:00Z</vt:filetime>
  </property>
  <property fmtid="{D5CDD505-2E9C-101B-9397-08002B2CF9AE}" pid="4" name="ContentTypeId">
    <vt:lpwstr>0x010100F041F74863103D4C9C3AA0A07291BB02</vt:lpwstr>
  </property>
  <property fmtid="{D5CDD505-2E9C-101B-9397-08002B2CF9AE}" pid="5" name="_dlc_DocIdItemGuid">
    <vt:lpwstr>aeef7d35-09c2-4b14-80ba-1d671147de2c</vt:lpwstr>
  </property>
  <property fmtid="{D5CDD505-2E9C-101B-9397-08002B2CF9AE}" pid="6" name="MediaServiceImageTags">
    <vt:lpwstr/>
  </property>
</Properties>
</file>