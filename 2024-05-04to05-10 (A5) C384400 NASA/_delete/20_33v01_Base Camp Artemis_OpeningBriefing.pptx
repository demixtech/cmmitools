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6"/>
  </p:notesMasterIdLst>
  <p:handoutMasterIdLst>
    <p:handoutMasterId r:id="rId27"/>
  </p:handoutMasterIdLst>
  <p:sldIdLst>
    <p:sldId id="256" r:id="rId5"/>
    <p:sldId id="1553" r:id="rId6"/>
    <p:sldId id="1575" r:id="rId7"/>
    <p:sldId id="1549" r:id="rId8"/>
    <p:sldId id="270" r:id="rId9"/>
    <p:sldId id="928" r:id="rId10"/>
    <p:sldId id="913" r:id="rId11"/>
    <p:sldId id="1550" r:id="rId12"/>
    <p:sldId id="1543" r:id="rId13"/>
    <p:sldId id="310" r:id="rId14"/>
    <p:sldId id="1513" r:id="rId15"/>
    <p:sldId id="914" r:id="rId16"/>
    <p:sldId id="915" r:id="rId17"/>
    <p:sldId id="1506" r:id="rId18"/>
    <p:sldId id="1507" r:id="rId19"/>
    <p:sldId id="923" r:id="rId20"/>
    <p:sldId id="919" r:id="rId21"/>
    <p:sldId id="1552" r:id="rId22"/>
    <p:sldId id="1514" r:id="rId23"/>
    <p:sldId id="483" r:id="rId24"/>
    <p:sldId id="298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72" userDrawn="1">
          <p15:clr>
            <a:srgbClr val="A4A3A4"/>
          </p15:clr>
        </p15:guide>
        <p15:guide id="2" pos="64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ileen Harrison" initials="KH" lastIdx="5" clrIdx="0">
    <p:extLst>
      <p:ext uri="{19B8F6BF-5375-455C-9EA6-DF929625EA0E}">
        <p15:presenceInfo xmlns:p15="http://schemas.microsoft.com/office/powerpoint/2012/main" userId="S::kharrison@cmmiinstitute.com::066fb363-8edf-4a5b-8ebc-c72612b5523d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2589730-1E9F-4081-B31A-2EF6D521F04C}" v="6" dt="2026-01-05T05:13:36.61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9561" autoAdjust="0"/>
    <p:restoredTop sz="92593" autoAdjust="0"/>
  </p:normalViewPr>
  <p:slideViewPr>
    <p:cSldViewPr snapToGrid="0">
      <p:cViewPr varScale="1">
        <p:scale>
          <a:sx n="64" d="100"/>
          <a:sy n="64" d="100"/>
        </p:scale>
        <p:origin x="956" y="40"/>
      </p:cViewPr>
      <p:guideLst>
        <p:guide orient="horz" pos="572"/>
        <p:guide pos="64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handoutMaster" Target="handoutMasters/handoutMaster1.xml"/><Relationship Id="rId30" Type="http://schemas.openxmlformats.org/officeDocument/2006/relationships/viewProps" Target="viewProps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elanie Spies" userId="ef25dda8-0341-4aab-b4c7-f9ee53be8909" providerId="ADAL" clId="{58349FDB-4F03-45F7-9587-A31371CABC64}"/>
    <pc:docChg chg="modSld modMainMaster">
      <pc:chgData name="Melanie Spies" userId="ef25dda8-0341-4aab-b4c7-f9ee53be8909" providerId="ADAL" clId="{58349FDB-4F03-45F7-9587-A31371CABC64}" dt="2026-01-05T05:13:36.420" v="8"/>
      <pc:docMkLst>
        <pc:docMk/>
      </pc:docMkLst>
      <pc:sldChg chg="modSp">
        <pc:chgData name="Melanie Spies" userId="ef25dda8-0341-4aab-b4c7-f9ee53be8909" providerId="ADAL" clId="{58349FDB-4F03-45F7-9587-A31371CABC64}" dt="2026-01-05T05:13:36.420" v="8"/>
        <pc:sldMkLst>
          <pc:docMk/>
          <pc:sldMk cId="2658625538" sldId="256"/>
        </pc:sldMkLst>
        <pc:graphicFrameChg chg="mod">
          <ac:chgData name="Melanie Spies" userId="ef25dda8-0341-4aab-b4c7-f9ee53be8909" providerId="ADAL" clId="{58349FDB-4F03-45F7-9587-A31371CABC64}" dt="2026-01-05T05:13:36.420" v="8"/>
          <ac:graphicFrameMkLst>
            <pc:docMk/>
            <pc:sldMk cId="2658625538" sldId="256"/>
            <ac:graphicFrameMk id="2" creationId="{59536454-AD5B-4F94-8339-31EA3769035D}"/>
          </ac:graphicFrameMkLst>
        </pc:graphicFrameChg>
        <pc:graphicFrameChg chg="mod">
          <ac:chgData name="Melanie Spies" userId="ef25dda8-0341-4aab-b4c7-f9ee53be8909" providerId="ADAL" clId="{58349FDB-4F03-45F7-9587-A31371CABC64}" dt="2026-01-05T05:13:36.420" v="8"/>
          <ac:graphicFrameMkLst>
            <pc:docMk/>
            <pc:sldMk cId="2658625538" sldId="256"/>
            <ac:graphicFrameMk id="9" creationId="{336609E4-9291-48F4-B53A-32D535DF0715}"/>
          </ac:graphicFrameMkLst>
        </pc:graphicFrameChg>
        <pc:graphicFrameChg chg="mod">
          <ac:chgData name="Melanie Spies" userId="ef25dda8-0341-4aab-b4c7-f9ee53be8909" providerId="ADAL" clId="{58349FDB-4F03-45F7-9587-A31371CABC64}" dt="2026-01-05T05:13:36.420" v="8"/>
          <ac:graphicFrameMkLst>
            <pc:docMk/>
            <pc:sldMk cId="2658625538" sldId="256"/>
            <ac:graphicFrameMk id="11" creationId="{6376B0D6-A6B1-4DF8-BDB4-D2848D89586A}"/>
          </ac:graphicFrameMkLst>
        </pc:graphicFrameChg>
      </pc:sldChg>
      <pc:sldChg chg="modSp">
        <pc:chgData name="Melanie Spies" userId="ef25dda8-0341-4aab-b4c7-f9ee53be8909" providerId="ADAL" clId="{58349FDB-4F03-45F7-9587-A31371CABC64}" dt="2026-01-05T05:13:36.420" v="8"/>
        <pc:sldMkLst>
          <pc:docMk/>
          <pc:sldMk cId="2391473198" sldId="270"/>
        </pc:sldMkLst>
        <pc:graphicFrameChg chg="mod">
          <ac:chgData name="Melanie Spies" userId="ef25dda8-0341-4aab-b4c7-f9ee53be8909" providerId="ADAL" clId="{58349FDB-4F03-45F7-9587-A31371CABC64}" dt="2026-01-05T05:13:36.420" v="8"/>
          <ac:graphicFrameMkLst>
            <pc:docMk/>
            <pc:sldMk cId="2391473198" sldId="270"/>
            <ac:graphicFrameMk id="3" creationId="{FD9062E2-4292-411C-8888-3870D8C30760}"/>
          </ac:graphicFrameMkLst>
        </pc:graphicFrameChg>
      </pc:sldChg>
      <pc:sldChg chg="modSp">
        <pc:chgData name="Melanie Spies" userId="ef25dda8-0341-4aab-b4c7-f9ee53be8909" providerId="ADAL" clId="{58349FDB-4F03-45F7-9587-A31371CABC64}" dt="2026-01-05T05:13:36.420" v="8"/>
        <pc:sldMkLst>
          <pc:docMk/>
          <pc:sldMk cId="483676438" sldId="310"/>
        </pc:sldMkLst>
        <pc:graphicFrameChg chg="mod">
          <ac:chgData name="Melanie Spies" userId="ef25dda8-0341-4aab-b4c7-f9ee53be8909" providerId="ADAL" clId="{58349FDB-4F03-45F7-9587-A31371CABC64}" dt="2026-01-05T05:13:36.420" v="8"/>
          <ac:graphicFrameMkLst>
            <pc:docMk/>
            <pc:sldMk cId="483676438" sldId="310"/>
            <ac:graphicFrameMk id="2" creationId="{BCB14951-7702-4C0F-B6A6-21391A66B766}"/>
          </ac:graphicFrameMkLst>
        </pc:graphicFrameChg>
      </pc:sldChg>
      <pc:sldChg chg="modSp">
        <pc:chgData name="Melanie Spies" userId="ef25dda8-0341-4aab-b4c7-f9ee53be8909" providerId="ADAL" clId="{58349FDB-4F03-45F7-9587-A31371CABC64}" dt="2026-01-05T05:13:36.420" v="8"/>
        <pc:sldMkLst>
          <pc:docMk/>
          <pc:sldMk cId="148595327" sldId="913"/>
        </pc:sldMkLst>
        <pc:graphicFrameChg chg="mod">
          <ac:chgData name="Melanie Spies" userId="ef25dda8-0341-4aab-b4c7-f9ee53be8909" providerId="ADAL" clId="{58349FDB-4F03-45F7-9587-A31371CABC64}" dt="2026-01-05T05:13:36.420" v="8"/>
          <ac:graphicFrameMkLst>
            <pc:docMk/>
            <pc:sldMk cId="148595327" sldId="913"/>
            <ac:graphicFrameMk id="2" creationId="{641738B5-23C6-457B-BB18-AD965FCE0133}"/>
          </ac:graphicFrameMkLst>
        </pc:graphicFrameChg>
      </pc:sldChg>
      <pc:sldChg chg="modSp">
        <pc:chgData name="Melanie Spies" userId="ef25dda8-0341-4aab-b4c7-f9ee53be8909" providerId="ADAL" clId="{58349FDB-4F03-45F7-9587-A31371CABC64}" dt="2026-01-05T05:13:36.420" v="8"/>
        <pc:sldMkLst>
          <pc:docMk/>
          <pc:sldMk cId="2226382953" sldId="914"/>
        </pc:sldMkLst>
        <pc:graphicFrameChg chg="mod">
          <ac:chgData name="Melanie Spies" userId="ef25dda8-0341-4aab-b4c7-f9ee53be8909" providerId="ADAL" clId="{58349FDB-4F03-45F7-9587-A31371CABC64}" dt="2026-01-05T05:13:36.420" v="8"/>
          <ac:graphicFrameMkLst>
            <pc:docMk/>
            <pc:sldMk cId="2226382953" sldId="914"/>
            <ac:graphicFrameMk id="2" creationId="{B1E92499-A6AA-4251-A074-798371D4DD4A}"/>
          </ac:graphicFrameMkLst>
        </pc:graphicFrameChg>
      </pc:sldChg>
      <pc:sldChg chg="modSp">
        <pc:chgData name="Melanie Spies" userId="ef25dda8-0341-4aab-b4c7-f9ee53be8909" providerId="ADAL" clId="{58349FDB-4F03-45F7-9587-A31371CABC64}" dt="2026-01-05T05:13:36.420" v="8"/>
        <pc:sldMkLst>
          <pc:docMk/>
          <pc:sldMk cId="2024739362" sldId="915"/>
        </pc:sldMkLst>
        <pc:graphicFrameChg chg="mod">
          <ac:chgData name="Melanie Spies" userId="ef25dda8-0341-4aab-b4c7-f9ee53be8909" providerId="ADAL" clId="{58349FDB-4F03-45F7-9587-A31371CABC64}" dt="2026-01-05T05:13:36.420" v="8"/>
          <ac:graphicFrameMkLst>
            <pc:docMk/>
            <pc:sldMk cId="2024739362" sldId="915"/>
            <ac:graphicFrameMk id="4" creationId="{D21A5A95-7C57-4184-BE79-BFD78ABD81F8}"/>
          </ac:graphicFrameMkLst>
        </pc:graphicFrameChg>
      </pc:sldChg>
      <pc:sldChg chg="modSp mod">
        <pc:chgData name="Melanie Spies" userId="ef25dda8-0341-4aab-b4c7-f9ee53be8909" providerId="ADAL" clId="{58349FDB-4F03-45F7-9587-A31371CABC64}" dt="2026-01-05T05:13:36.420" v="8"/>
        <pc:sldMkLst>
          <pc:docMk/>
          <pc:sldMk cId="4006735164" sldId="919"/>
        </pc:sldMkLst>
        <pc:spChg chg="mod">
          <ac:chgData name="Melanie Spies" userId="ef25dda8-0341-4aab-b4c7-f9ee53be8909" providerId="ADAL" clId="{58349FDB-4F03-45F7-9587-A31371CABC64}" dt="2026-01-05T05:10:53.486" v="4" actId="1076"/>
          <ac:spMkLst>
            <pc:docMk/>
            <pc:sldMk cId="4006735164" sldId="919"/>
            <ac:spMk id="2" creationId="{289C5D04-9640-3B48-820B-127523AD9848}"/>
          </ac:spMkLst>
        </pc:spChg>
        <pc:spChg chg="mod">
          <ac:chgData name="Melanie Spies" userId="ef25dda8-0341-4aab-b4c7-f9ee53be8909" providerId="ADAL" clId="{58349FDB-4F03-45F7-9587-A31371CABC64}" dt="2026-01-05T05:10:49.306" v="3" actId="255"/>
          <ac:spMkLst>
            <pc:docMk/>
            <pc:sldMk cId="4006735164" sldId="919"/>
            <ac:spMk id="8" creationId="{EF88894F-6E9F-4254-B365-2F77C95564B1}"/>
          </ac:spMkLst>
        </pc:spChg>
        <pc:graphicFrameChg chg="mod">
          <ac:chgData name="Melanie Spies" userId="ef25dda8-0341-4aab-b4c7-f9ee53be8909" providerId="ADAL" clId="{58349FDB-4F03-45F7-9587-A31371CABC64}" dt="2026-01-05T05:13:36.420" v="8"/>
          <ac:graphicFrameMkLst>
            <pc:docMk/>
            <pc:sldMk cId="4006735164" sldId="919"/>
            <ac:graphicFrameMk id="9" creationId="{33DEF144-708A-4FEC-9EEA-C59932602BE9}"/>
          </ac:graphicFrameMkLst>
        </pc:graphicFrameChg>
        <pc:graphicFrameChg chg="mod">
          <ac:chgData name="Melanie Spies" userId="ef25dda8-0341-4aab-b4c7-f9ee53be8909" providerId="ADAL" clId="{58349FDB-4F03-45F7-9587-A31371CABC64}" dt="2026-01-05T05:13:36.420" v="8"/>
          <ac:graphicFrameMkLst>
            <pc:docMk/>
            <pc:sldMk cId="4006735164" sldId="919"/>
            <ac:graphicFrameMk id="10" creationId="{76263901-0FC3-47D8-A1D7-1F48982B2754}"/>
          </ac:graphicFrameMkLst>
        </pc:graphicFrameChg>
        <pc:picChg chg="mod">
          <ac:chgData name="Melanie Spies" userId="ef25dda8-0341-4aab-b4c7-f9ee53be8909" providerId="ADAL" clId="{58349FDB-4F03-45F7-9587-A31371CABC64}" dt="2026-01-05T05:10:42.166" v="2" actId="14100"/>
          <ac:picMkLst>
            <pc:docMk/>
            <pc:sldMk cId="4006735164" sldId="919"/>
            <ac:picMk id="7" creationId="{AA9BF04E-9042-4397-8AD5-790E790EB2D0}"/>
          </ac:picMkLst>
        </pc:picChg>
      </pc:sldChg>
      <pc:sldChg chg="modSp mod">
        <pc:chgData name="Melanie Spies" userId="ef25dda8-0341-4aab-b4c7-f9ee53be8909" providerId="ADAL" clId="{58349FDB-4F03-45F7-9587-A31371CABC64}" dt="2026-01-05T05:10:35.981" v="1" actId="1076"/>
        <pc:sldMkLst>
          <pc:docMk/>
          <pc:sldMk cId="3113447121" sldId="923"/>
        </pc:sldMkLst>
        <pc:spChg chg="mod">
          <ac:chgData name="Melanie Spies" userId="ef25dda8-0341-4aab-b4c7-f9ee53be8909" providerId="ADAL" clId="{58349FDB-4F03-45F7-9587-A31371CABC64}" dt="2026-01-05T05:10:35.981" v="1" actId="1076"/>
          <ac:spMkLst>
            <pc:docMk/>
            <pc:sldMk cId="3113447121" sldId="923"/>
            <ac:spMk id="2" creationId="{E4158602-CE03-D865-8B96-7884DB0F17A7}"/>
          </ac:spMkLst>
        </pc:spChg>
        <pc:picChg chg="mod">
          <ac:chgData name="Melanie Spies" userId="ef25dda8-0341-4aab-b4c7-f9ee53be8909" providerId="ADAL" clId="{58349FDB-4F03-45F7-9587-A31371CABC64}" dt="2026-01-05T05:10:31.861" v="0" actId="1076"/>
          <ac:picMkLst>
            <pc:docMk/>
            <pc:sldMk cId="3113447121" sldId="923"/>
            <ac:picMk id="3" creationId="{20AFB86F-F314-2808-D124-99FF9729F446}"/>
          </ac:picMkLst>
        </pc:picChg>
      </pc:sldChg>
      <pc:sldChg chg="modSp">
        <pc:chgData name="Melanie Spies" userId="ef25dda8-0341-4aab-b4c7-f9ee53be8909" providerId="ADAL" clId="{58349FDB-4F03-45F7-9587-A31371CABC64}" dt="2026-01-05T05:13:36.420" v="8"/>
        <pc:sldMkLst>
          <pc:docMk/>
          <pc:sldMk cId="2505805455" sldId="928"/>
        </pc:sldMkLst>
        <pc:graphicFrameChg chg="mod">
          <ac:chgData name="Melanie Spies" userId="ef25dda8-0341-4aab-b4c7-f9ee53be8909" providerId="ADAL" clId="{58349FDB-4F03-45F7-9587-A31371CABC64}" dt="2026-01-05T05:13:36.420" v="8"/>
          <ac:graphicFrameMkLst>
            <pc:docMk/>
            <pc:sldMk cId="2505805455" sldId="928"/>
            <ac:graphicFrameMk id="2" creationId="{382D3759-24A7-42E2-82DB-6309FF00C192}"/>
          </ac:graphicFrameMkLst>
        </pc:graphicFrameChg>
      </pc:sldChg>
      <pc:sldChg chg="modSp">
        <pc:chgData name="Melanie Spies" userId="ef25dda8-0341-4aab-b4c7-f9ee53be8909" providerId="ADAL" clId="{58349FDB-4F03-45F7-9587-A31371CABC64}" dt="2026-01-05T05:13:36.420" v="8"/>
        <pc:sldMkLst>
          <pc:docMk/>
          <pc:sldMk cId="2718433564" sldId="1506"/>
        </pc:sldMkLst>
        <pc:graphicFrameChg chg="mod">
          <ac:chgData name="Melanie Spies" userId="ef25dda8-0341-4aab-b4c7-f9ee53be8909" providerId="ADAL" clId="{58349FDB-4F03-45F7-9587-A31371CABC64}" dt="2026-01-05T05:13:36.420" v="8"/>
          <ac:graphicFrameMkLst>
            <pc:docMk/>
            <pc:sldMk cId="2718433564" sldId="1506"/>
            <ac:graphicFrameMk id="3" creationId="{826564A6-5108-42B5-A49B-FB8D3BA28106}"/>
          </ac:graphicFrameMkLst>
        </pc:graphicFrameChg>
      </pc:sldChg>
      <pc:sldChg chg="modSp">
        <pc:chgData name="Melanie Spies" userId="ef25dda8-0341-4aab-b4c7-f9ee53be8909" providerId="ADAL" clId="{58349FDB-4F03-45F7-9587-A31371CABC64}" dt="2026-01-05T05:13:36.420" v="8"/>
        <pc:sldMkLst>
          <pc:docMk/>
          <pc:sldMk cId="1860371547" sldId="1507"/>
        </pc:sldMkLst>
        <pc:graphicFrameChg chg="mod">
          <ac:chgData name="Melanie Spies" userId="ef25dda8-0341-4aab-b4c7-f9ee53be8909" providerId="ADAL" clId="{58349FDB-4F03-45F7-9587-A31371CABC64}" dt="2026-01-05T05:13:36.420" v="8"/>
          <ac:graphicFrameMkLst>
            <pc:docMk/>
            <pc:sldMk cId="1860371547" sldId="1507"/>
            <ac:graphicFrameMk id="4" creationId="{53EE0D9B-0FA4-4BC3-A0BF-07768E788208}"/>
          </ac:graphicFrameMkLst>
        </pc:graphicFrameChg>
      </pc:sldChg>
      <pc:sldChg chg="modSp">
        <pc:chgData name="Melanie Spies" userId="ef25dda8-0341-4aab-b4c7-f9ee53be8909" providerId="ADAL" clId="{58349FDB-4F03-45F7-9587-A31371CABC64}" dt="2026-01-05T05:13:36.420" v="8"/>
        <pc:sldMkLst>
          <pc:docMk/>
          <pc:sldMk cId="2140380775" sldId="1513"/>
        </pc:sldMkLst>
        <pc:graphicFrameChg chg="mod">
          <ac:chgData name="Melanie Spies" userId="ef25dda8-0341-4aab-b4c7-f9ee53be8909" providerId="ADAL" clId="{58349FDB-4F03-45F7-9587-A31371CABC64}" dt="2026-01-05T05:13:36.420" v="8"/>
          <ac:graphicFrameMkLst>
            <pc:docMk/>
            <pc:sldMk cId="2140380775" sldId="1513"/>
            <ac:graphicFrameMk id="2" creationId="{8F46B053-1B94-4E5C-BCF3-2B2E652C78D9}"/>
          </ac:graphicFrameMkLst>
        </pc:graphicFrameChg>
      </pc:sldChg>
      <pc:sldChg chg="modSp mod">
        <pc:chgData name="Melanie Spies" userId="ef25dda8-0341-4aab-b4c7-f9ee53be8909" providerId="ADAL" clId="{58349FDB-4F03-45F7-9587-A31371CABC64}" dt="2026-01-05T05:13:36.420" v="8"/>
        <pc:sldMkLst>
          <pc:docMk/>
          <pc:sldMk cId="1305494824" sldId="1514"/>
        </pc:sldMkLst>
        <pc:spChg chg="mod">
          <ac:chgData name="Melanie Spies" userId="ef25dda8-0341-4aab-b4c7-f9ee53be8909" providerId="ADAL" clId="{58349FDB-4F03-45F7-9587-A31371CABC64}" dt="2026-01-05T05:11:03.500" v="5" actId="1076"/>
          <ac:spMkLst>
            <pc:docMk/>
            <pc:sldMk cId="1305494824" sldId="1514"/>
            <ac:spMk id="2" creationId="{EB4E16E6-A265-E647-863D-E6356B5F3E6D}"/>
          </ac:spMkLst>
        </pc:spChg>
        <pc:graphicFrameChg chg="mod">
          <ac:chgData name="Melanie Spies" userId="ef25dda8-0341-4aab-b4c7-f9ee53be8909" providerId="ADAL" clId="{58349FDB-4F03-45F7-9587-A31371CABC64}" dt="2026-01-05T05:13:36.420" v="8"/>
          <ac:graphicFrameMkLst>
            <pc:docMk/>
            <pc:sldMk cId="1305494824" sldId="1514"/>
            <ac:graphicFrameMk id="4" creationId="{DBA6108F-A3D4-45BE-B8CA-9186C4E63FAB}"/>
          </ac:graphicFrameMkLst>
        </pc:graphicFrameChg>
      </pc:sldChg>
      <pc:sldMasterChg chg="modSp mod">
        <pc:chgData name="Melanie Spies" userId="ef25dda8-0341-4aab-b4c7-f9ee53be8909" providerId="ADAL" clId="{58349FDB-4F03-45F7-9587-A31371CABC64}" dt="2026-01-05T05:11:29.876" v="7" actId="20577"/>
        <pc:sldMasterMkLst>
          <pc:docMk/>
          <pc:sldMasterMk cId="991517703" sldId="2147483648"/>
        </pc:sldMasterMkLst>
        <pc:spChg chg="mod">
          <ac:chgData name="Melanie Spies" userId="ef25dda8-0341-4aab-b4c7-f9ee53be8909" providerId="ADAL" clId="{58349FDB-4F03-45F7-9587-A31371CABC64}" dt="2026-01-05T05:11:29.876" v="7" actId="20577"/>
          <ac:spMkLst>
            <pc:docMk/>
            <pc:sldMasterMk cId="991517703" sldId="2147483648"/>
            <ac:spMk id="11" creationId="{3E0C077D-8819-4F9D-8722-D73A05643AAF}"/>
          </ac:spMkLst>
        </pc:sp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FD12530-4A8B-41BC-A28E-0663BC57347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CBDF21-21FA-4508-B148-E15B854EE3C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19E496-E8FF-4856-B08F-DBE14D18B236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51EC23-CDF3-4827-AE9E-C49A859BD4A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402880-E203-4DFE-B721-9D7EB321BB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940B20-082D-4EEF-8BA5-D9F0CCFBDE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9869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72F63B-EF0F-9942-98B2-F67CC88AF236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C13DA5-2DE0-6D49-B0F1-8E4B6A1CBA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084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709613" y="4919663"/>
            <a:ext cx="5680075" cy="4025900"/>
          </a:xfrm>
          <a:prstGeom prst="rect">
            <a:avLst/>
          </a:prstGeom>
        </p:spPr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89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ZA" altLang="zh-CN" dirty="0"/>
              <a:t>Introduction. Also an opportunity to talk a bit about </a:t>
            </a:r>
            <a:r>
              <a:rPr lang="en-ZA" altLang="zh-CN" dirty="0" err="1"/>
              <a:t>Demix</a:t>
            </a:r>
            <a:endParaRPr lang="en-ZA" altLang="zh-CN" dirty="0"/>
          </a:p>
          <a:p>
            <a:pPr marL="171450" marR="0" indent="-171450" algn="l" defTabSz="914400" rtl="0" eaLnBrk="0" fontAlgn="base" latinLnBrk="0" hangingPunct="0">
              <a:lnSpc>
                <a:spcPct val="89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lang="en-ZA" altLang="zh-CN" dirty="0" err="1"/>
              <a:t>Demix</a:t>
            </a:r>
            <a:r>
              <a:rPr lang="en-ZA" altLang="zh-CN" dirty="0"/>
              <a:t> has </a:t>
            </a:r>
            <a:r>
              <a:rPr lang="en-ZA" altLang="zh-CN" dirty="0" err="1"/>
              <a:t>LAs</a:t>
            </a:r>
            <a:r>
              <a:rPr lang="en-ZA" altLang="zh-CN" dirty="0"/>
              <a:t> from across the globe and performs appraisals around the world</a:t>
            </a:r>
          </a:p>
          <a:p>
            <a:pPr marL="171450" marR="0" indent="-171450" algn="l" defTabSz="914400" rtl="0" eaLnBrk="0" fontAlgn="base" latinLnBrk="0" hangingPunct="0">
              <a:lnSpc>
                <a:spcPct val="89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lang="en-ZA" altLang="zh-CN" dirty="0"/>
              <a:t>Demix is one of the largest CMMI services providers globally</a:t>
            </a:r>
          </a:p>
          <a:p>
            <a:pPr marL="171450" marR="0" indent="-171450" algn="l" defTabSz="914400" rtl="0" eaLnBrk="0" fontAlgn="base" latinLnBrk="0" hangingPunct="0">
              <a:lnSpc>
                <a:spcPct val="89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lang="en-ZA" altLang="zh-CN" dirty="0"/>
              <a:t>Demix also provide other citification services, such as ISO, COBIT, MAX</a:t>
            </a:r>
          </a:p>
          <a:p>
            <a:pPr marL="0" marR="0" indent="0" algn="l" defTabSz="914400" rtl="0" eaLnBrk="0" fontAlgn="base" latinLnBrk="0" hangingPunct="0">
              <a:lnSpc>
                <a:spcPct val="89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ZA" altLang="zh-CN" dirty="0"/>
          </a:p>
          <a:p>
            <a:pPr marL="0" marR="0" indent="0" algn="l" defTabSz="914400" rtl="0" eaLnBrk="0" fontAlgn="base" latinLnBrk="0" hangingPunct="0">
              <a:lnSpc>
                <a:spcPct val="89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ZA" altLang="zh-CN" dirty="0"/>
              <a:t>It is a pleasure and honour to be here with you today. We are looking forward to work with you and your team over the coming days.</a:t>
            </a:r>
          </a:p>
          <a:p>
            <a:pPr marL="0" marR="0" indent="0" algn="l" defTabSz="914400" rtl="0" eaLnBrk="0" fontAlgn="base" latinLnBrk="0" hangingPunct="0">
              <a:lnSpc>
                <a:spcPct val="89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早晨好。今天我很高興和榮幸來到這裡，我期待著在未來的几天里與您和您的團隊一起工作。</a:t>
            </a:r>
          </a:p>
          <a:p>
            <a:pPr marL="0" marR="0" indent="0" algn="l" defTabSz="914400" rtl="0" eaLnBrk="0" fontAlgn="base" latinLnBrk="0" hangingPunct="0">
              <a:lnSpc>
                <a:spcPct val="89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ZA" altLang="zh-CN" dirty="0"/>
          </a:p>
        </p:txBody>
      </p:sp>
    </p:spTree>
    <p:extLst>
      <p:ext uri="{BB962C8B-B14F-4D97-AF65-F5344CB8AC3E}">
        <p14:creationId xmlns:p14="http://schemas.microsoft.com/office/powerpoint/2010/main" val="30082958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Information in this section should come from the appraisal plan. The idea here is not to duplicate the contents of the plan, but to provide a summary for the Appraisal Sponsor, and the personnel from the OU who will see these findings.</a:t>
            </a:r>
          </a:p>
          <a:p>
            <a:endParaRPr lang="en-US" dirty="0"/>
          </a:p>
          <a:p>
            <a:r>
              <a:rPr lang="en-US" dirty="0"/>
              <a:t>The ATL may add additional information to the final findings presentation, but this minimum content must be present.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C13DA5-2DE0-6D49-B0F1-8E4B6A1CBA23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02209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338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ea typeface="ＭＳ Ｐゴシック" charset="-128"/>
              </a:rPr>
              <a:t>This is information that must be recorded in the appraisal plan.</a:t>
            </a:r>
          </a:p>
        </p:txBody>
      </p:sp>
      <p:sp>
        <p:nvSpPr>
          <p:cNvPr id="14339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1pPr>
            <a:lvl2pPr marL="742950" indent="-28575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5pPr>
            <a:lvl6pPr marL="25146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6pPr>
            <a:lvl7pPr marL="29718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7pPr>
            <a:lvl8pPr marL="34290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8pPr>
            <a:lvl9pPr marL="38862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9pPr>
          </a:lstStyle>
          <a:p>
            <a:fld id="{190328F4-35F9-3242-B9C3-9FCDBB1E7F95}" type="slidenum">
              <a:rPr lang="en-US" altLang="en-US" sz="1200" b="0">
                <a:solidFill>
                  <a:schemeClr val="tx1"/>
                </a:solidFill>
              </a:rPr>
              <a:pPr/>
              <a:t>5</a:t>
            </a:fld>
            <a:endParaRPr lang="en-US" altLang="en-US" sz="12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18727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338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ea typeface="ＭＳ Ｐゴシック" charset="-128"/>
              </a:rPr>
              <a:t>This is information that must be recorded in the appraisal plan.</a:t>
            </a:r>
          </a:p>
        </p:txBody>
      </p:sp>
      <p:sp>
        <p:nvSpPr>
          <p:cNvPr id="14339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1pPr>
            <a:lvl2pPr marL="742950" indent="-28575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5pPr>
            <a:lvl6pPr marL="25146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6pPr>
            <a:lvl7pPr marL="29718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7pPr>
            <a:lvl8pPr marL="34290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8pPr>
            <a:lvl9pPr marL="38862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9pPr>
          </a:lstStyle>
          <a:p>
            <a:fld id="{190328F4-35F9-3242-B9C3-9FCDBB1E7F95}" type="slidenum">
              <a:rPr lang="en-US" altLang="en-US" sz="1200" b="0">
                <a:solidFill>
                  <a:schemeClr val="tx1"/>
                </a:solidFill>
              </a:rPr>
              <a:pPr/>
              <a:t>6</a:t>
            </a:fld>
            <a:endParaRPr lang="en-US" altLang="en-US" sz="12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67047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0482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 altLang="en-US">
              <a:ea typeface="ＭＳ Ｐゴシック" charset="-128"/>
            </a:endParaRPr>
          </a:p>
        </p:txBody>
      </p:sp>
      <p:sp>
        <p:nvSpPr>
          <p:cNvPr id="20483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1pPr>
            <a:lvl2pPr marL="742950" indent="-28575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5pPr>
            <a:lvl6pPr marL="25146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6pPr>
            <a:lvl7pPr marL="29718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7pPr>
            <a:lvl8pPr marL="34290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8pPr>
            <a:lvl9pPr marL="38862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9pPr>
          </a:lstStyle>
          <a:p>
            <a:fld id="{4B35EA84-EF00-9842-8E6A-A2B5DD6BA8D8}" type="slidenum">
              <a:rPr lang="en-US" altLang="en-US" sz="1200" b="0">
                <a:solidFill>
                  <a:schemeClr val="tx1"/>
                </a:solidFill>
              </a:rPr>
              <a:pPr/>
              <a:t>7</a:t>
            </a:fld>
            <a:endParaRPr lang="en-US" altLang="en-US" sz="12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04664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8675" name="Notes Placeholder 2"/>
          <p:cNvSpPr>
            <a:spLocks noGrp="1"/>
          </p:cNvSpPr>
          <p:nvPr>
            <p:ph type="body" idx="1"/>
          </p:nvPr>
        </p:nvSpPr>
        <p:spPr bwMode="auto">
          <a:xfrm>
            <a:off x="709613" y="4856163"/>
            <a:ext cx="5680075" cy="460057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8984" tIns="49492" rIns="98984" bIns="49492"/>
          <a:lstStyle/>
          <a:p>
            <a:r>
              <a:rPr lang="en-ZA" altLang="zh-CN" dirty="0"/>
              <a:t>1, what ever you share</a:t>
            </a:r>
            <a:r>
              <a:rPr lang="en-ZA" altLang="zh-CN" baseline="0" dirty="0"/>
              <a:t> is confidential with the ATM’s and </a:t>
            </a:r>
          </a:p>
          <a:p>
            <a:r>
              <a:rPr lang="en-ZA" altLang="zh-CN" baseline="0" dirty="0"/>
              <a:t>2, non – your name will not appear in any reports        </a:t>
            </a:r>
          </a:p>
          <a:p>
            <a:r>
              <a:rPr lang="en-ZA" altLang="zh-CN" baseline="0" dirty="0"/>
              <a:t>collaboratively – we have representation from your side as well as ours  last at the end there are always weaknesses and from there an improvement action is always undertaken</a:t>
            </a:r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28654180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1pPr>
            <a:lvl2pPr marL="742950" indent="-285750" defTabSz="930275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930275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930275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930275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5pPr>
            <a:lvl6pPr marL="2514600" indent="-228600" algn="ctr" defTabSz="930275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6pPr>
            <a:lvl7pPr marL="2971800" indent="-228600" algn="ctr" defTabSz="930275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7pPr>
            <a:lvl8pPr marL="3429000" indent="-228600" algn="ctr" defTabSz="930275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8pPr>
            <a:lvl9pPr marL="3886200" indent="-228600" algn="ctr" defTabSz="930275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9pPr>
          </a:lstStyle>
          <a:p>
            <a:fld id="{8BEF3818-E2D8-F947-8FE2-5E7634526F96}" type="slidenum">
              <a:rPr lang="en-US" altLang="en-US" sz="1200" b="0">
                <a:solidFill>
                  <a:schemeClr val="tx1"/>
                </a:solidFill>
              </a:rPr>
              <a:pPr/>
              <a:t>10</a:t>
            </a:fld>
            <a:endParaRPr lang="en-US" altLang="en-US" sz="1200" b="0">
              <a:solidFill>
                <a:schemeClr val="tx1"/>
              </a:solidFill>
            </a:endParaRPr>
          </a:p>
        </p:txBody>
      </p:sp>
      <p:sp>
        <p:nvSpPr>
          <p:cNvPr id="36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36538" y="614363"/>
            <a:ext cx="6534150" cy="3676650"/>
          </a:xfrm>
          <a:ln/>
        </p:spPr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3450" y="4416425"/>
            <a:ext cx="5141913" cy="41814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ea typeface="ＭＳ Ｐゴシック" charset="-128"/>
              </a:rPr>
              <a:t>Take basic information from the appraisal plan.</a:t>
            </a:r>
          </a:p>
        </p:txBody>
      </p:sp>
    </p:spTree>
    <p:extLst>
      <p:ext uri="{BB962C8B-B14F-4D97-AF65-F5344CB8AC3E}">
        <p14:creationId xmlns:p14="http://schemas.microsoft.com/office/powerpoint/2010/main" val="141894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Make sure the version of the model is correct when this slide is built. Replace the bold, italicized </a:t>
            </a:r>
            <a:r>
              <a:rPr lang="en-US" b="1" i="1"/>
              <a:t>x</a:t>
            </a:r>
            <a:r>
              <a:rPr lang="en-US" b="0" i="0"/>
              <a:t> with the correct version number.</a:t>
            </a:r>
            <a:endParaRPr lang="en-US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C13DA5-2DE0-6D49-B0F1-8E4B6A1CBA2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1744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C13DA5-2DE0-6D49-B0F1-8E4B6A1CBA2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7582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ATL can show the chart from the generated random sample, but there must be a description of the sampled projects and their selected CA/PA grouping.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C13DA5-2DE0-6D49-B0F1-8E4B6A1CBA2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320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C13DA5-2DE0-6D49-B0F1-8E4B6A1CBA23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51911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For each practice, enter the OU-Level characterization (FM, LM, PM, DM, NY). The chart will set a color.</a:t>
            </a:r>
          </a:p>
          <a:p>
            <a:endParaRPr lang="en-US"/>
          </a:p>
          <a:p>
            <a:r>
              <a:rPr lang="en-US"/>
              <a:t>Based on the characterizations of all practices in each practice level, set the Practice Level rating to “S” (Satisfied) or “U” (Unsatisfied).</a:t>
            </a:r>
          </a:p>
          <a:p>
            <a:endParaRPr lang="en-US"/>
          </a:p>
          <a:p>
            <a:r>
              <a:rPr lang="en-US"/>
              <a:t>The PA Rating is the Highest Practice Level at which all practices for it, and all lower Practice Levels, are Satisfied.</a:t>
            </a:r>
          </a:p>
          <a:p>
            <a:endParaRPr lang="en-US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For details, see the MDD, Activity 2.3.2 Determine Practice Group Ratings, and Activity </a:t>
            </a:r>
            <a:r>
              <a:rPr lang="en-US" b="0"/>
              <a:t>2.3.3 </a:t>
            </a:r>
            <a:r>
              <a:rPr 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Determine Practice Area and Maturity Level or Capability Level Profile Rating.</a:t>
            </a:r>
            <a:endParaRPr lang="en-US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C13DA5-2DE0-6D49-B0F1-8E4B6A1CBA23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80432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1pPr>
            <a:lvl2pPr marL="742950" indent="-28575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5pPr>
            <a:lvl6pPr marL="25146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6pPr>
            <a:lvl7pPr marL="29718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7pPr>
            <a:lvl8pPr marL="34290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8pPr>
            <a:lvl9pPr marL="38862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9pPr>
          </a:lstStyle>
          <a:p>
            <a:fld id="{CE611DA0-981B-B047-981C-E490A72360DD}" type="slidenum">
              <a:rPr lang="en-US" altLang="en-US" sz="1200" b="0">
                <a:solidFill>
                  <a:schemeClr val="tx1"/>
                </a:solidFill>
              </a:rPr>
              <a:pPr/>
              <a:t>21</a:t>
            </a:fld>
            <a:endParaRPr lang="en-US" altLang="en-US" sz="1200" b="0">
              <a:solidFill>
                <a:schemeClr val="tx1"/>
              </a:solidFill>
            </a:endParaRPr>
          </a:p>
        </p:txBody>
      </p:sp>
      <p:sp>
        <p:nvSpPr>
          <p:cNvPr id="66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25525" y="231775"/>
            <a:ext cx="4959350" cy="2790825"/>
          </a:xfrm>
          <a:ln/>
        </p:spPr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46100" y="3098800"/>
            <a:ext cx="6075363" cy="55768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 altLang="en-US"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59285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48DBD-6861-9443-ABFC-B68F7FC4F1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C8EBE0-674E-E14C-BF5A-2277457EB9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3944488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982D3-B5B2-604E-8894-27346F9378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5964" y="960509"/>
            <a:ext cx="10397836" cy="602284"/>
          </a:xfrm>
        </p:spPr>
        <p:txBody>
          <a:bodyPr>
            <a:normAutofit/>
          </a:bodyPr>
          <a:lstStyle>
            <a:lvl1pPr>
              <a:defRPr sz="3200"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CF33C6-B055-6244-B86B-3C81D067D4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5962" y="1645919"/>
            <a:ext cx="10397837" cy="453104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050459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C0A10-6417-4845-A710-C912A19BF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CE0AD3-2F11-2548-A8B7-E12BBE4F45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681512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0988F-4DD4-B34F-ACAA-8CEF3DD31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145F42-98CE-024C-AE1D-1D828A0A6D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92D5B5-C925-D342-A0BB-7B5AC43819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18460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EAFD3-29DE-9349-A0DA-3033DCE90F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866776"/>
            <a:ext cx="10515600" cy="82391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76B9A2-28E2-FC4E-BB3E-D80D55842A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88654B-5FDB-DE43-BE9E-C62E6CC2A9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F11820-D9F0-F84A-8BA7-C696340CA1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A82BB8-18EA-6F4F-AC36-5A96594F65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288292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CC732-D1A0-3345-8796-9B608802E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483130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07339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CCDD0-C745-004E-BBC9-C79A3ABAA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3932237" cy="106997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535FFB-2029-4641-A69B-2EB72A22CF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F37B1C-5062-C644-8590-D10E966CE5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294312"/>
            <a:ext cx="3932237" cy="357467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461280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01DDE-5CF8-9147-A11B-0EFC6B815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3932237" cy="106997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CF5909-A9FE-7341-A8D9-1CB7D35C5C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837FC7-DD0D-6141-93DD-4C2B36A240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302624"/>
            <a:ext cx="3932237" cy="356636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428669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461E6-C672-9B40-B472-25BC7EE6B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4E2238-F94B-2141-B1ED-7911EB86CD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123023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DDCBEBA-2D10-D04A-9561-8952D30E13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997525"/>
            <a:ext cx="2628900" cy="517943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E68D5F-AEB5-1240-BFCF-EF0B507075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997527"/>
            <a:ext cx="7734300" cy="5179436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973168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 1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48C46-1EE2-E54F-AB47-9C1D0F754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0299" y="907750"/>
            <a:ext cx="10021824" cy="539496"/>
          </a:xfrm>
        </p:spPr>
        <p:txBody>
          <a:bodyPr>
            <a:normAutofit/>
          </a:bodyPr>
          <a:lstStyle>
            <a:lvl1pPr>
              <a:defRPr sz="3200"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4E75C74-DD57-384F-B628-ADA3B17273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6344" y="1463040"/>
            <a:ext cx="11265408" cy="1572768"/>
          </a:xfrm>
        </p:spPr>
        <p:txBody>
          <a:bodyPr/>
          <a:lstStyle>
            <a:lvl3pPr marL="914400" indent="0">
              <a:buNone/>
              <a:defRPr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33530BF-B16C-334F-B4C4-FA885006ECBC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66344" y="2990088"/>
            <a:ext cx="11265408" cy="3097485"/>
          </a:xfrm>
        </p:spPr>
        <p:txBody>
          <a:bodyPr>
            <a:normAutofit/>
          </a:bodyPr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 sz="2400" b="1"/>
              <a:t>Strengths:</a:t>
            </a:r>
          </a:p>
          <a:p>
            <a:pPr lvl="0"/>
            <a:endParaRPr lang="en-US" sz="2400" b="1"/>
          </a:p>
          <a:p>
            <a:pPr lvl="0"/>
            <a:endParaRPr lang="en-US" sz="2400" b="1"/>
          </a:p>
          <a:p>
            <a:pPr lvl="0"/>
            <a:r>
              <a:rPr lang="en-US" sz="2400" b="1"/>
              <a:t>Weaknesses:</a:t>
            </a:r>
          </a:p>
          <a:p>
            <a:pPr lvl="0"/>
            <a:endParaRPr lang="en-US" sz="2400" b="1"/>
          </a:p>
          <a:p>
            <a:pPr lvl="0"/>
            <a:endParaRPr lang="en-US" sz="2400" b="1"/>
          </a:p>
          <a:p>
            <a:pPr lvl="0"/>
            <a:r>
              <a:rPr lang="en-US" sz="2400" b="1"/>
              <a:t>Notes: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1268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_Additional Inf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48C46-1EE2-E54F-AB47-9C1D0F754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8488" y="916063"/>
            <a:ext cx="10021824" cy="539496"/>
          </a:xfrm>
        </p:spPr>
        <p:txBody>
          <a:bodyPr>
            <a:normAutofit/>
          </a:bodyPr>
          <a:lstStyle>
            <a:lvl1pPr>
              <a:defRPr sz="3200"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33530BF-B16C-334F-B4C4-FA885006ECBC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66344" y="1463040"/>
            <a:ext cx="11265408" cy="4417807"/>
          </a:xfrm>
        </p:spPr>
        <p:txBody>
          <a:bodyPr>
            <a:normAutofit/>
          </a:bodyPr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 sz="2400" b="1"/>
              <a:t>&lt;Additional Findings&gt;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1265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958735"/>
            <a:ext cx="10363200" cy="6096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914400" y="1676400"/>
            <a:ext cx="508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76400"/>
            <a:ext cx="508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5680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8E2FE11-7EFA-4C7B-A5E5-4A66E770BA9E}"/>
              </a:ext>
            </a:extLst>
          </p:cNvPr>
          <p:cNvSpPr/>
          <p:nvPr userDrawn="1"/>
        </p:nvSpPr>
        <p:spPr>
          <a:xfrm>
            <a:off x="0" y="0"/>
            <a:ext cx="12192000" cy="908049"/>
          </a:xfrm>
          <a:prstGeom prst="rect">
            <a:avLst/>
          </a:prstGeom>
          <a:gradFill flip="none" rotWithShape="1">
            <a:gsLst>
              <a:gs pos="0">
                <a:srgbClr val="004D8A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pic>
        <p:nvPicPr>
          <p:cNvPr id="13" name="Picture 2">
            <a:extLst>
              <a:ext uri="{FF2B5EF4-FFF2-40B4-BE49-F238E27FC236}">
                <a16:creationId xmlns:a16="http://schemas.microsoft.com/office/drawing/2014/main" id="{D32B81C3-8382-4113-BAD0-010A13E4DDA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 cstate="print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backgroundRemoval t="8280" b="89809" l="7505" r="89452">
                        <a14:foregroundMark x1="11765" y1="60510" x2="22110" y2="29936"/>
                        <a14:foregroundMark x1="15416" y1="18471" x2="13793" y2="61783"/>
                        <a14:foregroundMark x1="8722" y1="29936" x2="9331" y2="54140"/>
                        <a14:foregroundMark x1="7911" y1="33121" x2="9331" y2="56051"/>
                        <a14:foregroundMark x1="7505" y1="43949" x2="10345" y2="57962"/>
                        <a14:foregroundMark x1="7911" y1="51592" x2="7911" y2="51592"/>
                        <a14:foregroundMark x1="8316" y1="53503" x2="8316" y2="54140"/>
                        <a14:foregroundMark x1="9128" y1="57325" x2="9128" y2="57325"/>
                        <a14:foregroundMark x1="22718" y1="25478" x2="22718" y2="25478"/>
                        <a14:foregroundMark x1="7302" y1="76433" x2="9533" y2="75796"/>
                        <a14:foregroundMark x1="35953" y1="33121" x2="37728" y2="29936"/>
                        <a14:foregroundMark x1="47606" y1="56051" x2="47059" y2="61783"/>
                        <a14:foregroundMark x1="47667" y1="55414" x2="47606" y2="56051"/>
                        <a14:foregroundMark x1="47728" y1="54777" x2="47667" y2="55414"/>
                        <a14:foregroundMark x1="48276" y1="49045" x2="47728" y2="54777"/>
                        <a14:foregroundMark x1="56998" y1="61783" x2="67140" y2="61783"/>
                        <a14:foregroundMark x1="75254" y1="36943" x2="75254" y2="59236"/>
                        <a14:foregroundMark x1="74848" y1="25478" x2="74848" y2="25478"/>
                        <a14:foregroundMark x1="82556" y1="41401" x2="87424" y2="61783"/>
                        <a14:foregroundMark x1="58824" y1="59873" x2="58824" y2="59873"/>
                        <a14:foregroundMark x1="59026" y1="60510" x2="59026" y2="60510"/>
                        <a14:foregroundMark x1="58824" y1="61783" x2="58824" y2="61783"/>
                        <a14:foregroundMark x1="59229" y1="60510" x2="59229" y2="60510"/>
                        <a14:foregroundMark x1="59229" y1="60510" x2="59229" y2="60510"/>
                        <a14:foregroundMark x1="8316" y1="29936" x2="22515" y2="59873"/>
                        <a14:foregroundMark x1="22515" y1="59873" x2="8316" y2="29299"/>
                        <a14:foregroundMark x1="8316" y1="73885" x2="9128" y2="72611"/>
                        <a14:foregroundMark x1="30020" y1="47771" x2="30020" y2="47771"/>
                        <a14:foregroundMark x1="34280" y1="38854" x2="34280" y2="38854"/>
                        <a14:foregroundMark x1="34686" y1="44586" x2="34686" y2="44586"/>
                        <a14:foregroundMark x1="34888" y1="44586" x2="34888" y2="44586"/>
                        <a14:foregroundMark x1="34888" y1="45860" x2="34888" y2="45860"/>
                        <a14:foregroundMark x1="34888" y1="42038" x2="34888" y2="42038"/>
                        <a14:foregroundMark x1="34888" y1="32484" x2="34888" y2="32484"/>
                        <a14:foregroundMark x1="34888" y1="34395" x2="34888" y2="34395"/>
                        <a14:foregroundMark x1="34888" y1="33758" x2="34686" y2="46497"/>
                        <a14:foregroundMark x1="34686" y1="33121" x2="34888" y2="36306"/>
                        <a14:foregroundMark x1="34888" y1="45860" x2="34888" y2="47134"/>
                        <a14:foregroundMark x1="34888" y1="47771" x2="35091" y2="48408"/>
                        <a14:backgroundMark x1="47262" y1="54777" x2="47262" y2="54777"/>
                        <a14:backgroundMark x1="47870" y1="54777" x2="47870" y2="54777"/>
                        <a14:backgroundMark x1="47667" y1="55414" x2="47667" y2="55414"/>
                        <a14:backgroundMark x1="47465" y1="56051" x2="47465" y2="56051"/>
                        <a14:backgroundMark x1="59838" y1="61783" x2="59838" y2="61783"/>
                        <a14:backgroundMark x1="59635" y1="60510" x2="59635" y2="60510"/>
                        <a14:backgroundMark x1="59635" y1="61783" x2="59635" y2="61783"/>
                        <a14:backgroundMark x1="65517" y1="55414" x2="65517" y2="55414"/>
                        <a14:backgroundMark x1="65517" y1="61146" x2="65517" y2="61146"/>
                        <a14:backgroundMark x1="65517" y1="61783" x2="65517" y2="61783"/>
                        <a14:backgroundMark x1="65517" y1="61146" x2="65517" y2="61146"/>
                        <a14:backgroundMark x1="65517" y1="61783" x2="65517" y2="61783"/>
                        <a14:backgroundMark x1="65314" y1="61146" x2="65314" y2="61146"/>
                        <a14:backgroundMark x1="59432" y1="61146" x2="59432" y2="61146"/>
                        <a14:backgroundMark x1="8722" y1="71975" x2="8722" y2="71975"/>
                        <a14:backgroundMark x1="9331" y1="71975" x2="9331" y2="71975"/>
                        <a14:backgroundMark x1="9128" y1="71975" x2="9128" y2="71975"/>
                        <a14:backgroundMark x1="8114" y1="72611" x2="8114" y2="72611"/>
                        <a14:backgroundMark x1="35091" y1="48409" x2="35091" y2="5031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43258" y="21957"/>
            <a:ext cx="2748742" cy="9080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A2DA56B-DFD6-9B40-BB39-797690CA82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08049"/>
            <a:ext cx="10515600" cy="7826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3AD0E0-2188-A543-BA66-C44F0D7242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E3D14D-7206-614E-9BDE-7A2B1DCC82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3E0C077D-8819-4F9D-8722-D73A05643AAF}"/>
              </a:ext>
            </a:extLst>
          </p:cNvPr>
          <p:cNvSpPr txBox="1">
            <a:spLocks/>
          </p:cNvSpPr>
          <p:nvPr userDrawn="1"/>
        </p:nvSpPr>
        <p:spPr>
          <a:xfrm>
            <a:off x="8229600" y="6403975"/>
            <a:ext cx="37359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u="none" strike="noStrike" kern="1200" dirty="0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rPr>
              <a:t>© ISACA 2026. All Rights Reserved.​</a:t>
            </a:r>
            <a:r>
              <a:rPr lang="en-US" dirty="0"/>
              <a:t>  |  </a:t>
            </a:r>
            <a:fld id="{85F78CEA-3B00-9E49-94E0-DC9AF1E8676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1871D06-6ED0-464B-BBB6-E62FF3A17D7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95" t="26266" r="8573" b="24948"/>
          <a:stretch/>
        </p:blipFill>
        <p:spPr>
          <a:xfrm>
            <a:off x="182469" y="6358332"/>
            <a:ext cx="1371600" cy="36314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B1C3F22-7FA0-47B5-A977-F0D9B341A6A5}"/>
              </a:ext>
            </a:extLst>
          </p:cNvPr>
          <p:cNvSpPr txBox="1"/>
          <p:nvPr userDrawn="1"/>
        </p:nvSpPr>
        <p:spPr>
          <a:xfrm>
            <a:off x="10316993" y="614825"/>
            <a:ext cx="161055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1100" dirty="0">
                <a:solidFill>
                  <a:schemeClr val="bg1"/>
                </a:solidFill>
              </a:rPr>
              <a:t>Create | Evolve | Perfect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18C8DCE-B80F-4E81-9623-EF0D27922F8E}"/>
              </a:ext>
            </a:extLst>
          </p:cNvPr>
          <p:cNvSpPr txBox="1"/>
          <p:nvPr userDrawn="1"/>
        </p:nvSpPr>
        <p:spPr>
          <a:xfrm>
            <a:off x="11832867" y="533486"/>
            <a:ext cx="333925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500" b="1" dirty="0">
                <a:solidFill>
                  <a:schemeClr val="bg1"/>
                </a:solidFill>
              </a:rPr>
              <a:t>TM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449AE7E-D327-4FF2-B770-2F2569C1F76A}"/>
              </a:ext>
            </a:extLst>
          </p:cNvPr>
          <p:cNvSpPr txBox="1"/>
          <p:nvPr userDrawn="1"/>
        </p:nvSpPr>
        <p:spPr>
          <a:xfrm>
            <a:off x="8509110" y="6223327"/>
            <a:ext cx="344707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ZA" sz="1100" i="0" dirty="0">
                <a:solidFill>
                  <a:srgbClr val="898989"/>
                </a:solidFill>
              </a:rPr>
              <a:t>Demix Logo is a registered trademark in PRC and RSA</a:t>
            </a:r>
          </a:p>
        </p:txBody>
      </p:sp>
      <p:pic>
        <p:nvPicPr>
          <p:cNvPr id="9" name="Picture 8" descr="A black and white logo&#10;&#10;AI-generated content may be incorrect.">
            <a:extLst>
              <a:ext uri="{FF2B5EF4-FFF2-40B4-BE49-F238E27FC236}">
                <a16:creationId xmlns:a16="http://schemas.microsoft.com/office/drawing/2014/main" id="{53F52824-FCA3-EF76-0E3B-AD8CDEB3AF48}"/>
              </a:ext>
            </a:extLst>
          </p:cNvPr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-87545" y="-61143"/>
            <a:ext cx="3667507" cy="1030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1517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62" r:id="rId13"/>
    <p:sldLayoutId id="2147483663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7" Type="http://schemas.openxmlformats.org/officeDocument/2006/relationships/image" Target="../media/image6.emf"/><Relationship Id="rId2" Type="http://schemas.openxmlformats.org/officeDocument/2006/relationships/oleObject" Target="https://demix365.sharepoint.com/sites/DemixGlobal/Shared%20Documents/10_BASE/2024-05-04to05-10%20(A5)%20C384400%20NASA/00_Data_Reference.xlsm!pptxCover!R4C2:R12C2" TargetMode="External"/><Relationship Id="rId1" Type="http://schemas.openxmlformats.org/officeDocument/2006/relationships/slideLayout" Target="../slideLayouts/slideLayout1.xml"/><Relationship Id="rId6" Type="http://schemas.openxmlformats.org/officeDocument/2006/relationships/oleObject" Target="https://demix365.sharepoint.com/sites/DemixGlobal/Shared%20Documents/10_BASE/2024-05-04to05-10%20(A5)%20C384400%20NASA/00_Data_Reference.xlsm!pptxCover!R20C2" TargetMode="External"/><Relationship Id="rId5" Type="http://schemas.openxmlformats.org/officeDocument/2006/relationships/image" Target="../media/image5.emf"/><Relationship Id="rId4" Type="http://schemas.openxmlformats.org/officeDocument/2006/relationships/oleObject" Target="https://demix365.sharepoint.com/sites/DemixGlobal/Shared%20Documents/10_BASE/2024-05-04to05-10%20(A5)%20C384400%20NASA/00_Data_Reference.xlsm!pptxCover!R15C2:R17C2" TargetMode="Externa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18" Type="http://schemas.openxmlformats.org/officeDocument/2006/relationships/image" Target="../media/image22.png"/><Relationship Id="rId26" Type="http://schemas.openxmlformats.org/officeDocument/2006/relationships/image" Target="../media/image30.png"/><Relationship Id="rId3" Type="http://schemas.openxmlformats.org/officeDocument/2006/relationships/image" Target="../media/image7.png"/><Relationship Id="rId21" Type="http://schemas.openxmlformats.org/officeDocument/2006/relationships/image" Target="../media/image25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17" Type="http://schemas.openxmlformats.org/officeDocument/2006/relationships/image" Target="../media/image21.png"/><Relationship Id="rId25" Type="http://schemas.openxmlformats.org/officeDocument/2006/relationships/image" Target="../media/image29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20.png"/><Relationship Id="rId20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jpeg"/><Relationship Id="rId11" Type="http://schemas.openxmlformats.org/officeDocument/2006/relationships/image" Target="../media/image15.png"/><Relationship Id="rId24" Type="http://schemas.openxmlformats.org/officeDocument/2006/relationships/image" Target="../media/image28.jpeg"/><Relationship Id="rId5" Type="http://schemas.openxmlformats.org/officeDocument/2006/relationships/image" Target="../media/image9.gif"/><Relationship Id="rId15" Type="http://schemas.openxmlformats.org/officeDocument/2006/relationships/image" Target="../media/image19.png"/><Relationship Id="rId23" Type="http://schemas.openxmlformats.org/officeDocument/2006/relationships/image" Target="../media/image27.jpeg"/><Relationship Id="rId10" Type="http://schemas.openxmlformats.org/officeDocument/2006/relationships/image" Target="../media/image14.png"/><Relationship Id="rId19" Type="http://schemas.openxmlformats.org/officeDocument/2006/relationships/image" Target="../media/image23.png"/><Relationship Id="rId4" Type="http://schemas.openxmlformats.org/officeDocument/2006/relationships/image" Target="../media/image8.png"/><Relationship Id="rId9" Type="http://schemas.openxmlformats.org/officeDocument/2006/relationships/image" Target="../media/image13.gif"/><Relationship Id="rId14" Type="http://schemas.openxmlformats.org/officeDocument/2006/relationships/image" Target="../media/image18.png"/><Relationship Id="rId22" Type="http://schemas.openxmlformats.org/officeDocument/2006/relationships/image" Target="../media/image2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demixium.com/" TargetMode="External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emixium.com/?page_id=99" TargetMode="External"/><Relationship Id="rId4" Type="http://schemas.openxmlformats.org/officeDocument/2006/relationships/image" Target="../media/image3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https://demix365.sharepoint.com/sites/DemixGlobal/Shared%20Documents/10_BASE/2024-05-04to05-10%20(A5)%20C384400%20NASA/00_Data_Reference.xlsm!pptxLink1!R1C1:R7C2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https://demix365.sharepoint.com/sites/DemixGlobal/Shared%20Documents/10_BASE/2024-05-04to05-10%20(A5)%20C384400%20NASA/00_Data_Reference.xlsm!pptxLink1!R10C1:R18C2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https://demix365.sharepoint.com/sites/DemixGlobal/Shared%20Documents/10_BASE/2024-05-04to05-10%20(A5)%20C384400%20NASA/00_Data_Reference.xlsm!pptxLink2!R1C1:R4C1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emf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https://demix365.sharepoint.com/sites/DemixGlobal/Shared%20Documents/10_BASE/2024-05-04to05-10%20(A5)%20C384400%20NASA/00_Data_Reference.xlsm!pptxLink1!R20C1:R31C2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https://demix365.sharepoint.com/sites/DemixGlobal/Shared%20Documents/10_BASE/2024-05-04to05-10%20(A5)%20C384400%20NASA/00_Data_Reference.xlsm!pptxLink3!R2C1:R24C9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https://demix365.sharepoint.com/sites/DemixGlobal/Shared%20Documents/10_BASE/2024-05-04to05-10%20(A5)%20C384400%20NASA/00_Data_Reference.xlsm!pptxLink1!R6C1:R7C2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https://demix365.sharepoint.com/sites/DemixGlobal/Shared%20Documents/10_BASE/2024-05-04to05-10%20(A5)%20C384400%20NASA/00_Data_Reference.xlsm!pptxLink4!R10C1:R27C20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emf"/><Relationship Id="rId2" Type="http://schemas.openxmlformats.org/officeDocument/2006/relationships/oleObject" Target="https://demix365.sharepoint.com/sites/DemixGlobal/Shared%20Documents/10_BASE/2024-05-04to05-10%20(A5)%20C384400%20NASA/00_Data_Reference.xlsm!pptxLink5!R1C1:R11C5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emf"/><Relationship Id="rId2" Type="http://schemas.openxmlformats.org/officeDocument/2006/relationships/oleObject" Target="https://demix365.sharepoint.com/sites/DemixGlobal/Shared%20Documents/10_BASE/2024-05-04to05-10%20(A5)%20C384400%20NASA/00_Data_Reference.xlsm!pptxLink5!R15C1:R21C5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https://demix365.sharepoint.com/sites/DemixGlobal/Shared%20Documents/10_BASE/2024-05-04to05-10%20(A5)%20C384400%20NASA/00_Data_Reference.xlsm!OULC!R50C2:R89C22" TargetMode="External"/><Relationship Id="rId7" Type="http://schemas.openxmlformats.org/officeDocument/2006/relationships/image" Target="../media/image45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emf"/><Relationship Id="rId5" Type="http://schemas.openxmlformats.org/officeDocument/2006/relationships/oleObject" Target="https://demix365.sharepoint.com/sites/DemixGlobal/Shared%20Documents/10_BASE/2024-05-04to05-10%20(A5)%20C384400%20NASA/00_Data_Reference.xlsm!pptxLink1!R8C4" TargetMode="External"/><Relationship Id="rId4" Type="http://schemas.openxmlformats.org/officeDocument/2006/relationships/image" Target="../media/image43.emf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emf"/><Relationship Id="rId2" Type="http://schemas.openxmlformats.org/officeDocument/2006/relationships/oleObject" Target="https://demix365.sharepoint.com/sites/DemixGlobal/Shared%20Documents/10_BASE/2024-05-04to05-10%20(A5)%20C384400%20NASA/00_Data_Reference.xlsm!pptxLink1!R33C1:R40C2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delete/Schedule.pdf" TargetMode="External"/><Relationship Id="rId2" Type="http://schemas.openxmlformats.org/officeDocument/2006/relationships/hyperlink" Target="99_vf01_Schedule.pdf" TargetMode="Externa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760CCB3-17E5-4DE9-9235-B3AD912C038A}"/>
              </a:ext>
            </a:extLst>
          </p:cNvPr>
          <p:cNvSpPr txBox="1">
            <a:spLocks/>
          </p:cNvSpPr>
          <p:nvPr/>
        </p:nvSpPr>
        <p:spPr>
          <a:xfrm>
            <a:off x="1524000" y="922975"/>
            <a:ext cx="9144000" cy="89894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/>
              <a:t>Opening Briefing</a:t>
            </a:r>
          </a:p>
        </p:txBody>
      </p:sp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336609E4-9291-48F4-B53A-32D535DF071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26754024"/>
              </p:ext>
            </p:extLst>
          </p:nvPr>
        </p:nvGraphicFramePr>
        <p:xfrm>
          <a:off x="3321050" y="2047875"/>
          <a:ext cx="5549900" cy="289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2" imgW="5302139" imgH="2927262" progId="Excel.SheetMacroEnabled.12">
                  <p:link updateAutomatic="1"/>
                </p:oleObj>
              </mc:Choice>
              <mc:Fallback>
                <p:oleObj name="Macro-Enabled Worksheet" r:id="rId2" imgW="5302139" imgH="2927262" progId="Excel.SheetMacroEnabled.12">
                  <p:link updateAutomatic="1"/>
                  <p:pic>
                    <p:nvPicPr>
                      <p:cNvPr id="9" name="Object 8">
                        <a:extLst>
                          <a:ext uri="{FF2B5EF4-FFF2-40B4-BE49-F238E27FC236}">
                            <a16:creationId xmlns:a16="http://schemas.microsoft.com/office/drawing/2014/main" id="{336609E4-9291-48F4-B53A-32D535DF071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321050" y="2047875"/>
                        <a:ext cx="5549900" cy="289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>
            <a:extLst>
              <a:ext uri="{FF2B5EF4-FFF2-40B4-BE49-F238E27FC236}">
                <a16:creationId xmlns:a16="http://schemas.microsoft.com/office/drawing/2014/main" id="{6376B0D6-A6B1-4DF8-BDB4-D2848D89586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0115651"/>
              </p:ext>
            </p:extLst>
          </p:nvPr>
        </p:nvGraphicFramePr>
        <p:xfrm>
          <a:off x="3444875" y="5380038"/>
          <a:ext cx="5302250" cy="66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4" imgW="5302139" imgH="666881" progId="Excel.SheetMacroEnabled.12">
                  <p:link updateAutomatic="1"/>
                </p:oleObj>
              </mc:Choice>
              <mc:Fallback>
                <p:oleObj name="Macro-Enabled Worksheet" r:id="rId4" imgW="5302139" imgH="666881" progId="Excel.SheetMacroEnabled.12">
                  <p:link updateAutomatic="1"/>
                  <p:pic>
                    <p:nvPicPr>
                      <p:cNvPr id="11" name="Object 10">
                        <a:extLst>
                          <a:ext uri="{FF2B5EF4-FFF2-40B4-BE49-F238E27FC236}">
                            <a16:creationId xmlns:a16="http://schemas.microsoft.com/office/drawing/2014/main" id="{6376B0D6-A6B1-4DF8-BDB4-D2848D89586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444875" y="5380038"/>
                        <a:ext cx="5302250" cy="666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59536454-AD5B-4F94-8339-31EA3769035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057849"/>
              </p:ext>
            </p:extLst>
          </p:nvPr>
        </p:nvGraphicFramePr>
        <p:xfrm>
          <a:off x="3444875" y="5168900"/>
          <a:ext cx="5302250" cy="273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6" imgW="5302139" imgH="273138" progId="Excel.SheetMacroEnabled.12">
                  <p:link updateAutomatic="1"/>
                </p:oleObj>
              </mc:Choice>
              <mc:Fallback>
                <p:oleObj name="Macro-Enabled Worksheet" r:id="rId6" imgW="5302139" imgH="273138" progId="Excel.SheetMacroEnabled.12">
                  <p:link updateAutomatic="1"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59536454-AD5B-4F94-8339-31EA3769035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444875" y="5168900"/>
                        <a:ext cx="5302250" cy="273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586255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" descr="http://eurasiangroup.org/clones/photos/photo3/Flag_China.gif">
            <a:extLst>
              <a:ext uri="{FF2B5EF4-FFF2-40B4-BE49-F238E27FC236}">
                <a16:creationId xmlns:a16="http://schemas.microsoft.com/office/drawing/2014/main" id="{0DB3A38A-CE0C-488A-B87F-37FFDD2E1D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5579" y="1038146"/>
            <a:ext cx="1080000" cy="6430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4" descr="https://www.cia.gov/library/publications/the-world-factbook/graphics/flags/large/sf-lgflag.gif">
            <a:extLst>
              <a:ext uri="{FF2B5EF4-FFF2-40B4-BE49-F238E27FC236}">
                <a16:creationId xmlns:a16="http://schemas.microsoft.com/office/drawing/2014/main" id="{5804FC85-67E1-4C1D-A768-A4E046E7F9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0863" y="2641935"/>
            <a:ext cx="1080000" cy="7063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" name="Picture 2" descr="http://www.diabetesmine.com/wp-content/uploads/2011/02/spain-flag.gif">
            <a:extLst>
              <a:ext uri="{FF2B5EF4-FFF2-40B4-BE49-F238E27FC236}">
                <a16:creationId xmlns:a16="http://schemas.microsoft.com/office/drawing/2014/main" id="{5D685488-5751-4610-AE1F-6A7C4BE390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9618" y="1849451"/>
            <a:ext cx="1080000" cy="644357"/>
          </a:xfrm>
          <a:prstGeom prst="rect">
            <a:avLst/>
          </a:prstGeom>
          <a:noFill/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6" name="Picture 12" descr="http://1.bp.blogspot.com/-dCG_ru9E2jY/Twy2lX1A4MI/AAAAAAABCVQ/sk5d4dhnIhM/s1600/Switzerland_Flag.jpg">
            <a:extLst>
              <a:ext uri="{FF2B5EF4-FFF2-40B4-BE49-F238E27FC236}">
                <a16:creationId xmlns:a16="http://schemas.microsoft.com/office/drawing/2014/main" id="{1CCB6A1E-9C8F-4CF7-8854-7EAED2AC68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5456" y="1844427"/>
            <a:ext cx="1080000" cy="649614"/>
          </a:xfrm>
          <a:prstGeom prst="rect">
            <a:avLst/>
          </a:prstGeom>
          <a:noFill/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" name="Picture 8">
            <a:extLst>
              <a:ext uri="{FF2B5EF4-FFF2-40B4-BE49-F238E27FC236}">
                <a16:creationId xmlns:a16="http://schemas.microsoft.com/office/drawing/2014/main" id="{906DB6B8-FB70-49A9-90A8-CE08CF7A3F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0111" y="2655335"/>
            <a:ext cx="1080000" cy="695098"/>
          </a:xfrm>
          <a:prstGeom prst="rect">
            <a:avLst/>
          </a:prstGeom>
          <a:noFill/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829E41C9-1208-4F5B-9B72-C350895017B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00113" y="1041906"/>
            <a:ext cx="1080000" cy="629853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pic>
        <p:nvPicPr>
          <p:cNvPr id="49" name="Picture 48" descr="http://www.onlinenewspapers.com/images/germany.gif">
            <a:extLst>
              <a:ext uri="{FF2B5EF4-FFF2-40B4-BE49-F238E27FC236}">
                <a16:creationId xmlns:a16="http://schemas.microsoft.com/office/drawing/2014/main" id="{3F300468-6315-4AAF-9348-32BCBBA8F5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3757" y="1038146"/>
            <a:ext cx="1080000" cy="643045"/>
          </a:xfrm>
          <a:prstGeom prst="rect">
            <a:avLst/>
          </a:prstGeom>
          <a:noFill/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7722CF4D-7FE1-45B8-81FB-B3A16FBB595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7402" y="1047201"/>
            <a:ext cx="1080000" cy="643046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pic>
        <p:nvPicPr>
          <p:cNvPr id="51" name="Picture 50" descr="A close up of a logo&#10;&#10;Description automatically generated">
            <a:extLst>
              <a:ext uri="{FF2B5EF4-FFF2-40B4-BE49-F238E27FC236}">
                <a16:creationId xmlns:a16="http://schemas.microsoft.com/office/drawing/2014/main" id="{71E22DBF-B29C-4402-8AEA-178EA3063525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9663" y="1054688"/>
            <a:ext cx="1080000" cy="635560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D9C0948D-3FA9-4C7F-8D52-47741C98F9D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687402" y="2651707"/>
            <a:ext cx="1080000" cy="706365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pic>
        <p:nvPicPr>
          <p:cNvPr id="54" name="Picture 2" descr="Flag of the United Arab Emirates.svg">
            <a:extLst>
              <a:ext uri="{FF2B5EF4-FFF2-40B4-BE49-F238E27FC236}">
                <a16:creationId xmlns:a16="http://schemas.microsoft.com/office/drawing/2014/main" id="{F3617B43-1542-4F3C-956C-3E408F634F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3756" y="1839721"/>
            <a:ext cx="1080000" cy="643045"/>
          </a:xfrm>
          <a:prstGeom prst="rect">
            <a:avLst/>
          </a:prstGeom>
          <a:noFill/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4" name="Picture 2" descr="India - Wikipedia">
            <a:extLst>
              <a:ext uri="{FF2B5EF4-FFF2-40B4-BE49-F238E27FC236}">
                <a16:creationId xmlns:a16="http://schemas.microsoft.com/office/drawing/2014/main" id="{2850122E-32F6-40C4-AEC8-C4B0EC346A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3311" y="2644070"/>
            <a:ext cx="1080000" cy="706364"/>
          </a:xfrm>
          <a:prstGeom prst="rect">
            <a:avLst/>
          </a:prstGeom>
          <a:noFill/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FEF7BC6-DE2A-1BA8-D162-418AA6F248B4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353377" y="1047201"/>
            <a:ext cx="1080000" cy="643046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E91D709-B59F-05B8-0708-2944651EA14F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362529" y="1870870"/>
            <a:ext cx="1080000" cy="64435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D5B9EE7-D463-5A58-9C5D-FBEAF1BD6F1D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339663" y="1849629"/>
            <a:ext cx="1080000" cy="643046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B6B6DC8-AFD9-1013-CFA4-A5009EC830EB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000111" y="1849629"/>
            <a:ext cx="1080000" cy="643046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1D91F97-81EF-55DD-1241-7E663D88BFFB}"/>
              </a:ext>
            </a:extLst>
          </p:cNvPr>
          <p:cNvPicPr>
            <a:picLocks noChangeAspect="1"/>
          </p:cNvPicPr>
          <p:nvPr/>
        </p:nvPicPr>
        <p:blipFill rotWithShape="1">
          <a:blip r:embed="rId19"/>
          <a:srcRect b="6395"/>
          <a:stretch/>
        </p:blipFill>
        <p:spPr>
          <a:xfrm>
            <a:off x="6694728" y="1040336"/>
            <a:ext cx="1080000" cy="656775"/>
          </a:xfrm>
          <a:prstGeom prst="rect">
            <a:avLst/>
          </a:prstGeom>
          <a:ln w="952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A4F9AAA-F25B-7B38-EE7D-9D1B63F7470E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025456" y="2644070"/>
            <a:ext cx="1080000" cy="706364"/>
          </a:xfrm>
          <a:prstGeom prst="rect">
            <a:avLst/>
          </a:prstGeom>
          <a:ln w="952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35A4E54-8846-BE30-E77E-8EA0B4841703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683311" y="1839722"/>
            <a:ext cx="1080000" cy="656775"/>
          </a:xfrm>
          <a:prstGeom prst="rect">
            <a:avLst/>
          </a:prstGeom>
          <a:ln w="952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sp>
        <p:nvSpPr>
          <p:cNvPr id="9" name="TextBox 4">
            <a:extLst>
              <a:ext uri="{FF2B5EF4-FFF2-40B4-BE49-F238E27FC236}">
                <a16:creationId xmlns:a16="http://schemas.microsoft.com/office/drawing/2014/main" id="{CB425F2D-C583-0A76-4E83-380A213737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399" y="3912730"/>
            <a:ext cx="8077201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GB" sz="1800" dirty="0">
                <a:latin typeface="+mn-lt"/>
                <a:ea typeface="Calibri"/>
              </a:rPr>
              <a:t>It is a pleasure and an honour to be here with you today. We are looking forward to working with you and your team over the coming days.</a:t>
            </a:r>
            <a:endParaRPr lang="en-US" sz="1800" dirty="0">
              <a:ea typeface="Calibri"/>
            </a:endParaRPr>
          </a:p>
          <a:p>
            <a:pPr algn="ctr"/>
            <a:r>
              <a:rPr lang="zh-CN" altLang="en-GB" sz="2000">
                <a:solidFill>
                  <a:srgbClr val="1F497D"/>
                </a:solidFill>
                <a:latin typeface="SimSun"/>
                <a:ea typeface="SimSun"/>
              </a:rPr>
              <a:t>今天我很高興和榮幸來到這裡，我期待著在未來的几天里與您和您的團隊一起工作。</a:t>
            </a:r>
            <a:endParaRPr lang="zh-CN"/>
          </a:p>
          <a:p>
            <a:pPr algn="ctr"/>
            <a:endParaRPr lang="en-GB" altLang="zh-CN" sz="2000" dirty="0">
              <a:solidFill>
                <a:srgbClr val="000000"/>
              </a:solidFill>
              <a:latin typeface="Calibri"/>
              <a:ea typeface="等线"/>
              <a:cs typeface="Calibri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82945E9-2F57-4420-BA56-8960D3908F35}"/>
              </a:ext>
            </a:extLst>
          </p:cNvPr>
          <p:cNvSpPr txBox="1"/>
          <p:nvPr/>
        </p:nvSpPr>
        <p:spPr>
          <a:xfrm>
            <a:off x="10628572" y="1054688"/>
            <a:ext cx="1356866" cy="7386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b="1" dirty="0">
                <a:solidFill>
                  <a:srgbClr val="FF0000"/>
                </a:solidFill>
              </a:rPr>
              <a:t>Registered PRC trademark</a:t>
            </a:r>
          </a:p>
          <a:p>
            <a:pPr algn="ctr"/>
            <a:r>
              <a:rPr lang="en-US" sz="1400" b="1" dirty="0">
                <a:solidFill>
                  <a:srgbClr val="FF0000"/>
                </a:solidFill>
              </a:rPr>
              <a:t>21050449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883F363-8032-AE88-2810-0BA8D55C91D7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365831" y="2664535"/>
            <a:ext cx="1080000" cy="700942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pic>
        <p:nvPicPr>
          <p:cNvPr id="2050" name="Picture 2" descr="Flag of Costa Rica | Meaning, Colors &amp; History | Britannica">
            <a:extLst>
              <a:ext uri="{FF2B5EF4-FFF2-40B4-BE49-F238E27FC236}">
                <a16:creationId xmlns:a16="http://schemas.microsoft.com/office/drawing/2014/main" id="{53CD89D5-7FF2-D96B-EA13-4AAF739544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6911" y="2641935"/>
            <a:ext cx="1080000" cy="676193"/>
          </a:xfrm>
          <a:prstGeom prst="rect">
            <a:avLst/>
          </a:prstGeom>
          <a:noFill/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 descr="A picture containing clipart&#10;&#10;Description automatically generated">
            <a:extLst>
              <a:ext uri="{FF2B5EF4-FFF2-40B4-BE49-F238E27FC236}">
                <a16:creationId xmlns:a16="http://schemas.microsoft.com/office/drawing/2014/main" id="{C1D139D6-4956-7862-C17B-8E9B8E69408F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93" b="22290"/>
          <a:stretch/>
        </p:blipFill>
        <p:spPr>
          <a:xfrm>
            <a:off x="3148202" y="5407792"/>
            <a:ext cx="1734754" cy="597600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3ECBD3B-9309-2C67-8344-5CB777A301A5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080336" y="5261771"/>
            <a:ext cx="2031326" cy="1015663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16" name="Picture 15" descr="A close up of a logo&#10;&#10;AI-generated content may be incorrect.">
            <a:extLst>
              <a:ext uri="{FF2B5EF4-FFF2-40B4-BE49-F238E27FC236}">
                <a16:creationId xmlns:a16="http://schemas.microsoft.com/office/drawing/2014/main" id="{9595A2B3-3F64-952C-65D1-00925C528F55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037473" y="5144159"/>
            <a:ext cx="4269532" cy="1199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2695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56AC6-8B5D-4EE0-897A-9EECC02806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1442" y="908050"/>
            <a:ext cx="10397836" cy="602284"/>
          </a:xfrm>
        </p:spPr>
        <p:txBody>
          <a:bodyPr/>
          <a:lstStyle/>
          <a:p>
            <a:r>
              <a:rPr lang="en-ZA" dirty="0"/>
              <a:t>DEMIX™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BCE02E9-B639-4352-9CD8-7319ACA08735}"/>
              </a:ext>
            </a:extLst>
          </p:cNvPr>
          <p:cNvGrpSpPr/>
          <p:nvPr/>
        </p:nvGrpSpPr>
        <p:grpSpPr>
          <a:xfrm>
            <a:off x="4528986" y="1701637"/>
            <a:ext cx="2719052" cy="4415485"/>
            <a:chOff x="4440140" y="1417173"/>
            <a:chExt cx="2719052" cy="4415485"/>
          </a:xfrm>
        </p:grpSpPr>
        <p:sp>
          <p:nvSpPr>
            <p:cNvPr id="4" name="Arrow: Up 3">
              <a:extLst>
                <a:ext uri="{FF2B5EF4-FFF2-40B4-BE49-F238E27FC236}">
                  <a16:creationId xmlns:a16="http://schemas.microsoft.com/office/drawing/2014/main" id="{2D3100A3-8319-4488-9BD8-FA36065DF984}"/>
                </a:ext>
              </a:extLst>
            </p:cNvPr>
            <p:cNvSpPr/>
            <p:nvPr/>
          </p:nvSpPr>
          <p:spPr>
            <a:xfrm>
              <a:off x="4638776" y="1417173"/>
              <a:ext cx="2321781" cy="3657600"/>
            </a:xfrm>
            <a:prstGeom prst="upArrow">
              <a:avLst/>
            </a:prstGeom>
            <a:solidFill>
              <a:srgbClr val="299E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dirty="0"/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F78F0F7F-3E23-4ED2-ABCC-98187E77EC2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440140" y="2583208"/>
              <a:ext cx="2719052" cy="3249450"/>
            </a:xfrm>
            <a:prstGeom prst="rect">
              <a:avLst/>
            </a:prstGeom>
          </p:spPr>
        </p:pic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8D84EF48-EF5E-49FA-B6A9-E5C80B9C0007}"/>
              </a:ext>
            </a:extLst>
          </p:cNvPr>
          <p:cNvSpPr txBox="1"/>
          <p:nvPr/>
        </p:nvSpPr>
        <p:spPr>
          <a:xfrm>
            <a:off x="951442" y="1307835"/>
            <a:ext cx="3126112" cy="369332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ZA" dirty="0" err="1"/>
              <a:t>Demix</a:t>
            </a:r>
            <a:r>
              <a:rPr lang="en-ZA" dirty="0"/>
              <a:t>™ Copyright </a:t>
            </a:r>
            <a:r>
              <a:rPr lang="en-ZA" dirty="0" err="1"/>
              <a:t>Demix</a:t>
            </a:r>
            <a:r>
              <a:rPr lang="en-ZA" dirty="0"/>
              <a:t> 2025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021C6B-98B3-4617-86D6-C346F83D70CA}"/>
              </a:ext>
            </a:extLst>
          </p:cNvPr>
          <p:cNvSpPr txBox="1"/>
          <p:nvPr/>
        </p:nvSpPr>
        <p:spPr>
          <a:xfrm>
            <a:off x="2841175" y="5686214"/>
            <a:ext cx="6094674" cy="58477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ZA" sz="1600" dirty="0">
                <a:hlinkClick r:id="rId3"/>
              </a:rPr>
              <a:t>www.demixglobal.com</a:t>
            </a:r>
            <a:endParaRPr lang="en-ZA" sz="1600" dirty="0"/>
          </a:p>
          <a:p>
            <a:pPr algn="ctr"/>
            <a:r>
              <a:rPr lang="en-ZA" sz="1600" dirty="0">
                <a:solidFill>
                  <a:srgbClr val="000000"/>
                </a:solidFill>
                <a:latin typeface="Open Sans"/>
              </a:rPr>
              <a:t>Create</a:t>
            </a:r>
            <a:r>
              <a:rPr lang="en-ZA" sz="1600" b="0" i="0" dirty="0">
                <a:solidFill>
                  <a:srgbClr val="000000"/>
                </a:solidFill>
                <a:effectLst/>
                <a:latin typeface="Open Sans"/>
              </a:rPr>
              <a:t>| </a:t>
            </a:r>
            <a:r>
              <a:rPr lang="en-ZA" sz="1600" dirty="0">
                <a:solidFill>
                  <a:srgbClr val="000000"/>
                </a:solidFill>
                <a:latin typeface="Open Sans"/>
              </a:rPr>
              <a:t>Evolve</a:t>
            </a:r>
            <a:r>
              <a:rPr lang="en-ZA" sz="1600" b="0" i="0" dirty="0">
                <a:solidFill>
                  <a:srgbClr val="000000"/>
                </a:solidFill>
                <a:effectLst/>
                <a:latin typeface="Open Sans"/>
              </a:rPr>
              <a:t>| </a:t>
            </a:r>
            <a:r>
              <a:rPr lang="en-ZA" sz="1600" dirty="0">
                <a:solidFill>
                  <a:srgbClr val="000000"/>
                </a:solidFill>
                <a:latin typeface="Open Sans"/>
              </a:rPr>
              <a:t>Perfect</a:t>
            </a:r>
            <a:endParaRPr lang="en-ZA" sz="1600" dirty="0">
              <a:ea typeface="Calibri"/>
              <a:cs typeface="Calibri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56B3AA-4ADA-412B-9A45-4D5AA4F494AE}"/>
              </a:ext>
            </a:extLst>
          </p:cNvPr>
          <p:cNvSpPr txBox="1"/>
          <p:nvPr/>
        </p:nvSpPr>
        <p:spPr>
          <a:xfrm>
            <a:off x="1179784" y="2389117"/>
            <a:ext cx="271905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>
                <a:solidFill>
                  <a:srgbClr val="1F497D"/>
                </a:solidFill>
              </a:defRPr>
            </a:lvl1pPr>
          </a:lstStyle>
          <a:p>
            <a:r>
              <a:rPr lang="en-GB" dirty="0"/>
              <a:t>Half of all organizations fail to execute strategy effectively. Demix empowers success.</a:t>
            </a:r>
            <a:endParaRPr lang="en-ZA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369FE8-DAF2-49E0-852E-C869E262D50E}"/>
              </a:ext>
            </a:extLst>
          </p:cNvPr>
          <p:cNvSpPr txBox="1"/>
          <p:nvPr/>
        </p:nvSpPr>
        <p:spPr>
          <a:xfrm>
            <a:off x="1308059" y="4005710"/>
            <a:ext cx="27190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rgbClr val="FF0000"/>
                </a:solidFill>
              </a:rPr>
              <a:t>一半的组织无法有效执行战略。</a:t>
            </a:r>
            <a:r>
              <a:rPr lang="en-US" altLang="zh-CN" b="1" dirty="0">
                <a:solidFill>
                  <a:srgbClr val="FF0000"/>
                </a:solidFill>
              </a:rPr>
              <a:t>Demix </a:t>
            </a:r>
            <a:r>
              <a:rPr lang="zh-CN" altLang="en-US" b="1" dirty="0">
                <a:solidFill>
                  <a:srgbClr val="FF0000"/>
                </a:solidFill>
              </a:rPr>
              <a:t>赋能成功。</a:t>
            </a:r>
            <a:endParaRPr lang="en-ZA" b="1" dirty="0">
              <a:solidFill>
                <a:srgbClr val="FF0000"/>
              </a:solidFill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072F935-8217-6CE4-4503-62D4545B07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8548" y="2200661"/>
            <a:ext cx="3260157" cy="2173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hlinkClick r:id="rId5"/>
            <a:extLst>
              <a:ext uri="{FF2B5EF4-FFF2-40B4-BE49-F238E27FC236}">
                <a16:creationId xmlns:a16="http://schemas.microsoft.com/office/drawing/2014/main" id="{9586E270-888A-1598-78F1-3370E9ADD0D1}"/>
              </a:ext>
            </a:extLst>
          </p:cNvPr>
          <p:cNvSpPr txBox="1"/>
          <p:nvPr/>
        </p:nvSpPr>
        <p:spPr>
          <a:xfrm>
            <a:off x="8189352" y="4491322"/>
            <a:ext cx="30193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-apple-system"/>
                <a:hlinkClick r:id="rId5"/>
              </a:rPr>
              <a:t>Strategy Execution with CMMI</a:t>
            </a:r>
            <a:endParaRPr lang="en-US" b="0" i="0" dirty="0">
              <a:solidFill>
                <a:srgbClr val="000000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35468183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A629AD6-E198-3A47-A696-9DF21F2787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+mn-lt"/>
              </a:rPr>
              <a:t>Appraisal Overview </a:t>
            </a:r>
            <a:br>
              <a:rPr lang="en-US" b="1" dirty="0">
                <a:latin typeface="+mn-lt"/>
              </a:rPr>
            </a:br>
            <a:r>
              <a:rPr lang="zh-CN" altLang="en-US" sz="6000" b="1" dirty="0">
                <a:solidFill>
                  <a:srgbClr val="1F497D"/>
                </a:solidFill>
                <a:latin typeface="+mn-ea"/>
                <a:ea typeface="+mn-ea"/>
              </a:rPr>
              <a:t>评估概述</a:t>
            </a:r>
            <a:endParaRPr lang="en-US" b="1" dirty="0">
              <a:solidFill>
                <a:srgbClr val="1F497D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383222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FD9062E2-4292-411C-8888-3870D8C3076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5181529"/>
              </p:ext>
            </p:extLst>
          </p:nvPr>
        </p:nvGraphicFramePr>
        <p:xfrm>
          <a:off x="947738" y="2127250"/>
          <a:ext cx="8650287" cy="1452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3" imgW="8407351" imgH="1371600" progId="Excel.SheetMacroEnabled.12">
                  <p:link updateAutomatic="1"/>
                </p:oleObj>
              </mc:Choice>
              <mc:Fallback>
                <p:oleObj name="Macro-Enabled Worksheet" r:id="rId3" imgW="8407351" imgH="1371600" progId="Excel.SheetMacroEnabled.12">
                  <p:link updateAutomatic="1"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FD9062E2-4292-411C-8888-3870D8C3076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47738" y="2127250"/>
                        <a:ext cx="8650287" cy="14525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3" name="Rectangle 3"/>
          <p:cNvSpPr>
            <a:spLocks noGrp="1" noChangeArrowheads="1"/>
          </p:cNvSpPr>
          <p:nvPr>
            <p:ph type="title"/>
          </p:nvPr>
        </p:nvSpPr>
        <p:spPr>
          <a:xfrm>
            <a:off x="962488" y="1039828"/>
            <a:ext cx="10515600" cy="602284"/>
          </a:xfrm>
        </p:spPr>
        <p:txBody>
          <a:bodyPr/>
          <a:lstStyle/>
          <a:p>
            <a:pPr eaLnBrk="1" hangingPunct="1"/>
            <a:r>
              <a:rPr lang="en-US" altLang="en-US" dirty="0">
                <a:ea typeface="ＭＳ Ｐゴシック" charset="-128"/>
              </a:rPr>
              <a:t>Appraisal Overview</a:t>
            </a:r>
          </a:p>
        </p:txBody>
      </p:sp>
    </p:spTree>
    <p:extLst>
      <p:ext uri="{BB962C8B-B14F-4D97-AF65-F5344CB8AC3E}">
        <p14:creationId xmlns:p14="http://schemas.microsoft.com/office/powerpoint/2010/main" val="23914731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382D3759-24A7-42E2-82DB-6309FF00C19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2879339"/>
              </p:ext>
            </p:extLst>
          </p:nvPr>
        </p:nvGraphicFramePr>
        <p:xfrm>
          <a:off x="1106488" y="2058988"/>
          <a:ext cx="8648700" cy="1614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3" imgW="8407351" imgH="1492206" progId="Excel.SheetMacroEnabled.12">
                  <p:link updateAutomatic="1"/>
                </p:oleObj>
              </mc:Choice>
              <mc:Fallback>
                <p:oleObj name="Macro-Enabled Worksheet" r:id="rId3" imgW="8407351" imgH="1492206" progId="Excel.SheetMacroEnabled.12">
                  <p:link updateAutomatic="1"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382D3759-24A7-42E2-82DB-6309FF00C19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06488" y="2058988"/>
                        <a:ext cx="8648700" cy="1614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3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ea typeface="ＭＳ Ｐゴシック" charset="-128"/>
              </a:rPr>
              <a:t>Appraisal Overview</a:t>
            </a:r>
          </a:p>
        </p:txBody>
      </p:sp>
    </p:spTree>
    <p:extLst>
      <p:ext uri="{BB962C8B-B14F-4D97-AF65-F5344CB8AC3E}">
        <p14:creationId xmlns:p14="http://schemas.microsoft.com/office/powerpoint/2010/main" val="25058054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ea typeface="ＭＳ Ｐゴシック" charset="-128"/>
              </a:rPr>
              <a:t>Business and Appraisal Objectives</a:t>
            </a:r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641738B5-23C6-457B-BB18-AD965FCE013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1491362"/>
              </p:ext>
            </p:extLst>
          </p:nvPr>
        </p:nvGraphicFramePr>
        <p:xfrm>
          <a:off x="1039813" y="1795463"/>
          <a:ext cx="7772400" cy="1368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3" imgW="7562986" imgH="1384212" progId="Excel.SheetMacroEnabled.12">
                  <p:link updateAutomatic="1"/>
                </p:oleObj>
              </mc:Choice>
              <mc:Fallback>
                <p:oleObj name="Macro-Enabled Worksheet" r:id="rId3" imgW="7562986" imgH="1384212" progId="Excel.SheetMacroEnabled.12">
                  <p:link updateAutomatic="1"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641738B5-23C6-457B-BB18-AD965FCE013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39813" y="1795463"/>
                        <a:ext cx="7772400" cy="13684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85953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984020" y="995024"/>
            <a:ext cx="7772400" cy="609600"/>
          </a:xfrm>
          <a:noFill/>
        </p:spPr>
        <p:txBody>
          <a:bodyPr vert="horz" wrap="none" lIns="90488" tIns="44450" rIns="90488" bIns="44450" rtlCol="0" anchor="ctr">
            <a:normAutofit/>
          </a:bodyPr>
          <a:lstStyle/>
          <a:p>
            <a:pPr algn="l" eaLnBrk="1" hangingPunct="1">
              <a:lnSpc>
                <a:spcPct val="85000"/>
              </a:lnSpc>
            </a:pPr>
            <a:r>
              <a:rPr lang="en-US" altLang="zh-CN" dirty="0">
                <a:latin typeface="Arial" charset="0"/>
              </a:rPr>
              <a:t>Appraisal Principles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1055688" y="1848439"/>
            <a:ext cx="7772400" cy="3057247"/>
          </a:xfrm>
        </p:spPr>
        <p:txBody>
          <a:bodyPr vert="horz" lIns="63500" tIns="25400" rIns="63500" bIns="25400" rtlCol="0">
            <a:spAutoFit/>
          </a:bodyPr>
          <a:lstStyle/>
          <a:p>
            <a:r>
              <a:rPr lang="en-ZA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Start with a process framework</a:t>
            </a:r>
            <a:br>
              <a:rPr lang="en-ZA" sz="1800" dirty="0">
                <a:latin typeface="Calibri" panose="020F0502020204030204" pitchFamily="34" charset="0"/>
                <a:ea typeface="Calibri" panose="020F0502020204030204" pitchFamily="34" charset="0"/>
              </a:rPr>
            </a:br>
            <a:r>
              <a:rPr lang="en-ZA" sz="1800" dirty="0" err="1">
                <a:solidFill>
                  <a:srgbClr val="1F497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以一个过程框架作为开始</a:t>
            </a:r>
            <a:endParaRPr lang="en-ZA" sz="1800" dirty="0">
              <a:solidFill>
                <a:srgbClr val="1F497D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ZA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Observe strict confidentiality and non-attribution</a:t>
            </a:r>
            <a:br>
              <a:rPr lang="en-ZA" sz="1800" dirty="0">
                <a:latin typeface="Calibri" panose="020F0502020204030204" pitchFamily="34" charset="0"/>
                <a:ea typeface="Calibri" panose="020F0502020204030204" pitchFamily="34" charset="0"/>
              </a:rPr>
            </a:br>
            <a:r>
              <a:rPr lang="en-ZA" sz="1800" dirty="0" err="1">
                <a:solidFill>
                  <a:srgbClr val="1F497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严格遵循保密性和不归因性</a:t>
            </a:r>
            <a:endParaRPr lang="en-ZA" sz="1800" dirty="0">
              <a:solidFill>
                <a:srgbClr val="1F497D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ZA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Involve senior management as appraisal sponsor</a:t>
            </a:r>
            <a:br>
              <a:rPr lang="en-ZA" sz="1800" dirty="0">
                <a:latin typeface="Calibri" panose="020F0502020204030204" pitchFamily="34" charset="0"/>
                <a:ea typeface="Calibri" panose="020F0502020204030204" pitchFamily="34" charset="0"/>
              </a:rPr>
            </a:br>
            <a:r>
              <a:rPr lang="en-ZA" sz="1800" dirty="0" err="1">
                <a:solidFill>
                  <a:srgbClr val="1F497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把高层作为评估发起人</a:t>
            </a:r>
            <a:endParaRPr lang="en-ZA" sz="1800" dirty="0">
              <a:solidFill>
                <a:srgbClr val="1F497D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ZA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Approach appraisal collaboratively to the extent possible</a:t>
            </a:r>
            <a:br>
              <a:rPr lang="en-ZA" sz="1800" dirty="0">
                <a:latin typeface="Calibri" panose="020F0502020204030204" pitchFamily="34" charset="0"/>
                <a:ea typeface="Calibri" panose="020F0502020204030204" pitchFamily="34" charset="0"/>
              </a:rPr>
            </a:br>
            <a:r>
              <a:rPr lang="en-ZA" sz="1800" dirty="0" err="1">
                <a:solidFill>
                  <a:srgbClr val="1F497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评估需要协调合作进行</a:t>
            </a:r>
            <a:endParaRPr lang="en-ZA" sz="1800" dirty="0">
              <a:solidFill>
                <a:srgbClr val="1F497D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ZA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Focus on action</a:t>
            </a:r>
            <a:br>
              <a:rPr lang="en-ZA" sz="1800" dirty="0">
                <a:latin typeface="Calibri" panose="020F0502020204030204" pitchFamily="34" charset="0"/>
                <a:ea typeface="Calibri" panose="020F0502020204030204" pitchFamily="34" charset="0"/>
              </a:rPr>
            </a:br>
            <a:r>
              <a:rPr lang="en-ZA" sz="1800" dirty="0" err="1">
                <a:solidFill>
                  <a:srgbClr val="1F497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关注行动</a:t>
            </a:r>
            <a:endParaRPr lang="en-ZA" sz="1800" dirty="0">
              <a:solidFill>
                <a:srgbClr val="1F497D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38F63-43DB-4D03-99F8-9DDEC68E7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Virtual appraisals – code of conduct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FF612D-EFDE-4142-8FD5-20FE5144DB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5688" y="1562793"/>
            <a:ext cx="10397837" cy="4531043"/>
          </a:xfrm>
        </p:spPr>
        <p:txBody>
          <a:bodyPr>
            <a:noAutofit/>
          </a:bodyPr>
          <a:lstStyle/>
          <a:p>
            <a:pPr marL="0" indent="0">
              <a:spcBef>
                <a:spcPts val="300"/>
              </a:spcBef>
              <a:buNone/>
            </a:pPr>
            <a:r>
              <a:rPr lang="en-GB" sz="1600" dirty="0"/>
              <a:t>When virtual interviews are planned for the appraisal, then virtual face-to-face (</a:t>
            </a:r>
            <a:r>
              <a:rPr lang="en-GB" sz="1600" dirty="0" err="1"/>
              <a:t>F2F</a:t>
            </a:r>
            <a:r>
              <a:rPr lang="en-GB" sz="1600" dirty="0"/>
              <a:t>) interviews are required to confirm the following:</a:t>
            </a:r>
          </a:p>
          <a:p>
            <a:pPr>
              <a:spcBef>
                <a:spcPts val="300"/>
              </a:spcBef>
            </a:pPr>
            <a:r>
              <a:rPr lang="en-GB" sz="1600" dirty="0"/>
              <a:t>Verifying interviewees are on camera</a:t>
            </a:r>
          </a:p>
          <a:p>
            <a:pPr>
              <a:spcBef>
                <a:spcPts val="300"/>
              </a:spcBef>
            </a:pPr>
            <a:r>
              <a:rPr lang="en-GB" sz="1600" dirty="0"/>
              <a:t>Verifying ATM identities and maximizing their participation</a:t>
            </a:r>
          </a:p>
          <a:p>
            <a:pPr>
              <a:spcBef>
                <a:spcPts val="300"/>
              </a:spcBef>
            </a:pPr>
            <a:r>
              <a:rPr lang="en-GB" sz="1600" dirty="0"/>
              <a:t>Verifying appraisal participant identities, e.g., interviewees, Appraisal Sponsor</a:t>
            </a:r>
          </a:p>
          <a:p>
            <a:pPr>
              <a:spcBef>
                <a:spcPts val="300"/>
              </a:spcBef>
            </a:pPr>
            <a:r>
              <a:rPr lang="en-GB" sz="1600" dirty="0"/>
              <a:t>Verifying only planned appraisal participants are present</a:t>
            </a:r>
          </a:p>
          <a:p>
            <a:pPr>
              <a:spcBef>
                <a:spcPts val="300"/>
              </a:spcBef>
            </a:pPr>
            <a:r>
              <a:rPr lang="en-GB" sz="1600" dirty="0"/>
              <a:t>Verifying that non-attribution and confidentiality rules are being followed, e.g., no other participants are present, physical setting is appropriate</a:t>
            </a:r>
          </a:p>
          <a:p>
            <a:pPr>
              <a:spcBef>
                <a:spcPts val="300"/>
              </a:spcBef>
            </a:pPr>
            <a:r>
              <a:rPr lang="en-GB" sz="1600" dirty="0"/>
              <a:t>Monitoring non-verbal communication and appraisal participant engagement</a:t>
            </a:r>
          </a:p>
          <a:p>
            <a:pPr marL="0" indent="0">
              <a:spcBef>
                <a:spcPts val="300"/>
              </a:spcBef>
              <a:buNone/>
            </a:pPr>
            <a:endParaRPr lang="en-ZA" sz="1600" dirty="0"/>
          </a:p>
          <a:p>
            <a:pPr marL="0" indent="0">
              <a:spcBef>
                <a:spcPts val="300"/>
              </a:spcBef>
              <a:buNone/>
            </a:pPr>
            <a:r>
              <a:rPr lang="zh-CN" altLang="en-US" sz="1600" dirty="0">
                <a:solidFill>
                  <a:srgbClr val="1F497D"/>
                </a:solidFill>
              </a:rPr>
              <a:t>当计划进行虚拟面试以进行评估时，需要进行虚拟面对面（</a:t>
            </a:r>
            <a:r>
              <a:rPr lang="en-US" altLang="zh-CN" sz="1600" dirty="0" err="1">
                <a:solidFill>
                  <a:srgbClr val="1F497D"/>
                </a:solidFill>
              </a:rPr>
              <a:t>F2F</a:t>
            </a:r>
            <a:r>
              <a:rPr lang="zh-CN" altLang="en-US" sz="1600" dirty="0">
                <a:solidFill>
                  <a:srgbClr val="1F497D"/>
                </a:solidFill>
              </a:rPr>
              <a:t>）面试以确认以下内容：</a:t>
            </a:r>
          </a:p>
          <a:p>
            <a:pPr>
              <a:spcBef>
                <a:spcPts val="300"/>
              </a:spcBef>
            </a:pPr>
            <a:r>
              <a:rPr lang="zh-CN" altLang="en-US" sz="1600" dirty="0">
                <a:solidFill>
                  <a:srgbClr val="1F497D"/>
                </a:solidFill>
              </a:rPr>
              <a:t>确认受访者在镜头前</a:t>
            </a:r>
          </a:p>
          <a:p>
            <a:pPr>
              <a:spcBef>
                <a:spcPts val="300"/>
              </a:spcBef>
            </a:pPr>
            <a:r>
              <a:rPr lang="zh-CN" altLang="en-US" sz="1600" dirty="0">
                <a:solidFill>
                  <a:srgbClr val="1F497D"/>
                </a:solidFill>
              </a:rPr>
              <a:t>核实</a:t>
            </a:r>
            <a:r>
              <a:rPr lang="en-US" altLang="zh-CN" sz="1600" dirty="0">
                <a:solidFill>
                  <a:srgbClr val="1F497D"/>
                </a:solidFill>
              </a:rPr>
              <a:t>ATM</a:t>
            </a:r>
            <a:r>
              <a:rPr lang="zh-CN" altLang="en-US" sz="1600" dirty="0">
                <a:solidFill>
                  <a:srgbClr val="1F497D"/>
                </a:solidFill>
              </a:rPr>
              <a:t>身份并最大化他们的参与</a:t>
            </a:r>
          </a:p>
          <a:p>
            <a:pPr>
              <a:spcBef>
                <a:spcPts val="300"/>
              </a:spcBef>
            </a:pPr>
            <a:r>
              <a:rPr lang="zh-CN" altLang="en-US" sz="1600" dirty="0">
                <a:solidFill>
                  <a:srgbClr val="1F497D"/>
                </a:solidFill>
              </a:rPr>
              <a:t>核实评估参与者身份，例如，受访者，评估发起人</a:t>
            </a:r>
          </a:p>
          <a:p>
            <a:pPr>
              <a:spcBef>
                <a:spcPts val="300"/>
              </a:spcBef>
            </a:pPr>
            <a:r>
              <a:rPr lang="zh-CN" altLang="en-US" sz="1600" dirty="0">
                <a:solidFill>
                  <a:srgbClr val="1F497D"/>
                </a:solidFill>
              </a:rPr>
              <a:t>确认只有计划中的评估参与者在场</a:t>
            </a:r>
          </a:p>
          <a:p>
            <a:pPr>
              <a:spcBef>
                <a:spcPts val="300"/>
              </a:spcBef>
            </a:pPr>
            <a:r>
              <a:rPr lang="zh-CN" altLang="en-US" sz="1600" dirty="0">
                <a:solidFill>
                  <a:srgbClr val="1F497D"/>
                </a:solidFill>
              </a:rPr>
              <a:t>确认遵守了非归因和保密规则，例如，没有其他参与者在场，物理环境适当</a:t>
            </a:r>
          </a:p>
          <a:p>
            <a:pPr>
              <a:spcBef>
                <a:spcPts val="300"/>
              </a:spcBef>
            </a:pPr>
            <a:r>
              <a:rPr lang="zh-CN" altLang="en-US" sz="1600" dirty="0">
                <a:solidFill>
                  <a:srgbClr val="1F497D"/>
                </a:solidFill>
              </a:rPr>
              <a:t>监控非语言交流和评估参与者的参与情况</a:t>
            </a:r>
            <a:endParaRPr lang="en-ZA" sz="1600" dirty="0">
              <a:solidFill>
                <a:srgbClr val="1F497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72264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ea typeface="ＭＳ Ｐゴシック" charset="-128"/>
              </a:rPr>
              <a:t>Appraisal Team and Support Personnel</a:t>
            </a:r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BCB14951-7702-4C0F-B6A6-21391A66B76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29937526"/>
              </p:ext>
            </p:extLst>
          </p:nvPr>
        </p:nvGraphicFramePr>
        <p:xfrm>
          <a:off x="952500" y="1998663"/>
          <a:ext cx="8407400" cy="1987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3" imgW="8407351" imgH="1987638" progId="Excel.SheetMacroEnabled.12">
                  <p:link updateAutomatic="1"/>
                </p:oleObj>
              </mc:Choice>
              <mc:Fallback>
                <p:oleObj name="Macro-Enabled Worksheet" r:id="rId3" imgW="8407351" imgH="1987638" progId="Excel.SheetMacroEnabled.12">
                  <p:link updateAutomatic="1"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BCB14951-7702-4C0F-B6A6-21391A66B76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52500" y="1998663"/>
                        <a:ext cx="8407400" cy="19875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836764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Title 3"/>
          <p:cNvSpPr>
            <a:spLocks noGrp="1"/>
          </p:cNvSpPr>
          <p:nvPr>
            <p:ph type="title"/>
          </p:nvPr>
        </p:nvSpPr>
        <p:spPr>
          <a:xfrm>
            <a:off x="1055688" y="892263"/>
            <a:ext cx="10397836" cy="602284"/>
          </a:xfrm>
        </p:spPr>
        <p:txBody>
          <a:bodyPr>
            <a:normAutofit/>
          </a:bodyPr>
          <a:lstStyle/>
          <a:p>
            <a:r>
              <a:rPr lang="en-US" altLang="en-US" dirty="0">
                <a:ea typeface="ＭＳ Ｐゴシック" charset="-128"/>
              </a:rPr>
              <a:t>Appraisal Scope – Benchmark Model View</a:t>
            </a:r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8F46B053-1B94-4E5C-BCF3-2B2E652C78D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1612726"/>
              </p:ext>
            </p:extLst>
          </p:nvPr>
        </p:nvGraphicFramePr>
        <p:xfrm>
          <a:off x="1123950" y="1577975"/>
          <a:ext cx="8466138" cy="4449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3" imgW="10153687" imgH="5486400" progId="Excel.SheetMacroEnabled.12">
                  <p:link updateAutomatic="1"/>
                </p:oleObj>
              </mc:Choice>
              <mc:Fallback>
                <p:oleObj name="Macro-Enabled Worksheet" r:id="rId3" imgW="10153687" imgH="5486400" progId="Excel.SheetMacroEnabled.12">
                  <p:link updateAutomatic="1"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8F46B053-1B94-4E5C-BCF3-2B2E652C78D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23950" y="1577975"/>
                        <a:ext cx="8466138" cy="44497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403807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>
                <a:ea typeface="ＭＳ Ｐゴシック" charset="-128"/>
              </a:rPr>
              <a:t>Appraisal Scope – Organizational Scope</a:t>
            </a:r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B1E92499-A6AA-4251-A074-798371D4DD4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3622848"/>
              </p:ext>
            </p:extLst>
          </p:nvPr>
        </p:nvGraphicFramePr>
        <p:xfrm>
          <a:off x="1168400" y="2555875"/>
          <a:ext cx="8650288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3" imgW="8407351" imgH="336594" progId="Excel.SheetMacroEnabled.12">
                  <p:link updateAutomatic="1"/>
                </p:oleObj>
              </mc:Choice>
              <mc:Fallback>
                <p:oleObj name="Macro-Enabled Worksheet" r:id="rId3" imgW="8407351" imgH="336594" progId="Excel.SheetMacroEnabled.12">
                  <p:link updateAutomatic="1"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B1E92499-A6AA-4251-A074-798371D4DD4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68400" y="2555875"/>
                        <a:ext cx="8650288" cy="3619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263829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>
                <a:ea typeface="ＭＳ Ｐゴシック" charset="-128"/>
              </a:rPr>
              <a:t>Appraisal Scope – Organizational Sample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D21A5A95-7C57-4184-BE79-BFD78ABD81F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8741438"/>
              </p:ext>
            </p:extLst>
          </p:nvPr>
        </p:nvGraphicFramePr>
        <p:xfrm>
          <a:off x="303213" y="1838325"/>
          <a:ext cx="11379200" cy="3190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3" imgW="13798661" imgH="4006806" progId="Excel.SheetMacroEnabled.12">
                  <p:link updateAutomatic="1"/>
                </p:oleObj>
              </mc:Choice>
              <mc:Fallback>
                <p:oleObj name="Macro-Enabled Worksheet" r:id="rId3" imgW="13798661" imgH="4006806" progId="Excel.SheetMacroEnabled.12">
                  <p:link updateAutomatic="1"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D21A5A95-7C57-4184-BE79-BFD78ABD81F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03213" y="1838325"/>
                        <a:ext cx="11379200" cy="3190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247393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826564A6-5108-42B5-A49B-FB8D3BA2810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4003333"/>
              </p:ext>
            </p:extLst>
          </p:nvPr>
        </p:nvGraphicFramePr>
        <p:xfrm>
          <a:off x="906463" y="1849438"/>
          <a:ext cx="10896600" cy="331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2" imgW="11423786" imgH="3473538" progId="Excel.SheetMacroEnabled.12">
                  <p:link updateAutomatic="1"/>
                </p:oleObj>
              </mc:Choice>
              <mc:Fallback>
                <p:oleObj name="Macro-Enabled Worksheet" r:id="rId2" imgW="11423786" imgH="3473538" progId="Excel.SheetMacroEnabled.12">
                  <p:link updateAutomatic="1"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826564A6-5108-42B5-A49B-FB8D3BA2810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06463" y="1849438"/>
                        <a:ext cx="10896600" cy="3314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9EA3843C-9D08-4642-A4DF-AF55E6513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ea typeface="ＭＳ Ｐゴシック" charset="-128"/>
              </a:rPr>
              <a:t>Appraisal Scope – Organizational Sample</a:t>
            </a:r>
            <a:r>
              <a:rPr lang="en-ZA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184335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53EE0D9B-0FA4-4BC3-A0BF-07768E78820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0821953"/>
              </p:ext>
            </p:extLst>
          </p:nvPr>
        </p:nvGraphicFramePr>
        <p:xfrm>
          <a:off x="906463" y="1849438"/>
          <a:ext cx="10896600" cy="331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2" imgW="11423786" imgH="3473538" progId="Excel.SheetMacroEnabled.12">
                  <p:link updateAutomatic="1"/>
                </p:oleObj>
              </mc:Choice>
              <mc:Fallback>
                <p:oleObj name="Macro-Enabled Worksheet" r:id="rId2" imgW="11423786" imgH="3473538" progId="Excel.SheetMacroEnabled.12">
                  <p:link updateAutomatic="1"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53EE0D9B-0FA4-4BC3-A0BF-07768E7882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06463" y="1849438"/>
                        <a:ext cx="10896600" cy="3314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9EA3843C-9D08-4642-A4DF-AF55E6513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ea typeface="ＭＳ Ｐゴシック" charset="-128"/>
              </a:rPr>
              <a:t>Appraisal Scope – Organizational Sample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8603715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0AFB86F-F314-2808-D124-99FF9729F44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575811" y="1587364"/>
            <a:ext cx="9040378" cy="4632289"/>
          </a:xfrm>
          <a:prstGeom prst="rect">
            <a:avLst/>
          </a:prstGeom>
        </p:spPr>
      </p:pic>
      <p:sp>
        <p:nvSpPr>
          <p:cNvPr id="2" name="Title 3">
            <a:extLst>
              <a:ext uri="{FF2B5EF4-FFF2-40B4-BE49-F238E27FC236}">
                <a16:creationId xmlns:a16="http://schemas.microsoft.com/office/drawing/2014/main" id="{E4158602-CE03-D865-8B96-7884DB0F17A7}"/>
              </a:ext>
            </a:extLst>
          </p:cNvPr>
          <p:cNvSpPr txBox="1">
            <a:spLocks/>
          </p:cNvSpPr>
          <p:nvPr/>
        </p:nvSpPr>
        <p:spPr>
          <a:xfrm>
            <a:off x="711200" y="985080"/>
            <a:ext cx="10515600" cy="602284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1E2C5B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3500" b="1" dirty="0">
                <a:latin typeface="+mn-lt"/>
                <a:ea typeface="ＭＳ Ｐゴシック" charset="-128"/>
              </a:rPr>
              <a:t>CMMI</a:t>
            </a:r>
            <a:r>
              <a:rPr lang="en-US" altLang="en-US" dirty="0">
                <a:ea typeface="ＭＳ Ｐゴシック" charset="-128"/>
              </a:rPr>
              <a:t> </a:t>
            </a:r>
            <a:r>
              <a:rPr lang="en-US" altLang="en-US" sz="3500" b="1" dirty="0">
                <a:latin typeface="+mn-lt"/>
                <a:ea typeface="ＭＳ Ｐゴシック" charset="-128"/>
              </a:rPr>
              <a:t>Appraisal Process – Appraisal Phases</a:t>
            </a:r>
          </a:p>
        </p:txBody>
      </p:sp>
    </p:spTree>
    <p:extLst>
      <p:ext uri="{BB962C8B-B14F-4D97-AF65-F5344CB8AC3E}">
        <p14:creationId xmlns:p14="http://schemas.microsoft.com/office/powerpoint/2010/main" val="31134471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33DEF144-708A-4FEC-9EEA-C59932602BE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4256723"/>
              </p:ext>
            </p:extLst>
          </p:nvPr>
        </p:nvGraphicFramePr>
        <p:xfrm>
          <a:off x="1193800" y="1594663"/>
          <a:ext cx="7470775" cy="4675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3" imgW="12941275" imgH="9017088" progId="Excel.SheetMacroEnabled.12">
                  <p:link updateAutomatic="1"/>
                </p:oleObj>
              </mc:Choice>
              <mc:Fallback>
                <p:oleObj name="Macro-Enabled Worksheet" r:id="rId3" imgW="12941275" imgH="9017088" progId="Excel.SheetMacroEnabled.12">
                  <p:link updateAutomatic="1"/>
                  <p:pic>
                    <p:nvPicPr>
                      <p:cNvPr id="9" name="Object 8">
                        <a:extLst>
                          <a:ext uri="{FF2B5EF4-FFF2-40B4-BE49-F238E27FC236}">
                            <a16:creationId xmlns:a16="http://schemas.microsoft.com/office/drawing/2014/main" id="{33DEF144-708A-4FEC-9EEA-C59932602BE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93800" y="1594663"/>
                        <a:ext cx="7470775" cy="46759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289C5D04-9640-3B48-820B-127523AD98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528" y="978437"/>
            <a:ext cx="10515600" cy="602284"/>
          </a:xfrm>
        </p:spPr>
        <p:txBody>
          <a:bodyPr/>
          <a:lstStyle/>
          <a:p>
            <a:r>
              <a:rPr lang="en-US" dirty="0"/>
              <a:t>Ratings for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F88894F-6E9F-4254-B365-2F77C95564B1}"/>
              </a:ext>
            </a:extLst>
          </p:cNvPr>
          <p:cNvSpPr/>
          <p:nvPr/>
        </p:nvSpPr>
        <p:spPr>
          <a:xfrm rot="19278004">
            <a:off x="7112092" y="4561236"/>
            <a:ext cx="2614989" cy="83099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800" b="1" cap="none" spc="0" dirty="0">
                <a:ln w="22225">
                  <a:solidFill>
                    <a:schemeClr val="accent1"/>
                  </a:solidFill>
                  <a:prstDash val="solid"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</a:rPr>
              <a:t>EXAMPLE</a:t>
            </a:r>
          </a:p>
        </p:txBody>
      </p:sp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76263901-0FC3-47D8-A1D7-1F48982B275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78301033"/>
              </p:ext>
            </p:extLst>
          </p:nvPr>
        </p:nvGraphicFramePr>
        <p:xfrm>
          <a:off x="1227940" y="978437"/>
          <a:ext cx="3110698" cy="135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5" imgW="3390875" imgH="6306" progId="Excel.SheetMacroEnabled.12">
                  <p:link updateAutomatic="1"/>
                </p:oleObj>
              </mc:Choice>
              <mc:Fallback>
                <p:oleObj name="Macro-Enabled Worksheet" r:id="rId5" imgW="3390875" imgH="6306" progId="Excel.SheetMacroEnabled.12">
                  <p:link updateAutomatic="1"/>
                  <p:pic>
                    <p:nvPicPr>
                      <p:cNvPr id="10" name="Object 9">
                        <a:extLst>
                          <a:ext uri="{FF2B5EF4-FFF2-40B4-BE49-F238E27FC236}">
                            <a16:creationId xmlns:a16="http://schemas.microsoft.com/office/drawing/2014/main" id="{76263901-0FC3-47D8-A1D7-1F48982B275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227940" y="978437"/>
                        <a:ext cx="3110698" cy="1359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AA9BF04E-9042-4397-8AD5-790E790EB2D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96985" y="2250492"/>
            <a:ext cx="1537940" cy="1904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67351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C47C9-2410-0F46-A0CE-9498896DE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Findings Definitions – Required Categories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5982AE-496D-8E4C-B62D-137BEFC393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vl="0"/>
            <a:r>
              <a:rPr lang="en-US" sz="2400" dirty="0"/>
              <a:t>Required Findings Categories:</a:t>
            </a:r>
          </a:p>
          <a:p>
            <a:pPr lvl="1"/>
            <a:r>
              <a:rPr lang="en-US" sz="2100" u="sng" dirty="0"/>
              <a:t>Weaknesses</a:t>
            </a:r>
            <a:r>
              <a:rPr lang="en-US" sz="2100" dirty="0"/>
              <a:t> - A type of preliminary or final finding, which is an ineffective, or lack of implementation of one or more processes that meet the intent and value of a practice based on verified objective evidence, and applicable across the project(s) and organizational support functions or Organizational Unit as a whole. This is realized either by a) the process itself does not address a CMMI practice requirement, or b) the project(s) or organizational support functions are not following their process that IS compliant with the intent and value of the applicable CMMI practice.</a:t>
            </a:r>
            <a:endParaRPr lang="en-US" sz="2100" b="1" dirty="0"/>
          </a:p>
          <a:p>
            <a:pPr lvl="1"/>
            <a:endParaRPr lang="en-US" sz="2100" dirty="0"/>
          </a:p>
          <a:p>
            <a:pPr lvl="1"/>
            <a:r>
              <a:rPr lang="en-US" sz="2100" u="sng" dirty="0"/>
              <a:t>Strengths</a:t>
            </a:r>
            <a:r>
              <a:rPr lang="en-US" sz="2100" dirty="0"/>
              <a:t> - A type of preliminary or final finding, which is an exemplary or noteworthy implementation of a process that meets the intent and value of a CMMI model practice.</a:t>
            </a:r>
            <a:endParaRPr lang="en-US" sz="2100" b="1" dirty="0"/>
          </a:p>
          <a:p>
            <a:r>
              <a:rPr lang="zh-CN" altLang="en-US" sz="2400" dirty="0">
                <a:solidFill>
                  <a:srgbClr val="1F497D"/>
                </a:solidFill>
              </a:rPr>
              <a:t>所需结果类别：</a:t>
            </a:r>
          </a:p>
          <a:p>
            <a:pPr lvl="1"/>
            <a:r>
              <a:rPr lang="zh-CN" altLang="en-US" sz="2100" dirty="0">
                <a:solidFill>
                  <a:srgbClr val="1F497D"/>
                </a:solidFill>
              </a:rPr>
              <a:t>弱项</a:t>
            </a:r>
            <a:r>
              <a:rPr lang="en-US" altLang="zh-CN" sz="2100" dirty="0">
                <a:solidFill>
                  <a:srgbClr val="1F497D"/>
                </a:solidFill>
              </a:rPr>
              <a:t>——</a:t>
            </a:r>
            <a:r>
              <a:rPr lang="zh-CN" altLang="en-US" sz="2100" dirty="0">
                <a:solidFill>
                  <a:srgbClr val="1F497D"/>
                </a:solidFill>
              </a:rPr>
              <a:t>一种初步或最终的发现，是指一个或多个过程实施无效或缺乏实施，这些过程基于已验证的客观证据，符合实践的意图和价值，适用于整个项目和组织支持职能组或组织单元。这可以通过以下两种方式实现：</a:t>
            </a:r>
            <a:r>
              <a:rPr lang="en-US" altLang="zh-CN" sz="2100" dirty="0">
                <a:solidFill>
                  <a:srgbClr val="1F497D"/>
                </a:solidFill>
              </a:rPr>
              <a:t>a</a:t>
            </a:r>
            <a:r>
              <a:rPr lang="zh-CN" altLang="en-US" sz="2100" dirty="0">
                <a:solidFill>
                  <a:srgbClr val="1F497D"/>
                </a:solidFill>
              </a:rPr>
              <a:t>）过程本身没有满足</a:t>
            </a:r>
            <a:r>
              <a:rPr lang="en-US" altLang="zh-CN" sz="2100" dirty="0">
                <a:solidFill>
                  <a:srgbClr val="1F497D"/>
                </a:solidFill>
              </a:rPr>
              <a:t>CMMI</a:t>
            </a:r>
            <a:r>
              <a:rPr lang="zh-CN" altLang="en-US" sz="2100" dirty="0">
                <a:solidFill>
                  <a:srgbClr val="1F497D"/>
                </a:solidFill>
              </a:rPr>
              <a:t>实践需求，或者</a:t>
            </a:r>
            <a:r>
              <a:rPr lang="en-US" altLang="zh-CN" sz="2100" dirty="0">
                <a:solidFill>
                  <a:srgbClr val="1F497D"/>
                </a:solidFill>
              </a:rPr>
              <a:t>b</a:t>
            </a:r>
            <a:r>
              <a:rPr lang="zh-CN" altLang="en-US" sz="2100" dirty="0">
                <a:solidFill>
                  <a:srgbClr val="1F497D"/>
                </a:solidFill>
              </a:rPr>
              <a:t>）项目或组织支持职能组没有遵循符合适用</a:t>
            </a:r>
            <a:r>
              <a:rPr lang="en-US" altLang="zh-CN" sz="2100" dirty="0">
                <a:solidFill>
                  <a:srgbClr val="1F497D"/>
                </a:solidFill>
              </a:rPr>
              <a:t>CMMI</a:t>
            </a:r>
            <a:r>
              <a:rPr lang="zh-CN" altLang="en-US" sz="2100" dirty="0">
                <a:solidFill>
                  <a:srgbClr val="1F497D"/>
                </a:solidFill>
              </a:rPr>
              <a:t>实践意图和价值的过程。</a:t>
            </a:r>
            <a:endParaRPr lang="en-ZA" altLang="zh-CN" sz="2100" dirty="0">
              <a:solidFill>
                <a:srgbClr val="1F497D"/>
              </a:solidFill>
            </a:endParaRPr>
          </a:p>
          <a:p>
            <a:pPr lvl="1"/>
            <a:r>
              <a:rPr lang="zh-CN" altLang="en-US" sz="2100" dirty="0">
                <a:solidFill>
                  <a:srgbClr val="1F497D"/>
                </a:solidFill>
              </a:rPr>
              <a:t>强项</a:t>
            </a:r>
            <a:r>
              <a:rPr lang="en-US" altLang="zh-CN" sz="2100" dirty="0">
                <a:solidFill>
                  <a:srgbClr val="1F497D"/>
                </a:solidFill>
              </a:rPr>
              <a:t>——</a:t>
            </a:r>
            <a:r>
              <a:rPr lang="zh-CN" altLang="en-US" sz="2100" dirty="0">
                <a:solidFill>
                  <a:srgbClr val="1F497D"/>
                </a:solidFill>
              </a:rPr>
              <a:t>一种初步或最终的发现，是一个模范性或值得注意的过程实现，其符合</a:t>
            </a:r>
            <a:r>
              <a:rPr lang="en-US" altLang="zh-CN" sz="2100" dirty="0">
                <a:solidFill>
                  <a:srgbClr val="1F497D"/>
                </a:solidFill>
              </a:rPr>
              <a:t>CMMI</a:t>
            </a:r>
            <a:r>
              <a:rPr lang="zh-CN" altLang="en-US" sz="2100" dirty="0">
                <a:solidFill>
                  <a:srgbClr val="1F497D"/>
                </a:solidFill>
              </a:rPr>
              <a:t>模型实践的意图和价值。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80422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E16E6-A265-E647-863D-E6356B5F3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5513" y="1007441"/>
            <a:ext cx="10397836" cy="602284"/>
          </a:xfrm>
        </p:spPr>
        <p:txBody>
          <a:bodyPr/>
          <a:lstStyle/>
          <a:p>
            <a:r>
              <a:rPr lang="en-US" dirty="0"/>
              <a:t>Appraisal Outputs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DBA6108F-A3D4-45BE-B8CA-9186C4E63FA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2123667"/>
              </p:ext>
            </p:extLst>
          </p:nvPr>
        </p:nvGraphicFramePr>
        <p:xfrm>
          <a:off x="925513" y="1609725"/>
          <a:ext cx="8407400" cy="2813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2" imgW="8407351" imgH="2812962" progId="Excel.SheetMacroEnabled.12">
                  <p:link updateAutomatic="1"/>
                </p:oleObj>
              </mc:Choice>
              <mc:Fallback>
                <p:oleObj name="Macro-Enabled Worksheet" r:id="rId2" imgW="8407351" imgH="2812962" progId="Excel.SheetMacroEnabled.12">
                  <p:link updateAutomatic="1"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DBA6108F-A3D4-45BE-B8CA-9186C4E63FA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25513" y="1609725"/>
                        <a:ext cx="8407400" cy="2813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054948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ZA" dirty="0">
                <a:hlinkClick r:id="rId2" action="ppaction://hlinkfile"/>
              </a:rPr>
              <a:t>Appraisal Schedule</a:t>
            </a:r>
            <a:endParaRPr lang="en-ZA" dirty="0">
              <a:hlinkClick r:id="rId3" action="ppaction://hlinkfile"/>
            </a:endParaRP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5079402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538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 bwMode="auto">
          <a:xfrm>
            <a:off x="3621809" y="1669312"/>
            <a:ext cx="4069207" cy="406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076726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041F74863103D4C9C3AA0A07291BB02" ma:contentTypeVersion="18" ma:contentTypeDescription="Create a new document." ma:contentTypeScope="" ma:versionID="45484b46a277026026ff9b53ca67925b">
  <xsd:schema xmlns:xsd="http://www.w3.org/2001/XMLSchema" xmlns:xs="http://www.w3.org/2001/XMLSchema" xmlns:p="http://schemas.microsoft.com/office/2006/metadata/properties" xmlns:ns2="25bcabcf-d275-4206-9fb1-2f2d419cd22b" xmlns:ns3="ec500478-62e0-46fc-87f1-cfa988e486b4" targetNamespace="http://schemas.microsoft.com/office/2006/metadata/properties" ma:root="true" ma:fieldsID="52261f3f84922f81c6d5fc67edbfcfe9" ns2:_="" ns3:_="">
    <xsd:import namespace="25bcabcf-d275-4206-9fb1-2f2d419cd22b"/>
    <xsd:import namespace="ec500478-62e0-46fc-87f1-cfa988e486b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bcabcf-d275-4206-9fb1-2f2d419cd22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7f35f27a-c890-4130-b78e-bbe546ff31b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500478-62e0-46fc-87f1-cfa988e486b4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516b899e-718a-4501-bed1-5bdbb6269459}" ma:internalName="TaxCatchAll" ma:showField="CatchAllData" ma:web="ec500478-62e0-46fc-87f1-cfa988e486b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c500478-62e0-46fc-87f1-cfa988e486b4" xsi:nil="true"/>
    <lcf76f155ced4ddcb4097134ff3c332f xmlns="25bcabcf-d275-4206-9fb1-2f2d419cd22b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235690CA-ECEF-4825-9E06-28E037E8FC37}"/>
</file>

<file path=customXml/itemProps2.xml><?xml version="1.0" encoding="utf-8"?>
<ds:datastoreItem xmlns:ds="http://schemas.openxmlformats.org/officeDocument/2006/customXml" ds:itemID="{B8B49826-D5EE-4D24-B649-7C3A19B527D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F07B0D7-F930-4230-933E-ABA84959494E}">
  <ds:schemaRefs>
    <ds:schemaRef ds:uri="http://purl.org/dc/dcmitype/"/>
    <ds:schemaRef ds:uri="http://schemas.microsoft.com/office/2006/metadata/properties"/>
    <ds:schemaRef ds:uri="http://schemas.microsoft.com/office/2006/documentManagement/types"/>
    <ds:schemaRef ds:uri="http://purl.org/dc/terms/"/>
    <ds:schemaRef ds:uri="ec500478-62e0-46fc-87f1-cfa988e486b4"/>
    <ds:schemaRef ds:uri="25bcabcf-d275-4206-9fb1-2f2d419cd22b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837</TotalTime>
  <Words>1258</Words>
  <Application>Microsoft Office PowerPoint</Application>
  <PresentationFormat>Widescreen</PresentationFormat>
  <Paragraphs>93</Paragraphs>
  <Slides>21</Slides>
  <Notes>13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Links</vt:lpstr>
      </vt:variant>
      <vt:variant>
        <vt:i4>15</vt:i4>
      </vt:variant>
      <vt:variant>
        <vt:lpstr>Slide Titles</vt:lpstr>
      </vt:variant>
      <vt:variant>
        <vt:i4>21</vt:i4>
      </vt:variant>
    </vt:vector>
  </HeadingPairs>
  <TitlesOfParts>
    <vt:vector size="45" baseType="lpstr">
      <vt:lpstr>ＭＳ Ｐゴシック</vt:lpstr>
      <vt:lpstr>宋体</vt:lpstr>
      <vt:lpstr>宋体</vt:lpstr>
      <vt:lpstr>-apple-system</vt:lpstr>
      <vt:lpstr>Arial</vt:lpstr>
      <vt:lpstr>Calibri</vt:lpstr>
      <vt:lpstr>Calibri Light</vt:lpstr>
      <vt:lpstr>Open Sans</vt:lpstr>
      <vt:lpstr>Office Theme</vt:lpstr>
      <vt:lpstr>https://demix365.sharepoint.com/sites/DemixGlobal/Shared Documents/10_BASE/2024-05-04to05-10 (A5) C384400 NASA/00_Data_Reference.xlsm!pptxCover!R4C2:R12C2</vt:lpstr>
      <vt:lpstr>https://demix365.sharepoint.com/sites/DemixGlobal/Shared Documents/10_BASE/2024-05-04to05-10 (A5) C384400 NASA/00_Data_Reference.xlsm!pptxCover!R15C2:R17C2</vt:lpstr>
      <vt:lpstr>https://demix365.sharepoint.com/sites/DemixGlobal/Shared Documents/10_BASE/2024-05-04to05-10 (A5) C384400 NASA/00_Data_Reference.xlsm!pptxCover!R20C2</vt:lpstr>
      <vt:lpstr>https://demix365.sharepoint.com/sites/DemixGlobal/Shared Documents/10_BASE/2024-05-04to05-10 (A5) C384400 NASA/00_Data_Reference.xlsm!pptxLink1!R1C1:R7C2</vt:lpstr>
      <vt:lpstr>https://demix365.sharepoint.com/sites/DemixGlobal/Shared Documents/10_BASE/2024-05-04to05-10 (A5) C384400 NASA/00_Data_Reference.xlsm!pptxLink1!R10C1:R18C2</vt:lpstr>
      <vt:lpstr>https://demix365.sharepoint.com/sites/DemixGlobal/Shared Documents/10_BASE/2024-05-04to05-10 (A5) C384400 NASA/00_Data_Reference.xlsm!pptxLink2!R1C1:R4C1</vt:lpstr>
      <vt:lpstr>https://demix365.sharepoint.com/sites/DemixGlobal/Shared Documents/10_BASE/2024-05-04to05-10 (A5) C384400 NASA/00_Data_Reference.xlsm!pptxLink1!R20C1:R31C2</vt:lpstr>
      <vt:lpstr>https://demix365.sharepoint.com/sites/DemixGlobal/Shared Documents/10_BASE/2024-05-04to05-10 (A5) C384400 NASA/00_Data_Reference.xlsm!pptxLink3!R2C1:R24C9</vt:lpstr>
      <vt:lpstr>https://demix365.sharepoint.com/sites/DemixGlobal/Shared Documents/10_BASE/2024-05-04to05-10 (A5) C384400 NASA/00_Data_Reference.xlsm!pptxLink1!R6C1:R7C2</vt:lpstr>
      <vt:lpstr>https://demix365.sharepoint.com/sites/DemixGlobal/Shared Documents/10_BASE/2024-05-04to05-10 (A5) C384400 NASA/00_Data_Reference.xlsm!pptxLink4!R10C1:R27C20</vt:lpstr>
      <vt:lpstr>https://demix365.sharepoint.com/sites/DemixGlobal/Shared Documents/10_BASE/2024-05-04to05-10 (A5) C384400 NASA/00_Data_Reference.xlsm!pptxLink5!R1C1:R11C5</vt:lpstr>
      <vt:lpstr>https://demix365.sharepoint.com/sites/DemixGlobal/Shared Documents/10_BASE/2024-05-04to05-10 (A5) C384400 NASA/00_Data_Reference.xlsm!pptxLink5!R15C1:R21C5</vt:lpstr>
      <vt:lpstr>https://demix365.sharepoint.com/sites/DemixGlobal/Shared Documents/10_BASE/2024-05-04to05-10 (A5) C384400 NASA/00_Data_Reference.xlsm!OULC!R50C2:R89C22</vt:lpstr>
      <vt:lpstr>https://demix365.sharepoint.com/sites/DemixGlobal/Shared Documents/10_BASE/2024-05-04to05-10 (A5) C384400 NASA/00_Data_Reference.xlsm!pptxLink1!R8C4</vt:lpstr>
      <vt:lpstr>https://demix365.sharepoint.com/sites/DemixGlobal/Shared Documents/10_BASE/2024-05-04to05-10 (A5) C384400 NASA/00_Data_Reference.xlsm!pptxLink1!R33C1:R40C2</vt:lpstr>
      <vt:lpstr>PowerPoint Presentation</vt:lpstr>
      <vt:lpstr>PowerPoint Presentation</vt:lpstr>
      <vt:lpstr>DEMIX™</vt:lpstr>
      <vt:lpstr>Appraisal Overview  评估概述</vt:lpstr>
      <vt:lpstr>Appraisal Overview</vt:lpstr>
      <vt:lpstr>Appraisal Overview</vt:lpstr>
      <vt:lpstr>Business and Appraisal Objectives</vt:lpstr>
      <vt:lpstr>Appraisal Principles</vt:lpstr>
      <vt:lpstr>Virtual appraisals – code of conduct</vt:lpstr>
      <vt:lpstr>Appraisal Team and Support Personnel</vt:lpstr>
      <vt:lpstr>Appraisal Scope – Benchmark Model View</vt:lpstr>
      <vt:lpstr>Appraisal Scope – Organizational Scope</vt:lpstr>
      <vt:lpstr>Appraisal Scope – Organizational Sample</vt:lpstr>
      <vt:lpstr>Appraisal Scope – Organizational Sample </vt:lpstr>
      <vt:lpstr>Appraisal Scope – Organizational Sample</vt:lpstr>
      <vt:lpstr>PowerPoint Presentation</vt:lpstr>
      <vt:lpstr>Ratings for</vt:lpstr>
      <vt:lpstr>Findings Definitions – Required Categories</vt:lpstr>
      <vt:lpstr>Appraisal Outputs</vt:lpstr>
      <vt:lpstr>Appraisal Schedule</vt:lpstr>
      <vt:lpstr>PowerPoint Presentation</vt:lpstr>
    </vt:vector>
  </TitlesOfParts>
  <Company>ISACA-CMMI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MDD-Toolkit-Appraisal Final Findings Template</dc:title>
  <dc:creator>ISACA-CMMI</dc:creator>
  <cp:lastModifiedBy>Melanie Van Zyl</cp:lastModifiedBy>
  <cp:revision>111</cp:revision>
  <dcterms:created xsi:type="dcterms:W3CDTF">2018-03-14T12:19:45Z</dcterms:created>
  <dcterms:modified xsi:type="dcterms:W3CDTF">2026-01-05T05:13:38Z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0x010100F041F74863103D4C9C3AA0A07291BB02</vt:lpwstr>
  </property>
  <property fmtid="{D5CDD505-2E9C-101B-9397-08002B2CF9AE}" pid="3" name="xd_Signature">
    <vt:bool>false</vt:bool>
  </property>
  <property fmtid="{D5CDD505-2E9C-101B-9397-08002B2CF9AE}" pid="4" name="xd_ProgID">
    <vt:lpwstr/>
  </property>
  <property fmtid="{D5CDD505-2E9C-101B-9397-08002B2CF9AE}" pid="5" name="TemplateUrl">
    <vt:lpwstr/>
  </property>
  <property fmtid="{D5CDD505-2E9C-101B-9397-08002B2CF9AE}" pid="6" name="ComplianceAssetId">
    <vt:lpwstr/>
  </property>
  <property fmtid="{D5CDD505-2E9C-101B-9397-08002B2CF9AE}" pid="7" name="AuthorIds_UIVersion_3601">
    <vt:lpwstr>40</vt:lpwstr>
  </property>
  <property fmtid="{D5CDD505-2E9C-101B-9397-08002B2CF9AE}" pid="8" name="_ShortcutWebId">
    <vt:lpwstr/>
  </property>
  <property fmtid="{D5CDD505-2E9C-101B-9397-08002B2CF9AE}" pid="9" name="_ShortcutUniqueId">
    <vt:lpwstr/>
  </property>
  <property fmtid="{D5CDD505-2E9C-101B-9397-08002B2CF9AE}" pid="10" name="_ShortcutSiteId">
    <vt:lpwstr/>
  </property>
  <property fmtid="{D5CDD505-2E9C-101B-9397-08002B2CF9AE}" pid="11" name="Class">
    <vt:lpwstr/>
  </property>
  <property fmtid="{D5CDD505-2E9C-101B-9397-08002B2CF9AE}" pid="12" name="Model Component">
    <vt:lpwstr/>
  </property>
  <property fmtid="{D5CDD505-2E9C-101B-9397-08002B2CF9AE}" pid="13" name="_ShortcutUrl">
    <vt:lpwstr/>
  </property>
  <property fmtid="{D5CDD505-2E9C-101B-9397-08002B2CF9AE}" pid="14" name="Class Component">
    <vt:lpwstr/>
  </property>
  <property fmtid="{D5CDD505-2E9C-101B-9397-08002B2CF9AE}" pid="15" name="MediaServiceImageTags">
    <vt:lpwstr/>
  </property>
</Properties>
</file>