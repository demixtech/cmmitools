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75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56012-2BE9-4FAA-AA8D-256F63A2D666}" v="16" dt="2026-01-05T05:12:37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50" d="100"/>
          <a:sy n="50" d="100"/>
        </p:scale>
        <p:origin x="1492" y="264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custSel modSld modMainMaster">
      <pc:chgData name="Melanie Spies" userId="ef25dda8-0341-4aab-b4c7-f9ee53be8909" providerId="ADAL" clId="{58349FDB-4F03-45F7-9587-A31371CABC64}" dt="2026-01-05T05:12:37.286" v="38"/>
      <pc:docMkLst>
        <pc:docMk/>
      </pc:docMkLst>
      <pc:sldChg chg="modSp">
        <pc:chgData name="Melanie Spies" userId="ef25dda8-0341-4aab-b4c7-f9ee53be8909" providerId="ADAL" clId="{58349FDB-4F03-45F7-9587-A31371CABC64}" dt="2026-01-05T05:12:37.163" v="31"/>
        <pc:sldMkLst>
          <pc:docMk/>
          <pc:sldMk cId="2658625538" sldId="256"/>
        </pc:sldMkLst>
        <pc:graphicFrameChg chg="mod">
          <ac:chgData name="Melanie Spies" userId="ef25dda8-0341-4aab-b4c7-f9ee53be8909" providerId="ADAL" clId="{58349FDB-4F03-45F7-9587-A31371CABC64}" dt="2026-01-05T05:12:37.163" v="31"/>
          <ac:graphicFrameMkLst>
            <pc:docMk/>
            <pc:sldMk cId="2658625538" sldId="256"/>
            <ac:graphicFrameMk id="2" creationId="{59536454-AD5B-4F94-8339-31EA3769035D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2:37.152" v="29"/>
          <ac:graphicFrameMkLst>
            <pc:docMk/>
            <pc:sldMk cId="2658625538" sldId="256"/>
            <ac:graphicFrameMk id="9" creationId="{336609E4-9291-48F4-B53A-32D535DF0715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2:37.158" v="30"/>
          <ac:graphicFrameMkLst>
            <pc:docMk/>
            <pc:sldMk cId="2658625538" sldId="256"/>
            <ac:graphicFrameMk id="11" creationId="{6376B0D6-A6B1-4DF8-BDB4-D2848D89586A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172" v="32"/>
        <pc:sldMkLst>
          <pc:docMk/>
          <pc:sldMk cId="2391473198" sldId="270"/>
        </pc:sldMkLst>
        <pc:graphicFrameChg chg="mod">
          <ac:chgData name="Melanie Spies" userId="ef25dda8-0341-4aab-b4c7-f9ee53be8909" providerId="ADAL" clId="{58349FDB-4F03-45F7-9587-A31371CABC64}" dt="2026-01-05T05:12:37.172" v="32"/>
          <ac:graphicFrameMkLst>
            <pc:docMk/>
            <pc:sldMk cId="2391473198" sldId="270"/>
            <ac:graphicFrameMk id="3" creationId="{FD9062E2-4292-411C-8888-3870D8C30760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6.635" v="28"/>
        <pc:sldMkLst>
          <pc:docMk/>
          <pc:sldMk cId="483676438" sldId="310"/>
        </pc:sldMkLst>
        <pc:graphicFrameChg chg="mod">
          <ac:chgData name="Melanie Spies" userId="ef25dda8-0341-4aab-b4c7-f9ee53be8909" providerId="ADAL" clId="{58349FDB-4F03-45F7-9587-A31371CABC64}" dt="2026-01-05T05:12:36.635" v="28"/>
          <ac:graphicFrameMkLst>
            <pc:docMk/>
            <pc:sldMk cId="483676438" sldId="310"/>
            <ac:graphicFrameMk id="2" creationId="{BCB14951-7702-4C0F-B6A6-21391A66B766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6.635" v="28"/>
        <pc:sldMkLst>
          <pc:docMk/>
          <pc:sldMk cId="148595327" sldId="913"/>
        </pc:sldMkLst>
        <pc:graphicFrameChg chg="mod">
          <ac:chgData name="Melanie Spies" userId="ef25dda8-0341-4aab-b4c7-f9ee53be8909" providerId="ADAL" clId="{58349FDB-4F03-45F7-9587-A31371CABC64}" dt="2026-01-05T05:12:36.635" v="28"/>
          <ac:graphicFrameMkLst>
            <pc:docMk/>
            <pc:sldMk cId="148595327" sldId="913"/>
            <ac:graphicFrameMk id="2" creationId="{641738B5-23C6-457B-BB18-AD965FCE0133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212" v="34"/>
        <pc:sldMkLst>
          <pc:docMk/>
          <pc:sldMk cId="2226382953" sldId="914"/>
        </pc:sldMkLst>
        <pc:graphicFrameChg chg="mod">
          <ac:chgData name="Melanie Spies" userId="ef25dda8-0341-4aab-b4c7-f9ee53be8909" providerId="ADAL" clId="{58349FDB-4F03-45F7-9587-A31371CABC64}" dt="2026-01-05T05:12:37.212" v="34"/>
          <ac:graphicFrameMkLst>
            <pc:docMk/>
            <pc:sldMk cId="2226382953" sldId="914"/>
            <ac:graphicFrameMk id="2" creationId="{B1E92499-A6AA-4251-A074-798371D4DD4A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226" v="35"/>
        <pc:sldMkLst>
          <pc:docMk/>
          <pc:sldMk cId="2024739362" sldId="915"/>
        </pc:sldMkLst>
        <pc:graphicFrameChg chg="mod">
          <ac:chgData name="Melanie Spies" userId="ef25dda8-0341-4aab-b4c7-f9ee53be8909" providerId="ADAL" clId="{58349FDB-4F03-45F7-9587-A31371CABC64}" dt="2026-01-05T05:12:37.226" v="35"/>
          <ac:graphicFrameMkLst>
            <pc:docMk/>
            <pc:sldMk cId="2024739362" sldId="915"/>
            <ac:graphicFrameMk id="4" creationId="{D21A5A95-7C57-4184-BE79-BFD78ABD81F8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286" v="38"/>
        <pc:sldMkLst>
          <pc:docMk/>
          <pc:sldMk cId="4006735164" sldId="919"/>
        </pc:sldMkLst>
        <pc:graphicFrameChg chg="mod">
          <ac:chgData name="Melanie Spies" userId="ef25dda8-0341-4aab-b4c7-f9ee53be8909" providerId="ADAL" clId="{58349FDB-4F03-45F7-9587-A31371CABC64}" dt="2026-01-05T05:12:37.271" v="37"/>
          <ac:graphicFrameMkLst>
            <pc:docMk/>
            <pc:sldMk cId="4006735164" sldId="919"/>
            <ac:graphicFrameMk id="9" creationId="{33DEF144-708A-4FEC-9EEA-C59932602BE9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2:37.286" v="38"/>
          <ac:graphicFrameMkLst>
            <pc:docMk/>
            <pc:sldMk cId="4006735164" sldId="919"/>
            <ac:graphicFrameMk id="10" creationId="{76263901-0FC3-47D8-A1D7-1F48982B2754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6.635" v="28"/>
        <pc:sldMkLst>
          <pc:docMk/>
          <pc:sldMk cId="2505805455" sldId="928"/>
        </pc:sldMkLst>
        <pc:graphicFrameChg chg="mod">
          <ac:chgData name="Melanie Spies" userId="ef25dda8-0341-4aab-b4c7-f9ee53be8909" providerId="ADAL" clId="{58349FDB-4F03-45F7-9587-A31371CABC64}" dt="2026-01-05T05:12:36.635" v="28"/>
          <ac:graphicFrameMkLst>
            <pc:docMk/>
            <pc:sldMk cId="2505805455" sldId="928"/>
            <ac:graphicFrameMk id="2" creationId="{382D3759-24A7-42E2-82DB-6309FF00C192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6.635" v="28"/>
        <pc:sldMkLst>
          <pc:docMk/>
          <pc:sldMk cId="2718433564" sldId="1506"/>
        </pc:sldMkLst>
        <pc:graphicFrameChg chg="mod">
          <ac:chgData name="Melanie Spies" userId="ef25dda8-0341-4aab-b4c7-f9ee53be8909" providerId="ADAL" clId="{58349FDB-4F03-45F7-9587-A31371CABC64}" dt="2026-01-05T05:12:36.635" v="28"/>
          <ac:graphicFrameMkLst>
            <pc:docMk/>
            <pc:sldMk cId="2718433564" sldId="1506"/>
            <ac:graphicFrameMk id="3" creationId="{826564A6-5108-42B5-A49B-FB8D3BA28106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237" v="36"/>
        <pc:sldMkLst>
          <pc:docMk/>
          <pc:sldMk cId="1860371547" sldId="1507"/>
        </pc:sldMkLst>
        <pc:graphicFrameChg chg="mod">
          <ac:chgData name="Melanie Spies" userId="ef25dda8-0341-4aab-b4c7-f9ee53be8909" providerId="ADAL" clId="{58349FDB-4F03-45F7-9587-A31371CABC64}" dt="2026-01-05T05:12:37.237" v="36"/>
          <ac:graphicFrameMkLst>
            <pc:docMk/>
            <pc:sldMk cId="1860371547" sldId="1507"/>
            <ac:graphicFrameMk id="4" creationId="{53EE0D9B-0FA4-4BC3-A0BF-07768E788208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7.188" v="33"/>
        <pc:sldMkLst>
          <pc:docMk/>
          <pc:sldMk cId="2140380775" sldId="1513"/>
        </pc:sldMkLst>
        <pc:graphicFrameChg chg="mod">
          <ac:chgData name="Melanie Spies" userId="ef25dda8-0341-4aab-b4c7-f9ee53be8909" providerId="ADAL" clId="{58349FDB-4F03-45F7-9587-A31371CABC64}" dt="2026-01-05T05:12:37.188" v="33"/>
          <ac:graphicFrameMkLst>
            <pc:docMk/>
            <pc:sldMk cId="2140380775" sldId="1513"/>
            <ac:graphicFrameMk id="2" creationId="{8F46B053-1B94-4E5C-BCF3-2B2E652C78D9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2:36.635" v="28"/>
        <pc:sldMkLst>
          <pc:docMk/>
          <pc:sldMk cId="1305494824" sldId="1514"/>
        </pc:sldMkLst>
        <pc:graphicFrameChg chg="mod">
          <ac:chgData name="Melanie Spies" userId="ef25dda8-0341-4aab-b4c7-f9ee53be8909" providerId="ADAL" clId="{58349FDB-4F03-45F7-9587-A31371CABC64}" dt="2026-01-05T05:12:36.635" v="28"/>
          <ac:graphicFrameMkLst>
            <pc:docMk/>
            <pc:sldMk cId="1305494824" sldId="1514"/>
            <ac:graphicFrameMk id="4" creationId="{DBA6108F-A3D4-45BE-B8CA-9186C4E63FA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53F52824-FCA3-EF76-0E3B-AD8CDEB3AF4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87545" y="-61143"/>
            <a:ext cx="3667507" cy="10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https://demix365.sharepoint.com/sites/DemixGlobal/Shared%20Documents/10_BASE/2024-05-04to05-10%20(A5)%20C384400%20NASA/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https://demix365.sharepoint.com/sites/DemixGlobal/Shared%20Documents/10_BASE/2024-05-04to05-10%20(A5)%20C384400%20NASA/00_Data_Reference.xlsm!pptxCover!R20C2" TargetMode="External"/><Relationship Id="rId5" Type="http://schemas.openxmlformats.org/officeDocument/2006/relationships/image" Target="../media/image5.emf"/><Relationship Id="rId4" Type="http://schemas.openxmlformats.org/officeDocument/2006/relationships/oleObject" Target="https://demix365.sharepoint.com/sites/DemixGlobal/Shared%20Documents/10_BASE/2024-05-04to05-10%20(A5)%20C384400%20NASA/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gif"/><Relationship Id="rId15" Type="http://schemas.openxmlformats.org/officeDocument/2006/relationships/image" Target="../media/image19.png"/><Relationship Id="rId23" Type="http://schemas.openxmlformats.org/officeDocument/2006/relationships/image" Target="../media/image27.jpe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gif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ixium.com/?page_id=99" TargetMode="Externa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https://demix365.sharepoint.com/sites/DemixGlobal/Shared%20Documents/10_BASE/2024-05-04to05-10%20(A5)%20C384400%20NASA/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https://demix365.sharepoint.com/sites/DemixGlobal/Shared%20Documents/10_BASE/2024-05-04to05-10%20(A5)%20C384400%20NASA/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OULC!R50C2:R89C22" TargetMode="External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oleObject" Target="https://demix365.sharepoint.com/sites/DemixGlobal/Shared%20Documents/10_BASE/2024-05-04to05-10%20(A5)%20C384400%20NASA/00_Data_Reference.xlsm!pptxLink1!R8C4" TargetMode="External"/><Relationship Id="rId4" Type="http://schemas.openxmlformats.org/officeDocument/2006/relationships/image" Target="../media/image4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https://demix365.sharepoint.com/sites/DemixGlobal/Shared%20Documents/10_BASE/2024-05-04to05-10%20(A5)%20C384400%20NASA/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588589"/>
              </p:ext>
            </p:extLst>
          </p:nvPr>
        </p:nvGraphicFramePr>
        <p:xfrm>
          <a:off x="3321050" y="2047875"/>
          <a:ext cx="55499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302139" imgH="2927262" progId="Excel.SheetMacroEnabled.12">
                  <p:link updateAutomatic="1"/>
                </p:oleObj>
              </mc:Choice>
              <mc:Fallback>
                <p:oleObj name="Macro-Enabled Worksheet" r:id="rId2" imgW="5302139" imgH="2927262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1050" y="2047875"/>
                        <a:ext cx="5549900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625945"/>
              </p:ext>
            </p:extLst>
          </p:nvPr>
        </p:nvGraphicFramePr>
        <p:xfrm>
          <a:off x="3444875" y="5380038"/>
          <a:ext cx="5302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302139" imgH="666881" progId="Excel.SheetMacroEnabled.12">
                  <p:link updateAutomatic="1"/>
                </p:oleObj>
              </mc:Choice>
              <mc:Fallback>
                <p:oleObj name="Macro-Enabled Worksheet" r:id="rId4" imgW="5302139" imgH="666881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4875" y="5380038"/>
                        <a:ext cx="53022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006313"/>
              </p:ext>
            </p:extLst>
          </p:nvPr>
        </p:nvGraphicFramePr>
        <p:xfrm>
          <a:off x="3444875" y="5168900"/>
          <a:ext cx="5302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302139" imgH="273138" progId="Excel.SheetMacroEnabled.12">
                  <p:link updateAutomatic="1"/>
                </p:oleObj>
              </mc:Choice>
              <mc:Fallback>
                <p:oleObj name="Macro-Enabled Worksheet" r:id="rId6" imgW="5302139" imgH="2731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44875" y="5168900"/>
                        <a:ext cx="530225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C1D139D6-4956-7862-C17B-8E9B8E69408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148202" y="5407792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ECBD3B-9309-2C67-8344-5CB777A301A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80336" y="5261771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9595A2B3-3F64-952C-65D1-00925C528F5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37473" y="5144159"/>
            <a:ext cx="4269532" cy="11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528986" y="1701637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12611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ZA" dirty="0" err="1"/>
              <a:t>Demix</a:t>
            </a:r>
            <a:r>
              <a:rPr lang="en-ZA" dirty="0"/>
              <a:t>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841175" y="5686214"/>
            <a:ext cx="609467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www.demixglobal.com</a:t>
            </a:r>
            <a:endParaRPr lang="en-ZA" sz="1600" dirty="0"/>
          </a:p>
          <a:p>
            <a:pPr algn="ctr"/>
            <a:r>
              <a:rPr lang="en-ZA" sz="1600" dirty="0">
                <a:solidFill>
                  <a:srgbClr val="000000"/>
                </a:solidFill>
                <a:latin typeface="Open Sans"/>
              </a:rPr>
              <a:t>Create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Evolve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Perfect</a:t>
            </a:r>
            <a:endParaRPr lang="en-ZA" sz="16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179784" y="2389117"/>
            <a:ext cx="271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1F497D"/>
                </a:solidFill>
              </a:defRPr>
            </a:lvl1pPr>
          </a:lstStyle>
          <a:p>
            <a:r>
              <a:rPr lang="en-GB" dirty="0"/>
              <a:t>Half of all organizations fail to execute strategy effectively. Demix empowers success.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1308059" y="4005710"/>
            <a:ext cx="271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一半的组织无法有效执行战略。</a:t>
            </a:r>
            <a:r>
              <a:rPr lang="en-US" altLang="zh-CN" b="1" dirty="0">
                <a:solidFill>
                  <a:srgbClr val="FF0000"/>
                </a:solidFill>
              </a:rPr>
              <a:t>Demix </a:t>
            </a:r>
            <a:r>
              <a:rPr lang="zh-CN" altLang="en-US" b="1" dirty="0">
                <a:solidFill>
                  <a:srgbClr val="FF0000"/>
                </a:solidFill>
              </a:rPr>
              <a:t>赋能成功。</a:t>
            </a:r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2F935-8217-6CE4-4503-62D4545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48" y="2200661"/>
            <a:ext cx="3260157" cy="21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9586E270-888A-1598-78F1-3370E9ADD0D1}"/>
              </a:ext>
            </a:extLst>
          </p:cNvPr>
          <p:cNvSpPr txBox="1"/>
          <p:nvPr/>
        </p:nvSpPr>
        <p:spPr>
          <a:xfrm>
            <a:off x="8189352" y="4491322"/>
            <a:ext cx="30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  <a:hlinkClick r:id="rId5"/>
              </a:rPr>
              <a:t>Strategy Execution with CMMI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879672"/>
              </p:ext>
            </p:extLst>
          </p:nvPr>
        </p:nvGraphicFramePr>
        <p:xfrm>
          <a:off x="947738" y="2127250"/>
          <a:ext cx="8650287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371600" progId="Excel.SheetMacroEnabled.12">
                  <p:link updateAutomatic="1"/>
                </p:oleObj>
              </mc:Choice>
              <mc:Fallback>
                <p:oleObj name="Macro-Enabled Worksheet" r:id="rId3" imgW="8407351" imgH="1371600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7738" y="2127250"/>
                        <a:ext cx="8650287" cy="1452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605357"/>
              </p:ext>
            </p:extLst>
          </p:nvPr>
        </p:nvGraphicFramePr>
        <p:xfrm>
          <a:off x="1106488" y="2058988"/>
          <a:ext cx="8648700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492206" progId="Excel.SheetMacroEnabled.12">
                  <p:link updateAutomatic="1"/>
                </p:oleObj>
              </mc:Choice>
              <mc:Fallback>
                <p:oleObj name="Macro-Enabled Worksheet" r:id="rId3" imgW="8407351" imgH="149220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6488" y="2058988"/>
                        <a:ext cx="8648700" cy="161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931450"/>
              </p:ext>
            </p:extLst>
          </p:nvPr>
        </p:nvGraphicFramePr>
        <p:xfrm>
          <a:off x="1039813" y="1795463"/>
          <a:ext cx="77724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562986" imgH="1384212" progId="Excel.SheetMacroEnabled.12">
                  <p:link updateAutomatic="1"/>
                </p:oleObj>
              </mc:Choice>
              <mc:Fallback>
                <p:oleObj name="Macro-Enabled Worksheet" r:id="rId3" imgW="7562986" imgH="138421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1795463"/>
                        <a:ext cx="7772400" cy="136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957976"/>
              </p:ext>
            </p:extLst>
          </p:nvPr>
        </p:nvGraphicFramePr>
        <p:xfrm>
          <a:off x="952500" y="1998663"/>
          <a:ext cx="84074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987638" progId="Excel.SheetMacroEnabled.12">
                  <p:link updateAutomatic="1"/>
                </p:oleObj>
              </mc:Choice>
              <mc:Fallback>
                <p:oleObj name="Macro-Enabled Worksheet" r:id="rId3" imgW="8407351" imgH="19876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500" y="1998663"/>
                        <a:ext cx="8407400" cy="198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70377"/>
              </p:ext>
            </p:extLst>
          </p:nvPr>
        </p:nvGraphicFramePr>
        <p:xfrm>
          <a:off x="1123950" y="1577975"/>
          <a:ext cx="8466138" cy="444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0153687" imgH="5486400" progId="Excel.SheetMacroEnabled.12">
                  <p:link updateAutomatic="1"/>
                </p:oleObj>
              </mc:Choice>
              <mc:Fallback>
                <p:oleObj name="Macro-Enabled Worksheet" r:id="rId3" imgW="10153687" imgH="5486400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3950" y="1577975"/>
                        <a:ext cx="8466138" cy="444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623444"/>
              </p:ext>
            </p:extLst>
          </p:nvPr>
        </p:nvGraphicFramePr>
        <p:xfrm>
          <a:off x="1168400" y="2555875"/>
          <a:ext cx="86502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336594" progId="Excel.SheetMacroEnabled.12">
                  <p:link updateAutomatic="1"/>
                </p:oleObj>
              </mc:Choice>
              <mc:Fallback>
                <p:oleObj name="Macro-Enabled Worksheet" r:id="rId3" imgW="8407351" imgH="33659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8400" y="2555875"/>
                        <a:ext cx="8650288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695814"/>
              </p:ext>
            </p:extLst>
          </p:nvPr>
        </p:nvGraphicFramePr>
        <p:xfrm>
          <a:off x="303213" y="1838325"/>
          <a:ext cx="11379200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798661" imgH="4006806" progId="Excel.SheetMacroEnabled.12">
                  <p:link updateAutomatic="1"/>
                </p:oleObj>
              </mc:Choice>
              <mc:Fallback>
                <p:oleObj name="Macro-Enabled Worksheet" r:id="rId3" imgW="13798661" imgH="4006806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213" y="1838325"/>
                        <a:ext cx="11379200" cy="319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507016"/>
              </p:ext>
            </p:extLst>
          </p:nvPr>
        </p:nvGraphicFramePr>
        <p:xfrm>
          <a:off x="906463" y="1849438"/>
          <a:ext cx="1089660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423786" imgH="3473538" progId="Excel.SheetMacroEnabled.12">
                  <p:link updateAutomatic="1"/>
                </p:oleObj>
              </mc:Choice>
              <mc:Fallback>
                <p:oleObj name="Macro-Enabled Worksheet" r:id="rId2" imgW="11423786" imgH="347353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463" y="1849438"/>
                        <a:ext cx="10896600" cy="331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200285"/>
              </p:ext>
            </p:extLst>
          </p:nvPr>
        </p:nvGraphicFramePr>
        <p:xfrm>
          <a:off x="906463" y="1849438"/>
          <a:ext cx="1089660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423786" imgH="3473538" progId="Excel.SheetMacroEnabled.12">
                  <p:link updateAutomatic="1"/>
                </p:oleObj>
              </mc:Choice>
              <mc:Fallback>
                <p:oleObj name="Macro-Enabled Worksheet" r:id="rId2" imgW="11423786" imgH="3473538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463" y="1849438"/>
                        <a:ext cx="10896600" cy="331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364698"/>
              </p:ext>
            </p:extLst>
          </p:nvPr>
        </p:nvGraphicFramePr>
        <p:xfrm>
          <a:off x="292100" y="1030288"/>
          <a:ext cx="8372475" cy="524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941275" imgH="9017088" progId="Excel.SheetMacroEnabled.12">
                  <p:link updateAutomatic="1"/>
                </p:oleObj>
              </mc:Choice>
              <mc:Fallback>
                <p:oleObj name="Macro-Enabled Worksheet" r:id="rId3" imgW="12941275" imgH="9017088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100" y="1030288"/>
                        <a:ext cx="8372475" cy="524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215534"/>
              </p:ext>
            </p:extLst>
          </p:nvPr>
        </p:nvGraphicFramePr>
        <p:xfrm>
          <a:off x="852488" y="962025"/>
          <a:ext cx="348615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90875" imgH="6306" progId="Excel.SheetMacroEnabled.12">
                  <p:link updateAutomatic="1"/>
                </p:oleObj>
              </mc:Choice>
              <mc:Fallback>
                <p:oleObj name="Macro-Enabled Worksheet" r:id="rId5" imgW="3390875" imgH="6306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488" y="962025"/>
                        <a:ext cx="348615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828037"/>
              </p:ext>
            </p:extLst>
          </p:nvPr>
        </p:nvGraphicFramePr>
        <p:xfrm>
          <a:off x="925513" y="1609725"/>
          <a:ext cx="8407400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407351" imgH="2812962" progId="Excel.SheetMacroEnabled.12">
                  <p:link updateAutomatic="1"/>
                </p:oleObj>
              </mc:Choice>
              <mc:Fallback>
                <p:oleObj name="Macro-Enabled Worksheet" r:id="rId2" imgW="8407351" imgH="2812962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5513" y="1609725"/>
                        <a:ext cx="8407400" cy="281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72fbd52210522a8408f90a329fd47929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237627d3f4bea8a4a9a421955b487bc6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D26C054-A39A-48BC-ACEB-6DEF8FE221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  <ds:schemaRef ds:uri="25bcabcf-d275-4206-9fb1-2f2d419cd22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1258</Words>
  <Application>Microsoft Office PowerPoint</Application>
  <PresentationFormat>Widescreen</PresentationFormat>
  <Paragraphs>93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ＭＳ Ｐゴシック</vt:lpstr>
      <vt:lpstr>宋体</vt:lpstr>
      <vt:lpstr>宋体</vt:lpstr>
      <vt:lpstr>-apple-system</vt:lpstr>
      <vt:lpstr>Arial</vt:lpstr>
      <vt:lpstr>Calibri</vt:lpstr>
      <vt:lpstr>Calibri Light</vt:lpstr>
      <vt:lpstr>Open Sans</vt:lpstr>
      <vt:lpstr>Office Theme</vt:lpstr>
      <vt:lpstr>https://demix365.sharepoint.com/sites/DemixGlobal/Shared Documents/10_BASE/2024-05-04to05-10 (A5) C384400 NASA/00_Data_Reference.xlsm!pptxCover!R4C2:R12C2</vt:lpstr>
      <vt:lpstr>https://demix365.sharepoint.com/sites/DemixGlobal/Shared Documents/10_BASE/2024-05-04to05-10 (A5) C384400 NASA/00_Data_Reference.xlsm!pptxCover!R15C2:R17C2</vt:lpstr>
      <vt:lpstr>https://demix365.sharepoint.com/sites/DemixGlobal/Shared Documents/10_BASE/2024-05-04to05-10 (A5) C384400 NASA/00_Data_Reference.xlsm!pptxCover!R20C2</vt:lpstr>
      <vt:lpstr>https://demix365.sharepoint.com/sites/DemixGlobal/Shared Documents/10_BASE/2024-05-04to05-10 (A5) C384400 NASA/00_Data_Reference.xlsm!pptxLink1!R1C1:R7C2</vt:lpstr>
      <vt:lpstr>https://demix365.sharepoint.com/sites/DemixGlobal/Shared Documents/10_BASE/2024-05-04to05-10 (A5) C384400 NASA/00_Data_Reference.xlsm!pptxLink1!R10C1:R18C2</vt:lpstr>
      <vt:lpstr>https://demix365.sharepoint.com/sites/DemixGlobal/Shared Documents/10_BASE/2024-05-04to05-10 (A5) C384400 NASA/00_Data_Reference.xlsm!pptxLink2!R1C1:R4C1</vt:lpstr>
      <vt:lpstr>https://demix365.sharepoint.com/sites/DemixGlobal/Shared Documents/10_BASE/2024-05-04to05-10 (A5) C384400 NASA/00_Data_Reference.xlsm!pptxLink1!R20C1:R31C2</vt:lpstr>
      <vt:lpstr>https://demix365.sharepoint.com/sites/DemixGlobal/Shared Documents/10_BASE/2024-05-04to05-10 (A5) C384400 NASA/00_Data_Reference.xlsm!pptxLink3!R2C1:R24C9</vt:lpstr>
      <vt:lpstr>https://demix365.sharepoint.com/sites/DemixGlobal/Shared Documents/10_BASE/2024-05-04to05-10 (A5) C384400 NASA/00_Data_Reference.xlsm!pptxLink1!R6C1:R7C2</vt:lpstr>
      <vt:lpstr>https://demix365.sharepoint.com/sites/DemixGlobal/Shared Documents/10_BASE/2024-05-04to05-10 (A5) C384400 NASA/00_Data_Reference.xlsm!pptxLink4!R10C1:R27C20</vt:lpstr>
      <vt:lpstr>https://demix365.sharepoint.com/sites/DemixGlobal/Shared Documents/10_BASE/2024-05-04to05-10 (A5) C384400 NASA/00_Data_Reference.xlsm!pptxLink5!R1C1:R11C5</vt:lpstr>
      <vt:lpstr>https://demix365.sharepoint.com/sites/DemixGlobal/Shared Documents/10_BASE/2024-05-04to05-10 (A5) C384400 NASA/00_Data_Reference.xlsm!pptxLink5!R15C1:R21C5</vt:lpstr>
      <vt:lpstr>https://demix365.sharepoint.com/sites/DemixGlobal/Shared Documents/10_BASE/2024-05-04to05-10 (A5) C384400 NASA/00_Data_Reference.xlsm!OULC!R50C2:R89C22</vt:lpstr>
      <vt:lpstr>https://demix365.sharepoint.com/sites/DemixGlobal/Shared Documents/10_BASE/2024-05-04to05-10 (A5) C384400 NASA/00_Data_Reference.xlsm!pptxLink1!R8C4</vt:lpstr>
      <vt:lpstr>https://demix365.sharepoint.com/sites/DemixGlobal/Shared Documents/10_BASE/2024-05-04to05-10 (A5) C384400 NASA/00_Data_Reference.xlsm!pptxLink1!R33C1:R40C2</vt:lpstr>
      <vt:lpstr>PowerPoint Presentation</vt:lpstr>
      <vt:lpstr>PowerPoint Presentation</vt:lpstr>
      <vt:lpstr>DEMIX™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110</cp:revision>
  <dcterms:created xsi:type="dcterms:W3CDTF">2018-03-14T12:19:45Z</dcterms:created>
  <dcterms:modified xsi:type="dcterms:W3CDTF">2026-01-05T05:12:44Z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