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handoutMasterIdLst>
    <p:handoutMasterId r:id="rId35"/>
  </p:handoutMasterIdLst>
  <p:sldIdLst>
    <p:sldId id="256" r:id="rId5"/>
    <p:sldId id="1546" r:id="rId6"/>
    <p:sldId id="493" r:id="rId7"/>
    <p:sldId id="439" r:id="rId8"/>
    <p:sldId id="923" r:id="rId9"/>
    <p:sldId id="1026" r:id="rId10"/>
    <p:sldId id="1543" r:id="rId11"/>
    <p:sldId id="926" r:id="rId12"/>
    <p:sldId id="1548" r:id="rId13"/>
    <p:sldId id="887" r:id="rId14"/>
    <p:sldId id="888" r:id="rId15"/>
    <p:sldId id="889" r:id="rId16"/>
    <p:sldId id="890" r:id="rId17"/>
    <p:sldId id="891" r:id="rId18"/>
    <p:sldId id="892" r:id="rId19"/>
    <p:sldId id="894" r:id="rId20"/>
    <p:sldId id="895" r:id="rId21"/>
    <p:sldId id="896" r:id="rId22"/>
    <p:sldId id="897" r:id="rId23"/>
    <p:sldId id="898" r:id="rId24"/>
    <p:sldId id="899" r:id="rId25"/>
    <p:sldId id="900" r:id="rId26"/>
    <p:sldId id="901" r:id="rId27"/>
    <p:sldId id="902" r:id="rId28"/>
    <p:sldId id="903" r:id="rId29"/>
    <p:sldId id="904" r:id="rId30"/>
    <p:sldId id="906" r:id="rId31"/>
    <p:sldId id="907" r:id="rId32"/>
    <p:sldId id="29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3D4C7C-F4F1-469D-9378-682FC4527967}" v="33" dt="2025-01-27T12:50:13.8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1232" y="264"/>
      </p:cViewPr>
      <p:guideLst>
        <p:guide orient="horz" pos="572"/>
        <p:guide pos="665"/>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anie Spies (van Zyl)" userId="ef25dda8-0341-4aab-b4c7-f9ee53be8909" providerId="ADAL" clId="{E33D4C7C-F4F1-469D-9378-682FC4527967}"/>
    <pc:docChg chg="undo custSel delSld modSld modMainMaster">
      <pc:chgData name="Melanie Spies (van Zyl)" userId="ef25dda8-0341-4aab-b4c7-f9ee53be8909" providerId="ADAL" clId="{E33D4C7C-F4F1-469D-9378-682FC4527967}" dt="2025-01-30T06:25:30.284" v="74" actId="2696"/>
      <pc:docMkLst>
        <pc:docMk/>
      </pc:docMkLst>
      <pc:sldChg chg="addSp delSp modSp mod">
        <pc:chgData name="Melanie Spies (van Zyl)" userId="ef25dda8-0341-4aab-b4c7-f9ee53be8909" providerId="ADAL" clId="{E33D4C7C-F4F1-469D-9378-682FC4527967}" dt="2025-01-27T12:50:13.856" v="73" actId="1076"/>
        <pc:sldMkLst>
          <pc:docMk/>
          <pc:sldMk cId="2860053902" sldId="493"/>
        </pc:sldMkLst>
        <pc:spChg chg="mod">
          <ac:chgData name="Melanie Spies (van Zyl)" userId="ef25dda8-0341-4aab-b4c7-f9ee53be8909" providerId="ADAL" clId="{E33D4C7C-F4F1-469D-9378-682FC4527967}" dt="2025-01-27T12:50:13.856" v="73" actId="1076"/>
          <ac:spMkLst>
            <pc:docMk/>
            <pc:sldMk cId="2860053902" sldId="493"/>
            <ac:spMk id="9" creationId="{CB425F2D-C583-0A76-4E83-380A21373754}"/>
          </ac:spMkLst>
        </pc:spChg>
        <pc:spChg chg="mod">
          <ac:chgData name="Melanie Spies (van Zyl)" userId="ef25dda8-0341-4aab-b4c7-f9ee53be8909" providerId="ADAL" clId="{E33D4C7C-F4F1-469D-9378-682FC4527967}" dt="2025-01-27T12:49:48.737" v="72" actId="113"/>
          <ac:spMkLst>
            <pc:docMk/>
            <pc:sldMk cId="2860053902" sldId="493"/>
            <ac:spMk id="52" creationId="{382945E9-2F57-4420-BA56-8960D3908F35}"/>
          </ac:spMkLst>
        </pc:spChg>
        <pc:picChg chg="mod">
          <ac:chgData name="Melanie Spies (van Zyl)" userId="ef25dda8-0341-4aab-b4c7-f9ee53be8909" providerId="ADAL" clId="{E33D4C7C-F4F1-469D-9378-682FC4527967}" dt="2025-01-27T12:37:38.337" v="21" actId="339"/>
          <ac:picMkLst>
            <pc:docMk/>
            <pc:sldMk cId="2860053902" sldId="493"/>
            <ac:picMk id="3" creationId="{1FEF7BC6-DE2A-1BA8-D162-418AA6F248B4}"/>
          </ac:picMkLst>
        </pc:picChg>
        <pc:picChg chg="mod">
          <ac:chgData name="Melanie Spies (van Zyl)" userId="ef25dda8-0341-4aab-b4c7-f9ee53be8909" providerId="ADAL" clId="{E33D4C7C-F4F1-469D-9378-682FC4527967}" dt="2025-01-27T12:37:38.337" v="21" actId="339"/>
          <ac:picMkLst>
            <pc:docMk/>
            <pc:sldMk cId="2860053902" sldId="493"/>
            <ac:picMk id="5" creationId="{BD5B9EE7-D463-5A58-9C5D-FBEAF1BD6F1D}"/>
          </ac:picMkLst>
        </pc:picChg>
        <pc:picChg chg="add mod">
          <ac:chgData name="Melanie Spies (van Zyl)" userId="ef25dda8-0341-4aab-b4c7-f9ee53be8909" providerId="ADAL" clId="{E33D4C7C-F4F1-469D-9378-682FC4527967}" dt="2025-01-27T12:34:11.570" v="9" actId="339"/>
          <ac:picMkLst>
            <pc:docMk/>
            <pc:sldMk cId="2860053902" sldId="493"/>
            <ac:picMk id="10" creationId="{B883F363-8032-AE88-2810-0BA8D55C91D7}"/>
          </ac:picMkLst>
        </pc:picChg>
        <pc:picChg chg="add mod">
          <ac:chgData name="Melanie Spies (van Zyl)" userId="ef25dda8-0341-4aab-b4c7-f9ee53be8909" providerId="ADAL" clId="{E33D4C7C-F4F1-469D-9378-682FC4527967}" dt="2025-01-27T12:48:00.274" v="63" actId="1076"/>
          <ac:picMkLst>
            <pc:docMk/>
            <pc:sldMk cId="2860053902" sldId="493"/>
            <ac:picMk id="12" creationId="{418A0F27-07B8-024D-872C-BA34A00A1B7B}"/>
          </ac:picMkLst>
        </pc:picChg>
        <pc:picChg chg="mod">
          <ac:chgData name="Melanie Spies (van Zyl)" userId="ef25dda8-0341-4aab-b4c7-f9ee53be8909" providerId="ADAL" clId="{E33D4C7C-F4F1-469D-9378-682FC4527967}" dt="2025-01-27T12:37:38.337" v="21" actId="339"/>
          <ac:picMkLst>
            <pc:docMk/>
            <pc:sldMk cId="2860053902" sldId="493"/>
            <ac:picMk id="30" creationId="{0DB3A38A-CE0C-488A-B87F-37FFDD2E1D86}"/>
          </ac:picMkLst>
        </pc:picChg>
        <pc:picChg chg="mod modCrop">
          <ac:chgData name="Melanie Spies (van Zyl)" userId="ef25dda8-0341-4aab-b4c7-f9ee53be8909" providerId="ADAL" clId="{E33D4C7C-F4F1-469D-9378-682FC4527967}" dt="2025-01-27T12:48:16.426" v="66" actId="1076"/>
          <ac:picMkLst>
            <pc:docMk/>
            <pc:sldMk cId="2860053902" sldId="493"/>
            <ac:picMk id="39" creationId="{528DADE8-D1C4-46AD-8EA1-39B725B1FB4D}"/>
          </ac:picMkLst>
        </pc:picChg>
        <pc:picChg chg="mod">
          <ac:chgData name="Melanie Spies (van Zyl)" userId="ef25dda8-0341-4aab-b4c7-f9ee53be8909" providerId="ADAL" clId="{E33D4C7C-F4F1-469D-9378-682FC4527967}" dt="2025-01-27T12:37:38.337" v="21" actId="339"/>
          <ac:picMkLst>
            <pc:docMk/>
            <pc:sldMk cId="2860053902" sldId="493"/>
            <ac:picMk id="44" creationId="{5804FC85-67E1-4C1D-A768-A4E046E7F9EC}"/>
          </ac:picMkLst>
        </pc:picChg>
        <pc:picChg chg="mod">
          <ac:chgData name="Melanie Spies (van Zyl)" userId="ef25dda8-0341-4aab-b4c7-f9ee53be8909" providerId="ADAL" clId="{E33D4C7C-F4F1-469D-9378-682FC4527967}" dt="2025-01-27T12:37:38.337" v="21" actId="339"/>
          <ac:picMkLst>
            <pc:docMk/>
            <pc:sldMk cId="2860053902" sldId="493"/>
            <ac:picMk id="45" creationId="{5D685488-5751-4610-AE1F-6A7C4BE390AF}"/>
          </ac:picMkLst>
        </pc:picChg>
        <pc:picChg chg="mod">
          <ac:chgData name="Melanie Spies (van Zyl)" userId="ef25dda8-0341-4aab-b4c7-f9ee53be8909" providerId="ADAL" clId="{E33D4C7C-F4F1-469D-9378-682FC4527967}" dt="2025-01-27T12:37:38.337" v="21" actId="339"/>
          <ac:picMkLst>
            <pc:docMk/>
            <pc:sldMk cId="2860053902" sldId="493"/>
            <ac:picMk id="46" creationId="{1CCB6A1E-9C8F-4CF7-8854-7EAED2AC6848}"/>
          </ac:picMkLst>
        </pc:picChg>
        <pc:picChg chg="mod">
          <ac:chgData name="Melanie Spies (van Zyl)" userId="ef25dda8-0341-4aab-b4c7-f9ee53be8909" providerId="ADAL" clId="{E33D4C7C-F4F1-469D-9378-682FC4527967}" dt="2025-01-27T12:37:38.337" v="21" actId="339"/>
          <ac:picMkLst>
            <pc:docMk/>
            <pc:sldMk cId="2860053902" sldId="493"/>
            <ac:picMk id="47" creationId="{906DB6B8-FB70-49A9-90A8-CE08CF7A3FCC}"/>
          </ac:picMkLst>
        </pc:picChg>
        <pc:picChg chg="mod">
          <ac:chgData name="Melanie Spies (van Zyl)" userId="ef25dda8-0341-4aab-b4c7-f9ee53be8909" providerId="ADAL" clId="{E33D4C7C-F4F1-469D-9378-682FC4527967}" dt="2025-01-27T12:37:38.337" v="21" actId="339"/>
          <ac:picMkLst>
            <pc:docMk/>
            <pc:sldMk cId="2860053902" sldId="493"/>
            <ac:picMk id="48" creationId="{829E41C9-1208-4F5B-9B72-C350895017BC}"/>
          </ac:picMkLst>
        </pc:picChg>
        <pc:picChg chg="mod">
          <ac:chgData name="Melanie Spies (van Zyl)" userId="ef25dda8-0341-4aab-b4c7-f9ee53be8909" providerId="ADAL" clId="{E33D4C7C-F4F1-469D-9378-682FC4527967}" dt="2025-01-27T12:37:38.337" v="21" actId="339"/>
          <ac:picMkLst>
            <pc:docMk/>
            <pc:sldMk cId="2860053902" sldId="493"/>
            <ac:picMk id="50" creationId="{7722CF4D-7FE1-45B8-81FB-B3A16FBB595C}"/>
          </ac:picMkLst>
        </pc:picChg>
        <pc:picChg chg="mod">
          <ac:chgData name="Melanie Spies (van Zyl)" userId="ef25dda8-0341-4aab-b4c7-f9ee53be8909" providerId="ADAL" clId="{E33D4C7C-F4F1-469D-9378-682FC4527967}" dt="2025-01-27T12:37:38.337" v="21" actId="339"/>
          <ac:picMkLst>
            <pc:docMk/>
            <pc:sldMk cId="2860053902" sldId="493"/>
            <ac:picMk id="64" creationId="{2850122E-32F6-40C4-AEC8-C4B0EC346A75}"/>
          </ac:picMkLst>
        </pc:picChg>
        <pc:picChg chg="add mod">
          <ac:chgData name="Melanie Spies (van Zyl)" userId="ef25dda8-0341-4aab-b4c7-f9ee53be8909" providerId="ADAL" clId="{E33D4C7C-F4F1-469D-9378-682FC4527967}" dt="2025-01-27T12:35:28.447" v="17" actId="1076"/>
          <ac:picMkLst>
            <pc:docMk/>
            <pc:sldMk cId="2860053902" sldId="493"/>
            <ac:picMk id="2050" creationId="{53CD89D5-7FF2-D96B-EA13-4AAF739544DC}"/>
          </ac:picMkLst>
        </pc:picChg>
        <pc:picChg chg="add mod">
          <ac:chgData name="Melanie Spies (van Zyl)" userId="ef25dda8-0341-4aab-b4c7-f9ee53be8909" providerId="ADAL" clId="{E33D4C7C-F4F1-469D-9378-682FC4527967}" dt="2025-01-27T12:48:28.520" v="67" actId="1076"/>
          <ac:picMkLst>
            <pc:docMk/>
            <pc:sldMk cId="2860053902" sldId="493"/>
            <ac:picMk id="2052" creationId="{A29F4551-CAAD-E1A3-5ECA-FD1BF7217D01}"/>
          </ac:picMkLst>
        </pc:picChg>
        <pc:picChg chg="add mod">
          <ac:chgData name="Melanie Spies (van Zyl)" userId="ef25dda8-0341-4aab-b4c7-f9ee53be8909" providerId="ADAL" clId="{E33D4C7C-F4F1-469D-9378-682FC4527967}" dt="2025-01-27T12:47:33.044" v="57" actId="1076"/>
          <ac:picMkLst>
            <pc:docMk/>
            <pc:sldMk cId="2860053902" sldId="493"/>
            <ac:picMk id="2054" creationId="{16CD5BCC-1DFD-47FE-6550-69934F2DFEEE}"/>
          </ac:picMkLst>
        </pc:picChg>
      </pc:sldChg>
      <pc:sldChg chg="del">
        <pc:chgData name="Melanie Spies (van Zyl)" userId="ef25dda8-0341-4aab-b4c7-f9ee53be8909" providerId="ADAL" clId="{E33D4C7C-F4F1-469D-9378-682FC4527967}" dt="2025-01-30T06:25:30.284" v="74" actId="2696"/>
        <pc:sldMkLst>
          <pc:docMk/>
          <pc:sldMk cId="4138373319" sldId="1512"/>
        </pc:sldMkLst>
      </pc:sldChg>
      <pc:sldMasterChg chg="modSp mod">
        <pc:chgData name="Melanie Spies (van Zyl)" userId="ef25dda8-0341-4aab-b4c7-f9ee53be8909" providerId="ADAL" clId="{E33D4C7C-F4F1-469D-9378-682FC4527967}" dt="2025-01-27T12:27:06.715" v="1" actId="20577"/>
        <pc:sldMasterMkLst>
          <pc:docMk/>
          <pc:sldMasterMk cId="991517703" sldId="2147483648"/>
        </pc:sldMasterMkLst>
        <pc:spChg chg="mod">
          <ac:chgData name="Melanie Spies (van Zyl)" userId="ef25dda8-0341-4aab-b4c7-f9ee53be8909" providerId="ADAL" clId="{E33D4C7C-F4F1-469D-9378-682FC4527967}" dt="2025-01-27T12:27:06.715" v="1" actId="20577"/>
          <ac:spMkLst>
            <pc:docMk/>
            <pc:sldMasterMk cId="991517703" sldId="2147483648"/>
            <ac:spMk id="11" creationId="{4715B51E-F992-4C20-A31E-2C828A5DAA5F}"/>
          </ac:spMkLst>
        </pc:spChg>
      </pc:sldMasterChg>
    </pc:docChg>
  </pc:docChgLst>
  <pc:docChgLst>
    <pc:chgData name="Melanie Spies (van Zyl)" userId="S::melanie.spies@demix.org::ef25dda8-0341-4aab-b4c7-f9ee53be8909" providerId="AD" clId="Web-{D568FE0C-B7DD-24A1-656D-842E7E628B0A}"/>
    <pc:docChg chg="modSld">
      <pc:chgData name="Melanie Spies (van Zyl)" userId="S::melanie.spies@demix.org::ef25dda8-0341-4aab-b4c7-f9ee53be8909" providerId="AD" clId="Web-{D568FE0C-B7DD-24A1-656D-842E7E628B0A}" dt="2025-01-27T12:55:39.058" v="9" actId="1076"/>
      <pc:docMkLst>
        <pc:docMk/>
      </pc:docMkLst>
      <pc:sldChg chg="modSp">
        <pc:chgData name="Melanie Spies (van Zyl)" userId="S::melanie.spies@demix.org::ef25dda8-0341-4aab-b4c7-f9ee53be8909" providerId="AD" clId="Web-{D568FE0C-B7DD-24A1-656D-842E7E628B0A}" dt="2025-01-27T12:55:39.058" v="9" actId="1076"/>
        <pc:sldMkLst>
          <pc:docMk/>
          <pc:sldMk cId="2860053902" sldId="493"/>
        </pc:sldMkLst>
        <pc:picChg chg="mod">
          <ac:chgData name="Melanie Spies (van Zyl)" userId="S::melanie.spies@demix.org::ef25dda8-0341-4aab-b4c7-f9ee53be8909" providerId="AD" clId="Web-{D568FE0C-B7DD-24A1-656D-842E7E628B0A}" dt="2025-01-27T12:55:39.058" v="9" actId="1076"/>
          <ac:picMkLst>
            <pc:docMk/>
            <pc:sldMk cId="2860053902" sldId="493"/>
            <ac:picMk id="10" creationId="{B883F363-8032-AE88-2810-0BA8D55C91D7}"/>
          </ac:picMkLst>
        </pc:picChg>
        <pc:picChg chg="mod">
          <ac:chgData name="Melanie Spies (van Zyl)" userId="S::melanie.spies@demix.org::ef25dda8-0341-4aab-b4c7-f9ee53be8909" providerId="AD" clId="Web-{D568FE0C-B7DD-24A1-656D-842E7E628B0A}" dt="2025-01-27T12:55:26.261" v="7" actId="1076"/>
          <ac:picMkLst>
            <pc:docMk/>
            <pc:sldMk cId="2860053902" sldId="493"/>
            <ac:picMk id="12" creationId="{418A0F27-07B8-024D-872C-BA34A00A1B7B}"/>
          </ac:picMkLst>
        </pc:picChg>
        <pc:picChg chg="mod">
          <ac:chgData name="Melanie Spies (van Zyl)" userId="S::melanie.spies@demix.org::ef25dda8-0341-4aab-b4c7-f9ee53be8909" providerId="AD" clId="Web-{D568FE0C-B7DD-24A1-656D-842E7E628B0A}" dt="2025-01-27T12:55:22.417" v="6" actId="1076"/>
          <ac:picMkLst>
            <pc:docMk/>
            <pc:sldMk cId="2860053902" sldId="493"/>
            <ac:picMk id="39" creationId="{528DADE8-D1C4-46AD-8EA1-39B725B1FB4D}"/>
          </ac:picMkLst>
        </pc:picChg>
        <pc:picChg chg="mod">
          <ac:chgData name="Melanie Spies (van Zyl)" userId="S::melanie.spies@demix.org::ef25dda8-0341-4aab-b4c7-f9ee53be8909" providerId="AD" clId="Web-{D568FE0C-B7DD-24A1-656D-842E7E628B0A}" dt="2025-01-27T12:55:28.339" v="8" actId="1076"/>
          <ac:picMkLst>
            <pc:docMk/>
            <pc:sldMk cId="2860053902" sldId="493"/>
            <ac:picMk id="2052" creationId="{A29F4551-CAAD-E1A3-5ECA-FD1BF7217D01}"/>
          </ac:picMkLst>
        </pc:picChg>
        <pc:picChg chg="mod">
          <ac:chgData name="Melanie Spies (van Zyl)" userId="S::melanie.spies@demix.org::ef25dda8-0341-4aab-b4c7-f9ee53be8909" providerId="AD" clId="Web-{D568FE0C-B7DD-24A1-656D-842E7E628B0A}" dt="2025-01-27T12:55:07.698" v="3"/>
          <ac:picMkLst>
            <pc:docMk/>
            <pc:sldMk cId="2860053902" sldId="493"/>
            <ac:picMk id="2054" creationId="{16CD5BCC-1DFD-47FE-6550-69934F2DFEE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1/30/2025</a:t>
            </a:fld>
            <a:endParaRPr lang="en-US"/>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Information in this section should come from the appraisal plan. The idea here is not to duplicate the contents of the plan, but to provide a summary for the Appraisal Sponsor, and the personnel from the OU who will see these findings.</a:t>
            </a:r>
          </a:p>
          <a:p>
            <a:endParaRPr lang="en-US"/>
          </a:p>
          <a:p>
            <a:r>
              <a:rPr lang="en-US"/>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2</a:t>
            </a:fld>
            <a:endParaRPr lang="en-US"/>
          </a:p>
        </p:txBody>
      </p:sp>
    </p:spTree>
    <p:extLst>
      <p:ext uri="{BB962C8B-B14F-4D97-AF65-F5344CB8AC3E}">
        <p14:creationId xmlns:p14="http://schemas.microsoft.com/office/powerpoint/2010/main" val="3320220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a:t>Introduction. Also an opportunity to talk a bit about </a:t>
            </a:r>
            <a:r>
              <a:rPr lang="en-ZA" altLang="zh-CN" err="1"/>
              <a:t>Demix</a:t>
            </a:r>
            <a:endParaRPr lang="en-ZA" altLang="zh-CN"/>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err="1"/>
              <a:t>Demix</a:t>
            </a:r>
            <a:r>
              <a:rPr lang="en-ZA" altLang="zh-CN"/>
              <a:t> has </a:t>
            </a:r>
            <a:r>
              <a:rPr lang="en-ZA" altLang="zh-CN" err="1"/>
              <a:t>LAs</a:t>
            </a:r>
            <a:r>
              <a:rPr lang="en-ZA" altLang="zh-CN"/>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a:p>
        </p:txBody>
      </p:sp>
    </p:spTree>
    <p:extLst>
      <p:ext uri="{BB962C8B-B14F-4D97-AF65-F5344CB8AC3E}">
        <p14:creationId xmlns:p14="http://schemas.microsoft.com/office/powerpoint/2010/main" val="3008295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a:t>1, what ever you share</a:t>
            </a:r>
            <a:r>
              <a:rPr lang="en-ZA" altLang="zh-CN" baseline="0"/>
              <a:t> is confidential with the ATM’s and </a:t>
            </a:r>
          </a:p>
          <a:p>
            <a:r>
              <a:rPr lang="en-ZA" altLang="zh-CN" baseline="0"/>
              <a:t>2, non – your name will not appear in any reports        </a:t>
            </a:r>
          </a:p>
          <a:p>
            <a:r>
              <a:rPr lang="en-ZA" altLang="zh-CN" baseline="0"/>
              <a:t>collaboratively – we have representation from your side as well as ours  last at the end there are always weaknesses and from there an improvement action is always undertaken</a:t>
            </a:r>
            <a:endParaRPr lang="zh-CN" altLang="zh-CN"/>
          </a:p>
        </p:txBody>
      </p:sp>
    </p:spTree>
    <p:extLst>
      <p:ext uri="{BB962C8B-B14F-4D97-AF65-F5344CB8AC3E}">
        <p14:creationId xmlns:p14="http://schemas.microsoft.com/office/powerpoint/2010/main" val="2865418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C13DA5-2DE0-6D49-B0F1-8E4B6A1CBA23}" type="slidenum">
              <a:rPr lang="en-US" smtClean="0"/>
              <a:t>5</a:t>
            </a:fld>
            <a:endParaRPr lang="en-US"/>
          </a:p>
        </p:txBody>
      </p:sp>
    </p:spTree>
    <p:extLst>
      <p:ext uri="{BB962C8B-B14F-4D97-AF65-F5344CB8AC3E}">
        <p14:creationId xmlns:p14="http://schemas.microsoft.com/office/powerpoint/2010/main" val="2365191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292100"/>
            <a:ext cx="6362700" cy="3579813"/>
          </a:xfrm>
        </p:spPr>
      </p:sp>
      <p:sp>
        <p:nvSpPr>
          <p:cNvPr id="3" name="Notes Placeholder 2"/>
          <p:cNvSpPr>
            <a:spLocks noGrp="1"/>
          </p:cNvSpPr>
          <p:nvPr>
            <p:ph type="body" idx="1"/>
          </p:nvPr>
        </p:nvSpPr>
        <p:spPr>
          <a:xfrm>
            <a:off x="731194" y="4620205"/>
            <a:ext cx="5852814" cy="3780845"/>
          </a:xfrm>
          <a:prstGeom prst="rect">
            <a:avLst/>
          </a:pr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CE611DA0-981B-B047-981C-E490A72360DD}" type="slidenum">
              <a:rPr lang="en-US" altLang="en-US" sz="1200" b="0">
                <a:solidFill>
                  <a:schemeClr val="tx1"/>
                </a:solidFill>
              </a:rPr>
              <a:pPr/>
              <a:t>29</a:t>
            </a:fld>
            <a:endParaRPr lang="en-US" altLang="en-US" sz="1200" b="0">
              <a:solidFill>
                <a:schemeClr val="tx1"/>
              </a:solidFill>
            </a:endParaRPr>
          </a:p>
        </p:txBody>
      </p:sp>
      <p:sp>
        <p:nvSpPr>
          <p:cNvPr id="66562" name="Rectangle 2"/>
          <p:cNvSpPr>
            <a:spLocks noGrp="1" noRot="1" noChangeAspect="1" noChangeArrowheads="1" noTextEdit="1"/>
          </p:cNvSpPr>
          <p:nvPr>
            <p:ph type="sldImg"/>
          </p:nvPr>
        </p:nvSpPr>
        <p:spPr>
          <a:xfrm>
            <a:off x="1025525" y="231775"/>
            <a:ext cx="4959350" cy="2790825"/>
          </a:xfrm>
          <a:ln/>
        </p:spPr>
      </p:sp>
      <p:sp>
        <p:nvSpPr>
          <p:cNvPr id="66563" name="Rectangle 3"/>
          <p:cNvSpPr>
            <a:spLocks noGrp="1" noChangeArrowheads="1"/>
          </p:cNvSpPr>
          <p:nvPr>
            <p:ph type="body" idx="1"/>
          </p:nvPr>
        </p:nvSpPr>
        <p:spPr>
          <a:xfrm>
            <a:off x="546100" y="3098800"/>
            <a:ext cx="6075363" cy="5576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ea typeface="ＭＳ Ｐゴシック" charset="-128"/>
            </a:endParaRPr>
          </a:p>
        </p:txBody>
      </p:sp>
    </p:spTree>
    <p:extLst>
      <p:ext uri="{BB962C8B-B14F-4D97-AF65-F5344CB8AC3E}">
        <p14:creationId xmlns:p14="http://schemas.microsoft.com/office/powerpoint/2010/main" val="355928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1" name="Slide Number Placeholder 5">
            <a:extLst>
              <a:ext uri="{FF2B5EF4-FFF2-40B4-BE49-F238E27FC236}">
                <a16:creationId xmlns:a16="http://schemas.microsoft.com/office/drawing/2014/main" id="{4715B51E-F992-4C20-A31E-2C828A5DAA5F}"/>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tint val="75000"/>
                  </a:schemeClr>
                </a:solidFill>
                <a:effectLst/>
                <a:latin typeface="+mn-lt"/>
                <a:ea typeface="+mn-ea"/>
                <a:cs typeface="+mn-cs"/>
              </a:rPr>
              <a:t>© ISACA 2025. All Rights Reserved.​</a:t>
            </a:r>
            <a:r>
              <a:rPr lang="en-US"/>
              <a:t>  |  </a:t>
            </a:r>
            <a:fld id="{85F78CEA-3B00-9E49-94E0-DC9AF1E86765}"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p>
        </p:txBody>
      </p:sp>
      <p:pic>
        <p:nvPicPr>
          <p:cNvPr id="12" name="Picture 11">
            <a:extLst>
              <a:ext uri="{FF2B5EF4-FFF2-40B4-BE49-F238E27FC236}">
                <a16:creationId xmlns:a16="http://schemas.microsoft.com/office/drawing/2014/main" id="{627B859E-7AE1-42C5-91B0-C99C8B2E8022}"/>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4039BE4B-7FAE-4D96-AE72-33674D67ECB2}"/>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14" name="TextBox 13">
            <a:extLst>
              <a:ext uri="{FF2B5EF4-FFF2-40B4-BE49-F238E27FC236}">
                <a16:creationId xmlns:a16="http://schemas.microsoft.com/office/drawing/2014/main" id="{87164027-697A-4253-8B65-BBBC5DAB0269}"/>
              </a:ext>
            </a:extLst>
          </p:cNvPr>
          <p:cNvSpPr txBox="1"/>
          <p:nvPr userDrawn="1"/>
        </p:nvSpPr>
        <p:spPr>
          <a:xfrm>
            <a:off x="10316993" y="614825"/>
            <a:ext cx="1610551" cy="261610"/>
          </a:xfrm>
          <a:prstGeom prst="rect">
            <a:avLst/>
          </a:prstGeom>
          <a:noFill/>
        </p:spPr>
        <p:txBody>
          <a:bodyPr wrap="square" rtlCol="0">
            <a:spAutoFit/>
          </a:bodyPr>
          <a:lstStyle/>
          <a:p>
            <a:r>
              <a:rPr lang="en-ZA" sz="1100">
                <a:solidFill>
                  <a:schemeClr val="bg1"/>
                </a:solidFill>
              </a:rPr>
              <a:t>Create | Evolve | Perfect</a:t>
            </a:r>
          </a:p>
        </p:txBody>
      </p:sp>
      <p:sp>
        <p:nvSpPr>
          <p:cNvPr id="15" name="TextBox 14">
            <a:extLst>
              <a:ext uri="{FF2B5EF4-FFF2-40B4-BE49-F238E27FC236}">
                <a16:creationId xmlns:a16="http://schemas.microsoft.com/office/drawing/2014/main" id="{1B270D06-440C-4CC1-B029-90833AC8221F}"/>
              </a:ext>
            </a:extLst>
          </p:cNvPr>
          <p:cNvSpPr txBox="1"/>
          <p:nvPr userDrawn="1"/>
        </p:nvSpPr>
        <p:spPr>
          <a:xfrm>
            <a:off x="11832867" y="533486"/>
            <a:ext cx="333925" cy="169277"/>
          </a:xfrm>
          <a:prstGeom prst="rect">
            <a:avLst/>
          </a:prstGeom>
          <a:noFill/>
        </p:spPr>
        <p:txBody>
          <a:bodyPr wrap="square" rtlCol="0">
            <a:spAutoFit/>
          </a:bodyPr>
          <a:lstStyle/>
          <a:p>
            <a:r>
              <a:rPr lang="en-ZA" sz="500" b="1">
                <a:solidFill>
                  <a:schemeClr val="bg1"/>
                </a:solidFill>
              </a:rPr>
              <a:t>TM</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5.emf"/><Relationship Id="rId2" Type="http://schemas.openxmlformats.org/officeDocument/2006/relationships/oleObject" Target="file:///G:\2024-05-04to05-10%20(A5)%20C384400%20NASA\00_Data_Reference.xlsm!pptxCover!R4C2:R12C2" TargetMode="External"/><Relationship Id="rId1" Type="http://schemas.openxmlformats.org/officeDocument/2006/relationships/slideLayout" Target="../slideLayouts/slideLayout1.xml"/><Relationship Id="rId6" Type="http://schemas.openxmlformats.org/officeDocument/2006/relationships/oleObject" Target="file:///G:\2024-05-04to05-10%20(A5)%20C384400%20NASA\00_Data_Reference.xlsm!pptxCover!R21C2" TargetMode="External"/><Relationship Id="rId5" Type="http://schemas.openxmlformats.org/officeDocument/2006/relationships/image" Target="../media/image4.emf"/><Relationship Id="rId4" Type="http://schemas.openxmlformats.org/officeDocument/2006/relationships/oleObject" Target="file:///G:\2024-05-04to05-10%20(A5)%20C384400%20NASA\00_Data_Reference.xlsm!pptxCover!R15C2:R17C2"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6.jpeg"/><Relationship Id="rId21" Type="http://schemas.openxmlformats.org/officeDocument/2006/relationships/image" Target="../media/image24.pn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2.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9.gif"/><Relationship Id="rId11" Type="http://schemas.openxmlformats.org/officeDocument/2006/relationships/image" Target="../media/image14.png"/><Relationship Id="rId24" Type="http://schemas.openxmlformats.org/officeDocument/2006/relationships/image" Target="../media/image27.jpe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3.gif"/><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a:t>Preliminary Findings</a:t>
            </a:r>
          </a:p>
        </p:txBody>
      </p:sp>
      <p:graphicFrame>
        <p:nvGraphicFramePr>
          <p:cNvPr id="9" name="Object 8">
            <a:extLst>
              <a:ext uri="{FF2B5EF4-FFF2-40B4-BE49-F238E27FC236}">
                <a16:creationId xmlns:a16="http://schemas.microsoft.com/office/drawing/2014/main" id="{336609E4-9291-48F4-B53A-32D535DF0715}"/>
              </a:ext>
            </a:extLst>
          </p:cNvPr>
          <p:cNvGraphicFramePr>
            <a:graphicFrameLocks noChangeAspect="1"/>
          </p:cNvGraphicFramePr>
          <p:nvPr>
            <p:extLst>
              <p:ext uri="{D42A27DB-BD31-4B8C-83A1-F6EECF244321}">
                <p14:modId xmlns:p14="http://schemas.microsoft.com/office/powerpoint/2010/main" val="3440209513"/>
              </p:ext>
            </p:extLst>
          </p:nvPr>
        </p:nvGraphicFramePr>
        <p:xfrm>
          <a:off x="3375025" y="2052638"/>
          <a:ext cx="5440363" cy="2886075"/>
        </p:xfrm>
        <a:graphic>
          <a:graphicData uri="http://schemas.openxmlformats.org/presentationml/2006/ole">
            <mc:AlternateContent xmlns:mc="http://schemas.openxmlformats.org/markup-compatibility/2006">
              <mc:Choice xmlns:v="urn:schemas-microsoft-com:vml" Requires="v">
                <p:oleObj name="Macro-Enabled Worksheet" r:id="rId2" imgW="5196769" imgH="2918310" progId="Excel.SheetMacroEnabled.12">
                  <p:link updateAutomatic="1"/>
                </p:oleObj>
              </mc:Choice>
              <mc:Fallback>
                <p:oleObj name="Macro-Enabled Worksheet" r:id="rId2" imgW="5196769" imgH="2918310" progId="Excel.SheetMacroEnabled.12">
                  <p:link updateAutomatic="1"/>
                  <p:pic>
                    <p:nvPicPr>
                      <p:cNvPr id="9" name="Object 8">
                        <a:extLst>
                          <a:ext uri="{FF2B5EF4-FFF2-40B4-BE49-F238E27FC236}">
                            <a16:creationId xmlns:a16="http://schemas.microsoft.com/office/drawing/2014/main" id="{336609E4-9291-48F4-B53A-32D535DF0715}"/>
                          </a:ext>
                        </a:extLst>
                      </p:cNvPr>
                      <p:cNvPicPr/>
                      <p:nvPr/>
                    </p:nvPicPr>
                    <p:blipFill>
                      <a:blip r:embed="rId3"/>
                      <a:stretch>
                        <a:fillRect/>
                      </a:stretch>
                    </p:blipFill>
                    <p:spPr>
                      <a:xfrm>
                        <a:off x="3375025" y="2052638"/>
                        <a:ext cx="5440363" cy="2886075"/>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3680777322"/>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name="Macro-Enabled Worksheet" r:id="rId4" imgW="5196769" imgH="670734" progId="Excel.SheetMacroEnabled.12">
                  <p:link updateAutomatic="1"/>
                </p:oleObj>
              </mc:Choice>
              <mc:Fallback>
                <p:oleObj name="Macro-Enabled Worksheet" r:id="rId4" imgW="5196769" imgH="670734" progId="Excel.SheetMacroEnabled.12">
                  <p:link updateAutomatic="1"/>
                  <p:pic>
                    <p:nvPicPr>
                      <p:cNvPr id="11" name="Object 10">
                        <a:extLst>
                          <a:ext uri="{FF2B5EF4-FFF2-40B4-BE49-F238E27FC236}">
                            <a16:creationId xmlns:a16="http://schemas.microsoft.com/office/drawing/2014/main" id="{6376B0D6-A6B1-4DF8-BDB4-D2848D89586A}"/>
                          </a:ext>
                        </a:extLst>
                      </p:cNvPr>
                      <p:cNvPicPr/>
                      <p:nvPr/>
                    </p:nvPicPr>
                    <p:blipFill>
                      <a:blip r:embed="rId5"/>
                      <a:stretch>
                        <a:fillRect/>
                      </a:stretch>
                    </p:blipFill>
                    <p:spPr>
                      <a:xfrm>
                        <a:off x="3375025" y="5383213"/>
                        <a:ext cx="5440363" cy="661987"/>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7D6EF492-3AD5-420C-95A3-EF7381239FB7}"/>
              </a:ext>
            </a:extLst>
          </p:cNvPr>
          <p:cNvGraphicFramePr>
            <a:graphicFrameLocks noChangeAspect="1"/>
          </p:cNvGraphicFramePr>
          <p:nvPr>
            <p:extLst>
              <p:ext uri="{D42A27DB-BD31-4B8C-83A1-F6EECF244321}">
                <p14:modId xmlns:p14="http://schemas.microsoft.com/office/powerpoint/2010/main" val="3672307671"/>
              </p:ext>
            </p:extLst>
          </p:nvPr>
        </p:nvGraphicFramePr>
        <p:xfrm>
          <a:off x="3497263" y="5108575"/>
          <a:ext cx="5197475" cy="274638"/>
        </p:xfrm>
        <a:graphic>
          <a:graphicData uri="http://schemas.openxmlformats.org/presentationml/2006/ole">
            <mc:AlternateContent xmlns:mc="http://schemas.openxmlformats.org/markup-compatibility/2006">
              <mc:Choice xmlns:v="urn:schemas-microsoft-com:vml" Requires="v">
                <p:oleObj name="Macro-Enabled Worksheet" r:id="rId6" imgW="5196769" imgH="274178" progId="Excel.SheetMacroEnabled.12">
                  <p:link updateAutomatic="1"/>
                </p:oleObj>
              </mc:Choice>
              <mc:Fallback>
                <p:oleObj name="Macro-Enabled Worksheet" r:id="rId6" imgW="5196769" imgH="274178" progId="Excel.SheetMacroEnabled.12">
                  <p:link updateAutomatic="1"/>
                  <p:pic>
                    <p:nvPicPr>
                      <p:cNvPr id="2" name="Object 1">
                        <a:extLst>
                          <a:ext uri="{FF2B5EF4-FFF2-40B4-BE49-F238E27FC236}">
                            <a16:creationId xmlns:a16="http://schemas.microsoft.com/office/drawing/2014/main" id="{7D6EF492-3AD5-420C-95A3-EF7381239FB7}"/>
                          </a:ext>
                        </a:extLst>
                      </p:cNvPr>
                      <p:cNvPicPr/>
                      <p:nvPr/>
                    </p:nvPicPr>
                    <p:blipFill>
                      <a:blip r:embed="rId7"/>
                      <a:stretch>
                        <a:fillRect/>
                      </a:stretch>
                    </p:blipFill>
                    <p:spPr>
                      <a:xfrm>
                        <a:off x="3497263" y="51085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a:latin typeface="+mn-lt"/>
              </a:rPr>
              <a:t>Appraisal Overview </a:t>
            </a:r>
            <a:br>
              <a:rPr lang="en-US" b="1">
                <a:latin typeface="+mn-lt"/>
              </a:rPr>
            </a:br>
            <a:r>
              <a:rPr lang="zh-CN" altLang="en-US" sz="6000" b="1">
                <a:solidFill>
                  <a:srgbClr val="1F497D"/>
                </a:solidFill>
                <a:latin typeface="+mn-ea"/>
                <a:ea typeface="+mn-ea"/>
              </a:rPr>
              <a:t>评估概述</a:t>
            </a:r>
            <a:endParaRPr lang="en-US" b="1">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descr="A picture containing clipart&#10;&#10;Description automatically generated">
            <a:extLst>
              <a:ext uri="{FF2B5EF4-FFF2-40B4-BE49-F238E27FC236}">
                <a16:creationId xmlns:a16="http://schemas.microsoft.com/office/drawing/2014/main" id="{528DADE8-D1C4-46AD-8EA1-39B725B1FB4D}"/>
              </a:ext>
            </a:extLst>
          </p:cNvPr>
          <p:cNvPicPr>
            <a:picLocks noChangeAspect="1"/>
          </p:cNvPicPr>
          <p:nvPr/>
        </p:nvPicPr>
        <p:blipFill>
          <a:blip r:embed="rId3">
            <a:extLst>
              <a:ext uri="{28A0092B-C50C-407E-A947-70E740481C1C}">
                <a14:useLocalDpi xmlns:a14="http://schemas.microsoft.com/office/drawing/2010/main" val="0"/>
              </a:ext>
            </a:extLst>
          </a:blip>
          <a:srcRect t="18393" b="22290"/>
          <a:stretch/>
        </p:blipFill>
        <p:spPr>
          <a:xfrm>
            <a:off x="4024996" y="5415749"/>
            <a:ext cx="1734754" cy="597600"/>
          </a:xfrm>
          <a:prstGeom prst="rect">
            <a:avLst/>
          </a:prstGeom>
          <a:ln>
            <a:solidFill>
              <a:schemeClr val="bg1"/>
            </a:solidFill>
          </a:ln>
        </p:spPr>
      </p:pic>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noFill/>
            <a:prstDash val="solid"/>
            <a:miter lim="800000"/>
            <a:headEnd type="none" w="sm" len="sm"/>
            <a:tailEnd type="none" w="sm" len="sm"/>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9"/>
          <a:stretch>
            <a:fillRect/>
          </a:stretch>
        </p:blipFill>
        <p:spPr>
          <a:xfrm>
            <a:off x="8000113" y="1041906"/>
            <a:ext cx="1080000" cy="62985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13"/>
          <a:stretch>
            <a:fillRect/>
          </a:stretch>
        </p:blipFill>
        <p:spPr>
          <a:xfrm>
            <a:off x="2687402" y="2651707"/>
            <a:ext cx="1080000" cy="70636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16"/>
          <a:stretch>
            <a:fillRect/>
          </a:stretch>
        </p:blipFill>
        <p:spPr>
          <a:xfrm>
            <a:off x="1353377"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17"/>
          <a:stretch>
            <a:fillRect/>
          </a:stretch>
        </p:blipFill>
        <p:spPr>
          <a:xfrm>
            <a:off x="1362529" y="1870870"/>
            <a:ext cx="1080000" cy="644357"/>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18"/>
          <a:stretch>
            <a:fillRect/>
          </a:stretch>
        </p:blipFill>
        <p:spPr>
          <a:xfrm>
            <a:off x="9339663"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19"/>
          <a:stretch>
            <a:fillRect/>
          </a:stretch>
        </p:blipFill>
        <p:spPr>
          <a:xfrm>
            <a:off x="8000111"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20"/>
          <a:srcRect b="6395"/>
          <a:stretch/>
        </p:blipFill>
        <p:spPr>
          <a:xfrm>
            <a:off x="6694728" y="1040336"/>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21"/>
          <a:stretch>
            <a:fillRect/>
          </a:stretch>
        </p:blipFill>
        <p:spPr>
          <a:xfrm>
            <a:off x="4025456" y="2644070"/>
            <a:ext cx="1080000" cy="706364"/>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22"/>
          <a:stretch>
            <a:fillRect/>
          </a:stretch>
        </p:blipFill>
        <p:spPr>
          <a:xfrm>
            <a:off x="6683311" y="1839722"/>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9" name="TextBox 4">
            <a:extLst>
              <a:ext uri="{FF2B5EF4-FFF2-40B4-BE49-F238E27FC236}">
                <a16:creationId xmlns:a16="http://schemas.microsoft.com/office/drawing/2014/main" id="{CB425F2D-C583-0A76-4E83-380A21373754}"/>
              </a:ext>
            </a:extLst>
          </p:cNvPr>
          <p:cNvSpPr txBox="1">
            <a:spLocks noChangeArrowheads="1"/>
          </p:cNvSpPr>
          <p:nvPr/>
        </p:nvSpPr>
        <p:spPr bwMode="auto">
          <a:xfrm>
            <a:off x="2057399" y="3912730"/>
            <a:ext cx="807720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zh-CN" sz="2000">
                <a:latin typeface="+mn-lt"/>
              </a:rPr>
              <a:t>It has been a pleasure working with you. </a:t>
            </a:r>
          </a:p>
          <a:p>
            <a:pPr algn="ctr" eaLnBrk="1" hangingPunct="1"/>
            <a:r>
              <a:rPr lang="en-GB" altLang="zh-CN" sz="2000">
                <a:latin typeface="+mn-lt"/>
              </a:rPr>
              <a:t>We look forward to present the preliminary findings for your validation.</a:t>
            </a:r>
          </a:p>
          <a:p>
            <a:pPr algn="ctr" eaLnBrk="1" hangingPunct="1"/>
            <a:r>
              <a:rPr lang="zh-CN" altLang="en-US" sz="2000">
                <a:solidFill>
                  <a:srgbClr val="1F497D"/>
                </a:solidFill>
                <a:latin typeface="宋体" panose="02010600030101010101" pitchFamily="2" charset="-122"/>
                <a:ea typeface="宋体" panose="02010600030101010101" pitchFamily="2" charset="-122"/>
              </a:rPr>
              <a:t>很荣幸这段时间与您共事，现在向您展示初步结果，供您确认</a:t>
            </a:r>
          </a:p>
        </p:txBody>
      </p:sp>
      <p:sp>
        <p:nvSpPr>
          <p:cNvPr id="52" name="TextBox 51">
            <a:extLst>
              <a:ext uri="{FF2B5EF4-FFF2-40B4-BE49-F238E27FC236}">
                <a16:creationId xmlns:a16="http://schemas.microsoft.com/office/drawing/2014/main" id="{382945E9-2F57-4420-BA56-8960D3908F35}"/>
              </a:ext>
            </a:extLst>
          </p:cNvPr>
          <p:cNvSpPr txBox="1"/>
          <p:nvPr/>
        </p:nvSpPr>
        <p:spPr>
          <a:xfrm>
            <a:off x="10628572" y="1054688"/>
            <a:ext cx="1356866" cy="738664"/>
          </a:xfrm>
          <a:prstGeom prst="rect">
            <a:avLst/>
          </a:prstGeom>
          <a:noFill/>
          <a:ln>
            <a:solidFill>
              <a:srgbClr val="FF0000"/>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rgbClr val="FF0000"/>
                </a:solidFill>
              </a:rPr>
              <a:t>Registered PRC trademark</a:t>
            </a:r>
          </a:p>
          <a:p>
            <a:pPr algn="ctr"/>
            <a:r>
              <a:rPr lang="en-US" sz="1400" b="1">
                <a:solidFill>
                  <a:srgbClr val="FF0000"/>
                </a:solidFill>
              </a:rPr>
              <a:t>21050449</a:t>
            </a:r>
          </a:p>
        </p:txBody>
      </p:sp>
      <p:pic>
        <p:nvPicPr>
          <p:cNvPr id="10" name="Picture 9">
            <a:extLst>
              <a:ext uri="{FF2B5EF4-FFF2-40B4-BE49-F238E27FC236}">
                <a16:creationId xmlns:a16="http://schemas.microsoft.com/office/drawing/2014/main" id="{B883F363-8032-AE88-2810-0BA8D55C91D7}"/>
              </a:ext>
            </a:extLst>
          </p:cNvPr>
          <p:cNvPicPr>
            <a:picLocks noChangeAspect="1"/>
          </p:cNvPicPr>
          <p:nvPr/>
        </p:nvPicPr>
        <p:blipFill>
          <a:blip r:embed="rId23"/>
          <a:stretch>
            <a:fillRect/>
          </a:stretch>
        </p:blipFill>
        <p:spPr>
          <a:xfrm>
            <a:off x="1364245" y="2657268"/>
            <a:ext cx="1080000" cy="70094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050" name="Picture 2" descr="Flag of Costa Rica | Meaning, Colors &amp; History | Britannica">
            <a:extLst>
              <a:ext uri="{FF2B5EF4-FFF2-40B4-BE49-F238E27FC236}">
                <a16:creationId xmlns:a16="http://schemas.microsoft.com/office/drawing/2014/main" id="{53CD89D5-7FF2-D96B-EA13-4AAF739544D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316911" y="2641935"/>
            <a:ext cx="1080000" cy="676193"/>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418A0F27-07B8-024D-872C-BA34A00A1B7B}"/>
              </a:ext>
            </a:extLst>
          </p:cNvPr>
          <p:cNvPicPr>
            <a:picLocks noChangeAspect="1"/>
          </p:cNvPicPr>
          <p:nvPr/>
        </p:nvPicPr>
        <p:blipFill>
          <a:blip r:embed="rId25"/>
          <a:stretch>
            <a:fillRect/>
          </a:stretch>
        </p:blipFill>
        <p:spPr>
          <a:xfrm>
            <a:off x="6320725" y="5327777"/>
            <a:ext cx="2031326" cy="1015663"/>
          </a:xfrm>
          <a:prstGeom prst="rect">
            <a:avLst/>
          </a:prstGeom>
          <a:ln>
            <a:solidFill>
              <a:schemeClr val="bg1"/>
            </a:solidFill>
          </a:ln>
        </p:spPr>
      </p:pic>
      <p:pic>
        <p:nvPicPr>
          <p:cNvPr id="2052" name="Picture 4" descr="ISACA® Certifications | Global Lynx">
            <a:extLst>
              <a:ext uri="{FF2B5EF4-FFF2-40B4-BE49-F238E27FC236}">
                <a16:creationId xmlns:a16="http://schemas.microsoft.com/office/drawing/2014/main" id="{A29F4551-CAAD-E1A3-5ECA-FD1BF7217D01}"/>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740951" y="5421394"/>
            <a:ext cx="1892400" cy="597600"/>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2054" name="Picture 6" descr="Electrosoft rated CMMI Level 3 for both Development and Services |  Electrosoft">
            <a:extLst>
              <a:ext uri="{FF2B5EF4-FFF2-40B4-BE49-F238E27FC236}">
                <a16:creationId xmlns:a16="http://schemas.microsoft.com/office/drawing/2014/main" id="{16CD5BCC-1DFD-47FE-6550-69934F2DFEEE}"/>
              </a:ext>
            </a:extLst>
          </p:cNvPr>
          <p:cNvPicPr>
            <a:picLocks noChangeAspect="1" noChangeArrowheads="1"/>
          </p:cNvPicPr>
          <p:nvPr/>
        </p:nvPicPr>
        <p:blipFill rotWithShape="1">
          <a:blip r:embed="rId27">
            <a:extLst>
              <a:ext uri="{28A0092B-C50C-407E-A947-70E740481C1C}">
                <a14:useLocalDpi xmlns:a14="http://schemas.microsoft.com/office/drawing/2010/main" val="0"/>
              </a:ext>
            </a:extLst>
          </a:blip>
          <a:srcRect t="24841" b="25354"/>
          <a:stretch/>
        </p:blipFill>
        <p:spPr bwMode="auto">
          <a:xfrm>
            <a:off x="1344954" y="5327940"/>
            <a:ext cx="2159999" cy="77321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053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a:latin typeface="Arial" charset="0"/>
              </a:rPr>
              <a:t>Appraisal Principles</a:t>
            </a:r>
          </a:p>
        </p:txBody>
      </p:sp>
      <p:sp>
        <p:nvSpPr>
          <p:cNvPr id="6147" name="Rectangle 3"/>
          <p:cNvSpPr>
            <a:spLocks noGrp="1" noChangeArrowheads="1"/>
          </p:cNvSpPr>
          <p:nvPr>
            <p:ph idx="1"/>
          </p:nvPr>
        </p:nvSpPr>
        <p:spPr>
          <a:xfrm>
            <a:off x="1055688" y="1848439"/>
            <a:ext cx="7772400" cy="3809248"/>
          </a:xfrm>
        </p:spPr>
        <p:txBody>
          <a:bodyPr vert="horz" lIns="63500" tIns="25400" rIns="63500" bIns="25400" rtlCol="0">
            <a:spAutoFit/>
          </a:bodyPr>
          <a:lstStyle/>
          <a:p>
            <a:r>
              <a:rPr lang="en-ZA" sz="1800">
                <a:solidFill>
                  <a:srgbClr val="000000"/>
                </a:solidFill>
                <a:effectLst/>
                <a:latin typeface="Arial" panose="020B0604020202020204" pitchFamily="34" charset="0"/>
                <a:ea typeface="Calibri" panose="020F0502020204030204" pitchFamily="34" charset="0"/>
              </a:rPr>
              <a:t>Start with a process framework</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以一个过程框架作为开始</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Observe strict confidentiality and non-attribution</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严格遵循保密性和不归因性</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Involve senior management as appraisal sponsor</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把高层作为评估发起人</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Approach appraisal collaboratively to the extent possible</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评估需要协调合作进行</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Focus on action</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关注行动</a:t>
            </a:r>
            <a:endParaRPr lang="en-ZA" sz="180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FB86F-F314-2808-D124-99FF9729F446}"/>
              </a:ext>
            </a:extLst>
          </p:cNvPr>
          <p:cNvPicPr>
            <a:picLocks noChangeAspect="1"/>
          </p:cNvPicPr>
          <p:nvPr/>
        </p:nvPicPr>
        <p:blipFill>
          <a:blip r:embed="rId3"/>
          <a:srcRect/>
          <a:stretch/>
        </p:blipFill>
        <p:spPr>
          <a:xfrm>
            <a:off x="1575811" y="1295264"/>
            <a:ext cx="9040378" cy="4632289"/>
          </a:xfrm>
          <a:prstGeom prst="rect">
            <a:avLst/>
          </a:prstGeom>
        </p:spPr>
      </p:pic>
      <p:sp>
        <p:nvSpPr>
          <p:cNvPr id="2" name="Title 3">
            <a:extLst>
              <a:ext uri="{FF2B5EF4-FFF2-40B4-BE49-F238E27FC236}">
                <a16:creationId xmlns:a16="http://schemas.microsoft.com/office/drawing/2014/main" id="{E4158602-CE03-D865-8B96-7884DB0F17A7}"/>
              </a:ext>
            </a:extLst>
          </p:cNvPr>
          <p:cNvSpPr txBox="1">
            <a:spLocks/>
          </p:cNvSpPr>
          <p:nvPr/>
        </p:nvSpPr>
        <p:spPr>
          <a:xfrm>
            <a:off x="838200" y="365126"/>
            <a:ext cx="10515600" cy="602284"/>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altLang="en-US" sz="3500" b="1">
                <a:latin typeface="+mn-lt"/>
                <a:ea typeface="ＭＳ Ｐゴシック" charset="-128"/>
              </a:rPr>
              <a:t>CMMI</a:t>
            </a:r>
            <a:r>
              <a:rPr lang="en-US" altLang="en-US">
                <a:ea typeface="ＭＳ Ｐゴシック" charset="-128"/>
              </a:rPr>
              <a:t> </a:t>
            </a:r>
            <a:r>
              <a:rPr lang="en-US" altLang="en-US" sz="3500" b="1">
                <a:latin typeface="+mn-lt"/>
                <a:ea typeface="ＭＳ Ｐゴシック" charset="-128"/>
              </a:rPr>
              <a:t>Appraisal Process – Appraisal Phases</a:t>
            </a:r>
          </a:p>
        </p:txBody>
      </p:sp>
      <p:sp>
        <p:nvSpPr>
          <p:cNvPr id="4" name="Rectangle 3">
            <a:extLst>
              <a:ext uri="{FF2B5EF4-FFF2-40B4-BE49-F238E27FC236}">
                <a16:creationId xmlns:a16="http://schemas.microsoft.com/office/drawing/2014/main" id="{49BEEC40-A488-4359-91B1-DFB6493F931D}"/>
              </a:ext>
            </a:extLst>
          </p:cNvPr>
          <p:cNvSpPr/>
          <p:nvPr/>
        </p:nvSpPr>
        <p:spPr>
          <a:xfrm>
            <a:off x="4370615" y="3841323"/>
            <a:ext cx="1371600" cy="96394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113447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a:t>About Preliminary Findings</a:t>
            </a:r>
          </a:p>
        </p:txBody>
      </p:sp>
      <p:sp>
        <p:nvSpPr>
          <p:cNvPr id="3" name="Content Placeholder 2"/>
          <p:cNvSpPr>
            <a:spLocks noGrp="1"/>
          </p:cNvSpPr>
          <p:nvPr>
            <p:ph idx="1"/>
          </p:nvPr>
        </p:nvSpPr>
        <p:spPr/>
        <p:txBody>
          <a:bodyPr>
            <a:normAutofit/>
          </a:bodyPr>
          <a:lstStyle/>
          <a:p>
            <a:r>
              <a:rPr lang="en-ZA" sz="1800"/>
              <a:t>These are the preliminary findings. They are not the final findings. We encourage you to provide feedback on what is presented.</a:t>
            </a:r>
            <a:br>
              <a:rPr lang="en-ZA" sz="1800"/>
            </a:br>
            <a:r>
              <a:rPr lang="ja-JP" altLang="en-US" sz="1800">
                <a:solidFill>
                  <a:srgbClr val="1F497D"/>
                </a:solidFill>
                <a:latin typeface="宋体" panose="02010600030101010101" pitchFamily="2" charset="-122"/>
                <a:ea typeface="宋体" panose="02010600030101010101" pitchFamily="2" charset="-122"/>
              </a:rPr>
              <a:t>我们现在所进行的是初步发现，还没有到最终发布阶段，</a:t>
            </a:r>
            <a:r>
              <a:rPr lang="zh-CN" altLang="ja-JP" sz="1800">
                <a:solidFill>
                  <a:srgbClr val="1F497D"/>
                </a:solidFill>
                <a:latin typeface="宋体" panose="02010600030101010101" pitchFamily="2" charset="-122"/>
                <a:ea typeface="宋体" panose="02010600030101010101" pitchFamily="2" charset="-122"/>
              </a:rPr>
              <a:t>欢迎你们对</a:t>
            </a:r>
            <a:r>
              <a:rPr lang="ja-JP" altLang="en-US" sz="1800">
                <a:solidFill>
                  <a:srgbClr val="1F497D"/>
                </a:solidFill>
                <a:latin typeface="宋体" panose="02010600030101010101" pitchFamily="2" charset="-122"/>
                <a:ea typeface="宋体" panose="02010600030101010101" pitchFamily="2" charset="-122"/>
              </a:rPr>
              <a:t>发现</a:t>
            </a:r>
            <a:r>
              <a:rPr lang="zh-CN" altLang="ja-JP" sz="1800">
                <a:solidFill>
                  <a:srgbClr val="1F497D"/>
                </a:solidFill>
                <a:latin typeface="宋体" panose="02010600030101010101" pitchFamily="2" charset="-122"/>
                <a:ea typeface="宋体" panose="02010600030101010101" pitchFamily="2" charset="-122"/>
              </a:rPr>
              <a:t>结果</a:t>
            </a:r>
            <a:r>
              <a:rPr lang="ja-JP" altLang="en-US" sz="1800">
                <a:solidFill>
                  <a:srgbClr val="1F497D"/>
                </a:solidFill>
                <a:latin typeface="宋体" panose="02010600030101010101" pitchFamily="2" charset="-122"/>
                <a:ea typeface="宋体" panose="02010600030101010101" pitchFamily="2" charset="-122"/>
              </a:rPr>
              <a:t>提供反馈</a:t>
            </a:r>
          </a:p>
          <a:p>
            <a:r>
              <a:rPr lang="en-ZA" sz="1800"/>
              <a:t>It is recommended that the presenter reads the findings verbatim.</a:t>
            </a:r>
            <a:br>
              <a:rPr lang="en-ZA" sz="1800"/>
            </a:br>
            <a:r>
              <a:rPr lang="zh-CN" altLang="en-US" sz="1800">
                <a:solidFill>
                  <a:srgbClr val="1F497D"/>
                </a:solidFill>
                <a:latin typeface="宋体" panose="02010600030101010101" pitchFamily="2" charset="-122"/>
                <a:ea typeface="宋体" panose="02010600030101010101" pitchFamily="2" charset="-122"/>
              </a:rPr>
              <a:t>建议演讲者逐字逐句子表达调查发现的内容</a:t>
            </a:r>
          </a:p>
          <a:p>
            <a:r>
              <a:rPr lang="en-ZA" sz="1800"/>
              <a:t>The appraisal team CANNOT commit to making changes, we will collect your input and evaluate it after the presentation.</a:t>
            </a:r>
            <a:br>
              <a:rPr lang="en-ZA" sz="1800"/>
            </a:br>
            <a:r>
              <a:rPr lang="ja-JP" altLang="en-US" sz="1800">
                <a:solidFill>
                  <a:srgbClr val="1F497D"/>
                </a:solidFill>
                <a:latin typeface="宋体" panose="02010600030101010101" pitchFamily="2" charset="-122"/>
                <a:ea typeface="宋体" panose="02010600030101010101" pitchFamily="2" charset="-122"/>
              </a:rPr>
              <a:t>评估小组成员不能</a:t>
            </a:r>
            <a:r>
              <a:rPr lang="zh-CN" altLang="ja-JP" sz="1800">
                <a:solidFill>
                  <a:srgbClr val="1F497D"/>
                </a:solidFill>
                <a:latin typeface="宋体" panose="02010600030101010101" pitchFamily="2" charset="-122"/>
                <a:ea typeface="宋体" panose="02010600030101010101" pitchFamily="2" charset="-122"/>
              </a:rPr>
              <a:t>向你们</a:t>
            </a:r>
            <a:r>
              <a:rPr lang="ja-JP" altLang="en-US" sz="1800">
                <a:solidFill>
                  <a:srgbClr val="1F497D"/>
                </a:solidFill>
                <a:latin typeface="宋体" panose="02010600030101010101" pitchFamily="2" charset="-122"/>
                <a:ea typeface="宋体" panose="02010600030101010101" pitchFamily="2" charset="-122"/>
              </a:rPr>
              <a:t>承诺对发现进行修改，我们会把你们的反馈记录下来</a:t>
            </a:r>
          </a:p>
          <a:p>
            <a:r>
              <a:rPr lang="en-ZA" sz="1800"/>
              <a:t>Confidentiality and non-attribution remain in effect.</a:t>
            </a:r>
            <a:br>
              <a:rPr lang="en-ZA" sz="1800"/>
            </a:br>
            <a:r>
              <a:rPr lang="ja-JP" altLang="en-US" sz="1800">
                <a:solidFill>
                  <a:srgbClr val="1F497D"/>
                </a:solidFill>
                <a:latin typeface="宋体" panose="02010600030101010101" pitchFamily="2" charset="-122"/>
                <a:ea typeface="宋体" panose="02010600030101010101" pitchFamily="2" charset="-122"/>
              </a:rPr>
              <a:t>保密原则和</a:t>
            </a:r>
            <a:r>
              <a:rPr lang="zh-CN" altLang="ja-JP" sz="1800">
                <a:solidFill>
                  <a:srgbClr val="1F497D"/>
                </a:solidFill>
                <a:latin typeface="宋体" panose="02010600030101010101" pitchFamily="2" charset="-122"/>
                <a:ea typeface="宋体" panose="02010600030101010101" pitchFamily="2" charset="-122"/>
              </a:rPr>
              <a:t>非归因</a:t>
            </a:r>
            <a:r>
              <a:rPr lang="ja-JP" altLang="en-US" sz="1800">
                <a:solidFill>
                  <a:srgbClr val="1F497D"/>
                </a:solidFill>
                <a:latin typeface="宋体" panose="02010600030101010101" pitchFamily="2" charset="-122"/>
                <a:ea typeface="宋体" panose="02010600030101010101" pitchFamily="2" charset="-122"/>
              </a:rPr>
              <a:t>原则依然有效</a:t>
            </a:r>
          </a:p>
          <a:p>
            <a:r>
              <a:rPr lang="en-ZA" sz="1800"/>
              <a:t>Strengths are only noted if they are significant strengths.</a:t>
            </a:r>
            <a:br>
              <a:rPr lang="en-ZA" sz="1800"/>
            </a:br>
            <a:r>
              <a:rPr lang="ja-JP" altLang="en-US" sz="1800">
                <a:solidFill>
                  <a:srgbClr val="1F497D"/>
                </a:solidFill>
                <a:latin typeface="宋体" panose="02010600030101010101" pitchFamily="2" charset="-122"/>
                <a:ea typeface="宋体" panose="02010600030101010101" pitchFamily="2" charset="-122"/>
              </a:rPr>
              <a:t>只有发现特别</a:t>
            </a:r>
            <a:r>
              <a:rPr lang="zh-CN" altLang="ja-JP" sz="1800">
                <a:solidFill>
                  <a:srgbClr val="1F497D"/>
                </a:solidFill>
                <a:latin typeface="宋体" panose="02010600030101010101" pitchFamily="2" charset="-122"/>
                <a:ea typeface="宋体" panose="02010600030101010101" pitchFamily="2" charset="-122"/>
              </a:rPr>
              <a:t>明显</a:t>
            </a:r>
            <a:r>
              <a:rPr lang="ja-JP" altLang="en-US" sz="1800">
                <a:solidFill>
                  <a:srgbClr val="1F497D"/>
                </a:solidFill>
                <a:latin typeface="宋体" panose="02010600030101010101" pitchFamily="2" charset="-122"/>
                <a:ea typeface="宋体" panose="02010600030101010101" pitchFamily="2" charset="-122"/>
              </a:rPr>
              <a:t>的强项时才会反映出来</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562793"/>
            <a:ext cx="10397837" cy="4531043"/>
          </a:xfrm>
        </p:spPr>
        <p:txBody>
          <a:bodyPr>
            <a:noAutofit/>
          </a:bodyPr>
          <a:lstStyle/>
          <a:p>
            <a:pPr marL="0" indent="0">
              <a:spcBef>
                <a:spcPts val="300"/>
              </a:spcBef>
              <a:buNone/>
            </a:pPr>
            <a:r>
              <a:rPr lang="en-GB" sz="1600"/>
              <a:t>When virtual interviews are planned for the appraisal, then virtual face-to-face (</a:t>
            </a:r>
            <a:r>
              <a:rPr lang="en-GB" sz="1600" err="1"/>
              <a:t>F2F</a:t>
            </a:r>
            <a:r>
              <a:rPr lang="en-GB" sz="1600"/>
              <a:t>) interviews are required to confirm the following:</a:t>
            </a:r>
          </a:p>
          <a:p>
            <a:pPr>
              <a:spcBef>
                <a:spcPts val="300"/>
              </a:spcBef>
            </a:pPr>
            <a:r>
              <a:rPr lang="en-GB" sz="1600"/>
              <a:t>Verifying interviewees are on camera</a:t>
            </a:r>
          </a:p>
          <a:p>
            <a:pPr>
              <a:spcBef>
                <a:spcPts val="300"/>
              </a:spcBef>
            </a:pPr>
            <a:r>
              <a:rPr lang="en-GB" sz="1600"/>
              <a:t>Verifying ATM identities and maximizing their participation</a:t>
            </a:r>
          </a:p>
          <a:p>
            <a:pPr>
              <a:spcBef>
                <a:spcPts val="300"/>
              </a:spcBef>
            </a:pPr>
            <a:r>
              <a:rPr lang="en-GB" sz="1600"/>
              <a:t>Verifying appraisal participant identities, e.g., interviewees, Appraisal Sponsor</a:t>
            </a:r>
          </a:p>
          <a:p>
            <a:pPr>
              <a:spcBef>
                <a:spcPts val="300"/>
              </a:spcBef>
            </a:pPr>
            <a:r>
              <a:rPr lang="en-GB" sz="1600"/>
              <a:t>Verifying only planned appraisal participants are present</a:t>
            </a:r>
          </a:p>
          <a:p>
            <a:pPr>
              <a:spcBef>
                <a:spcPts val="300"/>
              </a:spcBef>
            </a:pPr>
            <a:r>
              <a:rPr lang="en-GB" sz="1600"/>
              <a:t>Verifying that non-attribution and confidentiality rules are being followed, e.g., no other participants are present, physical setting is appropriate</a:t>
            </a:r>
          </a:p>
          <a:p>
            <a:pPr>
              <a:spcBef>
                <a:spcPts val="300"/>
              </a:spcBef>
            </a:pPr>
            <a:r>
              <a:rPr lang="en-GB" sz="1600"/>
              <a:t>Monitoring non-verbal communication and appraisal participant engagement</a:t>
            </a:r>
          </a:p>
          <a:p>
            <a:pPr marL="0" indent="0">
              <a:spcBef>
                <a:spcPts val="300"/>
              </a:spcBef>
              <a:buNone/>
            </a:pPr>
            <a:endParaRPr lang="en-ZA" sz="1600"/>
          </a:p>
          <a:p>
            <a:pPr marL="0" indent="0">
              <a:spcBef>
                <a:spcPts val="300"/>
              </a:spcBef>
              <a:buNone/>
            </a:pPr>
            <a:r>
              <a:rPr lang="zh-CN" altLang="en-US" sz="1600">
                <a:solidFill>
                  <a:srgbClr val="1F497D"/>
                </a:solidFill>
              </a:rPr>
              <a:t>当计划进行虚拟面试以进行评估时，需要进行虚拟面对面（</a:t>
            </a:r>
            <a:r>
              <a:rPr lang="en-US" altLang="zh-CN" sz="1600" err="1">
                <a:solidFill>
                  <a:srgbClr val="1F497D"/>
                </a:solidFill>
              </a:rPr>
              <a:t>F2F</a:t>
            </a:r>
            <a:r>
              <a:rPr lang="zh-CN" altLang="en-US" sz="1600">
                <a:solidFill>
                  <a:srgbClr val="1F497D"/>
                </a:solidFill>
              </a:rPr>
              <a:t>）面试以确认以下内容：</a:t>
            </a:r>
          </a:p>
          <a:p>
            <a:pPr>
              <a:spcBef>
                <a:spcPts val="300"/>
              </a:spcBef>
            </a:pPr>
            <a:r>
              <a:rPr lang="zh-CN" altLang="en-US" sz="1600">
                <a:solidFill>
                  <a:srgbClr val="1F497D"/>
                </a:solidFill>
              </a:rPr>
              <a:t>确认受访者在镜头前</a:t>
            </a:r>
          </a:p>
          <a:p>
            <a:pPr>
              <a:spcBef>
                <a:spcPts val="300"/>
              </a:spcBef>
            </a:pPr>
            <a:r>
              <a:rPr lang="zh-CN" altLang="en-US" sz="1600">
                <a:solidFill>
                  <a:srgbClr val="1F497D"/>
                </a:solidFill>
              </a:rPr>
              <a:t>核实</a:t>
            </a:r>
            <a:r>
              <a:rPr lang="en-US" altLang="zh-CN" sz="1600">
                <a:solidFill>
                  <a:srgbClr val="1F497D"/>
                </a:solidFill>
              </a:rPr>
              <a:t>ATM</a:t>
            </a:r>
            <a:r>
              <a:rPr lang="zh-CN" altLang="en-US" sz="1600">
                <a:solidFill>
                  <a:srgbClr val="1F497D"/>
                </a:solidFill>
              </a:rPr>
              <a:t>身份并最大化他们的参与</a:t>
            </a:r>
          </a:p>
          <a:p>
            <a:pPr>
              <a:spcBef>
                <a:spcPts val="300"/>
              </a:spcBef>
            </a:pPr>
            <a:r>
              <a:rPr lang="zh-CN" altLang="en-US" sz="1600">
                <a:solidFill>
                  <a:srgbClr val="1F497D"/>
                </a:solidFill>
              </a:rPr>
              <a:t>核实评估参与者身份，例如，受访者，评估发起人</a:t>
            </a:r>
          </a:p>
          <a:p>
            <a:pPr>
              <a:spcBef>
                <a:spcPts val="300"/>
              </a:spcBef>
            </a:pPr>
            <a:r>
              <a:rPr lang="zh-CN" altLang="en-US" sz="1600">
                <a:solidFill>
                  <a:srgbClr val="1F497D"/>
                </a:solidFill>
              </a:rPr>
              <a:t>确认只有计划中的评估参与者在场</a:t>
            </a:r>
          </a:p>
          <a:p>
            <a:pPr>
              <a:spcBef>
                <a:spcPts val="300"/>
              </a:spcBef>
            </a:pPr>
            <a:r>
              <a:rPr lang="zh-CN" altLang="en-US" sz="1600">
                <a:solidFill>
                  <a:srgbClr val="1F497D"/>
                </a:solidFill>
              </a:rPr>
              <a:t>确认遵守了非归因和保密规则，例如，没有其他参与者在场，物理环境适当</a:t>
            </a:r>
          </a:p>
          <a:p>
            <a:pPr>
              <a:spcBef>
                <a:spcPts val="300"/>
              </a:spcBef>
            </a:pPr>
            <a:r>
              <a:rPr lang="zh-CN" altLang="en-US" sz="1600">
                <a:solidFill>
                  <a:srgbClr val="1F497D"/>
                </a:solidFill>
              </a:rPr>
              <a:t>监控非语言交流和评估参与者的参与情况</a:t>
            </a:r>
            <a:endParaRPr lang="en-ZA" sz="1600">
              <a:solidFill>
                <a:srgbClr val="1F497D"/>
              </a:solidFill>
            </a:endParaRPr>
          </a:p>
        </p:txBody>
      </p:sp>
    </p:spTree>
    <p:extLst>
      <p:ext uri="{BB962C8B-B14F-4D97-AF65-F5344CB8AC3E}">
        <p14:creationId xmlns:p14="http://schemas.microsoft.com/office/powerpoint/2010/main" val="2957226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a:xfrm>
            <a:off x="955962" y="1645919"/>
            <a:ext cx="10397837" cy="4646726"/>
          </a:xfrm>
        </p:spPr>
        <p:txBody>
          <a:bodyPr>
            <a:normAutofit/>
          </a:bodyPr>
          <a:lstStyle/>
          <a:p>
            <a:pPr lvl="0"/>
            <a:r>
              <a:rPr lang="en-US" sz="1800"/>
              <a:t>Required Findings Categories:</a:t>
            </a:r>
          </a:p>
          <a:p>
            <a:pPr lvl="1"/>
            <a:r>
              <a:rPr lang="en-US" sz="1600" u="sng"/>
              <a:t>Weaknesses</a:t>
            </a:r>
            <a:r>
              <a:rPr lang="en-US" sz="1600"/>
              <a:t> - A type of preliminary or final finding, which is an ineffective, or lack of implementation of one or more processes that meet the intent and value of a practice based on verified objective evidence, and applicable across the project(s) and organizational support functions or Organizational Unit as a whole. This is realized either by a) the process itself does not address a CMMI practice requirement, or b) the project(s) or organizational support functions are not following their process that IS compliant with the intent and value of the applicable CMMI practice.</a:t>
            </a:r>
            <a:endParaRPr lang="en-US" sz="1600" b="1"/>
          </a:p>
          <a:p>
            <a:pPr lvl="1"/>
            <a:endParaRPr lang="en-US" sz="1600"/>
          </a:p>
          <a:p>
            <a:pPr lvl="1"/>
            <a:r>
              <a:rPr lang="en-US" sz="1600" u="sng"/>
              <a:t>Strengths</a:t>
            </a:r>
            <a:r>
              <a:rPr lang="en-US" sz="1600"/>
              <a:t> - A type of preliminary or final finding, which is an exemplary or noteworthy implementation of a process that meets the intent and value of a CMMI model practice.</a:t>
            </a:r>
            <a:endParaRPr lang="en-US" sz="1600" b="1"/>
          </a:p>
          <a:p>
            <a:r>
              <a:rPr lang="zh-CN" altLang="en-US" sz="1600">
                <a:solidFill>
                  <a:srgbClr val="1F497D"/>
                </a:solidFill>
              </a:rPr>
              <a:t>所需结果类别：</a:t>
            </a:r>
          </a:p>
          <a:p>
            <a:pPr lvl="1"/>
            <a:r>
              <a:rPr lang="zh-CN" altLang="en-US" sz="1400">
                <a:solidFill>
                  <a:srgbClr val="1F497D"/>
                </a:solidFill>
              </a:rPr>
              <a:t>弱项</a:t>
            </a:r>
            <a:r>
              <a:rPr lang="en-US" altLang="zh-CN" sz="1400">
                <a:solidFill>
                  <a:srgbClr val="1F497D"/>
                </a:solidFill>
              </a:rPr>
              <a:t>——</a:t>
            </a:r>
            <a:r>
              <a:rPr lang="zh-CN" altLang="en-US" sz="1400">
                <a:solidFill>
                  <a:srgbClr val="1F497D"/>
                </a:solidFill>
              </a:rPr>
              <a:t>一种初步或最终的发现，是指一个或多个过程实施无效或缺乏实施，这些过程基于已验证的客观证据，符合实践的意图和价值，适用于整个项目和组织支持职能组或组织单元。这可以通过以下两种方式实现：</a:t>
            </a:r>
            <a:r>
              <a:rPr lang="en-US" altLang="zh-CN" sz="1400">
                <a:solidFill>
                  <a:srgbClr val="1F497D"/>
                </a:solidFill>
              </a:rPr>
              <a:t>a</a:t>
            </a:r>
            <a:r>
              <a:rPr lang="zh-CN" altLang="en-US" sz="1400">
                <a:solidFill>
                  <a:srgbClr val="1F497D"/>
                </a:solidFill>
              </a:rPr>
              <a:t>）过程本身没有满足</a:t>
            </a:r>
            <a:r>
              <a:rPr lang="en-US" altLang="zh-CN" sz="1400">
                <a:solidFill>
                  <a:srgbClr val="1F497D"/>
                </a:solidFill>
              </a:rPr>
              <a:t>CMMI</a:t>
            </a:r>
            <a:r>
              <a:rPr lang="zh-CN" altLang="en-US" sz="1400">
                <a:solidFill>
                  <a:srgbClr val="1F497D"/>
                </a:solidFill>
              </a:rPr>
              <a:t>实践需求，或者</a:t>
            </a:r>
            <a:r>
              <a:rPr lang="en-US" altLang="zh-CN" sz="1400">
                <a:solidFill>
                  <a:srgbClr val="1F497D"/>
                </a:solidFill>
              </a:rPr>
              <a:t>b</a:t>
            </a:r>
            <a:r>
              <a:rPr lang="zh-CN" altLang="en-US" sz="1400">
                <a:solidFill>
                  <a:srgbClr val="1F497D"/>
                </a:solidFill>
              </a:rPr>
              <a:t>）项目或组织支持职能组没有遵循符合适用</a:t>
            </a:r>
            <a:r>
              <a:rPr lang="en-US" altLang="zh-CN" sz="1400">
                <a:solidFill>
                  <a:srgbClr val="1F497D"/>
                </a:solidFill>
              </a:rPr>
              <a:t>CMMI</a:t>
            </a:r>
            <a:r>
              <a:rPr lang="zh-CN" altLang="en-US" sz="1400">
                <a:solidFill>
                  <a:srgbClr val="1F497D"/>
                </a:solidFill>
              </a:rPr>
              <a:t>实践意图和价值的过程。</a:t>
            </a:r>
            <a:endParaRPr lang="en-ZA" altLang="zh-CN" sz="1400">
              <a:solidFill>
                <a:srgbClr val="1F497D"/>
              </a:solidFill>
            </a:endParaRPr>
          </a:p>
          <a:p>
            <a:pPr lvl="1"/>
            <a:r>
              <a:rPr lang="zh-CN" altLang="en-US" sz="1400">
                <a:solidFill>
                  <a:srgbClr val="1F497D"/>
                </a:solidFill>
              </a:rPr>
              <a:t>强项</a:t>
            </a:r>
            <a:r>
              <a:rPr lang="en-US" altLang="zh-CN" sz="1400">
                <a:solidFill>
                  <a:srgbClr val="1F497D"/>
                </a:solidFill>
              </a:rPr>
              <a:t>——</a:t>
            </a:r>
            <a:r>
              <a:rPr lang="zh-CN" altLang="en-US" sz="1400">
                <a:solidFill>
                  <a:srgbClr val="1F497D"/>
                </a:solidFill>
              </a:rPr>
              <a:t>一种初步或最终的发现，是一个模范性或值得注意的过程实现，其符合</a:t>
            </a:r>
            <a:r>
              <a:rPr lang="en-US" altLang="zh-CN" sz="1400">
                <a:solidFill>
                  <a:srgbClr val="1F497D"/>
                </a:solidFill>
              </a:rPr>
              <a:t>CMMI</a:t>
            </a:r>
            <a:r>
              <a:rPr lang="zh-CN" altLang="en-US" sz="1400">
                <a:solidFill>
                  <a:srgbClr val="1F497D"/>
                </a:solidFill>
              </a:rPr>
              <a:t>模型实践的意图和价值。</a:t>
            </a:r>
          </a:p>
        </p:txBody>
      </p:sp>
    </p:spTree>
    <p:extLst>
      <p:ext uri="{BB962C8B-B14F-4D97-AF65-F5344CB8AC3E}">
        <p14:creationId xmlns:p14="http://schemas.microsoft.com/office/powerpoint/2010/main" val="723158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a:latin typeface="+mn-lt"/>
              </a:rPr>
              <a:t>Practice Area Findings</a:t>
            </a:r>
            <a:br>
              <a:rPr lang="en-US" b="1">
                <a:latin typeface="+mn-lt"/>
              </a:rPr>
            </a:br>
            <a:r>
              <a:rPr lang="zh-CN" altLang="en-US" sz="6000" b="1">
                <a:solidFill>
                  <a:srgbClr val="1F497D"/>
                </a:solidFill>
                <a:latin typeface="+mn-lt"/>
              </a:rPr>
              <a:t>实践域发现</a:t>
            </a:r>
            <a:endParaRPr lang="en-US" b="1">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a:t>Causal Analysis and Resolution (CAR) </a:t>
            </a:r>
            <a:r>
              <a:rPr lang="zh-CN" altLang="en-US" sz="2800">
                <a:solidFill>
                  <a:schemeClr val="accent1">
                    <a:lumMod val="75000"/>
                  </a:schemeClr>
                </a:solidFill>
              </a:rPr>
              <a:t>原因分析与解决</a:t>
            </a:r>
            <a:endParaRPr lang="en-US" sz="280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a:solidFill>
                  <a:srgbClr val="505050"/>
                </a:solidFill>
                <a:effectLst/>
                <a:highlight>
                  <a:srgbClr val="FFFFFF"/>
                </a:highlight>
                <a:latin typeface="Gotham A"/>
              </a:rPr>
            </a:br>
            <a:r>
              <a:rPr lang="en-GB"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a:solidFill>
                  <a:srgbClr val="0D0D0D"/>
                </a:solidFill>
                <a:effectLst/>
                <a:highlight>
                  <a:srgbClr val="FFFFFF"/>
                </a:highlight>
                <a:latin typeface="Söhne"/>
              </a:rPr>
              <a:t>。</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Addresses causes of issues, eliminating rework and directly improving quality and productivity.</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a:t>Strengths </a:t>
            </a:r>
            <a:r>
              <a:rPr lang="ja-JP" altLang="en-US" sz="1800" b="1">
                <a:solidFill>
                  <a:srgbClr val="1F497D"/>
                </a:solidFill>
                <a:latin typeface="DengXian" panose="02010600030101010101" pitchFamily="2" charset="-122"/>
                <a:ea typeface="DengXian" panose="02010600030101010101" pitchFamily="2" charset="-122"/>
              </a:rPr>
              <a:t>强项</a:t>
            </a:r>
            <a:r>
              <a:rPr lang="en-US" altLang="ja-JP" sz="1800" b="1"/>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pPr marL="0" indent="0">
              <a:buNone/>
            </a:pPr>
            <a:r>
              <a:rPr lang="en-US" sz="1800" b="1"/>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b="1"/>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a:t>Configuration Management (CM) </a:t>
            </a:r>
            <a:r>
              <a:rPr lang="ja-JP" altLang="en-US" sz="2800">
                <a:solidFill>
                  <a:schemeClr val="accent1">
                    <a:lumMod val="75000"/>
                  </a:schemeClr>
                </a:solidFill>
              </a:rPr>
              <a:t>配置管理</a:t>
            </a:r>
            <a:endParaRPr lang="en-US" sz="280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Manages the integrity of work products using configuration identification, version control, change control, and audits.</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rPr>
              <a:t>通过配置识别、版本控制、变更控制和审计来管理工作产品的完整性。</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Reduces loss of work and increases the ability to deliver the correct version of the solution to the customer.</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rPr>
              <a:t>减少工作丢失并提高向客户交付正确版本解决方案的能力。</a:t>
            </a:r>
            <a:endParaRPr lang="en-US" sz="1400">
              <a:solidFill>
                <a:srgbClr val="1F497D"/>
              </a:solidFill>
            </a:endParaRPr>
          </a:p>
          <a:p>
            <a:endParaRPr lang="en-US" sz="140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1212394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a:t>Decision Analysis and Resolution (DAR) </a:t>
            </a:r>
            <a:r>
              <a:rPr lang="zh-CN" altLang="en-US" sz="2800">
                <a:solidFill>
                  <a:srgbClr val="1F497D"/>
                </a:solidFill>
              </a:rPr>
              <a:t>决策分析与解决</a:t>
            </a:r>
            <a:endParaRPr lang="en-US" sz="280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Makes and records decisions using a recorded process that </a:t>
            </a:r>
            <a:r>
              <a:rPr lang="en-GB" sz="1400" b="0" i="0" err="1">
                <a:solidFill>
                  <a:srgbClr val="505050"/>
                </a:solidFill>
                <a:effectLst/>
                <a:highlight>
                  <a:srgbClr val="FFFFFF"/>
                </a:highlight>
                <a:latin typeface="Gotham A"/>
              </a:rPr>
              <a:t>analyzes</a:t>
            </a:r>
            <a:r>
              <a:rPr lang="en-GB" sz="1400" b="0" i="0">
                <a:solidFill>
                  <a:srgbClr val="505050"/>
                </a:solidFill>
                <a:effectLst/>
                <a:highlight>
                  <a:srgbClr val="FFFFFF"/>
                </a:highlight>
                <a:latin typeface="Gotham A"/>
              </a:rPr>
              <a:t> alternatives.</a:t>
            </a:r>
            <a:r>
              <a:rPr lang="en-US" sz="1400"/>
              <a:t>	</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Increases the objectivity of decision-making and the probability of selecting the optimal solution.</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a:p>
          <a:p>
            <a:endParaRPr lang="en-US" sz="140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201728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a:t>Estimating (EST) </a:t>
            </a:r>
            <a:r>
              <a:rPr lang="ja-JP" altLang="en-US" sz="2800">
                <a:solidFill>
                  <a:srgbClr val="1F497D"/>
                </a:solidFill>
              </a:rPr>
              <a:t>估算</a:t>
            </a:r>
            <a:endParaRPr lang="en-US" sz="280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a:t>	Intent: </a:t>
            </a:r>
            <a:r>
              <a:rPr lang="en-GB" sz="1400" b="0" i="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b="0" i="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1113113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a:t>Governance (GOV) </a:t>
            </a:r>
            <a:r>
              <a:rPr lang="ja-JP" altLang="en-US" sz="2800">
                <a:solidFill>
                  <a:srgbClr val="1F497D"/>
                </a:solidFill>
              </a:rPr>
              <a:t>管治</a:t>
            </a:r>
            <a:endParaRPr lang="en-US" sz="280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a:t>	Intent: </a:t>
            </a:r>
            <a:r>
              <a:rPr lang="en-GB" sz="1400" b="0" i="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b="0" i="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a:solidFill>
                  <a:srgbClr val="505050"/>
                </a:solidFill>
                <a:highlight>
                  <a:srgbClr val="FFFFFF"/>
                </a:highlight>
                <a:latin typeface="Gotham A"/>
              </a:rPr>
            </a:br>
            <a:r>
              <a:rPr lang="en-US" sz="1400">
                <a:solidFill>
                  <a:srgbClr val="505050"/>
                </a:solidFill>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1379169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a:t>Implementation Infrastructure (II) </a:t>
            </a:r>
            <a:r>
              <a:rPr lang="zh-CN" altLang="en-US" sz="2800">
                <a:solidFill>
                  <a:srgbClr val="1F497D"/>
                </a:solidFill>
              </a:rPr>
              <a:t>实施基础条件</a:t>
            </a:r>
            <a:endParaRPr lang="en-ZA" sz="280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a:t>	Intent: </a:t>
            </a:r>
            <a:r>
              <a:rPr lang="en-GB" sz="1400" b="0" i="0">
                <a:solidFill>
                  <a:srgbClr val="505050"/>
                </a:solidFill>
                <a:effectLst/>
                <a:highlight>
                  <a:srgbClr val="FFFFFF"/>
                </a:highlight>
                <a:latin typeface="Gotham A"/>
              </a:rPr>
              <a:t>Ensures that the processes and assets important to an organization’s performance are habitually and persistently followed, used, and</a:t>
            </a:r>
            <a:r>
              <a:rPr lang="en-GB" sz="1400">
                <a:solidFill>
                  <a:srgbClr val="505050"/>
                </a:solidFill>
                <a:highlight>
                  <a:srgbClr val="FFFFFF"/>
                </a:highlight>
                <a:latin typeface="Gotham A"/>
              </a:rPr>
              <a:t> 	</a:t>
            </a:r>
            <a:r>
              <a:rPr lang="en-GB" sz="1400" b="0" i="0">
                <a:solidFill>
                  <a:srgbClr val="505050"/>
                </a:solidFill>
                <a:effectLst/>
                <a:highlight>
                  <a:srgbClr val="FFFFFF"/>
                </a:highlight>
                <a:latin typeface="Gotham A"/>
              </a:rPr>
              <a:t>improved. </a:t>
            </a:r>
            <a:br>
              <a:rPr lang="en-GB" sz="1400" b="0" i="0">
                <a:solidFill>
                  <a:srgbClr val="505050"/>
                </a:solidFill>
                <a:effectLst/>
                <a:highlight>
                  <a:srgbClr val="FFFFFF"/>
                </a:highlight>
                <a:latin typeface="Gotham A"/>
              </a:rPr>
            </a:br>
            <a:r>
              <a:rPr lang="en-GB"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确保对组织绩效重要的流程和资产得到习惯性和持久的遵循、使用和改进。</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b="0" i="0">
                <a:solidFill>
                  <a:srgbClr val="505050"/>
                </a:solidFill>
                <a:effectLst/>
                <a:highlight>
                  <a:srgbClr val="FFFFFF"/>
                </a:highlight>
                <a:latin typeface="Gotham A"/>
              </a:rPr>
              <a:t>Sustains the ability to consistently achieve goals and objectives efficiently and effectively.</a:t>
            </a:r>
            <a:br>
              <a:rPr lang="en-GB" sz="1400" b="0" i="0">
                <a:solidFill>
                  <a:srgbClr val="505050"/>
                </a:solidFill>
                <a:effectLst/>
                <a:highlight>
                  <a:srgbClr val="FFFFFF"/>
                </a:highlight>
                <a:latin typeface="Gotham A"/>
              </a:rPr>
            </a:br>
            <a:r>
              <a:rPr lang="en-GB"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维持高效且有效地持续实现目标和任务的能力。</a:t>
            </a:r>
            <a:endParaRPr lang="en-US" sz="1400">
              <a:solidFill>
                <a:srgbClr val="1F497D"/>
              </a:solidFill>
              <a:latin typeface="DengXian" panose="02010600030101010101" pitchFamily="2" charset="-122"/>
              <a:ea typeface="DengXian" panose="02010600030101010101" pitchFamily="2" charset="-122"/>
            </a:endParaRPr>
          </a:p>
          <a:p>
            <a:endParaRPr lang="en-US" sz="1400"/>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699119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a:t>Managing Performance and Measurement (</a:t>
            </a:r>
            <a:r>
              <a:rPr lang="en-US" sz="2800" err="1"/>
              <a:t>MPM</a:t>
            </a:r>
            <a:r>
              <a:rPr lang="en-US" sz="2800"/>
              <a:t>) </a:t>
            </a:r>
            <a:r>
              <a:rPr lang="zh-CN" altLang="en-US" sz="2800">
                <a:solidFill>
                  <a:srgbClr val="1F497D"/>
                </a:solidFill>
              </a:rPr>
              <a:t>管理绩效与度量</a:t>
            </a:r>
            <a:endParaRPr lang="en-ZA" sz="280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a:t>	Intent: </a:t>
            </a:r>
            <a:r>
              <a:rPr lang="en-GB" sz="1400" b="0" i="0">
                <a:solidFill>
                  <a:srgbClr val="505050"/>
                </a:solidFill>
                <a:effectLst/>
                <a:highlight>
                  <a:srgbClr val="FFFFFF"/>
                </a:highlight>
                <a:latin typeface="Gotham A"/>
              </a:rPr>
              <a:t>Manages performance using measurement and analysis to achieve business objectives.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使用测量和分析来管理绩效，以实现业务目标。</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Maximizes business return on investment by focusing management and improvement efforts on cost, schedule, and quality 	performance.</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1578273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a:t>Monitor and Control (MC) </a:t>
            </a:r>
            <a:r>
              <a:rPr lang="zh-CN" altLang="en-US" sz="2800">
                <a:solidFill>
                  <a:srgbClr val="1F497D"/>
                </a:solidFill>
              </a:rPr>
              <a:t>控制与监督</a:t>
            </a:r>
            <a:endParaRPr lang="en-US" sz="200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a:t>	Intent: </a:t>
            </a:r>
            <a:r>
              <a:rPr lang="en-GB" sz="1400" b="0" i="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b="0" i="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2946911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a:t>Organizational Training (OT) </a:t>
            </a:r>
            <a:r>
              <a:rPr lang="ja-JP" altLang="en-US" sz="2800">
                <a:solidFill>
                  <a:srgbClr val="1F497D"/>
                </a:solidFill>
                <a:latin typeface="DengXian Light" panose="02010600030101010101" pitchFamily="2" charset="-122"/>
                <a:ea typeface="DengXian Light" panose="02010600030101010101" pitchFamily="2" charset="-122"/>
              </a:rPr>
              <a:t>组织级培训</a:t>
            </a:r>
            <a:endParaRPr lang="en-US" sz="280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Develops the skills and knowledge of personnel so they perform their roles efficiently and effectively.</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Enhances individuals' skills and knowledge to improve organizational work performance.</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1396288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a:t>Peer Reviews (PR) </a:t>
            </a:r>
            <a:r>
              <a:rPr lang="ja-JP" altLang="en-US" sz="2800">
                <a:solidFill>
                  <a:srgbClr val="1F497D"/>
                </a:solidFill>
                <a:latin typeface="DengXian Light" panose="02010600030101010101" pitchFamily="2" charset="-122"/>
                <a:ea typeface="DengXian Light" panose="02010600030101010101" pitchFamily="2" charset="-122"/>
              </a:rPr>
              <a:t>同行评审</a:t>
            </a:r>
            <a:endParaRPr lang="en-US" sz="280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a:lnSpc>
                <a:spcPct val="90000"/>
              </a:lnSpc>
              <a:spcBef>
                <a:spcPts val="1000"/>
              </a:spcBef>
            </a:pPr>
            <a:r>
              <a:rPr lang="en-US" sz="1400" b="1"/>
              <a:t>	Intent: </a:t>
            </a:r>
            <a:r>
              <a:rPr lang="en-GB" sz="1400"/>
              <a:t>Identifies and addresses process performance and work product issues through reviews by the producer's peers or Subject Matter 	Experts (SMEs).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通过由生产者的同行或专家进行的审查，识别和解决过程绩效和工作产品问题。</a:t>
            </a:r>
            <a:endParaRPr lang="en-ZA" altLang="zh-CN" sz="1400">
              <a:solidFill>
                <a:srgbClr val="1F497D"/>
              </a:solidFill>
              <a:latin typeface="DengXian" panose="02010600030101010101" pitchFamily="2" charset="-122"/>
              <a:ea typeface="DengXian" panose="02010600030101010101" pitchFamily="2" charset="-122"/>
            </a:endParaRPr>
          </a:p>
          <a:p>
            <a:pPr>
              <a:lnSpc>
                <a:spcPct val="90000"/>
              </a:lnSpc>
              <a:spcBef>
                <a:spcPts val="1000"/>
              </a:spcBef>
            </a:pPr>
            <a:r>
              <a:rPr lang="en-ZA" sz="1400" b="1">
                <a:solidFill>
                  <a:srgbClr val="1F497D"/>
                </a:solidFill>
                <a:latin typeface="DengXian" panose="02010600030101010101" pitchFamily="2" charset="-122"/>
                <a:ea typeface="DengXian" panose="02010600030101010101" pitchFamily="2" charset="-122"/>
              </a:rPr>
              <a:t>	</a:t>
            </a:r>
            <a:r>
              <a:rPr lang="en-US" sz="1400" b="1"/>
              <a:t>Value:</a:t>
            </a:r>
            <a:r>
              <a:rPr lang="en-US" sz="1400"/>
              <a:t> </a:t>
            </a:r>
            <a:r>
              <a:rPr lang="en-GB" sz="1400"/>
              <a:t>Reduces cost and rework by uncovering issues or defects early.</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通过及早发现问题或缺陷，降低成本和返工。</a:t>
            </a:r>
            <a:endParaRPr lang="en-US" sz="1400">
              <a:solidFill>
                <a:srgbClr val="1F497D"/>
              </a:solidFill>
              <a:latin typeface="DengXian" panose="02010600030101010101" pitchFamily="2" charset="-122"/>
              <a:ea typeface="DengXian" panose="02010600030101010101" pitchFamily="2" charset="-122"/>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2180998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a:t>	Intent: </a:t>
            </a:r>
            <a:r>
              <a:rPr lang="en-GB" sz="1400"/>
              <a:t>Develop plans to describe what is needed to accomplish the work within the standards and constraints of the organization.</a:t>
            </a:r>
            <a:br>
              <a:rPr lang="en-US" sz="1400">
                <a:effectLst/>
              </a:rPr>
            </a:br>
            <a:r>
              <a:rPr lang="en-US" sz="1400">
                <a:effectLst/>
              </a:rPr>
              <a:t>	</a:t>
            </a:r>
            <a:r>
              <a:rPr lang="zh-CN" altLang="en-US" sz="140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Optimizes cost, functionality, and quality to increase the likelihood of meeting objectives.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Planning (PLAN) </a:t>
            </a:r>
            <a:r>
              <a:rPr lang="ja-JP" altLang="en-US">
                <a:solidFill>
                  <a:srgbClr val="1F497D"/>
                </a:solidFill>
                <a:latin typeface="DengXian Light" panose="02010600030101010101" pitchFamily="2" charset="-122"/>
                <a:ea typeface="DengXian Light" panose="02010600030101010101" pitchFamily="2" charset="-122"/>
              </a:rPr>
              <a:t>策划</a:t>
            </a:r>
            <a:endParaRPr lang="en-US">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1409033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Process Asset Development (PAD) </a:t>
            </a:r>
            <a:r>
              <a:rPr lang="zh-CN" altLang="en-US">
                <a:solidFill>
                  <a:srgbClr val="1F497D"/>
                </a:solidFill>
                <a:latin typeface="+mj-ea"/>
                <a:ea typeface="+mj-ea"/>
              </a:rPr>
              <a:t>过程资产开发</a:t>
            </a:r>
            <a:endParaRPr lang="en-US">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a:t>	Intent: </a:t>
            </a:r>
            <a:r>
              <a:rPr lang="en-GB" sz="1400"/>
              <a:t>Develops the process assets necessary to perform the work and keeps them updated.</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Provides a capability to understand and repeat successful performance.</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提供理解和重复成功绩效的能力。</a:t>
            </a:r>
            <a:endParaRPr lang="en-US" sz="140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3772339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Process Management (PCM) </a:t>
            </a:r>
            <a:r>
              <a:rPr lang="ja-JP" altLang="en-US">
                <a:solidFill>
                  <a:srgbClr val="1F497D"/>
                </a:solidFill>
                <a:latin typeface="DengXian Light" panose="02010600030101010101" pitchFamily="2" charset="-122"/>
                <a:ea typeface="DengXian Light" panose="02010600030101010101" pitchFamily="2" charset="-122"/>
              </a:rPr>
              <a:t>过程管理</a:t>
            </a:r>
            <a:endParaRPr lang="en-US">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a:t>	Intent: </a:t>
            </a:r>
            <a:r>
              <a:rPr lang="en-GB" sz="1400"/>
              <a:t>Manages and implements the continuous performance improvement of processes and infrastructure to meet business 	objectives by 	identifying and implementing the most beneficial process improvements and making performance results visible, accessible, and sustainable.</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a:solidFill>
                  <a:srgbClr val="1F497D"/>
                </a:solidFill>
                <a:latin typeface="DengXian" panose="02010600030101010101" pitchFamily="2" charset="-122"/>
                <a:ea typeface="DengXian" panose="02010600030101010101" pitchFamily="2" charset="-122"/>
              </a:rPr>
              <a:t>	</a:t>
            </a:r>
            <a:r>
              <a:rPr lang="zh-CN" altLang="en-US" sz="1400">
                <a:solidFill>
                  <a:srgbClr val="1F497D"/>
                </a:solidFill>
                <a:latin typeface="DengXian" panose="02010600030101010101" pitchFamily="2" charset="-122"/>
                <a:ea typeface="DengXian" panose="02010600030101010101" pitchFamily="2" charset="-122"/>
              </a:rPr>
              <a:t>的持续绩效改进，以实现业</a:t>
            </a:r>
            <a:r>
              <a:rPr lang="en-ZA" altLang="zh-CN" sz="1400">
                <a:solidFill>
                  <a:srgbClr val="1F497D"/>
                </a:solidFill>
                <a:latin typeface="DengXian" panose="02010600030101010101" pitchFamily="2" charset="-122"/>
                <a:ea typeface="DengXian" panose="02010600030101010101" pitchFamily="2" charset="-122"/>
              </a:rPr>
              <a:t>	</a:t>
            </a:r>
            <a:r>
              <a:rPr lang="zh-CN" altLang="en-US" sz="1400">
                <a:solidFill>
                  <a:srgbClr val="1F497D"/>
                </a:solidFill>
                <a:latin typeface="DengXian" panose="02010600030101010101" pitchFamily="2" charset="-122"/>
                <a:ea typeface="DengXian" panose="02010600030101010101" pitchFamily="2" charset="-122"/>
              </a:rPr>
              <a:t>务目标</a:t>
            </a:r>
            <a:endParaRPr lang="en-ZA"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Ensures that processes, infrastructure, and their improvement contribute to successfully meeting business objectives.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3758761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Process Quality Assurance (PQA) </a:t>
            </a:r>
            <a:r>
              <a:rPr lang="zh-CN" altLang="en-US">
                <a:solidFill>
                  <a:srgbClr val="1F497D"/>
                </a:solidFill>
                <a:latin typeface="+mj-ea"/>
                <a:ea typeface="+mj-ea"/>
              </a:rPr>
              <a:t>过程质量保证</a:t>
            </a:r>
            <a:endParaRPr lang="en-US">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275702" y="1373440"/>
            <a:ext cx="11640595" cy="996170"/>
          </a:xfrm>
          <a:prstGeom prst="rect">
            <a:avLst/>
          </a:prstGeom>
          <a:noFill/>
        </p:spPr>
        <p:txBody>
          <a:bodyPr wrap="square" rtlCol="0">
            <a:spAutoFit/>
          </a:bodyPr>
          <a:lstStyle/>
          <a:p>
            <a:pPr marL="0" indent="0">
              <a:buNone/>
            </a:pPr>
            <a:r>
              <a:rPr lang="en-US" sz="1400" b="1"/>
              <a:t>	Intent: </a:t>
            </a:r>
            <a:r>
              <a:rPr lang="en-GB" sz="1400"/>
              <a:t>Verifies and enables improvement of the quality of the processes performed and resulting work products.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a:t>	</a:t>
            </a:r>
          </a:p>
          <a:p>
            <a:pPr marL="0" indent="0">
              <a:buNone/>
            </a:pPr>
            <a:r>
              <a:rPr lang="en-US" sz="1400" b="1"/>
              <a:t>	Value:</a:t>
            </a:r>
            <a:r>
              <a:rPr lang="en-US" sz="1400"/>
              <a:t> </a:t>
            </a:r>
            <a:r>
              <a:rPr lang="en-GB" sz="1400"/>
              <a:t>Increases the consistent use and improvement of the processes to maximize business benefit and customer satisfaction.</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3357685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Product Integration (PI) </a:t>
            </a:r>
            <a:r>
              <a:rPr lang="ja-JP" altLang="en-US">
                <a:solidFill>
                  <a:srgbClr val="1F497D"/>
                </a:solidFill>
                <a:latin typeface="DengXian Light" panose="02010600030101010101" pitchFamily="2" charset="-122"/>
                <a:ea typeface="DengXian Light" panose="02010600030101010101" pitchFamily="2" charset="-122"/>
              </a:rPr>
              <a:t>产品集成</a:t>
            </a:r>
            <a:endParaRPr lang="en-US">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a:t>	Intent: </a:t>
            </a:r>
            <a:r>
              <a:rPr lang="en-GB" sz="1400"/>
              <a:t>Integrates and delivers the solution that addresses functionality, performance, and quality requirements.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Increases customers' satisfaction by giving them a solution that meets or exceeds their functionality and quality requirements.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894669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 y="35052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Requirements Development and Management (RDM) </a:t>
            </a:r>
            <a:r>
              <a:rPr lang="zh-CN" altLang="en-US">
                <a:solidFill>
                  <a:srgbClr val="1F497D"/>
                </a:solidFill>
                <a:latin typeface="+mj-ea"/>
                <a:ea typeface="+mj-ea"/>
              </a:rPr>
              <a:t>需求开发与管理</a:t>
            </a:r>
            <a:endParaRPr lang="en-US">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a:t>	Intent: </a:t>
            </a:r>
            <a:r>
              <a:rPr lang="en-GB" sz="1400"/>
              <a:t>Elicits requirements, confirms common understanding by stakeholders, and aligns requirements, plans, and work products.</a:t>
            </a:r>
            <a:br>
              <a:rPr lang="en-US" sz="1400"/>
            </a:br>
            <a:r>
              <a:rPr lang="en-US" sz="1400"/>
              <a:t>	</a:t>
            </a:r>
            <a:r>
              <a:rPr lang="zh-CN" altLang="en-US" sz="1400">
                <a:solidFill>
                  <a:srgbClr val="1F497D"/>
                </a:solidFill>
              </a:rPr>
              <a:t>引发需求，通过利益相关者确认共同理解，并将需求、计划和工作产品对齐。</a:t>
            </a:r>
            <a:r>
              <a:rPr lang="en-US" sz="1400" b="1"/>
              <a:t>	</a:t>
            </a:r>
          </a:p>
          <a:p>
            <a:pPr marL="0" indent="0">
              <a:buNone/>
            </a:pPr>
            <a:r>
              <a:rPr lang="en-US" sz="1400" b="1"/>
              <a:t>	Value:</a:t>
            </a:r>
            <a:r>
              <a:rPr lang="en-US" sz="1400"/>
              <a:t> </a:t>
            </a:r>
            <a:r>
              <a:rPr lang="en-GB" sz="1400"/>
              <a:t>Increases likelihood that the solution meets or exceeds customer expectations and needs.</a:t>
            </a:r>
            <a:br>
              <a:rPr lang="en-US" sz="1400"/>
            </a:br>
            <a:r>
              <a:rPr lang="en-US" sz="1400"/>
              <a:t>	</a:t>
            </a:r>
            <a:r>
              <a:rPr lang="zh-CN" altLang="en-US" sz="1400">
                <a:solidFill>
                  <a:srgbClr val="1F497D"/>
                </a:solidFill>
              </a:rPr>
              <a:t>增加解决方案满足或超出客户期望和需求的可能性。</a:t>
            </a:r>
            <a:endParaRPr lang="en-US" sz="140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1383232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Risk and Opportunity Management (</a:t>
            </a:r>
            <a:r>
              <a:rPr lang="en-US" err="1"/>
              <a:t>RSK</a:t>
            </a:r>
            <a:r>
              <a:rPr lang="en-US"/>
              <a:t>) </a:t>
            </a:r>
            <a:r>
              <a:rPr lang="zh-CN" altLang="en-US">
                <a:solidFill>
                  <a:srgbClr val="1F497D"/>
                </a:solidFill>
                <a:latin typeface="+mj-ea"/>
                <a:ea typeface="+mj-ea"/>
              </a:rPr>
              <a:t>风险与机会管理</a:t>
            </a:r>
            <a:endParaRPr lang="en-US">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a:t>	Intent: </a:t>
            </a:r>
            <a:r>
              <a:rPr lang="en-GB" sz="1400"/>
              <a:t>Identifies, records, </a:t>
            </a:r>
            <a:r>
              <a:rPr lang="en-GB" sz="1400" err="1"/>
              <a:t>analyzes</a:t>
            </a:r>
            <a:r>
              <a:rPr lang="en-GB" sz="1400"/>
              <a:t>, and manages potential risks or opportunities.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a:t>	</a:t>
            </a:r>
          </a:p>
          <a:p>
            <a:pPr marL="0" indent="0">
              <a:buNone/>
            </a:pPr>
            <a:r>
              <a:rPr lang="en-US" sz="1400" b="1"/>
              <a:t>	Value:</a:t>
            </a:r>
            <a:r>
              <a:rPr lang="en-US" sz="1400"/>
              <a:t> </a:t>
            </a:r>
            <a:r>
              <a:rPr lang="en-GB" sz="1400"/>
              <a:t>Mitigates adverse impacts or capitalizes on positive impacts to increase the likelihood of meeting objectives.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2868376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Technical Solution (TS) </a:t>
            </a:r>
            <a:r>
              <a:rPr lang="zh-CN" altLang="en-US">
                <a:solidFill>
                  <a:srgbClr val="1F497D"/>
                </a:solidFill>
                <a:latin typeface="+mj-ea"/>
                <a:ea typeface="+mj-ea"/>
              </a:rPr>
              <a:t>技术解决方案</a:t>
            </a:r>
            <a:endParaRPr lang="en-US">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a:t>	Intent: </a:t>
            </a:r>
            <a:r>
              <a:rPr lang="en-GB" sz="1400"/>
              <a:t>Designs and builds solutions that meet requirements.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Provides a cost-effective design and solution that meets customer requirements and reduces rework.</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4164749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Verification and Validation (VV) </a:t>
            </a:r>
            <a:r>
              <a:rPr lang="ja-JP" altLang="en-US">
                <a:solidFill>
                  <a:srgbClr val="1F497D"/>
                </a:solidFill>
                <a:latin typeface="DengXian Light" panose="02010600030101010101" pitchFamily="2" charset="-122"/>
                <a:ea typeface="DengXian Light" panose="02010600030101010101" pitchFamily="2" charset="-122"/>
              </a:rPr>
              <a:t>验证与确认</a:t>
            </a:r>
            <a:endParaRPr lang="en-US">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a:t>	Intent: </a:t>
            </a:r>
            <a:r>
              <a:rPr lang="en-GB" sz="1400"/>
              <a:t>Confirms selected solutions and components meet their requirements, and demonstrates selected solutions and components </a:t>
            </a:r>
            <a:r>
              <a:rPr lang="en-GB" sz="1400" err="1"/>
              <a:t>fulfill</a:t>
            </a:r>
            <a:r>
              <a:rPr lang="en-GB" sz="1400"/>
              <a:t> 	their intended use in their target environment.</a:t>
            </a:r>
            <a:br>
              <a:rPr lang="en-US" sz="1400"/>
            </a:br>
            <a:r>
              <a:rPr lang="zh-CN" altLang="en-US" sz="1400" b="0" i="0">
                <a:solidFill>
                  <a:srgbClr val="0D0D0D"/>
                </a:solidFill>
                <a:effectLst/>
                <a:highlight>
                  <a:srgbClr val="FFFFFF"/>
                </a:highlight>
                <a:latin typeface="Söhne"/>
              </a:rPr>
              <a:t> </a:t>
            </a:r>
            <a:r>
              <a:rPr lang="en-ZA" altLang="zh-CN" sz="1400" b="0" i="0">
                <a:solidFill>
                  <a:srgbClr val="0D0D0D"/>
                </a:solidFill>
                <a:effectLst/>
                <a:highlight>
                  <a:srgbClr val="FFFFFF"/>
                </a:highlight>
                <a:latin typeface="Söhne"/>
              </a:rPr>
              <a:t>	</a:t>
            </a:r>
            <a:r>
              <a:rPr lang="zh-CN" altLang="en-US" sz="140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Increases the likelihood that the solution will satisfy the customer.</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增加解决方案能够满足客户的可能性。</a:t>
            </a:r>
            <a:endParaRPr lang="en-US" sz="140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2318327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5"/>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3382510" y="1113693"/>
            <a:ext cx="5154613" cy="51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7672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07B0D7-F930-4230-933E-ABA84959494E}">
  <ds:schemaRefs>
    <ds:schemaRef ds:uri="25bcabcf-d275-4206-9fb1-2f2d419cd22b"/>
    <ds:schemaRef ds:uri="72e3a154-4955-46c3-9573-e9dec3e1f195"/>
    <ds:schemaRef ds:uri="ec500478-62e0-46fc-87f1-cfa988e486b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2E66E4F-D7A7-4759-B8C6-8BBB5E2FC959}">
  <ds:schemaRefs>
    <ds:schemaRef ds:uri="25bcabcf-d275-4206-9fb1-2f2d419cd22b"/>
    <ds:schemaRef ds:uri="ec500478-62e0-46fc-87f1-cfa988e486b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8B49826-D5EE-4D24-B649-7C3A19B527D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3614</Words>
  <Application>Microsoft Office PowerPoint</Application>
  <PresentationFormat>Widescreen</PresentationFormat>
  <Paragraphs>218</Paragraphs>
  <Slides>29</Slides>
  <Notes>6</Notes>
  <HiddenSlides>1</HiddenSlides>
  <MMClips>0</MMClips>
  <ScaleCrop>false</ScaleCrop>
  <HeadingPairs>
    <vt:vector size="8" baseType="variant">
      <vt:variant>
        <vt:lpstr>Fonts Used</vt:lpstr>
      </vt:variant>
      <vt:variant>
        <vt:i4>9</vt:i4>
      </vt:variant>
      <vt:variant>
        <vt:lpstr>Theme</vt:lpstr>
      </vt:variant>
      <vt:variant>
        <vt:i4>1</vt:i4>
      </vt:variant>
      <vt:variant>
        <vt:lpstr>Links</vt:lpstr>
      </vt:variant>
      <vt:variant>
        <vt:i4>3</vt:i4>
      </vt:variant>
      <vt:variant>
        <vt:lpstr>Slide Titles</vt:lpstr>
      </vt:variant>
      <vt:variant>
        <vt:i4>29</vt:i4>
      </vt:variant>
    </vt:vector>
  </HeadingPairs>
  <TitlesOfParts>
    <vt:vector size="42" baseType="lpstr">
      <vt:lpstr>DengXian</vt:lpstr>
      <vt:lpstr>DengXian Light</vt:lpstr>
      <vt:lpstr>ＭＳ Ｐゴシック</vt:lpstr>
      <vt:lpstr>宋体</vt:lpstr>
      <vt:lpstr>Arial</vt:lpstr>
      <vt:lpstr>Calibri</vt:lpstr>
      <vt:lpstr>Calibri Light</vt:lpstr>
      <vt:lpstr>Gotham A</vt:lpstr>
      <vt:lpstr>Söhne</vt:lpstr>
      <vt:lpstr>Office Theme</vt:lpstr>
      <vt:lpstr>file:///G:\2024-05-04to05-10%20(A5)%20C384400%20NASA\00_Data_Reference.xlsm!pptxCover!R4C2:R12C2</vt:lpstr>
      <vt:lpstr>file:///G:\2024-05-04to05-10%20(A5)%20C384400%20NASA\00_Data_Reference.xlsm!pptxCover!R15C2:R17C2</vt:lpstr>
      <vt:lpstr>file:///G:\2024-05-04to05-10%20(A5)%20C384400%20NASA\00_Data_Reference.xlsm!pptxCover!R21C2</vt:lpstr>
      <vt:lpstr>PowerPoint Presentation</vt:lpstr>
      <vt:lpstr>Appraisal Overview  评估概述</vt:lpstr>
      <vt:lpstr>PowerPoint Presentation</vt:lpstr>
      <vt:lpstr>Appraisal Principles</vt:lpstr>
      <vt:lpstr>PowerPoint Presentation</vt:lpstr>
      <vt:lpstr>About Preliminary Findings</vt:lpstr>
      <vt:lpstr>Virtual appraisals – code of conduct</vt:lpstr>
      <vt:lpstr>Findings Definitions – Required Categories</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PowerPoint Presentation</vt:lpstr>
    </vt:vector>
  </TitlesOfParts>
  <Company>ISACA-CMMI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MDD-Toolkit-Appraisal Final Findings Template</dc:title>
  <dc:creator>ISACA-CMMI</dc:creator>
  <cp:lastModifiedBy>Melanie Van Zyl</cp:lastModifiedBy>
  <cp:revision>1</cp:revision>
  <dcterms:created xsi:type="dcterms:W3CDTF">2018-03-14T12:19:45Z</dcterms:created>
  <dcterms:modified xsi:type="dcterms:W3CDTF">2025-01-30T06:25:39Z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xd_Signature">
    <vt:bool>false</vt:bool>
  </property>
  <property fmtid="{D5CDD505-2E9C-101B-9397-08002B2CF9AE}" pid="4" name="xd_ProgID">
    <vt:lpwstr/>
  </property>
  <property fmtid="{D5CDD505-2E9C-101B-9397-08002B2CF9AE}" pid="5" name="TemplateUrl">
    <vt:lpwstr/>
  </property>
  <property fmtid="{D5CDD505-2E9C-101B-9397-08002B2CF9AE}" pid="6" name="ComplianceAssetId">
    <vt:lpwstr/>
  </property>
  <property fmtid="{D5CDD505-2E9C-101B-9397-08002B2CF9AE}" pid="7" name="AuthorIds_UIVersion_3601">
    <vt:lpwstr>40</vt:lpwstr>
  </property>
  <property fmtid="{D5CDD505-2E9C-101B-9397-08002B2CF9AE}" pid="8" name="_ShortcutWebId">
    <vt:lpwstr/>
  </property>
  <property fmtid="{D5CDD505-2E9C-101B-9397-08002B2CF9AE}" pid="9" name="_ShortcutUniqueId">
    <vt:lpwstr/>
  </property>
  <property fmtid="{D5CDD505-2E9C-101B-9397-08002B2CF9AE}" pid="10" name="_ShortcutSiteId">
    <vt:lpwstr/>
  </property>
  <property fmtid="{D5CDD505-2E9C-101B-9397-08002B2CF9AE}" pid="11" name="Class">
    <vt:lpwstr/>
  </property>
  <property fmtid="{D5CDD505-2E9C-101B-9397-08002B2CF9AE}" pid="12" name="Model Component">
    <vt:lpwstr/>
  </property>
  <property fmtid="{D5CDD505-2E9C-101B-9397-08002B2CF9AE}" pid="13" name="_ShortcutUrl">
    <vt:lpwstr/>
  </property>
  <property fmtid="{D5CDD505-2E9C-101B-9397-08002B2CF9AE}" pid="14" name="Class Component">
    <vt:lpwstr/>
  </property>
  <property fmtid="{D5CDD505-2E9C-101B-9397-08002B2CF9AE}" pid="15" name="MediaServiceImageTags">
    <vt:lpwstr/>
  </property>
</Properties>
</file>