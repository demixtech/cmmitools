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8"/>
  </p:notesMasterIdLst>
  <p:handoutMasterIdLst>
    <p:handoutMasterId r:id="rId59"/>
  </p:handoutMasterIdLst>
  <p:sldIdLst>
    <p:sldId id="256" r:id="rId5"/>
    <p:sldId id="1553" r:id="rId6"/>
    <p:sldId id="1550" r:id="rId7"/>
    <p:sldId id="1541" r:id="rId8"/>
    <p:sldId id="270" r:id="rId9"/>
    <p:sldId id="928" r:id="rId10"/>
    <p:sldId id="913" r:id="rId11"/>
    <p:sldId id="1497" r:id="rId12"/>
    <p:sldId id="1543" r:id="rId13"/>
    <p:sldId id="310" r:id="rId14"/>
    <p:sldId id="274" r:id="rId15"/>
    <p:sldId id="914" r:id="rId16"/>
    <p:sldId id="930" r:id="rId17"/>
    <p:sldId id="1506" r:id="rId18"/>
    <p:sldId id="1507" r:id="rId19"/>
    <p:sldId id="1498" r:id="rId20"/>
    <p:sldId id="923" r:id="rId21"/>
    <p:sldId id="1544" r:id="rId22"/>
    <p:sldId id="887" r:id="rId23"/>
    <p:sldId id="888" r:id="rId24"/>
    <p:sldId id="889" r:id="rId25"/>
    <p:sldId id="890" r:id="rId26"/>
    <p:sldId id="891" r:id="rId27"/>
    <p:sldId id="892" r:id="rId28"/>
    <p:sldId id="894" r:id="rId29"/>
    <p:sldId id="895" r:id="rId30"/>
    <p:sldId id="896" r:id="rId31"/>
    <p:sldId id="897" r:id="rId32"/>
    <p:sldId id="898" r:id="rId33"/>
    <p:sldId id="899" r:id="rId34"/>
    <p:sldId id="900" r:id="rId35"/>
    <p:sldId id="901" r:id="rId36"/>
    <p:sldId id="902" r:id="rId37"/>
    <p:sldId id="903" r:id="rId38"/>
    <p:sldId id="904" r:id="rId39"/>
    <p:sldId id="906" r:id="rId40"/>
    <p:sldId id="907" r:id="rId41"/>
    <p:sldId id="1548" r:id="rId42"/>
    <p:sldId id="910" r:id="rId43"/>
    <p:sldId id="919" r:id="rId44"/>
    <p:sldId id="1538" r:id="rId45"/>
    <p:sldId id="1546" r:id="rId46"/>
    <p:sldId id="360" r:id="rId47"/>
    <p:sldId id="1551" r:id="rId48"/>
    <p:sldId id="1504" r:id="rId49"/>
    <p:sldId id="1500" r:id="rId50"/>
    <p:sldId id="1574" r:id="rId51"/>
    <p:sldId id="1503" r:id="rId52"/>
    <p:sldId id="1510" r:id="rId53"/>
    <p:sldId id="989" r:id="rId54"/>
    <p:sldId id="1575" r:id="rId55"/>
    <p:sldId id="1475" r:id="rId56"/>
    <p:sldId id="1509"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guide id="3" orient="horz" pos="129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23DAD3-2669-4942-A220-489AF69BEF5B}" v="2" dt="2025-09-15T05:02:49.9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1632" autoAdjust="0"/>
  </p:normalViewPr>
  <p:slideViewPr>
    <p:cSldViewPr snapToGrid="0">
      <p:cViewPr varScale="1">
        <p:scale>
          <a:sx n="93" d="100"/>
          <a:sy n="93" d="100"/>
        </p:scale>
        <p:origin x="1350" y="306"/>
      </p:cViewPr>
      <p:guideLst>
        <p:guide orient="horz" pos="572"/>
        <p:guide pos="665"/>
        <p:guide orient="horz" pos="129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9/15/2025</a:t>
            </a:fld>
            <a:endParaRPr lang="en-US" dirty="0"/>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dirty="0"/>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9/15/2025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dirty="0"/>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4</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5</a:t>
            </a:fld>
            <a:endParaRPr lang="en-US" altLang="en-US" sz="1200" b="0" dirty="0">
              <a:solidFill>
                <a:schemeClr val="tx1"/>
              </a:solidFill>
            </a:endParaRPr>
          </a:p>
        </p:txBody>
      </p:sp>
    </p:spTree>
    <p:extLst>
      <p:ext uri="{BB962C8B-B14F-4D97-AF65-F5344CB8AC3E}">
        <p14:creationId xmlns:p14="http://schemas.microsoft.com/office/powerpoint/2010/main" val="316187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6</a:t>
            </a:fld>
            <a:endParaRPr lang="en-US" altLang="en-US" sz="1200" b="0" dirty="0">
              <a:solidFill>
                <a:schemeClr val="tx1"/>
              </a:solidFill>
            </a:endParaRPr>
          </a:p>
        </p:txBody>
      </p:sp>
    </p:spTree>
    <p:extLst>
      <p:ext uri="{BB962C8B-B14F-4D97-AF65-F5344CB8AC3E}">
        <p14:creationId xmlns:p14="http://schemas.microsoft.com/office/powerpoint/2010/main" val="264670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dirty="0">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7</a:t>
            </a:fld>
            <a:endParaRPr lang="en-US" altLang="en-US" sz="1200" b="0" dirty="0">
              <a:solidFill>
                <a:schemeClr val="tx1"/>
              </a:solidFill>
            </a:endParaRPr>
          </a:p>
        </p:txBody>
      </p:sp>
    </p:spTree>
    <p:extLst>
      <p:ext uri="{BB962C8B-B14F-4D97-AF65-F5344CB8AC3E}">
        <p14:creationId xmlns:p14="http://schemas.microsoft.com/office/powerpoint/2010/main" val="157046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dirty="0"/>
              <a:t>2, non – your name will not appear in any reports        </a:t>
            </a:r>
          </a:p>
          <a:p>
            <a:r>
              <a:rPr lang="en-ZA" altLang="zh-CN" baseline="0" dirty="0"/>
              <a:t>collaboratively –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9</a:t>
            </a:fld>
            <a:endParaRPr lang="en-US" dirty="0"/>
          </a:p>
        </p:txBody>
      </p:sp>
    </p:spTree>
    <p:extLst>
      <p:ext uri="{BB962C8B-B14F-4D97-AF65-F5344CB8AC3E}">
        <p14:creationId xmlns:p14="http://schemas.microsoft.com/office/powerpoint/2010/main" val="1135651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10</a:t>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Take basic information from the appraisal plan.</a:t>
            </a:r>
          </a:p>
        </p:txBody>
      </p:sp>
    </p:spTree>
    <p:extLst>
      <p:ext uri="{BB962C8B-B14F-4D97-AF65-F5344CB8AC3E}">
        <p14:creationId xmlns:p14="http://schemas.microsoft.com/office/powerpoint/2010/main" val="14189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sure the version of the model is correct when this slide is built. Replace the bold, italicized </a:t>
            </a:r>
            <a:r>
              <a:rPr lang="en-US" b="1" i="1" dirty="0"/>
              <a:t>x</a:t>
            </a:r>
            <a:r>
              <a:rPr lang="en-US" b="0" i="0" dirty="0"/>
              <a:t> with the correct version number.</a:t>
            </a:r>
            <a:endParaRPr lang="en-US" dirty="0"/>
          </a:p>
          <a:p>
            <a:endParaRPr lang="en-US" dirty="0"/>
          </a:p>
        </p:txBody>
      </p:sp>
      <p:sp>
        <p:nvSpPr>
          <p:cNvPr id="4" name="Slide Number Placeholder 3"/>
          <p:cNvSpPr>
            <a:spLocks noGrp="1"/>
          </p:cNvSpPr>
          <p:nvPr>
            <p:ph type="sldNum" sz="quarter" idx="5"/>
          </p:nvPr>
        </p:nvSpPr>
        <p:spPr/>
        <p:txBody>
          <a:bodyPr/>
          <a:lstStyle/>
          <a:p>
            <a:fld id="{3FC13DA5-2DE0-6D49-B0F1-8E4B6A1CBA23}" type="slidenum">
              <a:rPr lang="en-US" smtClean="0"/>
              <a:t>11</a:t>
            </a:fld>
            <a:endParaRPr lang="en-US" dirty="0"/>
          </a:p>
        </p:txBody>
      </p:sp>
    </p:spTree>
    <p:extLst>
      <p:ext uri="{BB962C8B-B14F-4D97-AF65-F5344CB8AC3E}">
        <p14:creationId xmlns:p14="http://schemas.microsoft.com/office/powerpoint/2010/main" val="1593310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12</a:t>
            </a:fld>
            <a:endParaRPr lang="en-US" dirty="0"/>
          </a:p>
        </p:txBody>
      </p:sp>
    </p:spTree>
    <p:extLst>
      <p:ext uri="{BB962C8B-B14F-4D97-AF65-F5344CB8AC3E}">
        <p14:creationId xmlns:p14="http://schemas.microsoft.com/office/powerpoint/2010/main" val="609758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 can show the chart from the generated random sample, but there must be a description of the sampled projects and their selected CA/PA grouping.</a:t>
            </a:r>
          </a:p>
        </p:txBody>
      </p:sp>
      <p:sp>
        <p:nvSpPr>
          <p:cNvPr id="4" name="Slide Number Placeholder 3"/>
          <p:cNvSpPr>
            <a:spLocks noGrp="1"/>
          </p:cNvSpPr>
          <p:nvPr>
            <p:ph type="sldNum" sz="quarter" idx="10"/>
          </p:nvPr>
        </p:nvSpPr>
        <p:spPr/>
        <p:txBody>
          <a:bodyPr/>
          <a:lstStyle/>
          <a:p>
            <a:fld id="{3FC13DA5-2DE0-6D49-B0F1-8E4B6A1CBA23}" type="slidenum">
              <a:rPr lang="en-US" smtClean="0"/>
              <a:t>13</a:t>
            </a:fld>
            <a:endParaRPr lang="en-US" dirty="0"/>
          </a:p>
        </p:txBody>
      </p:sp>
    </p:spTree>
    <p:extLst>
      <p:ext uri="{BB962C8B-B14F-4D97-AF65-F5344CB8AC3E}">
        <p14:creationId xmlns:p14="http://schemas.microsoft.com/office/powerpoint/2010/main" val="757996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17</a:t>
            </a:fld>
            <a:endParaRPr lang="en-US" dirty="0"/>
          </a:p>
        </p:txBody>
      </p:sp>
    </p:spTree>
    <p:extLst>
      <p:ext uri="{BB962C8B-B14F-4D97-AF65-F5344CB8AC3E}">
        <p14:creationId xmlns:p14="http://schemas.microsoft.com/office/powerpoint/2010/main" val="2365191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40</a:t>
            </a:fld>
            <a:endParaRPr lang="en-US" dirty="0"/>
          </a:p>
        </p:txBody>
      </p:sp>
    </p:spTree>
    <p:extLst>
      <p:ext uri="{BB962C8B-B14F-4D97-AF65-F5344CB8AC3E}">
        <p14:creationId xmlns:p14="http://schemas.microsoft.com/office/powerpoint/2010/main" val="3892804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41</a:t>
            </a:fld>
            <a:endParaRPr lang="en-US" dirty="0"/>
          </a:p>
        </p:txBody>
      </p:sp>
    </p:spTree>
    <p:extLst>
      <p:ext uri="{BB962C8B-B14F-4D97-AF65-F5344CB8AC3E}">
        <p14:creationId xmlns:p14="http://schemas.microsoft.com/office/powerpoint/2010/main" val="1734091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F23F910F-CF68-3A42-8A98-855277189BF6}"/>
              </a:ext>
            </a:extLst>
          </p:cNvPr>
          <p:cNvSpPr>
            <a:spLocks noGrp="1" noRot="1" noChangeAspect="1" noTextEdit="1"/>
          </p:cNvSpPr>
          <p:nvPr>
            <p:ph type="sldImg"/>
          </p:nvPr>
        </p:nvSpPr>
        <p:spPr>
          <a:xfrm>
            <a:off x="398463" y="695325"/>
            <a:ext cx="6061075" cy="3409950"/>
          </a:xfrm>
        </p:spPr>
      </p:sp>
      <p:sp>
        <p:nvSpPr>
          <p:cNvPr id="93187" name="Notes Placeholder 2">
            <a:extLst>
              <a:ext uri="{FF2B5EF4-FFF2-40B4-BE49-F238E27FC236}">
                <a16:creationId xmlns:a16="http://schemas.microsoft.com/office/drawing/2014/main" id="{A732F319-5589-2747-BD21-24DAEA9E83B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781057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7435A51E-4AE3-48B8-A3E6-28A51FCB731A}"/>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2025.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857C86C6-3F34-4125-B5B5-5EABC8A39FCC}"/>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34EB08B0-3804-409B-8A2E-C14982B2ADF5}"/>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ABB88AC4-3EE3-4B00-BE9C-343678ED7CA5}"/>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4E46EF5B-817F-4C0F-844F-B82F5D922A18}"/>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
        <p:nvSpPr>
          <p:cNvPr id="16" name="TextBox 15">
            <a:extLst>
              <a:ext uri="{FF2B5EF4-FFF2-40B4-BE49-F238E27FC236}">
                <a16:creationId xmlns:a16="http://schemas.microsoft.com/office/drawing/2014/main" id="{5B9D368A-4410-479D-A732-7C84530FBC22}"/>
              </a:ext>
            </a:extLst>
          </p:cNvPr>
          <p:cNvSpPr txBox="1"/>
          <p:nvPr userDrawn="1"/>
        </p:nvSpPr>
        <p:spPr>
          <a:xfrm>
            <a:off x="8480467" y="6235176"/>
            <a:ext cx="3447077" cy="261610"/>
          </a:xfrm>
          <a:prstGeom prst="rect">
            <a:avLst/>
          </a:prstGeom>
          <a:noFill/>
        </p:spPr>
        <p:txBody>
          <a:bodyPr wrap="square" rtlCol="0">
            <a:spAutoFit/>
          </a:bodyPr>
          <a:lstStyle/>
          <a:p>
            <a:pPr algn="r"/>
            <a:r>
              <a:rPr lang="en-ZA" sz="1100" i="0" dirty="0">
                <a:solidFill>
                  <a:srgbClr val="898989"/>
                </a:solidFill>
              </a:rPr>
              <a:t>Demix Logo is a registered trademark in PRC and RSA</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file:///G:\2024-05-04to05-10%20(A5)%20C384400%20NASA\00_Data_Reference.xlsm!pptxCover!R4C2:R13C2" TargetMode="External"/><Relationship Id="rId1" Type="http://schemas.openxmlformats.org/officeDocument/2006/relationships/slideLayout" Target="../slideLayouts/slideLayout1.xml"/><Relationship Id="rId6" Type="http://schemas.openxmlformats.org/officeDocument/2006/relationships/oleObject" Target="file:///G:\2024-05-04to05-10%20(A5)%20C384400%20NASA\00_Data_Reference.xlsm!pptxCover!R22C2" TargetMode="External"/><Relationship Id="rId5" Type="http://schemas.openxmlformats.org/officeDocument/2006/relationships/image" Target="../media/image4.emf"/><Relationship Id="rId4" Type="http://schemas.openxmlformats.org/officeDocument/2006/relationships/oleObject" Target="file:///G:\2024-05-04to05-10%20(A5)%20C384400%20NASA\00_Data_Reference.xlsm!pptxCover!R15C2:R17C2"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png"/><Relationship Id="rId24" Type="http://schemas.openxmlformats.org/officeDocument/2006/relationships/image" Target="../media/image27.jpeg"/><Relationship Id="rId5" Type="http://schemas.openxmlformats.org/officeDocument/2006/relationships/image" Target="../media/image8.gif"/><Relationship Id="rId15" Type="http://schemas.openxmlformats.org/officeDocument/2006/relationships/image" Target="../media/image18.png"/><Relationship Id="rId23" Type="http://schemas.openxmlformats.org/officeDocument/2006/relationships/image" Target="../media/image26.jpe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gif"/><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1C1:R7C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6.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10C1:R18C2"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7.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2!R1C1:R4C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20C1:R31C2"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11.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3!R2C1:R24C9"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12.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2!R30C1:R35C1"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13.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4!R10C1:R27C20"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1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file:///G:\2024-05-04to05-10%20(A5)%20C384400%20NASA\00_Data_Reference.xlsm!pptxLink5!R1C1:R11C5"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file:///G:\2024-05-04to05-10%20(A5)%20C384400%20NASA\00_Data_Reference.xlsm!pptxLink5!R15C1:R21C5"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9C4"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2.emf"/><Relationship Id="rId5" Type="http://schemas.openxmlformats.org/officeDocument/2006/relationships/image" Target="../media/image61.emf"/><Relationship Id="rId4" Type="http://schemas.openxmlformats.org/officeDocument/2006/relationships/image" Target="../media/image60.emf"/></Relationships>
</file>

<file path=ppt/slides/_rels/slide41.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9C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3.emf"/><Relationship Id="rId5" Type="http://schemas.openxmlformats.org/officeDocument/2006/relationships/image" Target="../media/image61.emf"/><Relationship Id="rId4" Type="http://schemas.openxmlformats.org/officeDocument/2006/relationships/image" Target="../media/image60.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6!R2C2:R13C5"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4.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file:///G:\2024-05-04to05-10%20(A5)%20C384400%20NASA\00_Data_Reference.xlsm!pptxLink7!R2C2:R16C4"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oleObject" Target="file:///G:\2024-05-04to05-10%20(A5)%20C384400%20NASA\00_Data_Reference.xlsm!pptxLink7!R18C2:R32C4"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oleObject" Target="file:///G:\2024-05-04to05-10%20(A5)%20C384400%20NASA\00_Data_Reference.xlsm!pptxCover!R23C7" TargetMode="External"/><Relationship Id="rId1" Type="http://schemas.openxmlformats.org/officeDocument/2006/relationships/slideLayout" Target="../slideLayouts/slideLayout2.xml"/><Relationship Id="rId5" Type="http://schemas.openxmlformats.org/officeDocument/2006/relationships/hyperlink" Target="http://www.demixium.com/" TargetMode="External"/><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3" Type="http://schemas.openxmlformats.org/officeDocument/2006/relationships/hyperlink" Target="http://www.demixium.com/" TargetMode="External"/><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hyperlink" Target="https://demixium.com/?page_id=99" TargetMode="External"/><Relationship Id="rId4" Type="http://schemas.openxmlformats.org/officeDocument/2006/relationships/image" Target="../media/image69.png"/></Relationships>
</file>

<file path=ppt/slides/_rels/slide52.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oleObject" Target="file:///G:\2024-05-04to05-10%20(A5)%20C384400%20NASA\00_Data_Reference.xlsm!pptxCover!R26C2:R33C4"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8B9ADBE-4D60-4D63-BCF7-E9F427C74524}"/>
              </a:ext>
            </a:extLst>
          </p:cNvPr>
          <p:cNvGraphicFramePr>
            <a:graphicFrameLocks noChangeAspect="1"/>
          </p:cNvGraphicFramePr>
          <p:nvPr>
            <p:extLst>
              <p:ext uri="{D42A27DB-BD31-4B8C-83A1-F6EECF244321}">
                <p14:modId xmlns:p14="http://schemas.microsoft.com/office/powerpoint/2010/main" val="3210626087"/>
              </p:ext>
            </p:extLst>
          </p:nvPr>
        </p:nvGraphicFramePr>
        <p:xfrm>
          <a:off x="3497263" y="1890713"/>
          <a:ext cx="5197475" cy="3116262"/>
        </p:xfrm>
        <a:graphic>
          <a:graphicData uri="http://schemas.openxmlformats.org/presentationml/2006/ole">
            <mc:AlternateContent xmlns:mc="http://schemas.openxmlformats.org/markup-compatibility/2006">
              <mc:Choice xmlns:v="urn:schemas-microsoft-com:vml" Requires="v">
                <p:oleObj name="Macro-Enabled Worksheet" r:id="rId2" imgW="5196769" imgH="3116588" progId="Excel.SheetMacroEnabled.12">
                  <p:link updateAutomatic="1"/>
                </p:oleObj>
              </mc:Choice>
              <mc:Fallback>
                <p:oleObj name="Macro-Enabled Worksheet" r:id="rId2" imgW="5196769" imgH="3116588" progId="Excel.SheetMacroEnabled.12">
                  <p:link updateAutomatic="1"/>
                  <p:pic>
                    <p:nvPicPr>
                      <p:cNvPr id="2" name="Object 1">
                        <a:extLst>
                          <a:ext uri="{FF2B5EF4-FFF2-40B4-BE49-F238E27FC236}">
                            <a16:creationId xmlns:a16="http://schemas.microsoft.com/office/drawing/2014/main" id="{B8B9ADBE-4D60-4D63-BCF7-E9F427C74524}"/>
                          </a:ext>
                        </a:extLst>
                      </p:cNvPr>
                      <p:cNvPicPr/>
                      <p:nvPr/>
                    </p:nvPicPr>
                    <p:blipFill>
                      <a:blip r:embed="rId3"/>
                      <a:stretch>
                        <a:fillRect/>
                      </a:stretch>
                    </p:blipFill>
                    <p:spPr>
                      <a:xfrm>
                        <a:off x="3497263" y="1890713"/>
                        <a:ext cx="5197475" cy="3116262"/>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Final Findings</a:t>
            </a:r>
          </a:p>
        </p:txBody>
      </p:sp>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2936713853"/>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name="Macro-Enabled Worksheet" r:id="rId4" imgW="5196769" imgH="670734" progId="Excel.SheetMacroEnabled.12">
                  <p:link updateAutomatic="1"/>
                </p:oleObj>
              </mc:Choice>
              <mc:Fallback>
                <p:oleObj name="Macro-Enabled Worksheet" r:id="rId4" imgW="5196769" imgH="670734" progId="Excel.SheetMacroEnabled.12">
                  <p:link updateAutomatic="1"/>
                  <p:pic>
                    <p:nvPicPr>
                      <p:cNvPr id="11" name="Object 10">
                        <a:extLst>
                          <a:ext uri="{FF2B5EF4-FFF2-40B4-BE49-F238E27FC236}">
                            <a16:creationId xmlns:a16="http://schemas.microsoft.com/office/drawing/2014/main" id="{6376B0D6-A6B1-4DF8-BDB4-D2848D89586A}"/>
                          </a:ext>
                        </a:extLst>
                      </p:cNvPr>
                      <p:cNvPicPr/>
                      <p:nvPr/>
                    </p:nvPicPr>
                    <p:blipFill>
                      <a:blip r:embed="rId5"/>
                      <a:stretch>
                        <a:fillRect/>
                      </a:stretch>
                    </p:blipFill>
                    <p:spPr>
                      <a:xfrm>
                        <a:off x="3375025" y="5383213"/>
                        <a:ext cx="5440363" cy="66198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9664E61-F038-4552-B7C5-B571E0E1A96A}"/>
              </a:ext>
            </a:extLst>
          </p:cNvPr>
          <p:cNvGraphicFramePr>
            <a:graphicFrameLocks noChangeAspect="1"/>
          </p:cNvGraphicFramePr>
          <p:nvPr>
            <p:extLst>
              <p:ext uri="{D42A27DB-BD31-4B8C-83A1-F6EECF244321}">
                <p14:modId xmlns:p14="http://schemas.microsoft.com/office/powerpoint/2010/main" val="1584021007"/>
              </p:ext>
            </p:extLst>
          </p:nvPr>
        </p:nvGraphicFramePr>
        <p:xfrm>
          <a:off x="3497263" y="5095875"/>
          <a:ext cx="5197475" cy="274638"/>
        </p:xfrm>
        <a:graphic>
          <a:graphicData uri="http://schemas.openxmlformats.org/presentationml/2006/ole">
            <mc:AlternateContent xmlns:mc="http://schemas.openxmlformats.org/markup-compatibility/2006">
              <mc:Choice xmlns:v="urn:schemas-microsoft-com:vml" Requires="v">
                <p:oleObj name="Macro-Enabled Worksheet" r:id="rId6" imgW="5196769" imgH="274178" progId="Excel.SheetMacroEnabled.12">
                  <p:link updateAutomatic="1"/>
                </p:oleObj>
              </mc:Choice>
              <mc:Fallback>
                <p:oleObj name="Macro-Enabled Worksheet" r:id="rId6" imgW="5196769" imgH="274178" progId="Excel.SheetMacroEnabled.12">
                  <p:link updateAutomatic="1"/>
                  <p:pic>
                    <p:nvPicPr>
                      <p:cNvPr id="5" name="Object 4">
                        <a:extLst>
                          <a:ext uri="{FF2B5EF4-FFF2-40B4-BE49-F238E27FC236}">
                            <a16:creationId xmlns:a16="http://schemas.microsoft.com/office/drawing/2014/main" id="{49664E61-F038-4552-B7C5-B571E0E1A96A}"/>
                          </a:ext>
                        </a:extLst>
                      </p:cNvPr>
                      <p:cNvPicPr/>
                      <p:nvPr/>
                    </p:nvPicPr>
                    <p:blipFill>
                      <a:blip r:embed="rId7"/>
                      <a:stretch>
                        <a:fillRect/>
                      </a:stretch>
                    </p:blipFill>
                    <p:spPr>
                      <a:xfrm>
                        <a:off x="3497263" y="50958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noFill/>
            <a:prstDash val="solid"/>
            <a:miter lim="800000"/>
            <a:headEnd type="none" w="sm" len="sm"/>
            <a:tailEnd type="none" w="sm" len="sm"/>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8"/>
          <a:stretch>
            <a:fillRect/>
          </a:stretch>
        </p:blipFill>
        <p:spPr>
          <a:xfrm>
            <a:off x="8000113" y="1041906"/>
            <a:ext cx="1080000" cy="62985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12"/>
          <a:stretch>
            <a:fillRect/>
          </a:stretch>
        </p:blipFill>
        <p:spPr>
          <a:xfrm>
            <a:off x="2687402" y="2651707"/>
            <a:ext cx="1080000" cy="70636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15"/>
          <a:stretch>
            <a:fillRect/>
          </a:stretch>
        </p:blipFill>
        <p:spPr>
          <a:xfrm>
            <a:off x="1353377"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16"/>
          <a:stretch>
            <a:fillRect/>
          </a:stretch>
        </p:blipFill>
        <p:spPr>
          <a:xfrm>
            <a:off x="1362529" y="1870870"/>
            <a:ext cx="1080000" cy="64435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17"/>
          <a:stretch>
            <a:fillRect/>
          </a:stretch>
        </p:blipFill>
        <p:spPr>
          <a:xfrm>
            <a:off x="9339663"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18"/>
          <a:stretch>
            <a:fillRect/>
          </a:stretch>
        </p:blipFill>
        <p:spPr>
          <a:xfrm>
            <a:off x="8000111"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19"/>
          <a:srcRect b="6395"/>
          <a:stretch/>
        </p:blipFill>
        <p:spPr>
          <a:xfrm>
            <a:off x="6694728" y="1040336"/>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20"/>
          <a:stretch>
            <a:fillRect/>
          </a:stretch>
        </p:blipFill>
        <p:spPr>
          <a:xfrm>
            <a:off x="4025456" y="2644070"/>
            <a:ext cx="1080000" cy="706364"/>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21"/>
          <a:stretch>
            <a:fillRect/>
          </a:stretch>
        </p:blipFill>
        <p:spPr>
          <a:xfrm>
            <a:off x="6683311" y="1839722"/>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9" name="TextBox 4">
            <a:extLst>
              <a:ext uri="{FF2B5EF4-FFF2-40B4-BE49-F238E27FC236}">
                <a16:creationId xmlns:a16="http://schemas.microsoft.com/office/drawing/2014/main" id="{CB425F2D-C583-0A76-4E83-380A21373754}"/>
              </a:ext>
            </a:extLst>
          </p:cNvPr>
          <p:cNvSpPr txBox="1">
            <a:spLocks noChangeArrowheads="1"/>
          </p:cNvSpPr>
          <p:nvPr/>
        </p:nvSpPr>
        <p:spPr bwMode="auto">
          <a:xfrm>
            <a:off x="2057399" y="3787338"/>
            <a:ext cx="807720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sz="2000" dirty="0">
                <a:latin typeface="+mn-lt"/>
                <a:ea typeface="Calibri"/>
              </a:rPr>
              <a:t>It is a pleasure and an honour to be here with you today. </a:t>
            </a:r>
          </a:p>
          <a:p>
            <a:pPr algn="ctr"/>
            <a:r>
              <a:rPr lang="en-GB" sz="2000" dirty="0">
                <a:latin typeface="+mn-lt"/>
                <a:ea typeface="Calibri"/>
              </a:rPr>
              <a:t>We are now looking forward to presenting to you the final findings.</a:t>
            </a:r>
            <a:endParaRPr lang="en-US" dirty="0">
              <a:ea typeface="Calibri"/>
            </a:endParaRPr>
          </a:p>
          <a:p>
            <a:pPr algn="ctr"/>
            <a:r>
              <a:rPr lang="zh-CN" altLang="en-GB" sz="2000" dirty="0" err="1">
                <a:solidFill>
                  <a:srgbClr val="1F497D"/>
                </a:solidFill>
                <a:latin typeface="SimSun"/>
                <a:ea typeface="SimSun"/>
              </a:rPr>
              <a:t>今天能和大家在一起，我感到非常荣幸。我们现在期待着向您展示贵司的最终结果</a:t>
            </a:r>
            <a:r>
              <a:rPr lang="zh-CN" altLang="en-GB" sz="2000" dirty="0">
                <a:solidFill>
                  <a:srgbClr val="1F497D"/>
                </a:solidFill>
                <a:latin typeface="SimSun"/>
                <a:ea typeface="SimSun"/>
              </a:rPr>
              <a:t>。</a:t>
            </a:r>
            <a:endParaRPr lang="zh-CN" dirty="0"/>
          </a:p>
          <a:p>
            <a:pPr algn="ctr"/>
            <a:endParaRPr lang="en-GB" altLang="zh-CN" sz="2000" dirty="0">
              <a:solidFill>
                <a:srgbClr val="000000"/>
              </a:solidFill>
              <a:latin typeface="Calibri"/>
              <a:ea typeface="等线"/>
              <a:cs typeface="Calibri"/>
            </a:endParaRPr>
          </a:p>
        </p:txBody>
      </p:sp>
      <p:sp>
        <p:nvSpPr>
          <p:cNvPr id="52" name="TextBox 51">
            <a:extLst>
              <a:ext uri="{FF2B5EF4-FFF2-40B4-BE49-F238E27FC236}">
                <a16:creationId xmlns:a16="http://schemas.microsoft.com/office/drawing/2014/main" id="{382945E9-2F57-4420-BA56-8960D3908F35}"/>
              </a:ext>
            </a:extLst>
          </p:cNvPr>
          <p:cNvSpPr txBox="1"/>
          <p:nvPr/>
        </p:nvSpPr>
        <p:spPr>
          <a:xfrm>
            <a:off x="10628572" y="1054688"/>
            <a:ext cx="1356866" cy="738664"/>
          </a:xfrm>
          <a:prstGeom prst="rect">
            <a:avLst/>
          </a:prstGeom>
          <a:noFill/>
          <a:ln>
            <a:solidFill>
              <a:srgbClr val="FF0000"/>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srgbClr val="FF0000"/>
                </a:solidFill>
              </a:rPr>
              <a:t>Registered PRC trademark</a:t>
            </a:r>
          </a:p>
          <a:p>
            <a:pPr algn="ctr"/>
            <a:r>
              <a:rPr lang="en-US" sz="1400" b="1" dirty="0">
                <a:solidFill>
                  <a:srgbClr val="FF0000"/>
                </a:solidFill>
              </a:rPr>
              <a:t>21050449</a:t>
            </a:r>
          </a:p>
        </p:txBody>
      </p:sp>
      <p:pic>
        <p:nvPicPr>
          <p:cNvPr id="10" name="Picture 9">
            <a:extLst>
              <a:ext uri="{FF2B5EF4-FFF2-40B4-BE49-F238E27FC236}">
                <a16:creationId xmlns:a16="http://schemas.microsoft.com/office/drawing/2014/main" id="{B883F363-8032-AE88-2810-0BA8D55C91D7}"/>
              </a:ext>
            </a:extLst>
          </p:cNvPr>
          <p:cNvPicPr>
            <a:picLocks noChangeAspect="1"/>
          </p:cNvPicPr>
          <p:nvPr/>
        </p:nvPicPr>
        <p:blipFill>
          <a:blip r:embed="rId22"/>
          <a:stretch>
            <a:fillRect/>
          </a:stretch>
        </p:blipFill>
        <p:spPr>
          <a:xfrm>
            <a:off x="1344954" y="2695850"/>
            <a:ext cx="1080000" cy="70094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050" name="Picture 2" descr="Flag of Costa Rica | Meaning, Colors &amp; History | Britannica">
            <a:extLst>
              <a:ext uri="{FF2B5EF4-FFF2-40B4-BE49-F238E27FC236}">
                <a16:creationId xmlns:a16="http://schemas.microsoft.com/office/drawing/2014/main" id="{53CD89D5-7FF2-D96B-EA13-4AAF739544DC}"/>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316911" y="2641935"/>
            <a:ext cx="1080000" cy="676193"/>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11" name="Picture 10" descr="A picture containing clipart&#10;&#10;Description automatically generated">
            <a:extLst>
              <a:ext uri="{FF2B5EF4-FFF2-40B4-BE49-F238E27FC236}">
                <a16:creationId xmlns:a16="http://schemas.microsoft.com/office/drawing/2014/main" id="{C7511AF9-9DDC-D3FE-E2B7-23997BFF7E03}"/>
              </a:ext>
            </a:extLst>
          </p:cNvPr>
          <p:cNvPicPr>
            <a:picLocks noChangeAspect="1"/>
          </p:cNvPicPr>
          <p:nvPr/>
        </p:nvPicPr>
        <p:blipFill>
          <a:blip r:embed="rId24">
            <a:extLst>
              <a:ext uri="{28A0092B-C50C-407E-A947-70E740481C1C}">
                <a14:useLocalDpi xmlns:a14="http://schemas.microsoft.com/office/drawing/2010/main" val="0"/>
              </a:ext>
            </a:extLst>
          </a:blip>
          <a:srcRect t="18393" b="22290"/>
          <a:stretch/>
        </p:blipFill>
        <p:spPr>
          <a:xfrm>
            <a:off x="4686109" y="5403449"/>
            <a:ext cx="1734754" cy="597600"/>
          </a:xfrm>
          <a:prstGeom prst="rect">
            <a:avLst/>
          </a:prstGeom>
          <a:ln>
            <a:solidFill>
              <a:schemeClr val="bg1"/>
            </a:solidFill>
          </a:ln>
        </p:spPr>
      </p:pic>
      <p:pic>
        <p:nvPicPr>
          <p:cNvPr id="13" name="Picture 12">
            <a:extLst>
              <a:ext uri="{FF2B5EF4-FFF2-40B4-BE49-F238E27FC236}">
                <a16:creationId xmlns:a16="http://schemas.microsoft.com/office/drawing/2014/main" id="{6ED20F75-AD49-6B89-8D12-E802056B11C7}"/>
              </a:ext>
            </a:extLst>
          </p:cNvPr>
          <p:cNvPicPr>
            <a:picLocks noChangeAspect="1"/>
          </p:cNvPicPr>
          <p:nvPr/>
        </p:nvPicPr>
        <p:blipFill>
          <a:blip r:embed="rId25"/>
          <a:stretch>
            <a:fillRect/>
          </a:stretch>
        </p:blipFill>
        <p:spPr>
          <a:xfrm>
            <a:off x="6900828" y="5309832"/>
            <a:ext cx="2031326" cy="1015663"/>
          </a:xfrm>
          <a:prstGeom prst="rect">
            <a:avLst/>
          </a:prstGeom>
          <a:ln>
            <a:solidFill>
              <a:schemeClr val="bg1"/>
            </a:solidFill>
          </a:ln>
        </p:spPr>
      </p:pic>
      <p:pic>
        <p:nvPicPr>
          <p:cNvPr id="14" name="Picture 4" descr="ISACA® Certifications | Global Lynx">
            <a:extLst>
              <a:ext uri="{FF2B5EF4-FFF2-40B4-BE49-F238E27FC236}">
                <a16:creationId xmlns:a16="http://schemas.microsoft.com/office/drawing/2014/main" id="{7E5E8D86-C26E-2913-0B3F-91DB52533455}"/>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321054" y="5403449"/>
            <a:ext cx="1892400" cy="597600"/>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15" name="Picture 14" descr="A close up of a logo&#10;&#10;AI-generated content may be incorrect.">
            <a:extLst>
              <a:ext uri="{FF2B5EF4-FFF2-40B4-BE49-F238E27FC236}">
                <a16:creationId xmlns:a16="http://schemas.microsoft.com/office/drawing/2014/main" id="{AA70989F-A34B-1CEE-79EB-CFFE2B8CFFD1}"/>
              </a:ext>
            </a:extLst>
          </p:cNvPr>
          <p:cNvPicPr>
            <a:picLocks noChangeAspect="1"/>
          </p:cNvPicPr>
          <p:nvPr/>
        </p:nvPicPr>
        <p:blipFill>
          <a:blip r:embed="rId27"/>
          <a:stretch>
            <a:fillRect/>
          </a:stretch>
        </p:blipFill>
        <p:spPr>
          <a:xfrm>
            <a:off x="953612" y="5215166"/>
            <a:ext cx="3467580" cy="974166"/>
          </a:xfrm>
          <a:prstGeom prst="rect">
            <a:avLst/>
          </a:prstGeom>
        </p:spPr>
      </p:pic>
    </p:spTree>
    <p:extLst>
      <p:ext uri="{BB962C8B-B14F-4D97-AF65-F5344CB8AC3E}">
        <p14:creationId xmlns:p14="http://schemas.microsoft.com/office/powerpoint/2010/main" val="979269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Agenda </a:t>
            </a:r>
            <a:r>
              <a:rPr lang="zh-CN" altLang="en-US" dirty="0">
                <a:solidFill>
                  <a:srgbClr val="1F497D"/>
                </a:solidFill>
              </a:rPr>
              <a:t>议程</a:t>
            </a:r>
            <a:r>
              <a:rPr lang="en-ZA" dirty="0">
                <a:solidFill>
                  <a:srgbClr val="1F497D"/>
                </a:solidFill>
              </a:rPr>
              <a:t> </a:t>
            </a:r>
            <a:r>
              <a:rPr lang="en-ZA" dirty="0"/>
              <a:t> </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fontScale="92500" lnSpcReduction="10000"/>
          </a:bodyPr>
          <a:lstStyle/>
          <a:p>
            <a:r>
              <a:rPr lang="en-NZ" sz="2400" b="0" i="0" dirty="0">
                <a:solidFill>
                  <a:srgbClr val="000000"/>
                </a:solidFill>
                <a:effectLst/>
                <a:latin typeface="Calibri" panose="020F0502020204030204" pitchFamily="34" charset="0"/>
              </a:rPr>
              <a:t>Appraisal Overview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评估概述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Practice Area Findings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实践域发现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Performance Report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性能报告</a:t>
            </a:r>
            <a:r>
              <a:rPr lang="en-NZ" sz="2400" b="1" dirty="0">
                <a:solidFill>
                  <a:srgbClr val="1F497D"/>
                </a:solidFill>
                <a:ea typeface="+mj-ea"/>
                <a:cs typeface="+mj-cs"/>
              </a:rPr>
              <a:t>  </a:t>
            </a:r>
          </a:p>
          <a:p>
            <a:r>
              <a:rPr lang="en-NZ" sz="2400" b="0" i="0" dirty="0">
                <a:solidFill>
                  <a:srgbClr val="000000"/>
                </a:solidFill>
                <a:effectLst/>
                <a:latin typeface="Calibri" panose="020F0502020204030204" pitchFamily="34" charset="0"/>
              </a:rPr>
              <a:t>Ratings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评级</a:t>
            </a:r>
            <a:endParaRPr lang="en-ZA" altLang="zh-CN"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Annexures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附加展示</a:t>
            </a:r>
            <a:endParaRPr lang="en-NZ" sz="2400" b="0" i="0" dirty="0">
              <a:solidFill>
                <a:srgbClr val="000000"/>
              </a:solidFill>
              <a:effectLst/>
              <a:latin typeface="Calibri" panose="020F0502020204030204" pitchFamily="34" charset="0"/>
            </a:endParaRPr>
          </a:p>
          <a:p>
            <a:pPr lvl="1"/>
            <a:r>
              <a:rPr lang="en-NZ" b="0" i="0" dirty="0">
                <a:solidFill>
                  <a:srgbClr val="000000"/>
                </a:solidFill>
                <a:effectLst/>
                <a:latin typeface="Calibri" panose="020F0502020204030204" pitchFamily="34" charset="0"/>
              </a:rPr>
              <a:t>Non model findings </a:t>
            </a:r>
            <a:endParaRPr lang="en-NZ" dirty="0">
              <a:solidFill>
                <a:srgbClr val="000000"/>
              </a:solidFill>
              <a:latin typeface="Calibri" panose="020F0502020204030204" pitchFamily="34" charset="0"/>
            </a:endParaRPr>
          </a:p>
          <a:p>
            <a:pPr lvl="1"/>
            <a:r>
              <a:rPr lang="en-NZ" b="0" i="0" dirty="0">
                <a:solidFill>
                  <a:srgbClr val="000000"/>
                </a:solidFill>
                <a:effectLst/>
                <a:latin typeface="Calibri" panose="020F0502020204030204" pitchFamily="34" charset="0"/>
              </a:rPr>
              <a:t>Improvement opportunities </a:t>
            </a:r>
          </a:p>
          <a:p>
            <a:pPr lvl="1"/>
            <a:r>
              <a:rPr lang="en-NZ" b="0" i="0" dirty="0">
                <a:solidFill>
                  <a:srgbClr val="000000"/>
                </a:solidFill>
                <a:effectLst/>
                <a:latin typeface="Calibri" panose="020F0502020204030204" pitchFamily="34" charset="0"/>
              </a:rPr>
              <a:t>Next steps </a:t>
            </a:r>
            <a:endParaRPr lang="en-US" sz="2000" dirty="0"/>
          </a:p>
        </p:txBody>
      </p:sp>
    </p:spTree>
    <p:extLst>
      <p:ext uri="{BB962C8B-B14F-4D97-AF65-F5344CB8AC3E}">
        <p14:creationId xmlns:p14="http://schemas.microsoft.com/office/powerpoint/2010/main" val="156962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a:xfrm>
            <a:off x="962488" y="1039828"/>
            <a:ext cx="10515600" cy="602284"/>
          </a:xfrm>
        </p:spPr>
        <p:txBody>
          <a:bodyPr/>
          <a:lstStyle/>
          <a:p>
            <a:pPr eaLnBrk="1" hangingPunct="1"/>
            <a:r>
              <a:rPr lang="en-US" altLang="en-US" dirty="0">
                <a:ea typeface="ＭＳ Ｐゴシック" charset="-128"/>
              </a:rPr>
              <a:t>Appraisal Overview</a:t>
            </a:r>
          </a:p>
        </p:txBody>
      </p:sp>
      <p:graphicFrame>
        <p:nvGraphicFramePr>
          <p:cNvPr id="2" name="Object 1">
            <a:extLst>
              <a:ext uri="{FF2B5EF4-FFF2-40B4-BE49-F238E27FC236}">
                <a16:creationId xmlns:a16="http://schemas.microsoft.com/office/drawing/2014/main" id="{F0834E9F-5D77-4D80-9135-468AD546C5ED}"/>
              </a:ext>
            </a:extLst>
          </p:cNvPr>
          <p:cNvGraphicFramePr>
            <a:graphicFrameLocks noChangeAspect="1"/>
          </p:cNvGraphicFramePr>
          <p:nvPr>
            <p:extLst>
              <p:ext uri="{D42A27DB-BD31-4B8C-83A1-F6EECF244321}">
                <p14:modId xmlns:p14="http://schemas.microsoft.com/office/powerpoint/2010/main" val="847791808"/>
              </p:ext>
            </p:extLst>
          </p:nvPr>
        </p:nvGraphicFramePr>
        <p:xfrm>
          <a:off x="985838" y="2262188"/>
          <a:ext cx="8245475" cy="1431925"/>
        </p:xfrm>
        <a:graphic>
          <a:graphicData uri="http://schemas.openxmlformats.org/presentationml/2006/ole">
            <mc:AlternateContent xmlns:mc="http://schemas.openxmlformats.org/markup-compatibility/2006">
              <mc:Choice xmlns:v="urn:schemas-microsoft-com:vml" Requires="v">
                <p:oleObj name="Macro-Enabled Worksheet" r:id="rId3" imgW="8244911" imgH="1432718" progId="Excel.SheetMacroEnabled.12">
                  <p:link updateAutomatic="1"/>
                </p:oleObj>
              </mc:Choice>
              <mc:Fallback>
                <p:oleObj name="Macro-Enabled Worksheet" r:id="rId3" imgW="8244911" imgH="1432718" progId="Excel.SheetMacroEnabled.12">
                  <p:link updateAutomatic="1"/>
                  <p:pic>
                    <p:nvPicPr>
                      <p:cNvPr id="2" name="Object 1">
                        <a:extLst>
                          <a:ext uri="{FF2B5EF4-FFF2-40B4-BE49-F238E27FC236}">
                            <a16:creationId xmlns:a16="http://schemas.microsoft.com/office/drawing/2014/main" id="{F0834E9F-5D77-4D80-9135-468AD546C5ED}"/>
                          </a:ext>
                        </a:extLst>
                      </p:cNvPr>
                      <p:cNvPicPr/>
                      <p:nvPr/>
                    </p:nvPicPr>
                    <p:blipFill>
                      <a:blip r:embed="rId4"/>
                      <a:stretch>
                        <a:fillRect/>
                      </a:stretch>
                    </p:blipFill>
                    <p:spPr>
                      <a:xfrm>
                        <a:off x="985838" y="2262188"/>
                        <a:ext cx="8245475" cy="1431925"/>
                      </a:xfrm>
                      <a:prstGeom prst="rect">
                        <a:avLst/>
                      </a:prstGeom>
                    </p:spPr>
                  </p:pic>
                </p:oleObj>
              </mc:Fallback>
            </mc:AlternateContent>
          </a:graphicData>
        </a:graphic>
      </p:graphicFrame>
    </p:spTree>
    <p:extLst>
      <p:ext uri="{BB962C8B-B14F-4D97-AF65-F5344CB8AC3E}">
        <p14:creationId xmlns:p14="http://schemas.microsoft.com/office/powerpoint/2010/main" val="2391473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p:txBody>
          <a:bodyPr/>
          <a:lstStyle/>
          <a:p>
            <a:pPr eaLnBrk="1" hangingPunct="1"/>
            <a:r>
              <a:rPr lang="en-US" altLang="en-US" dirty="0">
                <a:ea typeface="ＭＳ Ｐゴシック" charset="-128"/>
              </a:rPr>
              <a:t>Appraisal Overview</a:t>
            </a:r>
          </a:p>
        </p:txBody>
      </p:sp>
      <p:graphicFrame>
        <p:nvGraphicFramePr>
          <p:cNvPr id="3" name="Object 2">
            <a:extLst>
              <a:ext uri="{FF2B5EF4-FFF2-40B4-BE49-F238E27FC236}">
                <a16:creationId xmlns:a16="http://schemas.microsoft.com/office/drawing/2014/main" id="{0EB7EFCD-0F5E-4911-B397-E6C1C181361B}"/>
              </a:ext>
            </a:extLst>
          </p:cNvPr>
          <p:cNvGraphicFramePr>
            <a:graphicFrameLocks noChangeAspect="1"/>
          </p:cNvGraphicFramePr>
          <p:nvPr>
            <p:extLst>
              <p:ext uri="{D42A27DB-BD31-4B8C-83A1-F6EECF244321}">
                <p14:modId xmlns:p14="http://schemas.microsoft.com/office/powerpoint/2010/main" val="1337228355"/>
              </p:ext>
            </p:extLst>
          </p:nvPr>
        </p:nvGraphicFramePr>
        <p:xfrm>
          <a:off x="1106488" y="2220913"/>
          <a:ext cx="8245475" cy="1584325"/>
        </p:xfrm>
        <a:graphic>
          <a:graphicData uri="http://schemas.openxmlformats.org/presentationml/2006/ole">
            <mc:AlternateContent xmlns:mc="http://schemas.openxmlformats.org/markup-compatibility/2006">
              <mc:Choice xmlns:v="urn:schemas-microsoft-com:vml" Requires="v">
                <p:oleObj name="Macro-Enabled Worksheet" r:id="rId3" imgW="8244911" imgH="1584944" progId="Excel.SheetMacroEnabled.12">
                  <p:link updateAutomatic="1"/>
                </p:oleObj>
              </mc:Choice>
              <mc:Fallback>
                <p:oleObj name="Macro-Enabled Worksheet" r:id="rId3" imgW="8244911" imgH="1584944" progId="Excel.SheetMacroEnabled.12">
                  <p:link updateAutomatic="1"/>
                  <p:pic>
                    <p:nvPicPr>
                      <p:cNvPr id="3" name="Object 2">
                        <a:extLst>
                          <a:ext uri="{FF2B5EF4-FFF2-40B4-BE49-F238E27FC236}">
                            <a16:creationId xmlns:a16="http://schemas.microsoft.com/office/drawing/2014/main" id="{0EB7EFCD-0F5E-4911-B397-E6C1C181361B}"/>
                          </a:ext>
                        </a:extLst>
                      </p:cNvPr>
                      <p:cNvPicPr/>
                      <p:nvPr/>
                    </p:nvPicPr>
                    <p:blipFill>
                      <a:blip r:embed="rId4"/>
                      <a:stretch>
                        <a:fillRect/>
                      </a:stretch>
                    </p:blipFill>
                    <p:spPr>
                      <a:xfrm>
                        <a:off x="1106488" y="2220913"/>
                        <a:ext cx="8245475" cy="1584325"/>
                      </a:xfrm>
                      <a:prstGeom prst="rect">
                        <a:avLst/>
                      </a:prstGeom>
                    </p:spPr>
                  </p:pic>
                </p:oleObj>
              </mc:Fallback>
            </mc:AlternateContent>
          </a:graphicData>
        </a:graphic>
      </p:graphicFrame>
    </p:spTree>
    <p:extLst>
      <p:ext uri="{BB962C8B-B14F-4D97-AF65-F5344CB8AC3E}">
        <p14:creationId xmlns:p14="http://schemas.microsoft.com/office/powerpoint/2010/main" val="250580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pPr eaLnBrk="1" hangingPunct="1"/>
            <a:r>
              <a:rPr lang="en-US" altLang="en-US" dirty="0">
                <a:ea typeface="ＭＳ Ｐゴシック" charset="-128"/>
              </a:rPr>
              <a:t>Business and Appraisal Objectives</a:t>
            </a:r>
          </a:p>
        </p:txBody>
      </p:sp>
      <p:graphicFrame>
        <p:nvGraphicFramePr>
          <p:cNvPr id="3" name="Object 2">
            <a:extLst>
              <a:ext uri="{FF2B5EF4-FFF2-40B4-BE49-F238E27FC236}">
                <a16:creationId xmlns:a16="http://schemas.microsoft.com/office/drawing/2014/main" id="{CBD7C3AC-6FAD-48FF-80E6-B156EB53802A}"/>
              </a:ext>
            </a:extLst>
          </p:cNvPr>
          <p:cNvGraphicFramePr>
            <a:graphicFrameLocks noChangeAspect="1"/>
          </p:cNvGraphicFramePr>
          <p:nvPr>
            <p:extLst>
              <p:ext uri="{D42A27DB-BD31-4B8C-83A1-F6EECF244321}">
                <p14:modId xmlns:p14="http://schemas.microsoft.com/office/powerpoint/2010/main" val="3847304370"/>
              </p:ext>
            </p:extLst>
          </p:nvPr>
        </p:nvGraphicFramePr>
        <p:xfrm>
          <a:off x="1165225" y="2252663"/>
          <a:ext cx="7437438" cy="1393825"/>
        </p:xfrm>
        <a:graphic>
          <a:graphicData uri="http://schemas.openxmlformats.org/presentationml/2006/ole">
            <mc:AlternateContent xmlns:mc="http://schemas.openxmlformats.org/markup-compatibility/2006">
              <mc:Choice xmlns:v="urn:schemas-microsoft-com:vml" Requires="v">
                <p:oleObj name="Macro-Enabled Worksheet" r:id="rId3" imgW="7437262" imgH="1394342" progId="Excel.SheetMacroEnabled.12">
                  <p:link updateAutomatic="1"/>
                </p:oleObj>
              </mc:Choice>
              <mc:Fallback>
                <p:oleObj name="Macro-Enabled Worksheet" r:id="rId3" imgW="7437262" imgH="1394342" progId="Excel.SheetMacroEnabled.12">
                  <p:link updateAutomatic="1"/>
                  <p:pic>
                    <p:nvPicPr>
                      <p:cNvPr id="3" name="Object 2">
                        <a:extLst>
                          <a:ext uri="{FF2B5EF4-FFF2-40B4-BE49-F238E27FC236}">
                            <a16:creationId xmlns:a16="http://schemas.microsoft.com/office/drawing/2014/main" id="{CBD7C3AC-6FAD-48FF-80E6-B156EB53802A}"/>
                          </a:ext>
                        </a:extLst>
                      </p:cNvPr>
                      <p:cNvPicPr/>
                      <p:nvPr/>
                    </p:nvPicPr>
                    <p:blipFill>
                      <a:blip r:embed="rId4"/>
                      <a:stretch>
                        <a:fillRect/>
                      </a:stretch>
                    </p:blipFill>
                    <p:spPr>
                      <a:xfrm>
                        <a:off x="1165225" y="2252663"/>
                        <a:ext cx="7437438" cy="1393825"/>
                      </a:xfrm>
                      <a:prstGeom prst="rect">
                        <a:avLst/>
                      </a:prstGeom>
                    </p:spPr>
                  </p:pic>
                </p:oleObj>
              </mc:Fallback>
            </mc:AlternateContent>
          </a:graphicData>
        </a:graphic>
      </p:graphicFrame>
    </p:spTree>
    <p:extLst>
      <p:ext uri="{BB962C8B-B14F-4D97-AF65-F5344CB8AC3E}">
        <p14:creationId xmlns:p14="http://schemas.microsoft.com/office/powerpoint/2010/main" val="14859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057247"/>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489220"/>
            <a:ext cx="10397837" cy="4531043"/>
          </a:xfrm>
        </p:spPr>
        <p:txBody>
          <a:bodyPr>
            <a:noAutofit/>
          </a:bodyPr>
          <a:lstStyle/>
          <a:p>
            <a:pPr marL="0" indent="0">
              <a:spcBef>
                <a:spcPts val="300"/>
              </a:spcBef>
              <a:buNone/>
            </a:pPr>
            <a:r>
              <a:rPr lang="en-GB" sz="1600" dirty="0">
                <a:solidFill>
                  <a:srgbClr val="000000"/>
                </a:solidFill>
                <a:latin typeface="Arial" panose="020B0604020202020204" pitchFamily="34" charset="0"/>
                <a:ea typeface="Calibri" panose="020F0502020204030204" pitchFamily="34" charset="0"/>
              </a:rPr>
              <a:t>When virtual interviews are planned for the appraisal, then virtual face-to-face (</a:t>
            </a:r>
            <a:r>
              <a:rPr lang="en-GB" sz="1600" dirty="0" err="1">
                <a:solidFill>
                  <a:srgbClr val="000000"/>
                </a:solidFill>
                <a:latin typeface="Arial" panose="020B0604020202020204" pitchFamily="34" charset="0"/>
                <a:ea typeface="Calibri" panose="020F0502020204030204" pitchFamily="34" charset="0"/>
              </a:rPr>
              <a:t>F2F</a:t>
            </a:r>
            <a:r>
              <a:rPr lang="en-GB" sz="1600" dirty="0">
                <a:solidFill>
                  <a:srgbClr val="000000"/>
                </a:solidFill>
                <a:latin typeface="Arial" panose="020B0604020202020204" pitchFamily="34" charset="0"/>
                <a:ea typeface="Calibri" panose="020F0502020204030204" pitchFamily="34" charset="0"/>
              </a:rPr>
              <a:t>) interviews are required to confirm the following:</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interviewees are on camera</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ATM identities and maximizing their participation</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appraisal participant identities, e.g., interviewees, Appraisal Sponsor</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only planned appraisal participants are present</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that non-attribution and confidentiality rules are being followed, e.g., no other participants are present, physical setting is appropriate</a:t>
            </a:r>
          </a:p>
          <a:p>
            <a:pPr>
              <a:spcBef>
                <a:spcPts val="300"/>
              </a:spcBef>
            </a:pPr>
            <a:r>
              <a:rPr lang="en-GB" sz="1600" dirty="0">
                <a:solidFill>
                  <a:srgbClr val="000000"/>
                </a:solidFill>
                <a:latin typeface="Arial" panose="020B0604020202020204" pitchFamily="34" charset="0"/>
                <a:ea typeface="Calibri" panose="020F0502020204030204" pitchFamily="34" charset="0"/>
              </a:rPr>
              <a:t>Monitoring non-verbal communication and appraisal participant engagement</a:t>
            </a:r>
          </a:p>
          <a:p>
            <a:pPr marL="0" indent="0" algn="l">
              <a:buNone/>
            </a:pPr>
            <a:r>
              <a:rPr lang="zh-CN" altLang="en-US" sz="1600" dirty="0">
                <a:solidFill>
                  <a:srgbClr val="1F497D"/>
                </a:solidFill>
                <a:latin typeface="宋体" panose="02010600030101010101" pitchFamily="2" charset="-122"/>
                <a:ea typeface="宋体" panose="02010600030101010101" pitchFamily="2" charset="-122"/>
              </a:rPr>
              <a:t>当评估计划进行虚拟面试时，需要进行虚拟面对面（</a:t>
            </a:r>
            <a:r>
              <a:rPr lang="en-US" altLang="zh-CN" sz="1600" dirty="0" err="1">
                <a:solidFill>
                  <a:srgbClr val="1F497D"/>
                </a:solidFill>
                <a:latin typeface="宋体" panose="02010600030101010101" pitchFamily="2" charset="-122"/>
                <a:ea typeface="宋体" panose="02010600030101010101" pitchFamily="2" charset="-122"/>
              </a:rPr>
              <a:t>F2F</a:t>
            </a:r>
            <a:r>
              <a:rPr lang="zh-CN" altLang="en-US" sz="1600" dirty="0">
                <a:solidFill>
                  <a:srgbClr val="1F497D"/>
                </a:solidFill>
                <a:latin typeface="宋体" panose="02010600030101010101" pitchFamily="2" charset="-122"/>
                <a:ea typeface="宋体" panose="02010600030101010101" pitchFamily="2" charset="-122"/>
              </a:rPr>
              <a:t>）面试以确认以下内容：</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确认受访者出现在摄像头前</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a:t>
            </a:r>
            <a:r>
              <a:rPr lang="en-US" altLang="zh-CN" sz="1600" dirty="0">
                <a:solidFill>
                  <a:srgbClr val="1F497D"/>
                </a:solidFill>
                <a:latin typeface="宋体" panose="02010600030101010101" pitchFamily="2" charset="-122"/>
                <a:ea typeface="宋体" panose="02010600030101010101" pitchFamily="2" charset="-122"/>
              </a:rPr>
              <a:t>ATM</a:t>
            </a:r>
            <a:r>
              <a:rPr lang="zh-CN" altLang="en-US" sz="1600" dirty="0">
                <a:solidFill>
                  <a:srgbClr val="1F497D"/>
                </a:solidFill>
                <a:latin typeface="宋体" panose="02010600030101010101" pitchFamily="2" charset="-122"/>
                <a:ea typeface="宋体" panose="02010600030101010101" pitchFamily="2" charset="-122"/>
              </a:rPr>
              <a:t>身份并最大化他们的参与</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验证评估参与者的身份，例如，受访者、评估赞助人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确认只有计划中的评估参与者在场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验证非归属和保密规则是否被遵守，例如，没有其他参与者在场，物理环境是否适宜</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监控非言语交流和评估参与者的参与度</a:t>
            </a:r>
          </a:p>
          <a:p>
            <a:pPr marL="0" indent="0">
              <a:spcBef>
                <a:spcPts val="300"/>
              </a:spcBef>
              <a:buNone/>
            </a:pPr>
            <a:endParaRPr lang="en-GB" sz="1600" dirty="0">
              <a:solidFill>
                <a:srgbClr val="000000"/>
              </a:solidFill>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957226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Team and Support Personnel</a:t>
            </a:r>
          </a:p>
        </p:txBody>
      </p:sp>
      <p:graphicFrame>
        <p:nvGraphicFramePr>
          <p:cNvPr id="2" name="Object 1">
            <a:extLst>
              <a:ext uri="{FF2B5EF4-FFF2-40B4-BE49-F238E27FC236}">
                <a16:creationId xmlns:a16="http://schemas.microsoft.com/office/drawing/2014/main" id="{F449B2C3-7394-404B-BC0E-2D5A28533002}"/>
              </a:ext>
            </a:extLst>
          </p:cNvPr>
          <p:cNvGraphicFramePr>
            <a:graphicFrameLocks noChangeAspect="1"/>
          </p:cNvGraphicFramePr>
          <p:nvPr>
            <p:extLst>
              <p:ext uri="{D42A27DB-BD31-4B8C-83A1-F6EECF244321}">
                <p14:modId xmlns:p14="http://schemas.microsoft.com/office/powerpoint/2010/main" val="3419237890"/>
              </p:ext>
            </p:extLst>
          </p:nvPr>
        </p:nvGraphicFramePr>
        <p:xfrm>
          <a:off x="1122363" y="2225675"/>
          <a:ext cx="8245475" cy="2111375"/>
        </p:xfrm>
        <a:graphic>
          <a:graphicData uri="http://schemas.openxmlformats.org/presentationml/2006/ole">
            <mc:AlternateContent xmlns:mc="http://schemas.openxmlformats.org/markup-compatibility/2006">
              <mc:Choice xmlns:v="urn:schemas-microsoft-com:vml" Requires="v">
                <p:oleObj name="Macro-Enabled Worksheet" r:id="rId3" imgW="8244911" imgH="2110701" progId="Excel.SheetMacroEnabled.12">
                  <p:link updateAutomatic="1"/>
                </p:oleObj>
              </mc:Choice>
              <mc:Fallback>
                <p:oleObj name="Macro-Enabled Worksheet" r:id="rId3" imgW="8244911" imgH="2110701" progId="Excel.SheetMacroEnabled.12">
                  <p:link updateAutomatic="1"/>
                  <p:pic>
                    <p:nvPicPr>
                      <p:cNvPr id="2" name="Object 1">
                        <a:extLst>
                          <a:ext uri="{FF2B5EF4-FFF2-40B4-BE49-F238E27FC236}">
                            <a16:creationId xmlns:a16="http://schemas.microsoft.com/office/drawing/2014/main" id="{F449B2C3-7394-404B-BC0E-2D5A28533002}"/>
                          </a:ext>
                        </a:extLst>
                      </p:cNvPr>
                      <p:cNvPicPr/>
                      <p:nvPr/>
                    </p:nvPicPr>
                    <p:blipFill>
                      <a:blip r:embed="rId4"/>
                      <a:stretch>
                        <a:fillRect/>
                      </a:stretch>
                    </p:blipFill>
                    <p:spPr>
                      <a:xfrm>
                        <a:off x="1122363" y="2225675"/>
                        <a:ext cx="8245475" cy="2111375"/>
                      </a:xfrm>
                      <a:prstGeom prst="rect">
                        <a:avLst/>
                      </a:prstGeom>
                    </p:spPr>
                  </p:pic>
                </p:oleObj>
              </mc:Fallback>
            </mc:AlternateContent>
          </a:graphicData>
        </a:graphic>
      </p:graphicFrame>
    </p:spTree>
    <p:extLst>
      <p:ext uri="{BB962C8B-B14F-4D97-AF65-F5344CB8AC3E}">
        <p14:creationId xmlns:p14="http://schemas.microsoft.com/office/powerpoint/2010/main" val="48367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a:xfrm>
            <a:off x="1055688" y="892263"/>
            <a:ext cx="10397836" cy="602284"/>
          </a:xfrm>
        </p:spPr>
        <p:txBody>
          <a:bodyPr>
            <a:normAutofit/>
          </a:bodyPr>
          <a:lstStyle/>
          <a:p>
            <a:r>
              <a:rPr lang="en-US" altLang="en-US" dirty="0">
                <a:ea typeface="ＭＳ Ｐゴシック" charset="-128"/>
              </a:rPr>
              <a:t>Appraisal Scope – Benchmark Model View</a:t>
            </a:r>
          </a:p>
        </p:txBody>
      </p:sp>
      <p:graphicFrame>
        <p:nvGraphicFramePr>
          <p:cNvPr id="2" name="Object 1">
            <a:extLst>
              <a:ext uri="{FF2B5EF4-FFF2-40B4-BE49-F238E27FC236}">
                <a16:creationId xmlns:a16="http://schemas.microsoft.com/office/drawing/2014/main" id="{8484F069-F116-4F8E-91F9-6DA4C70CE468}"/>
              </a:ext>
            </a:extLst>
          </p:cNvPr>
          <p:cNvGraphicFramePr>
            <a:graphicFrameLocks noChangeAspect="1"/>
          </p:cNvGraphicFramePr>
          <p:nvPr>
            <p:extLst>
              <p:ext uri="{D42A27DB-BD31-4B8C-83A1-F6EECF244321}">
                <p14:modId xmlns:p14="http://schemas.microsoft.com/office/powerpoint/2010/main" val="3356204039"/>
              </p:ext>
            </p:extLst>
          </p:nvPr>
        </p:nvGraphicFramePr>
        <p:xfrm>
          <a:off x="1190625" y="1590675"/>
          <a:ext cx="8526463" cy="4565650"/>
        </p:xfrm>
        <a:graphic>
          <a:graphicData uri="http://schemas.openxmlformats.org/presentationml/2006/ole">
            <mc:AlternateContent xmlns:mc="http://schemas.openxmlformats.org/markup-compatibility/2006">
              <mc:Choice xmlns:v="urn:schemas-microsoft-com:vml" Requires="v">
                <p:oleObj name="Macro-Enabled Worksheet" r:id="rId3" imgW="9928683" imgH="5463516" progId="Excel.SheetMacroEnabled.12">
                  <p:link updateAutomatic="1"/>
                </p:oleObj>
              </mc:Choice>
              <mc:Fallback>
                <p:oleObj name="Macro-Enabled Worksheet" r:id="rId3" imgW="9928683" imgH="5463516" progId="Excel.SheetMacroEnabled.12">
                  <p:link updateAutomatic="1"/>
                  <p:pic>
                    <p:nvPicPr>
                      <p:cNvPr id="2" name="Object 1">
                        <a:extLst>
                          <a:ext uri="{FF2B5EF4-FFF2-40B4-BE49-F238E27FC236}">
                            <a16:creationId xmlns:a16="http://schemas.microsoft.com/office/drawing/2014/main" id="{8484F069-F116-4F8E-91F9-6DA4C70CE468}"/>
                          </a:ext>
                        </a:extLst>
                      </p:cNvPr>
                      <p:cNvPicPr/>
                      <p:nvPr/>
                    </p:nvPicPr>
                    <p:blipFill>
                      <a:blip r:embed="rId4"/>
                      <a:stretch>
                        <a:fillRect/>
                      </a:stretch>
                    </p:blipFill>
                    <p:spPr>
                      <a:xfrm>
                        <a:off x="1190625" y="1590675"/>
                        <a:ext cx="8526463" cy="4565650"/>
                      </a:xfrm>
                      <a:prstGeom prst="rect">
                        <a:avLst/>
                      </a:prstGeom>
                    </p:spPr>
                  </p:pic>
                </p:oleObj>
              </mc:Fallback>
            </mc:AlternateContent>
          </a:graphicData>
        </a:graphic>
      </p:graphicFrame>
    </p:spTree>
    <p:extLst>
      <p:ext uri="{BB962C8B-B14F-4D97-AF65-F5344CB8AC3E}">
        <p14:creationId xmlns:p14="http://schemas.microsoft.com/office/powerpoint/2010/main" val="236107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Scope</a:t>
            </a:r>
          </a:p>
        </p:txBody>
      </p:sp>
      <p:graphicFrame>
        <p:nvGraphicFramePr>
          <p:cNvPr id="2" name="Object 1">
            <a:extLst>
              <a:ext uri="{FF2B5EF4-FFF2-40B4-BE49-F238E27FC236}">
                <a16:creationId xmlns:a16="http://schemas.microsoft.com/office/drawing/2014/main" id="{110942FF-2240-4B68-8644-23EA109C8919}"/>
              </a:ext>
            </a:extLst>
          </p:cNvPr>
          <p:cNvGraphicFramePr>
            <a:graphicFrameLocks noChangeAspect="1"/>
          </p:cNvGraphicFramePr>
          <p:nvPr>
            <p:extLst>
              <p:ext uri="{D42A27DB-BD31-4B8C-83A1-F6EECF244321}">
                <p14:modId xmlns:p14="http://schemas.microsoft.com/office/powerpoint/2010/main" val="795705134"/>
              </p:ext>
            </p:extLst>
          </p:nvPr>
        </p:nvGraphicFramePr>
        <p:xfrm>
          <a:off x="1128713" y="2419350"/>
          <a:ext cx="7721600" cy="1241425"/>
        </p:xfrm>
        <a:graphic>
          <a:graphicData uri="http://schemas.openxmlformats.org/presentationml/2006/ole">
            <mc:AlternateContent xmlns:mc="http://schemas.openxmlformats.org/markup-compatibility/2006">
              <mc:Choice xmlns:v="urn:schemas-microsoft-com:vml" Requires="v">
                <p:oleObj name="Macro-Enabled Worksheet" r:id="rId3" imgW="7437262" imgH="1196490" progId="Excel.SheetMacroEnabled.12">
                  <p:link updateAutomatic="1"/>
                </p:oleObj>
              </mc:Choice>
              <mc:Fallback>
                <p:oleObj name="Macro-Enabled Worksheet" r:id="rId3" imgW="7437262" imgH="1196490" progId="Excel.SheetMacroEnabled.12">
                  <p:link updateAutomatic="1"/>
                  <p:pic>
                    <p:nvPicPr>
                      <p:cNvPr id="2" name="Object 1">
                        <a:extLst>
                          <a:ext uri="{FF2B5EF4-FFF2-40B4-BE49-F238E27FC236}">
                            <a16:creationId xmlns:a16="http://schemas.microsoft.com/office/drawing/2014/main" id="{110942FF-2240-4B68-8644-23EA109C8919}"/>
                          </a:ext>
                        </a:extLst>
                      </p:cNvPr>
                      <p:cNvPicPr/>
                      <p:nvPr/>
                    </p:nvPicPr>
                    <p:blipFill>
                      <a:blip r:embed="rId4"/>
                      <a:stretch>
                        <a:fillRect/>
                      </a:stretch>
                    </p:blipFill>
                    <p:spPr>
                      <a:xfrm>
                        <a:off x="1128713" y="2419350"/>
                        <a:ext cx="7721600" cy="1241425"/>
                      </a:xfrm>
                      <a:prstGeom prst="rect">
                        <a:avLst/>
                      </a:prstGeom>
                    </p:spPr>
                  </p:pic>
                </p:oleObj>
              </mc:Fallback>
            </mc:AlternateContent>
          </a:graphicData>
        </a:graphic>
      </p:graphicFrame>
    </p:spTree>
    <p:extLst>
      <p:ext uri="{BB962C8B-B14F-4D97-AF65-F5344CB8AC3E}">
        <p14:creationId xmlns:p14="http://schemas.microsoft.com/office/powerpoint/2010/main" val="2226382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212582CF-2677-4AC8-90A0-FD5C774ECFF6}"/>
              </a:ext>
            </a:extLst>
          </p:cNvPr>
          <p:cNvGraphicFramePr>
            <a:graphicFrameLocks noChangeAspect="1"/>
          </p:cNvGraphicFramePr>
          <p:nvPr>
            <p:extLst>
              <p:ext uri="{D42A27DB-BD31-4B8C-83A1-F6EECF244321}">
                <p14:modId xmlns:p14="http://schemas.microsoft.com/office/powerpoint/2010/main" val="2512421588"/>
              </p:ext>
            </p:extLst>
          </p:nvPr>
        </p:nvGraphicFramePr>
        <p:xfrm>
          <a:off x="152400" y="1873250"/>
          <a:ext cx="10412413" cy="3113088"/>
        </p:xfrm>
        <a:graphic>
          <a:graphicData uri="http://schemas.openxmlformats.org/presentationml/2006/ole">
            <mc:AlternateContent xmlns:mc="http://schemas.openxmlformats.org/markup-compatibility/2006">
              <mc:Choice xmlns:v="urn:schemas-microsoft-com:vml" Requires="v">
                <p:oleObj name="Macro-Enabled Worksheet" r:id="rId3" imgW="13403403" imgH="4008199" progId="Excel.SheetMacroEnabled.12">
                  <p:link updateAutomatic="1"/>
                </p:oleObj>
              </mc:Choice>
              <mc:Fallback>
                <p:oleObj name="Macro-Enabled Worksheet" r:id="rId3" imgW="13403403" imgH="4008199" progId="Excel.SheetMacroEnabled.12">
                  <p:link updateAutomatic="1"/>
                  <p:pic>
                    <p:nvPicPr>
                      <p:cNvPr id="3" name="Object 2">
                        <a:extLst>
                          <a:ext uri="{FF2B5EF4-FFF2-40B4-BE49-F238E27FC236}">
                            <a16:creationId xmlns:a16="http://schemas.microsoft.com/office/drawing/2014/main" id="{212582CF-2677-4AC8-90A0-FD5C774ECFF6}"/>
                          </a:ext>
                        </a:extLst>
                      </p:cNvPr>
                      <p:cNvPicPr/>
                      <p:nvPr/>
                    </p:nvPicPr>
                    <p:blipFill>
                      <a:blip r:embed="rId4"/>
                      <a:stretch>
                        <a:fillRect/>
                      </a:stretch>
                    </p:blipFill>
                    <p:spPr>
                      <a:xfrm>
                        <a:off x="152400" y="1873250"/>
                        <a:ext cx="10412413" cy="3113088"/>
                      </a:xfrm>
                      <a:prstGeom prst="rect">
                        <a:avLst/>
                      </a:prstGeom>
                    </p:spPr>
                  </p:pic>
                </p:oleObj>
              </mc:Fallback>
            </mc:AlternateContent>
          </a:graphicData>
        </a:graphic>
      </p:graphicFrame>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Sample</a:t>
            </a:r>
          </a:p>
        </p:txBody>
      </p:sp>
    </p:spTree>
    <p:extLst>
      <p:ext uri="{BB962C8B-B14F-4D97-AF65-F5344CB8AC3E}">
        <p14:creationId xmlns:p14="http://schemas.microsoft.com/office/powerpoint/2010/main" val="139206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5379DEB1-F0B7-4BEB-8ADB-13FF265847B2}"/>
              </a:ext>
            </a:extLst>
          </p:cNvPr>
          <p:cNvGraphicFramePr>
            <a:graphicFrameLocks noChangeAspect="1"/>
          </p:cNvGraphicFramePr>
          <p:nvPr>
            <p:extLst>
              <p:ext uri="{D42A27DB-BD31-4B8C-83A1-F6EECF244321}">
                <p14:modId xmlns:p14="http://schemas.microsoft.com/office/powerpoint/2010/main" val="733703596"/>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name="Macro-Enabled Worksheet" r:id="rId2" imgW="11186302" imgH="3474767" progId="Excel.SheetMacroEnabled.12">
                  <p:link updateAutomatic="1"/>
                </p:oleObj>
              </mc:Choice>
              <mc:Fallback>
                <p:oleObj name="Macro-Enabled Worksheet" r:id="rId2" imgW="11186302" imgH="3474767" progId="Excel.SheetMacroEnabled.12">
                  <p:link updateAutomatic="1"/>
                  <p:pic>
                    <p:nvPicPr>
                      <p:cNvPr id="3" name="Object 2">
                        <a:extLst>
                          <a:ext uri="{FF2B5EF4-FFF2-40B4-BE49-F238E27FC236}">
                            <a16:creationId xmlns:a16="http://schemas.microsoft.com/office/drawing/2014/main" id="{5379DEB1-F0B7-4BEB-8ADB-13FF265847B2}"/>
                          </a:ext>
                        </a:extLst>
                      </p:cNvPr>
                      <p:cNvPicPr/>
                      <p:nvPr/>
                    </p:nvPicPr>
                    <p:blipFill>
                      <a:blip r:embed="rId3"/>
                      <a:stretch>
                        <a:fillRect/>
                      </a:stretch>
                    </p:blipFill>
                    <p:spPr>
                      <a:xfrm>
                        <a:off x="503238" y="1689100"/>
                        <a:ext cx="11185525" cy="347503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r>
              <a:rPr lang="en-ZA" dirty="0"/>
              <a:t> </a:t>
            </a:r>
          </a:p>
        </p:txBody>
      </p:sp>
    </p:spTree>
    <p:extLst>
      <p:ext uri="{BB962C8B-B14F-4D97-AF65-F5344CB8AC3E}">
        <p14:creationId xmlns:p14="http://schemas.microsoft.com/office/powerpoint/2010/main" val="2718433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endParaRPr lang="en-ZA" dirty="0"/>
          </a:p>
        </p:txBody>
      </p:sp>
      <p:graphicFrame>
        <p:nvGraphicFramePr>
          <p:cNvPr id="4" name="Object 3">
            <a:extLst>
              <a:ext uri="{FF2B5EF4-FFF2-40B4-BE49-F238E27FC236}">
                <a16:creationId xmlns:a16="http://schemas.microsoft.com/office/drawing/2014/main" id="{A40969C2-A165-4C93-A3E6-CC9064950839}"/>
              </a:ext>
            </a:extLst>
          </p:cNvPr>
          <p:cNvGraphicFramePr>
            <a:graphicFrameLocks noChangeAspect="1"/>
          </p:cNvGraphicFramePr>
          <p:nvPr>
            <p:extLst>
              <p:ext uri="{D42A27DB-BD31-4B8C-83A1-F6EECF244321}">
                <p14:modId xmlns:p14="http://schemas.microsoft.com/office/powerpoint/2010/main" val="2280180642"/>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name="Macro-Enabled Worksheet" r:id="rId2" imgW="11186302" imgH="3474767" progId="Excel.SheetMacroEnabled.12">
                  <p:link updateAutomatic="1"/>
                </p:oleObj>
              </mc:Choice>
              <mc:Fallback>
                <p:oleObj name="Macro-Enabled Worksheet" r:id="rId2" imgW="11186302" imgH="3474767" progId="Excel.SheetMacroEnabled.12">
                  <p:link updateAutomatic="1"/>
                  <p:pic>
                    <p:nvPicPr>
                      <p:cNvPr id="4" name="Object 3">
                        <a:extLst>
                          <a:ext uri="{FF2B5EF4-FFF2-40B4-BE49-F238E27FC236}">
                            <a16:creationId xmlns:a16="http://schemas.microsoft.com/office/drawing/2014/main" id="{A40969C2-A165-4C93-A3E6-CC9064950839}"/>
                          </a:ext>
                        </a:extLst>
                      </p:cNvPr>
                      <p:cNvPicPr/>
                      <p:nvPr/>
                    </p:nvPicPr>
                    <p:blipFill>
                      <a:blip r:embed="rId3"/>
                      <a:stretch>
                        <a:fillRect/>
                      </a:stretch>
                    </p:blipFill>
                    <p:spPr>
                      <a:xfrm>
                        <a:off x="503238" y="1689100"/>
                        <a:ext cx="11185525" cy="3475038"/>
                      </a:xfrm>
                      <a:prstGeom prst="rect">
                        <a:avLst/>
                      </a:prstGeom>
                    </p:spPr>
                  </p:pic>
                </p:oleObj>
              </mc:Fallback>
            </mc:AlternateContent>
          </a:graphicData>
        </a:graphic>
      </p:graphicFrame>
    </p:spTree>
    <p:extLst>
      <p:ext uri="{BB962C8B-B14F-4D97-AF65-F5344CB8AC3E}">
        <p14:creationId xmlns:p14="http://schemas.microsoft.com/office/powerpoint/2010/main" val="186037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a:bodyPr>
          <a:lstStyle/>
          <a:p>
            <a:pPr lvl="0"/>
            <a:r>
              <a:rPr lang="en-US" sz="1600" dirty="0"/>
              <a:t>Required Findings Categories:</a:t>
            </a:r>
          </a:p>
          <a:p>
            <a:pPr lvl="1"/>
            <a:r>
              <a:rPr lang="en-GB" sz="1400" u="sng" dirty="0"/>
              <a:t>Weaknesses: </a:t>
            </a:r>
            <a:r>
              <a:rPr lang="en-GB" sz="1400" dirty="0"/>
              <a:t>A type of preliminary or final finding, which is an ineffective, or lack of, implementation of one or more processes that meet the intent and value of a practice based on verified objective evidence, and applicable across the project(s) and organizational support functions (</a:t>
            </a:r>
            <a:r>
              <a:rPr lang="en-GB" sz="1400" dirty="0" err="1"/>
              <a:t>OSFs</a:t>
            </a:r>
            <a:r>
              <a:rPr lang="en-GB" sz="1400" dirty="0"/>
              <a:t>) or Organizational Unit as a whole. This is realized either by a) the process itself does not address a CMMI practice requirement, or b) the project(s) or </a:t>
            </a:r>
            <a:r>
              <a:rPr lang="en-GB" sz="1400" dirty="0" err="1"/>
              <a:t>OSFs</a:t>
            </a:r>
            <a:r>
              <a:rPr lang="en-GB" sz="1400" dirty="0"/>
              <a:t> are not following their process that meets the intent and value of the applicable CMMI practice.</a:t>
            </a:r>
          </a:p>
          <a:p>
            <a:pPr lvl="1"/>
            <a:r>
              <a:rPr lang="en-GB" sz="1400" u="sng" dirty="0"/>
              <a:t>Strengths: </a:t>
            </a:r>
            <a:r>
              <a:rPr lang="en-GB" sz="1400" dirty="0"/>
              <a:t>A type of preliminary or final finding, which is an exemplary or noteworthy implementation of a process that meets the intent and value of a CMMI model practice.</a:t>
            </a:r>
          </a:p>
          <a:p>
            <a:pPr marL="457200" lvl="1" indent="0">
              <a:buNone/>
            </a:pPr>
            <a:endParaRPr lang="en-GB" sz="1400" dirty="0"/>
          </a:p>
          <a:p>
            <a:r>
              <a:rPr lang="zh-CN" altLang="en-US" sz="1600" dirty="0">
                <a:solidFill>
                  <a:srgbClr val="1F497D"/>
                </a:solidFill>
              </a:rPr>
              <a:t>必需的调查结果分类：</a:t>
            </a:r>
            <a:endParaRPr lang="en-GB" altLang="zh-CN" sz="1600" dirty="0">
              <a:solidFill>
                <a:srgbClr val="1F497D"/>
              </a:solidFill>
            </a:endParaRPr>
          </a:p>
          <a:p>
            <a:pPr lvl="1"/>
            <a:r>
              <a:rPr lang="zh-CN" altLang="en-US" sz="1400" dirty="0">
                <a:solidFill>
                  <a:srgbClr val="1F497D"/>
                </a:solidFill>
              </a:rPr>
              <a:t>弱点：这是一种初步或最终的发现，涉及一个或多个流程的实施无效，或缺乏实施，这些流程基于验证的客观证据，旨在满足实践的意图和价值，并适用于整个项目、组织支持功能（</a:t>
            </a:r>
            <a:r>
              <a:rPr lang="en-US" altLang="zh-CN" sz="1400" dirty="0" err="1">
                <a:solidFill>
                  <a:srgbClr val="1F497D"/>
                </a:solidFill>
              </a:rPr>
              <a:t>OSFs</a:t>
            </a:r>
            <a:r>
              <a:rPr lang="zh-CN" altLang="en-US" sz="1400" dirty="0">
                <a:solidFill>
                  <a:srgbClr val="1F497D"/>
                </a:solidFill>
              </a:rPr>
              <a:t>）或组织单位。这种情况是由以下原因造成的：</a:t>
            </a:r>
            <a:r>
              <a:rPr lang="en-US" altLang="zh-CN" sz="1400" dirty="0">
                <a:solidFill>
                  <a:srgbClr val="1F497D"/>
                </a:solidFill>
              </a:rPr>
              <a:t>a) </a:t>
            </a:r>
            <a:r>
              <a:rPr lang="zh-CN" altLang="en-US" sz="1400" dirty="0">
                <a:solidFill>
                  <a:srgbClr val="1F497D"/>
                </a:solidFill>
              </a:rPr>
              <a:t>流程本身没有满足</a:t>
            </a:r>
            <a:r>
              <a:rPr lang="en-US" altLang="zh-CN" sz="1400" dirty="0">
                <a:solidFill>
                  <a:srgbClr val="1F497D"/>
                </a:solidFill>
              </a:rPr>
              <a:t>CMMI</a:t>
            </a:r>
            <a:r>
              <a:rPr lang="zh-CN" altLang="en-US" sz="1400" dirty="0">
                <a:solidFill>
                  <a:srgbClr val="1F497D"/>
                </a:solidFill>
              </a:rPr>
              <a:t>实践要求，或者</a:t>
            </a:r>
            <a:r>
              <a:rPr lang="en-US" altLang="zh-CN" sz="1400" dirty="0">
                <a:solidFill>
                  <a:srgbClr val="1F497D"/>
                </a:solidFill>
              </a:rPr>
              <a:t>b) </a:t>
            </a:r>
            <a:r>
              <a:rPr lang="zh-CN" altLang="en-US" sz="1400" dirty="0">
                <a:solidFill>
                  <a:srgbClr val="1F497D"/>
                </a:solidFill>
              </a:rPr>
              <a:t>项目或</a:t>
            </a:r>
            <a:r>
              <a:rPr lang="en-US" altLang="zh-CN" sz="1400" dirty="0" err="1">
                <a:solidFill>
                  <a:srgbClr val="1F497D"/>
                </a:solidFill>
              </a:rPr>
              <a:t>OSFs</a:t>
            </a:r>
            <a:r>
              <a:rPr lang="zh-CN" altLang="en-US" sz="1400" dirty="0">
                <a:solidFill>
                  <a:srgbClr val="1F497D"/>
                </a:solidFill>
              </a:rPr>
              <a:t>没有遵循符合适用</a:t>
            </a:r>
            <a:r>
              <a:rPr lang="en-US" altLang="zh-CN" sz="1400" dirty="0">
                <a:solidFill>
                  <a:srgbClr val="1F497D"/>
                </a:solidFill>
              </a:rPr>
              <a:t>CMMI</a:t>
            </a:r>
            <a:r>
              <a:rPr lang="zh-CN" altLang="en-US" sz="1400" dirty="0">
                <a:solidFill>
                  <a:srgbClr val="1F497D"/>
                </a:solidFill>
              </a:rPr>
              <a:t>实践的意图和价值的流程。</a:t>
            </a:r>
            <a:endParaRPr lang="en-GB" altLang="zh-CN" sz="1400" dirty="0">
              <a:solidFill>
                <a:srgbClr val="1F497D"/>
              </a:solidFill>
            </a:endParaRPr>
          </a:p>
          <a:p>
            <a:pPr lvl="1"/>
            <a:r>
              <a:rPr lang="zh-CN" altLang="en-US" sz="1600" dirty="0">
                <a:solidFill>
                  <a:srgbClr val="1F497D"/>
                </a:solidFill>
              </a:rPr>
              <a:t>优点：这是一种初步或最终的发现，涉及一个过程的示范性或值得注意的实施，该过程满足</a:t>
            </a:r>
            <a:r>
              <a:rPr lang="en-US" altLang="zh-CN" sz="1600" dirty="0">
                <a:solidFill>
                  <a:srgbClr val="1F497D"/>
                </a:solidFill>
              </a:rPr>
              <a:t>CMMI</a:t>
            </a:r>
            <a:r>
              <a:rPr lang="zh-CN" altLang="en-US" sz="1600" dirty="0">
                <a:solidFill>
                  <a:srgbClr val="1F497D"/>
                </a:solidFill>
              </a:rPr>
              <a:t>模型实践的意图和价值。</a:t>
            </a:r>
            <a:endParaRPr lang="en-US" sz="1600" dirty="0"/>
          </a:p>
        </p:txBody>
      </p:sp>
    </p:spTree>
    <p:extLst>
      <p:ext uri="{BB962C8B-B14F-4D97-AF65-F5344CB8AC3E}">
        <p14:creationId xmlns:p14="http://schemas.microsoft.com/office/powerpoint/2010/main" val="1784559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FB86F-F314-2808-D124-99FF9729F446}"/>
              </a:ext>
            </a:extLst>
          </p:cNvPr>
          <p:cNvPicPr>
            <a:picLocks noChangeAspect="1"/>
          </p:cNvPicPr>
          <p:nvPr/>
        </p:nvPicPr>
        <p:blipFill>
          <a:blip r:embed="rId3"/>
          <a:srcRect/>
          <a:stretch/>
        </p:blipFill>
        <p:spPr>
          <a:xfrm>
            <a:off x="1575811" y="1295264"/>
            <a:ext cx="9040378" cy="4632289"/>
          </a:xfrm>
          <a:prstGeom prst="rect">
            <a:avLst/>
          </a:prstGeom>
        </p:spPr>
      </p:pic>
      <p:sp>
        <p:nvSpPr>
          <p:cNvPr id="2" name="Title 3">
            <a:extLst>
              <a:ext uri="{FF2B5EF4-FFF2-40B4-BE49-F238E27FC236}">
                <a16:creationId xmlns:a16="http://schemas.microsoft.com/office/drawing/2014/main" id="{E4158602-CE03-D865-8B96-7884DB0F17A7}"/>
              </a:ext>
            </a:extLst>
          </p:cNvPr>
          <p:cNvSpPr txBox="1">
            <a:spLocks/>
          </p:cNvSpPr>
          <p:nvPr/>
        </p:nvSpPr>
        <p:spPr>
          <a:xfrm>
            <a:off x="838200" y="365126"/>
            <a:ext cx="10515600" cy="602284"/>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altLang="en-US" sz="3500" b="1" dirty="0">
                <a:latin typeface="+mn-lt"/>
                <a:ea typeface="ＭＳ Ｐゴシック" charset="-128"/>
              </a:rPr>
              <a:t>CMMI</a:t>
            </a:r>
            <a:r>
              <a:rPr lang="en-US" altLang="en-US" dirty="0">
                <a:ea typeface="ＭＳ Ｐゴシック" charset="-128"/>
              </a:rPr>
              <a:t> </a:t>
            </a:r>
            <a:r>
              <a:rPr lang="en-US" altLang="en-US" sz="3500" b="1" dirty="0">
                <a:latin typeface="+mn-lt"/>
                <a:ea typeface="ＭＳ Ｐゴシック" charset="-128"/>
              </a:rPr>
              <a:t>Appraisal Process – Appraisal Phases</a:t>
            </a:r>
          </a:p>
        </p:txBody>
      </p:sp>
      <p:sp>
        <p:nvSpPr>
          <p:cNvPr id="4" name="Rectangle 3">
            <a:extLst>
              <a:ext uri="{FF2B5EF4-FFF2-40B4-BE49-F238E27FC236}">
                <a16:creationId xmlns:a16="http://schemas.microsoft.com/office/drawing/2014/main" id="{49BEEC40-A488-4359-91B1-DFB6493F931D}"/>
              </a:ext>
            </a:extLst>
          </p:cNvPr>
          <p:cNvSpPr/>
          <p:nvPr/>
        </p:nvSpPr>
        <p:spPr>
          <a:xfrm>
            <a:off x="6591300" y="2954915"/>
            <a:ext cx="1371600" cy="65649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113447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dirty="0"/>
              <a:t>Causal Analysis and Resolution (CAR) </a:t>
            </a:r>
            <a:r>
              <a:rPr lang="zh-CN" altLang="en-US" sz="2800" dirty="0">
                <a:solidFill>
                  <a:schemeClr val="accent1">
                    <a:lumMod val="75000"/>
                  </a:schemeClr>
                </a:solidFill>
              </a:rPr>
              <a:t>原因分析与解决</a:t>
            </a:r>
            <a:endParaRPr lang="en-US" sz="2800"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dirty="0">
                <a:solidFill>
                  <a:srgbClr val="0D0D0D"/>
                </a:solidFill>
                <a:effectLst/>
                <a:highlight>
                  <a:srgbClr val="FFFFFF"/>
                </a:highlight>
                <a:latin typeface="Söhne"/>
              </a:rPr>
              <a:t>。</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Addresses causes of issues, eliminating rework and directly improving quality and productivity.</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dirty="0"/>
              <a:t>Configuration Management (CM) </a:t>
            </a:r>
            <a:r>
              <a:rPr lang="ja-JP" altLang="en-US" sz="2800" dirty="0">
                <a:solidFill>
                  <a:schemeClr val="accent1">
                    <a:lumMod val="75000"/>
                  </a:schemeClr>
                </a:solidFill>
              </a:rPr>
              <a:t>配置管理</a:t>
            </a:r>
            <a:endParaRPr lang="en-US" sz="2800"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Manages the integrity of work products using configuration identification, version control, change control, and audits.</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通过配置识别、版本控制、变更控制和审计来管理工作产品的完整性。</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Reduces loss of work and increases the ability to deliver the correct version of the solution to the customer.</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减少工作丢失并提高向客户交付正确版本解决方案的能力。</a:t>
            </a:r>
            <a:endParaRPr lang="en-US" sz="1400" dirty="0">
              <a:solidFill>
                <a:srgbClr val="1F497D"/>
              </a:solidFill>
            </a:endParaRPr>
          </a:p>
          <a:p>
            <a:endParaRPr lang="en-US" sz="1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239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dirty="0"/>
              <a:t>Decision Analysis and Resolution (DAR) </a:t>
            </a:r>
            <a:r>
              <a:rPr lang="zh-CN" altLang="en-US" sz="2800" dirty="0">
                <a:solidFill>
                  <a:srgbClr val="1F497D"/>
                </a:solidFill>
              </a:rPr>
              <a:t>决策分析与解决</a:t>
            </a:r>
            <a:endParaRPr lang="en-US" sz="2800"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Makes and records decisions using a recorded process that </a:t>
            </a:r>
            <a:r>
              <a:rPr lang="en-GB" sz="1400" b="0" i="0" dirty="0" err="1">
                <a:solidFill>
                  <a:srgbClr val="505050"/>
                </a:solidFill>
                <a:effectLst/>
                <a:highlight>
                  <a:srgbClr val="FFFFFF"/>
                </a:highlight>
                <a:latin typeface="Gotham A"/>
              </a:rPr>
              <a:t>analyzes</a:t>
            </a:r>
            <a:r>
              <a:rPr lang="en-GB" sz="1400" b="0" i="0" dirty="0">
                <a:solidFill>
                  <a:srgbClr val="505050"/>
                </a:solidFill>
                <a:effectLst/>
                <a:highlight>
                  <a:srgbClr val="FFFFFF"/>
                </a:highlight>
                <a:latin typeface="Gotham A"/>
              </a:rPr>
              <a:t> alternatives.</a:t>
            </a:r>
            <a:r>
              <a:rPr lang="en-US" sz="1400" dirty="0"/>
              <a:t>	</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objectivity of decision-making and the probability of selecting the optimal solution.</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dirty="0"/>
          </a:p>
          <a:p>
            <a:endParaRPr lang="en-US" sz="1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72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dirty="0"/>
              <a:t>Estimating (EST) </a:t>
            </a:r>
            <a:r>
              <a:rPr lang="ja-JP" altLang="en-US" sz="2800" dirty="0">
                <a:solidFill>
                  <a:srgbClr val="1F497D"/>
                </a:solidFill>
              </a:rPr>
              <a:t>估算</a:t>
            </a:r>
            <a:endParaRPr lang="en-US" sz="2800"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311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dirty="0"/>
              <a:t>Governance (GOV) </a:t>
            </a:r>
            <a:r>
              <a:rPr lang="ja-JP" altLang="en-US" sz="2800" dirty="0">
                <a:solidFill>
                  <a:srgbClr val="1F497D"/>
                </a:solidFill>
              </a:rPr>
              <a:t>管治</a:t>
            </a:r>
            <a:endParaRPr lang="en-US" sz="2800"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dirty="0">
                <a:solidFill>
                  <a:srgbClr val="505050"/>
                </a:solidFill>
                <a:highlight>
                  <a:srgbClr val="FFFFFF"/>
                </a:highlight>
                <a:latin typeface="Gotham A"/>
              </a:rPr>
            </a:br>
            <a:r>
              <a:rPr lang="en-US" sz="1400" dirty="0">
                <a:solidFill>
                  <a:srgbClr val="505050"/>
                </a:solidFill>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169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dirty="0"/>
              <a:t>Implementation Infrastructure (II) </a:t>
            </a:r>
            <a:r>
              <a:rPr lang="zh-CN" altLang="en-US" sz="2800" dirty="0">
                <a:solidFill>
                  <a:srgbClr val="1F497D"/>
                </a:solidFill>
              </a:rPr>
              <a:t>实施基础条件</a:t>
            </a:r>
            <a:endParaRPr lang="en-ZA" sz="2800"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Ensures that the processes and assets important to an organization’s performance are habitually and persistently followed, used, and 	improved. </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确保对组织绩效重要的流程和资产得到习惯性和持久的遵循、使用和改进。</a:t>
            </a:r>
            <a:endParaRPr kumimoji="0" lang="en-US"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Sustains the ability to consistently achieve goals and objectives efficiently and effectively.</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维持高效且有效地持续实现目标和任务的能力。</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119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dirty="0"/>
              <a:t>Managing Performance and Measurement (</a:t>
            </a:r>
            <a:r>
              <a:rPr lang="en-US" sz="2800" dirty="0" err="1"/>
              <a:t>MPM</a:t>
            </a:r>
            <a:r>
              <a:rPr lang="en-US" sz="2800" dirty="0"/>
              <a:t>) </a:t>
            </a:r>
            <a:r>
              <a:rPr lang="zh-CN" altLang="en-US" sz="2800" dirty="0">
                <a:solidFill>
                  <a:srgbClr val="1F497D"/>
                </a:solidFill>
              </a:rPr>
              <a:t>管理绩效与度量</a:t>
            </a:r>
            <a:endParaRPr lang="en-ZA" sz="28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Manages performance using measurement and analysis to achieve business objectives.</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使用测量和分析来管理绩效，以实现业务目标。</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Maximizes business return on investment by focusing management and improvement efforts on cost, schedule, and quality 	performance.</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8273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dirty="0"/>
              <a:t>Monitor and Control (MC) </a:t>
            </a:r>
            <a:r>
              <a:rPr lang="zh-CN" altLang="en-US" sz="2800" dirty="0">
                <a:solidFill>
                  <a:srgbClr val="1F497D"/>
                </a:solidFill>
              </a:rPr>
              <a:t>控制与监督</a:t>
            </a:r>
            <a:endParaRPr lang="en-US" sz="20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691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dirty="0"/>
              <a:t>Organizational Training (OT) </a:t>
            </a:r>
            <a:r>
              <a:rPr lang="ja-JP" altLang="en-US" sz="2800" dirty="0">
                <a:solidFill>
                  <a:srgbClr val="1F497D"/>
                </a:solidFill>
                <a:latin typeface="DengXian Light" panose="02010600030101010101" pitchFamily="2" charset="-122"/>
                <a:ea typeface="DengXian Light" panose="02010600030101010101" pitchFamily="2" charset="-122"/>
              </a:rPr>
              <a:t>组织级培训</a:t>
            </a:r>
            <a:endParaRPr lang="en-US" sz="2800"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Develops the skills and knowledge of personnel so they perform their roles efficiently and effectively.</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Enhances individuals' skills and knowledge to improve organizational work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6288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dirty="0"/>
              <a:t>Peer Reviews (PR) </a:t>
            </a:r>
            <a:r>
              <a:rPr lang="ja-JP" altLang="en-US" sz="2800" dirty="0">
                <a:solidFill>
                  <a:srgbClr val="1F497D"/>
                </a:solidFill>
                <a:latin typeface="DengXian Light" panose="02010600030101010101" pitchFamily="2" charset="-122"/>
                <a:ea typeface="DengXian Light" panose="02010600030101010101" pitchFamily="2" charset="-122"/>
              </a:rPr>
              <a:t>同行评审</a:t>
            </a:r>
            <a:endParaRPr lang="en-US" sz="2800"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Identifies and addresses process performance and work product issues through reviews by the producer's peers or Subject Matter 	Experts (SMEs).</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通过由生产者的同行或专家进行的审查，识别和解决过程绩效和工作产品问题。</a:t>
            </a:r>
            <a:endParaRPr kumimoji="0" lang="en-ZA"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ZA" sz="14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	</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Reduces cost and rework by uncovering issues or defects early.</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通过及早发现问题或缺陷，降低成本和返工。</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998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dirty="0"/>
              <a:t>	Intent: </a:t>
            </a:r>
            <a:r>
              <a:rPr lang="en-GB" sz="1400" dirty="0"/>
              <a:t>Develop plans to describe what is needed to accomplish the work within the standards and constraints of the organization.</a:t>
            </a:r>
            <a:br>
              <a:rPr lang="en-US" sz="1400" dirty="0">
                <a:effectLst/>
              </a:rPr>
            </a:br>
            <a:r>
              <a:rPr lang="en-US" sz="1400" dirty="0">
                <a:effectLst/>
              </a:rPr>
              <a:t>	</a:t>
            </a:r>
            <a:r>
              <a:rPr lang="zh-CN" altLang="en-US" sz="1400" dirty="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Optimizes cost, functionality, and quality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Planning (PLAN) </a:t>
            </a:r>
            <a:r>
              <a:rPr lang="ja-JP" altLang="en-US" dirty="0">
                <a:solidFill>
                  <a:srgbClr val="1F497D"/>
                </a:solidFill>
                <a:latin typeface="DengXian Light" panose="02010600030101010101" pitchFamily="2" charset="-122"/>
                <a:ea typeface="DengXian Light" panose="02010600030101010101" pitchFamily="2" charset="-122"/>
              </a:rPr>
              <a:t>策划</a:t>
            </a:r>
            <a:endParaRPr lang="en-US"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033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Asset Development (PAD) </a:t>
            </a:r>
            <a:r>
              <a:rPr lang="zh-CN" altLang="en-US" dirty="0">
                <a:solidFill>
                  <a:srgbClr val="1F497D"/>
                </a:solidFill>
                <a:latin typeface="+mj-ea"/>
                <a:ea typeface="+mj-ea"/>
              </a:rPr>
              <a:t>过程资产开发</a:t>
            </a:r>
            <a:endParaRPr lang="en-US"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dirty="0"/>
              <a:t>	Intent: </a:t>
            </a:r>
            <a:r>
              <a:rPr lang="en-GB" sz="1400" dirty="0"/>
              <a:t>Develops the process assets necessary to perform the work and keeps them updated.</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capability to understand and repeat successful performance.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提供理解和重复成功绩效的能力。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339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Management (PCM) </a:t>
            </a:r>
            <a:r>
              <a:rPr lang="ja-JP" altLang="en-US" dirty="0">
                <a:solidFill>
                  <a:srgbClr val="1F497D"/>
                </a:solidFill>
                <a:latin typeface="DengXian Light" panose="02010600030101010101" pitchFamily="2" charset="-122"/>
                <a:ea typeface="DengXian Light" panose="02010600030101010101" pitchFamily="2" charset="-122"/>
              </a:rPr>
              <a:t>过程管理</a:t>
            </a:r>
            <a:endParaRPr lang="en-US"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a:t>
            </a:r>
            <a:r>
              <a:rPr lang="en-GB" sz="1400"/>
              <a:t>meet business objectives </a:t>
            </a:r>
            <a:r>
              <a:rPr lang="en-GB" sz="1400" dirty="0"/>
              <a:t>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61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Quality Assurance (PQA) </a:t>
            </a:r>
            <a:r>
              <a:rPr lang="zh-CN" altLang="en-US" dirty="0">
                <a:solidFill>
                  <a:srgbClr val="1F497D"/>
                </a:solidFill>
                <a:latin typeface="+mj-ea"/>
                <a:ea typeface="+mj-ea"/>
              </a:rPr>
              <a:t>过程质量保证</a:t>
            </a:r>
            <a:endParaRPr lang="en-US"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85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Product Integration (PI) </a:t>
            </a:r>
            <a:r>
              <a:rPr lang="ja-JP" altLang="en-US" dirty="0">
                <a:solidFill>
                  <a:srgbClr val="1F497D"/>
                </a:solidFill>
                <a:latin typeface="DengXian Light" panose="02010600030101010101" pitchFamily="2" charset="-122"/>
                <a:ea typeface="DengXian Light" panose="02010600030101010101" pitchFamily="2" charset="-122"/>
              </a:rPr>
              <a:t>产品集成</a:t>
            </a:r>
            <a:endParaRPr lang="en-US"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dirty="0"/>
              <a:t>	Intent: </a:t>
            </a:r>
            <a:r>
              <a:rPr lang="en-GB" sz="1400" dirty="0"/>
              <a:t>Integrates and delivers the solution that addresses functionality, performance,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customers' satisfaction by giving them a solution that meets or exceeds their functionality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466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Requirements Development and Management (RDM) </a:t>
            </a:r>
            <a:r>
              <a:rPr lang="zh-CN" altLang="en-US" dirty="0">
                <a:solidFill>
                  <a:srgbClr val="1F497D"/>
                </a:solidFill>
                <a:latin typeface="+mj-ea"/>
                <a:ea typeface="+mj-ea"/>
              </a:rPr>
              <a:t>需求开发与管理</a:t>
            </a:r>
            <a:endParaRPr lang="en-US"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dirty="0"/>
              <a:t>	Intent: </a:t>
            </a:r>
            <a:r>
              <a:rPr lang="en-GB" sz="1400" dirty="0"/>
              <a:t>Elicits requirements, confirms common understanding by stakeholders, and aligns requirements, plans, and work products.</a:t>
            </a:r>
            <a:br>
              <a:rPr lang="en-US" sz="1400" dirty="0"/>
            </a:br>
            <a:r>
              <a:rPr lang="en-US" sz="1400" dirty="0"/>
              <a:t>	</a:t>
            </a:r>
            <a:r>
              <a:rPr lang="zh-CN" altLang="en-US" sz="1400" dirty="0">
                <a:solidFill>
                  <a:srgbClr val="1F497D"/>
                </a:solidFill>
              </a:rPr>
              <a:t>引发需求，通过利益相关者确认共同理解，并将需求、计划和工作产品对齐。</a:t>
            </a:r>
            <a:r>
              <a:rPr lang="en-US" sz="1400" b="1" dirty="0"/>
              <a:t>	</a:t>
            </a:r>
          </a:p>
          <a:p>
            <a:pPr marL="0" indent="0">
              <a:buNone/>
            </a:pPr>
            <a:r>
              <a:rPr lang="en-US" sz="1400" b="1" dirty="0"/>
              <a:t>	Value:</a:t>
            </a:r>
            <a:r>
              <a:rPr lang="en-US" sz="1400" dirty="0"/>
              <a:t> </a:t>
            </a:r>
            <a:r>
              <a:rPr lang="en-GB" sz="1400" dirty="0"/>
              <a:t>Increases likelihood that the solution meets or exceeds customer expectations and needs.</a:t>
            </a:r>
            <a:br>
              <a:rPr lang="en-US" sz="1400" dirty="0"/>
            </a:br>
            <a:r>
              <a:rPr lang="en-US" sz="1400" dirty="0"/>
              <a:t>	</a:t>
            </a:r>
            <a:r>
              <a:rPr lang="zh-CN" altLang="en-US" sz="1400" dirty="0">
                <a:solidFill>
                  <a:srgbClr val="1F497D"/>
                </a:solidFill>
              </a:rPr>
              <a:t>增加解决方案满足或超出客户期望和需求的可能性。</a:t>
            </a:r>
            <a:endParaRPr lang="en-US" sz="14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232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dirty="0"/>
              <a:t>	Intent: </a:t>
            </a:r>
            <a:r>
              <a:rPr lang="en-GB" sz="1400" dirty="0"/>
              <a:t>Identifies, records, </a:t>
            </a:r>
            <a:r>
              <a:rPr lang="en-GB" sz="1400" dirty="0" err="1"/>
              <a:t>analyzes</a:t>
            </a:r>
            <a:r>
              <a:rPr lang="en-GB" sz="1400" dirty="0"/>
              <a:t>, and manages potential risks or opportunities.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dirty="0"/>
              <a:t>	</a:t>
            </a:r>
          </a:p>
          <a:p>
            <a:pPr marL="0" indent="0">
              <a:buNone/>
            </a:pPr>
            <a:r>
              <a:rPr lang="en-US" sz="1400" b="1" dirty="0"/>
              <a:t>	Value:</a:t>
            </a:r>
            <a:r>
              <a:rPr lang="en-US" sz="1400" dirty="0"/>
              <a:t> </a:t>
            </a:r>
            <a:r>
              <a:rPr lang="en-GB" sz="1400" dirty="0"/>
              <a:t>Mitigates adverse impacts or capitalizes on positive impacts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376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Technical Solution (TS) </a:t>
            </a:r>
            <a:r>
              <a:rPr lang="zh-CN" altLang="en-US" dirty="0">
                <a:solidFill>
                  <a:srgbClr val="1F497D"/>
                </a:solidFill>
                <a:latin typeface="+mj-ea"/>
                <a:ea typeface="+mj-ea"/>
              </a:rPr>
              <a:t>技术解决方案</a:t>
            </a:r>
            <a:endParaRPr lang="en-US"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dirty="0"/>
              <a:t>	Intent: </a:t>
            </a:r>
            <a:r>
              <a:rPr lang="en-GB" sz="1400" dirty="0"/>
              <a:t>Designs and builds solutions that meet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cost-effective design and solution that meets customer requirements and reduces rework.</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4749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Verification and Validation (VV) </a:t>
            </a:r>
            <a:r>
              <a:rPr lang="ja-JP" altLang="en-US" dirty="0">
                <a:solidFill>
                  <a:srgbClr val="1F497D"/>
                </a:solidFill>
                <a:latin typeface="DengXian Light" panose="02010600030101010101" pitchFamily="2" charset="-122"/>
                <a:ea typeface="DengXian Light" panose="02010600030101010101" pitchFamily="2" charset="-122"/>
              </a:rPr>
              <a:t>验证与确认</a:t>
            </a:r>
            <a:endParaRPr lang="en-US"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dirty="0"/>
              <a:t>	Intent: </a:t>
            </a:r>
            <a:r>
              <a:rPr lang="en-GB" sz="1400" dirty="0"/>
              <a:t>Confirms selected solutions and components meet their requirements, and demonstrates selected solutions and components </a:t>
            </a:r>
            <a:r>
              <a:rPr lang="en-GB" sz="1400" dirty="0" err="1"/>
              <a:t>fulfill</a:t>
            </a:r>
            <a:r>
              <a:rPr lang="en-GB" sz="1400" dirty="0"/>
              <a:t> 	their intended use in their target environment.</a:t>
            </a:r>
            <a:br>
              <a:rPr lang="en-US" sz="1400" dirty="0"/>
            </a:br>
            <a:r>
              <a:rPr lang="zh-CN" altLang="en-US" sz="1400" b="0" i="0" dirty="0">
                <a:solidFill>
                  <a:srgbClr val="0D0D0D"/>
                </a:solidFill>
                <a:effectLst/>
                <a:highlight>
                  <a:srgbClr val="FFFFFF"/>
                </a:highlight>
                <a:latin typeface="Söhne"/>
              </a:rPr>
              <a:t> </a:t>
            </a:r>
            <a:r>
              <a:rPr lang="en-ZA" altLang="zh-CN" sz="1400" b="0" i="0" dirty="0">
                <a:solidFill>
                  <a:srgbClr val="0D0D0D"/>
                </a:solidFill>
                <a:effectLst/>
                <a:highlight>
                  <a:srgbClr val="FFFFFF"/>
                </a:highlight>
                <a:latin typeface="Söhne"/>
              </a:rPr>
              <a:t>	</a:t>
            </a:r>
            <a:r>
              <a:rPr lang="zh-CN" altLang="en-US" sz="1400" dirty="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the likelihood that the solution will satisfy the customer.</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增加解决方案能够满足客户的可能性。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8327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a:xfrm>
            <a:off x="838200" y="2002631"/>
            <a:ext cx="10515600" cy="2852737"/>
          </a:xfrm>
        </p:spPr>
        <p:txBody>
          <a:bodyPr/>
          <a:lstStyle/>
          <a:p>
            <a:r>
              <a:rPr lang="en-ZA" b="1" dirty="0">
                <a:latin typeface="+mn-lt"/>
              </a:rPr>
              <a:t>Performance Report</a:t>
            </a:r>
            <a:br>
              <a:rPr lang="en-US" b="1" dirty="0">
                <a:latin typeface="+mn-lt"/>
              </a:rPr>
            </a:br>
            <a:r>
              <a:rPr lang="zh-CN" altLang="en-US" b="1" dirty="0">
                <a:solidFill>
                  <a:srgbClr val="1F497D"/>
                </a:solidFill>
                <a:latin typeface="+mn-lt"/>
              </a:rPr>
              <a:t>性能报告</a:t>
            </a:r>
            <a:r>
              <a:rPr lang="en-NZ" b="1" dirty="0">
                <a:solidFill>
                  <a:srgbClr val="1F497D"/>
                </a:solidFill>
                <a:latin typeface="+mn-lt"/>
              </a:rPr>
              <a:t>  </a:t>
            </a:r>
            <a:endParaRPr lang="en-US" b="1" dirty="0">
              <a:solidFill>
                <a:srgbClr val="1F497D"/>
              </a:solidFill>
              <a:latin typeface="+mn-lt"/>
            </a:endParaRPr>
          </a:p>
        </p:txBody>
      </p:sp>
      <p:sp>
        <p:nvSpPr>
          <p:cNvPr id="2" name="Rectangle 1">
            <a:extLst>
              <a:ext uri="{FF2B5EF4-FFF2-40B4-BE49-F238E27FC236}">
                <a16:creationId xmlns:a16="http://schemas.microsoft.com/office/drawing/2014/main" id="{F3E0F357-D534-4D1A-B5E1-CC602B422F46}"/>
              </a:ext>
            </a:extLst>
          </p:cNvPr>
          <p:cNvSpPr/>
          <p:nvPr/>
        </p:nvSpPr>
        <p:spPr>
          <a:xfrm>
            <a:off x="218661" y="1192696"/>
            <a:ext cx="11509514" cy="5128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42166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Ratings</a:t>
            </a:r>
            <a:br>
              <a:rPr lang="en-US" b="1" dirty="0">
                <a:latin typeface="+mn-lt"/>
              </a:rPr>
            </a:br>
            <a:r>
              <a:rPr lang="zh-CN" altLang="en-US" b="1" dirty="0">
                <a:solidFill>
                  <a:srgbClr val="1F497D"/>
                </a:solidFill>
                <a:latin typeface="+mn-lt"/>
              </a:rPr>
              <a:t>評級</a:t>
            </a:r>
            <a:endParaRPr lang="en-US" b="1" dirty="0">
              <a:solidFill>
                <a:srgbClr val="1F497D"/>
              </a:solidFill>
              <a:latin typeface="+mn-lt"/>
            </a:endParaRPr>
          </a:p>
        </p:txBody>
      </p:sp>
    </p:spTree>
    <p:extLst>
      <p:ext uri="{BB962C8B-B14F-4D97-AF65-F5344CB8AC3E}">
        <p14:creationId xmlns:p14="http://schemas.microsoft.com/office/powerpoint/2010/main" val="1209401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2161953" cy="602284"/>
          </a:xfrm>
        </p:spPr>
        <p:txBody>
          <a:bodyPr/>
          <a:lstStyle/>
          <a:p>
            <a:r>
              <a:rPr lang="en-US" dirty="0"/>
              <a:t>Ratings for</a:t>
            </a:r>
          </a:p>
        </p:txBody>
      </p:sp>
      <p:graphicFrame>
        <p:nvGraphicFramePr>
          <p:cNvPr id="3" name="Object 2">
            <a:extLst>
              <a:ext uri="{FF2B5EF4-FFF2-40B4-BE49-F238E27FC236}">
                <a16:creationId xmlns:a16="http://schemas.microsoft.com/office/drawing/2014/main" id="{2A52746B-2DBE-49E0-BE4E-73E9F3A4814F}"/>
              </a:ext>
            </a:extLst>
          </p:cNvPr>
          <p:cNvGraphicFramePr>
            <a:graphicFrameLocks noChangeAspect="1"/>
          </p:cNvGraphicFramePr>
          <p:nvPr>
            <p:extLst>
              <p:ext uri="{D42A27DB-BD31-4B8C-83A1-F6EECF244321}">
                <p14:modId xmlns:p14="http://schemas.microsoft.com/office/powerpoint/2010/main" val="1148774258"/>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name="Macro-Enabled Worksheet" r:id="rId3" imgW="3330117" imgH="182927" progId="Excel.SheetMacroEnabled.12">
                  <p:link updateAutomatic="1"/>
                </p:oleObj>
              </mc:Choice>
              <mc:Fallback>
                <p:oleObj name="Macro-Enabled Worksheet" r:id="rId3" imgW="3330117" imgH="182927" progId="Excel.SheetMacroEnabled.12">
                  <p:link updateAutomatic="1"/>
                  <p:pic>
                    <p:nvPicPr>
                      <p:cNvPr id="3" name="Object 2">
                        <a:extLst>
                          <a:ext uri="{FF2B5EF4-FFF2-40B4-BE49-F238E27FC236}">
                            <a16:creationId xmlns:a16="http://schemas.microsoft.com/office/drawing/2014/main" id="{2A52746B-2DBE-49E0-BE4E-73E9F3A4814F}"/>
                          </a:ext>
                        </a:extLst>
                      </p:cNvPr>
                      <p:cNvPicPr/>
                      <p:nvPr/>
                    </p:nvPicPr>
                    <p:blipFill>
                      <a:blip r:embed="rId4"/>
                      <a:stretch>
                        <a:fillRect/>
                      </a:stretch>
                    </p:blipFill>
                    <p:spPr>
                      <a:xfrm>
                        <a:off x="496888" y="903288"/>
                        <a:ext cx="3330575" cy="184150"/>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821A6FB-E09E-4F97-AC85-D866DE56A84A}"/>
              </a:ext>
            </a:extLst>
          </p:cNvPr>
          <p:cNvPicPr>
            <a:picLocks noChangeAspect="1"/>
          </p:cNvPicPr>
          <p:nvPr/>
        </p:nvPicPr>
        <p:blipFill>
          <a:blip r:embed="rId5"/>
          <a:stretch>
            <a:fillRect/>
          </a:stretch>
        </p:blipFill>
        <p:spPr>
          <a:xfrm>
            <a:off x="8971280" y="2172970"/>
            <a:ext cx="1723565" cy="2134870"/>
          </a:xfrm>
          <a:prstGeom prst="rect">
            <a:avLst/>
          </a:prstGeom>
        </p:spPr>
      </p:pic>
      <p:pic>
        <p:nvPicPr>
          <p:cNvPr id="6" name="Picture 5">
            <a:extLst>
              <a:ext uri="{FF2B5EF4-FFF2-40B4-BE49-F238E27FC236}">
                <a16:creationId xmlns:a16="http://schemas.microsoft.com/office/drawing/2014/main" id="{75484A1B-7A36-468A-93FF-9D86D7639B93}"/>
              </a:ext>
            </a:extLst>
          </p:cNvPr>
          <p:cNvPicPr>
            <a:picLocks noChangeAspect="1"/>
          </p:cNvPicPr>
          <p:nvPr/>
        </p:nvPicPr>
        <p:blipFill>
          <a:blip r:embed="rId6"/>
          <a:stretch>
            <a:fillRect/>
          </a:stretch>
        </p:blipFill>
        <p:spPr>
          <a:xfrm>
            <a:off x="1206408" y="1086644"/>
            <a:ext cx="6685788" cy="4988052"/>
          </a:xfrm>
          <a:prstGeom prst="rect">
            <a:avLst/>
          </a:prstGeom>
        </p:spPr>
      </p:pic>
    </p:spTree>
    <p:extLst>
      <p:ext uri="{BB962C8B-B14F-4D97-AF65-F5344CB8AC3E}">
        <p14:creationId xmlns:p14="http://schemas.microsoft.com/office/powerpoint/2010/main" val="4006735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10515600" cy="602284"/>
          </a:xfrm>
        </p:spPr>
        <p:txBody>
          <a:bodyPr/>
          <a:lstStyle/>
          <a:p>
            <a:r>
              <a:rPr lang="en-US" dirty="0"/>
              <a:t>Ratings for</a:t>
            </a:r>
          </a:p>
        </p:txBody>
      </p:sp>
      <p:graphicFrame>
        <p:nvGraphicFramePr>
          <p:cNvPr id="7" name="Object 6">
            <a:extLst>
              <a:ext uri="{FF2B5EF4-FFF2-40B4-BE49-F238E27FC236}">
                <a16:creationId xmlns:a16="http://schemas.microsoft.com/office/drawing/2014/main" id="{7E382923-D01A-4807-A6F7-0DA8BA607675}"/>
              </a:ext>
            </a:extLst>
          </p:cNvPr>
          <p:cNvGraphicFramePr>
            <a:graphicFrameLocks noChangeAspect="1"/>
          </p:cNvGraphicFramePr>
          <p:nvPr>
            <p:extLst>
              <p:ext uri="{D42A27DB-BD31-4B8C-83A1-F6EECF244321}">
                <p14:modId xmlns:p14="http://schemas.microsoft.com/office/powerpoint/2010/main" val="22987012"/>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name="Macro-Enabled Worksheet" r:id="rId3" imgW="3330117" imgH="182927" progId="Excel.SheetMacroEnabled.12">
                  <p:link updateAutomatic="1"/>
                </p:oleObj>
              </mc:Choice>
              <mc:Fallback>
                <p:oleObj name="Macro-Enabled Worksheet" r:id="rId3" imgW="3330117" imgH="182927" progId="Excel.SheetMacroEnabled.12">
                  <p:link updateAutomatic="1"/>
                  <p:pic>
                    <p:nvPicPr>
                      <p:cNvPr id="7" name="Object 6">
                        <a:extLst>
                          <a:ext uri="{FF2B5EF4-FFF2-40B4-BE49-F238E27FC236}">
                            <a16:creationId xmlns:a16="http://schemas.microsoft.com/office/drawing/2014/main" id="{7E382923-D01A-4807-A6F7-0DA8BA607675}"/>
                          </a:ext>
                        </a:extLst>
                      </p:cNvPr>
                      <p:cNvPicPr/>
                      <p:nvPr/>
                    </p:nvPicPr>
                    <p:blipFill>
                      <a:blip r:embed="rId4"/>
                      <a:stretch>
                        <a:fillRect/>
                      </a:stretch>
                    </p:blipFill>
                    <p:spPr>
                      <a:xfrm>
                        <a:off x="496888" y="903288"/>
                        <a:ext cx="3330575" cy="184150"/>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50226AA9-9A39-4C01-8812-581028B161A5}"/>
              </a:ext>
            </a:extLst>
          </p:cNvPr>
          <p:cNvPicPr>
            <a:picLocks noChangeAspect="1"/>
          </p:cNvPicPr>
          <p:nvPr/>
        </p:nvPicPr>
        <p:blipFill>
          <a:blip r:embed="rId5"/>
          <a:stretch>
            <a:fillRect/>
          </a:stretch>
        </p:blipFill>
        <p:spPr>
          <a:xfrm>
            <a:off x="9611360" y="2020570"/>
            <a:ext cx="1723565" cy="2134870"/>
          </a:xfrm>
          <a:prstGeom prst="rect">
            <a:avLst/>
          </a:prstGeom>
        </p:spPr>
      </p:pic>
      <p:pic>
        <p:nvPicPr>
          <p:cNvPr id="6" name="Picture 5">
            <a:extLst>
              <a:ext uri="{FF2B5EF4-FFF2-40B4-BE49-F238E27FC236}">
                <a16:creationId xmlns:a16="http://schemas.microsoft.com/office/drawing/2014/main" id="{5CE0B926-28FF-4FAF-A664-B5E841CD5D7E}"/>
              </a:ext>
            </a:extLst>
          </p:cNvPr>
          <p:cNvPicPr>
            <a:picLocks noChangeAspect="1"/>
          </p:cNvPicPr>
          <p:nvPr/>
        </p:nvPicPr>
        <p:blipFill>
          <a:blip r:embed="rId6"/>
          <a:stretch>
            <a:fillRect/>
          </a:stretch>
        </p:blipFill>
        <p:spPr>
          <a:xfrm>
            <a:off x="1204657" y="1154912"/>
            <a:ext cx="7545324" cy="4991100"/>
          </a:xfrm>
          <a:prstGeom prst="rect">
            <a:avLst/>
          </a:prstGeom>
        </p:spPr>
      </p:pic>
    </p:spTree>
    <p:extLst>
      <p:ext uri="{BB962C8B-B14F-4D97-AF65-F5344CB8AC3E}">
        <p14:creationId xmlns:p14="http://schemas.microsoft.com/office/powerpoint/2010/main" val="1613627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544" y="908050"/>
            <a:ext cx="8153400" cy="935265"/>
          </a:xfrm>
        </p:spPr>
        <p:txBody>
          <a:bodyPr/>
          <a:lstStyle/>
          <a:p>
            <a:r>
              <a:rPr lang="en-ZA" dirty="0"/>
              <a:t>Congratulations!</a:t>
            </a:r>
          </a:p>
        </p:txBody>
      </p:sp>
      <p:sp>
        <p:nvSpPr>
          <p:cNvPr id="3" name="Content Placeholder 2"/>
          <p:cNvSpPr>
            <a:spLocks noGrp="1"/>
          </p:cNvSpPr>
          <p:nvPr>
            <p:ph idx="1"/>
          </p:nvPr>
        </p:nvSpPr>
        <p:spPr>
          <a:xfrm>
            <a:off x="993544" y="1754857"/>
            <a:ext cx="10337141" cy="4195093"/>
          </a:xfrm>
        </p:spPr>
        <p:txBody>
          <a:bodyPr>
            <a:normAutofit fontScale="62500" lnSpcReduction="20000"/>
          </a:bodyPr>
          <a:lstStyle/>
          <a:p>
            <a:pPr marL="0" indent="0">
              <a:buNone/>
            </a:pPr>
            <a:r>
              <a:rPr lang="en-ZA" sz="2000" dirty="0"/>
              <a:t>On being rated</a:t>
            </a:r>
          </a:p>
          <a:p>
            <a:pPr marL="0" indent="0">
              <a:buNone/>
            </a:pPr>
            <a:r>
              <a:rPr lang="en-ZA" sz="4800" b="1" dirty="0">
                <a:ea typeface="+mj-ea"/>
                <a:cs typeface="+mj-cs"/>
              </a:rPr>
              <a:t>Maturity</a:t>
            </a:r>
            <a:r>
              <a:rPr lang="en-ZA" sz="4400" dirty="0"/>
              <a:t> </a:t>
            </a:r>
            <a:r>
              <a:rPr lang="en-ZA" sz="4800" b="1" dirty="0">
                <a:ea typeface="+mj-ea"/>
                <a:cs typeface="+mj-cs"/>
              </a:rPr>
              <a:t>Level 5</a:t>
            </a:r>
          </a:p>
          <a:p>
            <a:pPr marL="0" indent="0">
              <a:buNone/>
            </a:pPr>
            <a:r>
              <a:rPr lang="zh-CN" altLang="en-US" sz="3200" dirty="0">
                <a:solidFill>
                  <a:srgbClr val="1F497D"/>
                </a:solidFill>
              </a:rPr>
              <a:t>恭喜贵公司顺利通过</a:t>
            </a:r>
            <a:r>
              <a:rPr lang="en-US" altLang="zh-CN" sz="3200" dirty="0">
                <a:solidFill>
                  <a:srgbClr val="1F497D"/>
                </a:solidFill>
              </a:rPr>
              <a:t>CMMI</a:t>
            </a:r>
            <a:r>
              <a:rPr lang="zh-CN" altLang="en-US" sz="3200" dirty="0">
                <a:solidFill>
                  <a:srgbClr val="1F497D"/>
                </a:solidFill>
              </a:rPr>
              <a:t>成熟度</a:t>
            </a:r>
            <a:r>
              <a:rPr lang="en-US" altLang="zh-CN" sz="3200" dirty="0">
                <a:solidFill>
                  <a:srgbClr val="1F497D"/>
                </a:solidFill>
              </a:rPr>
              <a:t>5</a:t>
            </a:r>
            <a:r>
              <a:rPr lang="zh-CN" altLang="en-US" sz="3200" dirty="0">
                <a:solidFill>
                  <a:srgbClr val="1F497D"/>
                </a:solidFill>
              </a:rPr>
              <a:t>级评估</a:t>
            </a:r>
          </a:p>
          <a:p>
            <a:pPr marL="0" indent="0" algn="just">
              <a:buNone/>
            </a:pPr>
            <a:r>
              <a:rPr lang="en-ZA" sz="2000" b="1" u="sng" dirty="0"/>
              <a:t>Note: </a:t>
            </a:r>
            <a:r>
              <a:rPr lang="zh-CN" altLang="en-US" sz="2000" b="1" u="sng" dirty="0"/>
              <a:t>注：</a:t>
            </a:r>
            <a:endParaRPr lang="en-ZA" sz="2000" b="1" u="sng" dirty="0"/>
          </a:p>
          <a:p>
            <a:pPr marL="0" indent="0" algn="just">
              <a:buNone/>
            </a:pPr>
            <a:r>
              <a:rPr lang="en-ZA" sz="2400" dirty="0"/>
              <a:t>Before the results of this appraisal become public record, e.g., announced in a press release or on an organization’s public Web site, or used in response to a request for proposal, the appraisal must first be accepted by the ISACA CMMI quality team. </a:t>
            </a:r>
          </a:p>
          <a:p>
            <a:pPr marL="0" indent="0" algn="just">
              <a:lnSpc>
                <a:spcPct val="120000"/>
              </a:lnSpc>
              <a:buNone/>
            </a:pPr>
            <a:r>
              <a:rPr lang="zh-CN" altLang="en-US" sz="3200" dirty="0">
                <a:solidFill>
                  <a:srgbClr val="1F497D"/>
                </a:solidFill>
              </a:rPr>
              <a:t>在评估结果正式公开之前，例如在新闻稿或公司官网上公开，或将其用于响应请求建议书之前，该评估须首先被</a:t>
            </a:r>
            <a:r>
              <a:rPr lang="en-US" altLang="zh-CN" sz="3200" dirty="0">
                <a:solidFill>
                  <a:srgbClr val="1F497D"/>
                </a:solidFill>
              </a:rPr>
              <a:t>ISACA CMMI </a:t>
            </a:r>
            <a:r>
              <a:rPr lang="zh-CN" altLang="en-US" sz="3200" dirty="0">
                <a:solidFill>
                  <a:srgbClr val="1F497D"/>
                </a:solidFill>
              </a:rPr>
              <a:t>质量团队认可</a:t>
            </a:r>
          </a:p>
          <a:p>
            <a:pPr marL="0" indent="0" algn="just">
              <a:buNone/>
            </a:pPr>
            <a:r>
              <a:rPr lang="en-ZA" sz="2400" dirty="0"/>
              <a:t>This can take up to </a:t>
            </a:r>
            <a:r>
              <a:rPr lang="en-ZA" sz="2400" b="1" dirty="0"/>
              <a:t>8 weeks </a:t>
            </a:r>
            <a:r>
              <a:rPr lang="en-ZA" sz="2400" dirty="0"/>
              <a:t>from the time that the appraisal results are submitted to the ISACA CMMI quality team for review. Results are submitted to the ISACA CMMI quality team typically within 4-6 working days after the final findings presentation has been made.</a:t>
            </a:r>
          </a:p>
          <a:p>
            <a:pPr marL="0" indent="0">
              <a:lnSpc>
                <a:spcPct val="120000"/>
              </a:lnSpc>
              <a:buNone/>
            </a:pPr>
            <a:r>
              <a:rPr lang="zh-CN" altLang="en-US" sz="3200" dirty="0">
                <a:solidFill>
                  <a:srgbClr val="1F497D"/>
                </a:solidFill>
              </a:rPr>
              <a:t>从将评估结果提交给</a:t>
            </a:r>
            <a:r>
              <a:rPr lang="en-US" altLang="zh-CN" sz="3200" dirty="0">
                <a:solidFill>
                  <a:srgbClr val="1F497D"/>
                </a:solidFill>
              </a:rPr>
              <a:t>ISACA CMMI</a:t>
            </a:r>
            <a:r>
              <a:rPr lang="zh-CN" altLang="en-US" sz="3200" dirty="0">
                <a:solidFill>
                  <a:srgbClr val="1F497D"/>
                </a:solidFill>
              </a:rPr>
              <a:t>质量团队起，最长可能需要</a:t>
            </a:r>
            <a:r>
              <a:rPr lang="en-US" altLang="zh-CN" sz="3200" dirty="0">
                <a:solidFill>
                  <a:srgbClr val="1F497D"/>
                </a:solidFill>
              </a:rPr>
              <a:t>8</a:t>
            </a:r>
            <a:r>
              <a:rPr lang="zh-CN" altLang="en-US" sz="3200" dirty="0">
                <a:solidFill>
                  <a:srgbClr val="1F497D"/>
                </a:solidFill>
              </a:rPr>
              <a:t>周进行审核。通常在完成最终发现展示后的</a:t>
            </a:r>
            <a:r>
              <a:rPr lang="en-US" altLang="zh-CN" sz="3200" dirty="0">
                <a:solidFill>
                  <a:srgbClr val="1F497D"/>
                </a:solidFill>
              </a:rPr>
              <a:t>4-6</a:t>
            </a:r>
            <a:r>
              <a:rPr lang="zh-CN" altLang="en-US" sz="3200" dirty="0">
                <a:solidFill>
                  <a:srgbClr val="1F497D"/>
                </a:solidFill>
              </a:rPr>
              <a:t>个工作日内，评估结果会提交给</a:t>
            </a:r>
            <a:r>
              <a:rPr lang="en-US" altLang="zh-CN" sz="3200" dirty="0">
                <a:solidFill>
                  <a:srgbClr val="1F497D"/>
                </a:solidFill>
              </a:rPr>
              <a:t>ISACA CMMI</a:t>
            </a:r>
            <a:r>
              <a:rPr lang="zh-CN" altLang="en-US" sz="3200" dirty="0">
                <a:solidFill>
                  <a:srgbClr val="1F497D"/>
                </a:solidFill>
              </a:rPr>
              <a:t>质量团队。</a:t>
            </a:r>
          </a:p>
        </p:txBody>
      </p:sp>
    </p:spTree>
    <p:extLst>
      <p:ext uri="{BB962C8B-B14F-4D97-AF65-F5344CB8AC3E}">
        <p14:creationId xmlns:p14="http://schemas.microsoft.com/office/powerpoint/2010/main" val="3886503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D2171307-9004-194B-9398-1B155E182EBC}"/>
              </a:ext>
            </a:extLst>
          </p:cNvPr>
          <p:cNvSpPr>
            <a:spLocks noGrp="1" noChangeArrowheads="1"/>
          </p:cNvSpPr>
          <p:nvPr>
            <p:ph type="title"/>
          </p:nvPr>
        </p:nvSpPr>
        <p:spPr>
          <a:xfrm>
            <a:off x="955964" y="1022653"/>
            <a:ext cx="10397836" cy="602284"/>
          </a:xfrm>
        </p:spPr>
        <p:txBody>
          <a:bodyPr>
            <a:normAutofit/>
          </a:bodyPr>
          <a:lstStyle/>
          <a:p>
            <a:pPr eaLnBrk="1" hangingPunct="1"/>
            <a:r>
              <a:rPr lang="en-US" altLang="en-US" sz="3200" dirty="0"/>
              <a:t>Appraisal Team Affirmations </a:t>
            </a:r>
            <a:r>
              <a:rPr lang="en-US" altLang="en-US" dirty="0"/>
              <a:t>– </a:t>
            </a:r>
            <a:r>
              <a:rPr lang="en-US" altLang="en-US" sz="3200" dirty="0"/>
              <a:t>Signature Page</a:t>
            </a:r>
          </a:p>
        </p:txBody>
      </p:sp>
      <p:sp>
        <p:nvSpPr>
          <p:cNvPr id="47108" name="Rectangle 3">
            <a:extLst>
              <a:ext uri="{FF2B5EF4-FFF2-40B4-BE49-F238E27FC236}">
                <a16:creationId xmlns:a16="http://schemas.microsoft.com/office/drawing/2014/main" id="{97924523-D0AC-3F42-BB46-91A314A482F5}"/>
              </a:ext>
            </a:extLst>
          </p:cNvPr>
          <p:cNvSpPr>
            <a:spLocks noGrp="1" noChangeArrowheads="1"/>
          </p:cNvSpPr>
          <p:nvPr>
            <p:ph type="body" sz="half" idx="4294967295"/>
          </p:nvPr>
        </p:nvSpPr>
        <p:spPr>
          <a:xfrm>
            <a:off x="955964" y="1665287"/>
            <a:ext cx="10647151" cy="868363"/>
          </a:xfrm>
        </p:spPr>
        <p:txBody>
          <a:bodyPr>
            <a:noAutofit/>
          </a:bodyPr>
          <a:lstStyle/>
          <a:p>
            <a:pPr marL="0" indent="0">
              <a:buNone/>
            </a:pPr>
            <a:r>
              <a:rPr lang="en-US" altLang="en-US" sz="2000" dirty="0"/>
              <a:t>I support the findings in this presentation and affirm that to the best of my knowledge it represents an accurate portrayal of the state of the process in the appraised organization.</a:t>
            </a:r>
            <a:br>
              <a:rPr lang="en-US" altLang="en-US" sz="2000" dirty="0"/>
            </a:br>
            <a:r>
              <a:rPr lang="zh-CN" altLang="en-US" sz="2000" dirty="0">
                <a:solidFill>
                  <a:srgbClr val="1F497D"/>
                </a:solidFill>
              </a:rPr>
              <a:t>我支持本报告中的发现结果，并确认以上发现准确地描述了被评估组织的过程状态。</a:t>
            </a:r>
            <a:endParaRPr lang="en-US" altLang="en-US" sz="2000" dirty="0">
              <a:solidFill>
                <a:srgbClr val="1F497D"/>
              </a:solidFill>
            </a:endParaRPr>
          </a:p>
        </p:txBody>
      </p:sp>
      <p:graphicFrame>
        <p:nvGraphicFramePr>
          <p:cNvPr id="2" name="Object 1">
            <a:extLst>
              <a:ext uri="{FF2B5EF4-FFF2-40B4-BE49-F238E27FC236}">
                <a16:creationId xmlns:a16="http://schemas.microsoft.com/office/drawing/2014/main" id="{58972A5E-A6FC-4357-9F5F-83EB57C57EE0}"/>
              </a:ext>
            </a:extLst>
          </p:cNvPr>
          <p:cNvGraphicFramePr>
            <a:graphicFrameLocks noChangeAspect="1"/>
          </p:cNvGraphicFramePr>
          <p:nvPr>
            <p:extLst>
              <p:ext uri="{D42A27DB-BD31-4B8C-83A1-F6EECF244321}">
                <p14:modId xmlns:p14="http://schemas.microsoft.com/office/powerpoint/2010/main" val="2444645588"/>
              </p:ext>
            </p:extLst>
          </p:nvPr>
        </p:nvGraphicFramePr>
        <p:xfrm>
          <a:off x="873125" y="2738438"/>
          <a:ext cx="10445750" cy="3170237"/>
        </p:xfrm>
        <a:graphic>
          <a:graphicData uri="http://schemas.openxmlformats.org/presentationml/2006/ole">
            <mc:AlternateContent xmlns:mc="http://schemas.openxmlformats.org/markup-compatibility/2006">
              <mc:Choice xmlns:v="urn:schemas-microsoft-com:vml" Requires="v">
                <p:oleObj name="Macro-Enabled Worksheet" r:id="rId3" imgW="12626375" imgH="4015874" progId="Excel.SheetMacroEnabled.12">
                  <p:link updateAutomatic="1"/>
                </p:oleObj>
              </mc:Choice>
              <mc:Fallback>
                <p:oleObj name="Macro-Enabled Worksheet" r:id="rId3" imgW="12626375" imgH="4015874" progId="Excel.SheetMacroEnabled.12">
                  <p:link updateAutomatic="1"/>
                  <p:pic>
                    <p:nvPicPr>
                      <p:cNvPr id="2" name="Object 1">
                        <a:extLst>
                          <a:ext uri="{FF2B5EF4-FFF2-40B4-BE49-F238E27FC236}">
                            <a16:creationId xmlns:a16="http://schemas.microsoft.com/office/drawing/2014/main" id="{58972A5E-A6FC-4357-9F5F-83EB57C57EE0}"/>
                          </a:ext>
                        </a:extLst>
                      </p:cNvPr>
                      <p:cNvPicPr/>
                      <p:nvPr/>
                    </p:nvPicPr>
                    <p:blipFill>
                      <a:blip r:embed="rId4"/>
                      <a:stretch>
                        <a:fillRect/>
                      </a:stretch>
                    </p:blipFill>
                    <p:spPr>
                      <a:xfrm>
                        <a:off x="873125" y="2738438"/>
                        <a:ext cx="10445750" cy="3170237"/>
                      </a:xfrm>
                      <a:prstGeom prst="rect">
                        <a:avLst/>
                      </a:prstGeom>
                    </p:spPr>
                  </p:pic>
                </p:oleObj>
              </mc:Fallback>
            </mc:AlternateContent>
          </a:graphicData>
        </a:graphic>
      </p:graphicFrame>
    </p:spTree>
    <p:extLst>
      <p:ext uri="{BB962C8B-B14F-4D97-AF65-F5344CB8AC3E}">
        <p14:creationId xmlns:p14="http://schemas.microsoft.com/office/powerpoint/2010/main" val="3738328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Annexures</a:t>
            </a:r>
            <a:br>
              <a:rPr lang="en-US" b="1" dirty="0">
                <a:latin typeface="+mn-lt"/>
              </a:rPr>
            </a:br>
            <a:r>
              <a:rPr lang="zh-CN" altLang="en-US" sz="6000" b="1" dirty="0">
                <a:solidFill>
                  <a:srgbClr val="1F497D"/>
                </a:solidFill>
                <a:ea typeface="+mj-ea"/>
                <a:cs typeface="+mj-cs"/>
              </a:rPr>
              <a:t>附加展示</a:t>
            </a:r>
            <a:endParaRPr lang="en-US" b="1" dirty="0">
              <a:solidFill>
                <a:srgbClr val="1F497D"/>
              </a:solidFill>
              <a:latin typeface="+mn-lt"/>
            </a:endParaRPr>
          </a:p>
        </p:txBody>
      </p:sp>
    </p:spTree>
    <p:extLst>
      <p:ext uri="{BB962C8B-B14F-4D97-AF65-F5344CB8AC3E}">
        <p14:creationId xmlns:p14="http://schemas.microsoft.com/office/powerpoint/2010/main" val="219666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4" name="Object 3">
            <a:extLst>
              <a:ext uri="{FF2B5EF4-FFF2-40B4-BE49-F238E27FC236}">
                <a16:creationId xmlns:a16="http://schemas.microsoft.com/office/drawing/2014/main" id="{A69442D9-C7CA-46D7-9026-BAFCAC0C3C94}"/>
              </a:ext>
            </a:extLst>
          </p:cNvPr>
          <p:cNvGraphicFramePr>
            <a:graphicFrameLocks noChangeAspect="1"/>
          </p:cNvGraphicFramePr>
          <p:nvPr>
            <p:extLst>
              <p:ext uri="{D42A27DB-BD31-4B8C-83A1-F6EECF244321}">
                <p14:modId xmlns:p14="http://schemas.microsoft.com/office/powerpoint/2010/main" val="555935066"/>
              </p:ext>
            </p:extLst>
          </p:nvPr>
        </p:nvGraphicFramePr>
        <p:xfrm>
          <a:off x="931863" y="2282825"/>
          <a:ext cx="8985250" cy="1955800"/>
        </p:xfrm>
        <a:graphic>
          <a:graphicData uri="http://schemas.openxmlformats.org/presentationml/2006/ole">
            <mc:AlternateContent xmlns:mc="http://schemas.openxmlformats.org/markup-compatibility/2006">
              <mc:Choice xmlns:v="urn:schemas-microsoft-com:vml" Requires="v">
                <p:oleObj name="Macro-Enabled Worksheet" r:id="rId2" imgW="8580049" imgH="1988749" progId="Excel.SheetMacroEnabled.12">
                  <p:link updateAutomatic="1"/>
                </p:oleObj>
              </mc:Choice>
              <mc:Fallback>
                <p:oleObj name="Macro-Enabled Worksheet" r:id="rId2" imgW="8580049" imgH="1988749" progId="Excel.SheetMacroEnabled.12">
                  <p:link updateAutomatic="1"/>
                  <p:pic>
                    <p:nvPicPr>
                      <p:cNvPr id="4" name="Object 3">
                        <a:extLst>
                          <a:ext uri="{FF2B5EF4-FFF2-40B4-BE49-F238E27FC236}">
                            <a16:creationId xmlns:a16="http://schemas.microsoft.com/office/drawing/2014/main" id="{A69442D9-C7CA-46D7-9026-BAFCAC0C3C94}"/>
                          </a:ext>
                        </a:extLst>
                      </p:cNvPr>
                      <p:cNvPicPr/>
                      <p:nvPr/>
                    </p:nvPicPr>
                    <p:blipFill>
                      <a:blip r:embed="rId3"/>
                      <a:stretch>
                        <a:fillRect/>
                      </a:stretch>
                    </p:blipFill>
                    <p:spPr>
                      <a:xfrm>
                        <a:off x="931863" y="2282825"/>
                        <a:ext cx="8985250" cy="1955800"/>
                      </a:xfrm>
                      <a:prstGeom prst="rect">
                        <a:avLst/>
                      </a:prstGeom>
                    </p:spPr>
                  </p:pic>
                </p:oleObj>
              </mc:Fallback>
            </mc:AlternateContent>
          </a:graphicData>
        </a:graphic>
      </p:graphicFrame>
    </p:spTree>
    <p:extLst>
      <p:ext uri="{BB962C8B-B14F-4D97-AF65-F5344CB8AC3E}">
        <p14:creationId xmlns:p14="http://schemas.microsoft.com/office/powerpoint/2010/main" val="64724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3" name="Object 2">
            <a:extLst>
              <a:ext uri="{FF2B5EF4-FFF2-40B4-BE49-F238E27FC236}">
                <a16:creationId xmlns:a16="http://schemas.microsoft.com/office/drawing/2014/main" id="{F0C0BC17-AB37-4DA5-A9B9-89E64CFEB916}"/>
              </a:ext>
            </a:extLst>
          </p:cNvPr>
          <p:cNvGraphicFramePr>
            <a:graphicFrameLocks noChangeAspect="1"/>
          </p:cNvGraphicFramePr>
          <p:nvPr>
            <p:extLst>
              <p:ext uri="{D42A27DB-BD31-4B8C-83A1-F6EECF244321}">
                <p14:modId xmlns:p14="http://schemas.microsoft.com/office/powerpoint/2010/main" val="4146074126"/>
              </p:ext>
            </p:extLst>
          </p:nvPr>
        </p:nvGraphicFramePr>
        <p:xfrm>
          <a:off x="1044575" y="2317750"/>
          <a:ext cx="8985250" cy="2930525"/>
        </p:xfrm>
        <a:graphic>
          <a:graphicData uri="http://schemas.openxmlformats.org/presentationml/2006/ole">
            <mc:AlternateContent xmlns:mc="http://schemas.openxmlformats.org/markup-compatibility/2006">
              <mc:Choice xmlns:v="urn:schemas-microsoft-com:vml" Requires="v">
                <p:oleObj name="Macro-Enabled Worksheet" r:id="rId2" imgW="8580049" imgH="2979286" progId="Excel.SheetMacroEnabled.12">
                  <p:link updateAutomatic="1"/>
                </p:oleObj>
              </mc:Choice>
              <mc:Fallback>
                <p:oleObj name="Macro-Enabled Worksheet" r:id="rId2" imgW="8580049" imgH="2979286" progId="Excel.SheetMacroEnabled.12">
                  <p:link updateAutomatic="1"/>
                  <p:pic>
                    <p:nvPicPr>
                      <p:cNvPr id="3" name="Object 2">
                        <a:extLst>
                          <a:ext uri="{FF2B5EF4-FFF2-40B4-BE49-F238E27FC236}">
                            <a16:creationId xmlns:a16="http://schemas.microsoft.com/office/drawing/2014/main" id="{F0C0BC17-AB37-4DA5-A9B9-89E64CFEB916}"/>
                          </a:ext>
                        </a:extLst>
                      </p:cNvPr>
                      <p:cNvPicPr/>
                      <p:nvPr/>
                    </p:nvPicPr>
                    <p:blipFill>
                      <a:blip r:embed="rId3"/>
                      <a:stretch>
                        <a:fillRect/>
                      </a:stretch>
                    </p:blipFill>
                    <p:spPr>
                      <a:xfrm>
                        <a:off x="1044575" y="2317750"/>
                        <a:ext cx="8985250" cy="2930525"/>
                      </a:xfrm>
                      <a:prstGeom prst="rect">
                        <a:avLst/>
                      </a:prstGeom>
                    </p:spPr>
                  </p:pic>
                </p:oleObj>
              </mc:Fallback>
            </mc:AlternateContent>
          </a:graphicData>
        </a:graphic>
      </p:graphicFrame>
    </p:spTree>
    <p:extLst>
      <p:ext uri="{BB962C8B-B14F-4D97-AF65-F5344CB8AC3E}">
        <p14:creationId xmlns:p14="http://schemas.microsoft.com/office/powerpoint/2010/main" val="834503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Optional Findings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70000" lnSpcReduction="20000"/>
          </a:bodyPr>
          <a:lstStyle/>
          <a:p>
            <a:pPr>
              <a:lnSpc>
                <a:spcPct val="95000"/>
              </a:lnSpc>
            </a:pPr>
            <a:r>
              <a:rPr lang="en-US" u="sng" dirty="0"/>
              <a:t>Notes</a:t>
            </a:r>
            <a:r>
              <a:rPr lang="en-US" dirty="0"/>
              <a:t>: Additional explanatory information regarding weaknesses or strengths, e.g., examples, supporting indicators, and consequences resulting from weaknesses.  </a:t>
            </a:r>
            <a:r>
              <a:rPr lang="en-US" b="1" i="1" dirty="0"/>
              <a:t>Notes must NOT be used as a category in lieu of weaknesses.</a:t>
            </a:r>
          </a:p>
          <a:p>
            <a:pPr>
              <a:lnSpc>
                <a:spcPct val="95000"/>
              </a:lnSpc>
            </a:pPr>
            <a:r>
              <a:rPr lang="en-US" u="sng" dirty="0"/>
              <a:t>Improvement Opportunity</a:t>
            </a:r>
            <a:r>
              <a:rPr lang="en-US" dirty="0"/>
              <a:t>: A type of preliminary or Final Findings about a particular process that meets the intent and value of a model practice but represents an opportunity where the process could be improved to provide more value.</a:t>
            </a:r>
          </a:p>
          <a:p>
            <a:pPr>
              <a:lnSpc>
                <a:spcPct val="95000"/>
              </a:lnSpc>
            </a:pPr>
            <a:r>
              <a:rPr lang="en-US" u="sng" dirty="0"/>
              <a:t>Improvements in Progress</a:t>
            </a:r>
            <a:r>
              <a:rPr lang="en-US" dirty="0"/>
              <a:t>: A type of preliminary or Final Findings statement that is a reflection of the current state of a Practice Area or practice which is newly implemented for the project(s) or Organizational Unit and shows promise of helping to achieve further improvement. Due to the recent nature of that process implementation, artifacts may be limited.  </a:t>
            </a:r>
            <a:endParaRPr lang="en-US" b="1" dirty="0"/>
          </a:p>
          <a:p>
            <a:pPr>
              <a:lnSpc>
                <a:spcPct val="95000"/>
              </a:lnSpc>
            </a:pPr>
            <a:r>
              <a:rPr lang="en-US" u="sng" dirty="0"/>
              <a:t>Recommendations/Next Steps</a:t>
            </a:r>
            <a:r>
              <a:rPr lang="en-US" dirty="0"/>
              <a:t>: Recommendations by the appraisal team for ways to address findings.  These must not be conveyed as mandatory or guarantees of future characterizations or ratings. Recommendations must be either a separate report or separate section from the main appraisal findings, including the ratings and a disclaimer that “These recommendations are not mandatory nor guarantee of addressing findings or future characterizations or ratings.” </a:t>
            </a:r>
          </a:p>
        </p:txBody>
      </p:sp>
    </p:spTree>
    <p:extLst>
      <p:ext uri="{BB962C8B-B14F-4D97-AF65-F5344CB8AC3E}">
        <p14:creationId xmlns:p14="http://schemas.microsoft.com/office/powerpoint/2010/main" val="4014986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28682547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 - continued</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18693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Re-appraisal</a:t>
            </a:r>
          </a:p>
        </p:txBody>
      </p:sp>
      <p:sp>
        <p:nvSpPr>
          <p:cNvPr id="5" name="Pentagon 4"/>
          <p:cNvSpPr/>
          <p:nvPr/>
        </p:nvSpPr>
        <p:spPr>
          <a:xfrm flipH="1">
            <a:off x="4904085" y="3665236"/>
            <a:ext cx="4503405" cy="596769"/>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6" name="Pentagon 5"/>
          <p:cNvSpPr/>
          <p:nvPr/>
        </p:nvSpPr>
        <p:spPr>
          <a:xfrm>
            <a:off x="4557975" y="3009156"/>
            <a:ext cx="3775111" cy="612881"/>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8" name="Title 1"/>
          <p:cNvSpPr txBox="1">
            <a:spLocks/>
          </p:cNvSpPr>
          <p:nvPr/>
        </p:nvSpPr>
        <p:spPr bwMode="auto">
          <a:xfrm>
            <a:off x="5101757" y="3043438"/>
            <a:ext cx="1343772" cy="5443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Continuous improvement over next 3 years</a:t>
            </a:r>
          </a:p>
        </p:txBody>
      </p:sp>
      <p:sp>
        <p:nvSpPr>
          <p:cNvPr id="13" name="Title 1"/>
          <p:cNvSpPr txBox="1">
            <a:spLocks/>
          </p:cNvSpPr>
          <p:nvPr/>
        </p:nvSpPr>
        <p:spPr bwMode="auto">
          <a:xfrm>
            <a:off x="4958143" y="3862596"/>
            <a:ext cx="1343772" cy="2156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Re appraise</a:t>
            </a:r>
          </a:p>
        </p:txBody>
      </p:sp>
      <p:sp>
        <p:nvSpPr>
          <p:cNvPr id="14" name="Hexagon 13">
            <a:extLst>
              <a:ext uri="{FF2B5EF4-FFF2-40B4-BE49-F238E27FC236}">
                <a16:creationId xmlns:a16="http://schemas.microsoft.com/office/drawing/2014/main" id="{D634449D-A3DC-485A-AC6D-C782A8DB06E5}"/>
              </a:ext>
            </a:extLst>
          </p:cNvPr>
          <p:cNvSpPr/>
          <p:nvPr/>
        </p:nvSpPr>
        <p:spPr>
          <a:xfrm>
            <a:off x="7611632" y="2237448"/>
            <a:ext cx="2508651" cy="2171265"/>
          </a:xfrm>
          <a:prstGeom prst="hexagon">
            <a:avLst/>
          </a:prstGeom>
          <a:solidFill>
            <a:srgbClr val="FF0000"/>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bg1"/>
              </a:solidFill>
            </a:endParaRPr>
          </a:p>
        </p:txBody>
      </p:sp>
      <p:graphicFrame>
        <p:nvGraphicFramePr>
          <p:cNvPr id="3" name="Object 2">
            <a:extLst>
              <a:ext uri="{FF2B5EF4-FFF2-40B4-BE49-F238E27FC236}">
                <a16:creationId xmlns:a16="http://schemas.microsoft.com/office/drawing/2014/main" id="{0087D77D-32ED-46B1-B2AA-DF1650A818EF}"/>
              </a:ext>
            </a:extLst>
          </p:cNvPr>
          <p:cNvGraphicFramePr>
            <a:graphicFrameLocks noChangeAspect="1"/>
          </p:cNvGraphicFramePr>
          <p:nvPr>
            <p:extLst>
              <p:ext uri="{D42A27DB-BD31-4B8C-83A1-F6EECF244321}">
                <p14:modId xmlns:p14="http://schemas.microsoft.com/office/powerpoint/2010/main" val="4031691758"/>
              </p:ext>
            </p:extLst>
          </p:nvPr>
        </p:nvGraphicFramePr>
        <p:xfrm>
          <a:off x="7448550" y="3009900"/>
          <a:ext cx="2933700" cy="693738"/>
        </p:xfrm>
        <a:graphic>
          <a:graphicData uri="http://schemas.openxmlformats.org/presentationml/2006/ole">
            <mc:AlternateContent xmlns:mc="http://schemas.openxmlformats.org/markup-compatibility/2006">
              <mc:Choice xmlns:v="urn:schemas-microsoft-com:vml" Requires="v">
                <p:oleObj name="Macro-Enabled Worksheet" r:id="rId2" imgW="2933735" imgH="693333" progId="Excel.SheetMacroEnabled.12">
                  <p:link updateAutomatic="1"/>
                </p:oleObj>
              </mc:Choice>
              <mc:Fallback>
                <p:oleObj name="Macro-Enabled Worksheet" r:id="rId2" imgW="2933735" imgH="693333" progId="Excel.SheetMacroEnabled.12">
                  <p:link updateAutomatic="1"/>
                  <p:pic>
                    <p:nvPicPr>
                      <p:cNvPr id="3" name="Object 2">
                        <a:extLst>
                          <a:ext uri="{FF2B5EF4-FFF2-40B4-BE49-F238E27FC236}">
                            <a16:creationId xmlns:a16="http://schemas.microsoft.com/office/drawing/2014/main" id="{0087D77D-32ED-46B1-B2AA-DF1650A818EF}"/>
                          </a:ext>
                        </a:extLst>
                      </p:cNvPr>
                      <p:cNvPicPr/>
                      <p:nvPr/>
                    </p:nvPicPr>
                    <p:blipFill>
                      <a:blip r:embed="rId3"/>
                      <a:stretch>
                        <a:fillRect/>
                      </a:stretch>
                    </p:blipFill>
                    <p:spPr>
                      <a:xfrm>
                        <a:off x="7448550" y="3009900"/>
                        <a:ext cx="2933700" cy="69373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CBA07428-451E-F6A3-ACDF-8EF7D79B49AE}"/>
              </a:ext>
            </a:extLst>
          </p:cNvPr>
          <p:cNvGrpSpPr/>
          <p:nvPr/>
        </p:nvGrpSpPr>
        <p:grpSpPr>
          <a:xfrm>
            <a:off x="1838923" y="1654853"/>
            <a:ext cx="2719052" cy="4415485"/>
            <a:chOff x="4440140" y="1417173"/>
            <a:chExt cx="2719052" cy="4415485"/>
          </a:xfrm>
        </p:grpSpPr>
        <p:sp>
          <p:nvSpPr>
            <p:cNvPr id="9" name="Arrow: Up 8">
              <a:extLst>
                <a:ext uri="{FF2B5EF4-FFF2-40B4-BE49-F238E27FC236}">
                  <a16:creationId xmlns:a16="http://schemas.microsoft.com/office/drawing/2014/main" id="{2AFEA2DC-D104-EF77-8C09-B0623C6A3AF8}"/>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10" name="Picture 9">
              <a:extLst>
                <a:ext uri="{FF2B5EF4-FFF2-40B4-BE49-F238E27FC236}">
                  <a16:creationId xmlns:a16="http://schemas.microsoft.com/office/drawing/2014/main" id="{6887DBA4-CD22-80D1-1550-1A1956746C05}"/>
                </a:ext>
              </a:extLst>
            </p:cNvPr>
            <p:cNvPicPr>
              <a:picLocks noChangeAspect="1"/>
            </p:cNvPicPr>
            <p:nvPr/>
          </p:nvPicPr>
          <p:blipFill>
            <a:blip r:embed="rId4"/>
            <a:stretch>
              <a:fillRect/>
            </a:stretch>
          </p:blipFill>
          <p:spPr>
            <a:xfrm>
              <a:off x="4440140" y="2583208"/>
              <a:ext cx="2719052" cy="3249450"/>
            </a:xfrm>
            <a:prstGeom prst="rect">
              <a:avLst/>
            </a:prstGeom>
          </p:spPr>
        </p:pic>
      </p:grpSp>
      <p:sp>
        <p:nvSpPr>
          <p:cNvPr id="12" name="TextBox 11">
            <a:extLst>
              <a:ext uri="{FF2B5EF4-FFF2-40B4-BE49-F238E27FC236}">
                <a16:creationId xmlns:a16="http://schemas.microsoft.com/office/drawing/2014/main" id="{C48EC7F7-2F02-15A2-9385-4E0E4C1320DB}"/>
              </a:ext>
            </a:extLst>
          </p:cNvPr>
          <p:cNvSpPr txBox="1"/>
          <p:nvPr/>
        </p:nvSpPr>
        <p:spPr>
          <a:xfrm>
            <a:off x="207241" y="5682923"/>
            <a:ext cx="6094674" cy="584775"/>
          </a:xfrm>
          <a:prstGeom prst="rect">
            <a:avLst/>
          </a:prstGeom>
          <a:noFill/>
        </p:spPr>
        <p:txBody>
          <a:bodyPr wrap="square">
            <a:spAutoFit/>
          </a:bodyPr>
          <a:lstStyle/>
          <a:p>
            <a:pPr algn="ctr"/>
            <a:r>
              <a:rPr lang="en-ZA" sz="1600" dirty="0">
                <a:hlinkClick r:id="rId5"/>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Tree>
    <p:extLst>
      <p:ext uri="{BB962C8B-B14F-4D97-AF65-F5344CB8AC3E}">
        <p14:creationId xmlns:p14="http://schemas.microsoft.com/office/powerpoint/2010/main" val="1833212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6AC6-8B5D-4EE0-897A-9EECC0280655}"/>
              </a:ext>
            </a:extLst>
          </p:cNvPr>
          <p:cNvSpPr>
            <a:spLocks noGrp="1"/>
          </p:cNvSpPr>
          <p:nvPr>
            <p:ph type="title"/>
          </p:nvPr>
        </p:nvSpPr>
        <p:spPr>
          <a:xfrm>
            <a:off x="951442" y="908050"/>
            <a:ext cx="10397836" cy="602284"/>
          </a:xfrm>
        </p:spPr>
        <p:txBody>
          <a:bodyPr/>
          <a:lstStyle/>
          <a:p>
            <a:r>
              <a:rPr lang="en-ZA" dirty="0"/>
              <a:t>DEMIX™</a:t>
            </a:r>
          </a:p>
        </p:txBody>
      </p:sp>
      <p:grpSp>
        <p:nvGrpSpPr>
          <p:cNvPr id="14" name="Group 13">
            <a:extLst>
              <a:ext uri="{FF2B5EF4-FFF2-40B4-BE49-F238E27FC236}">
                <a16:creationId xmlns:a16="http://schemas.microsoft.com/office/drawing/2014/main" id="{9BCE02E9-B639-4352-9CD8-7319ACA08735}"/>
              </a:ext>
            </a:extLst>
          </p:cNvPr>
          <p:cNvGrpSpPr/>
          <p:nvPr/>
        </p:nvGrpSpPr>
        <p:grpSpPr>
          <a:xfrm>
            <a:off x="4528986" y="1701637"/>
            <a:ext cx="2719052" cy="4415485"/>
            <a:chOff x="4440140" y="1417173"/>
            <a:chExt cx="2719052" cy="4415485"/>
          </a:xfrm>
        </p:grpSpPr>
        <p:sp>
          <p:nvSpPr>
            <p:cNvPr id="4" name="Arrow: Up 3">
              <a:extLst>
                <a:ext uri="{FF2B5EF4-FFF2-40B4-BE49-F238E27FC236}">
                  <a16:creationId xmlns:a16="http://schemas.microsoft.com/office/drawing/2014/main" id="{2D3100A3-8319-4488-9BD8-FA36065DF984}"/>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 name="Picture 2">
              <a:extLst>
                <a:ext uri="{FF2B5EF4-FFF2-40B4-BE49-F238E27FC236}">
                  <a16:creationId xmlns:a16="http://schemas.microsoft.com/office/drawing/2014/main" id="{F78F0F7F-3E23-4ED2-ABCC-98187E77EC22}"/>
                </a:ext>
              </a:extLst>
            </p:cNvPr>
            <p:cNvPicPr>
              <a:picLocks noChangeAspect="1"/>
            </p:cNvPicPr>
            <p:nvPr/>
          </p:nvPicPr>
          <p:blipFill>
            <a:blip r:embed="rId2"/>
            <a:stretch>
              <a:fillRect/>
            </a:stretch>
          </p:blipFill>
          <p:spPr>
            <a:xfrm>
              <a:off x="4440140" y="2583208"/>
              <a:ext cx="2719052" cy="3249450"/>
            </a:xfrm>
            <a:prstGeom prst="rect">
              <a:avLst/>
            </a:prstGeom>
          </p:spPr>
        </p:pic>
      </p:grpSp>
      <p:sp>
        <p:nvSpPr>
          <p:cNvPr id="15" name="TextBox 14">
            <a:extLst>
              <a:ext uri="{FF2B5EF4-FFF2-40B4-BE49-F238E27FC236}">
                <a16:creationId xmlns:a16="http://schemas.microsoft.com/office/drawing/2014/main" id="{8D84EF48-EF5E-49FA-B6A9-E5C80B9C0007}"/>
              </a:ext>
            </a:extLst>
          </p:cNvPr>
          <p:cNvSpPr txBox="1"/>
          <p:nvPr/>
        </p:nvSpPr>
        <p:spPr>
          <a:xfrm>
            <a:off x="951442" y="1307835"/>
            <a:ext cx="3073214" cy="369332"/>
          </a:xfrm>
          <a:prstGeom prst="rect">
            <a:avLst/>
          </a:prstGeom>
          <a:noFill/>
        </p:spPr>
        <p:txBody>
          <a:bodyPr wrap="none" lIns="91440" tIns="45720" rIns="91440" bIns="45720" rtlCol="0" anchor="t">
            <a:spAutoFit/>
          </a:bodyPr>
          <a:lstStyle/>
          <a:p>
            <a:r>
              <a:rPr lang="en-ZA" dirty="0" err="1"/>
              <a:t>Demix</a:t>
            </a:r>
            <a:r>
              <a:rPr lang="en-ZA" dirty="0"/>
              <a:t>™ Copyright </a:t>
            </a:r>
            <a:r>
              <a:rPr lang="en-ZA" dirty="0" err="1"/>
              <a:t>Demix</a:t>
            </a:r>
            <a:r>
              <a:rPr lang="en-ZA" dirty="0"/>
              <a:t> 2025</a:t>
            </a:r>
          </a:p>
        </p:txBody>
      </p:sp>
      <p:sp>
        <p:nvSpPr>
          <p:cNvPr id="8" name="TextBox 7">
            <a:extLst>
              <a:ext uri="{FF2B5EF4-FFF2-40B4-BE49-F238E27FC236}">
                <a16:creationId xmlns:a16="http://schemas.microsoft.com/office/drawing/2014/main" id="{C5021C6B-98B3-4617-86D6-C346F83D70CA}"/>
              </a:ext>
            </a:extLst>
          </p:cNvPr>
          <p:cNvSpPr txBox="1"/>
          <p:nvPr/>
        </p:nvSpPr>
        <p:spPr>
          <a:xfrm>
            <a:off x="2841175" y="5686214"/>
            <a:ext cx="6094674" cy="584775"/>
          </a:xfrm>
          <a:prstGeom prst="rect">
            <a:avLst/>
          </a:prstGeom>
          <a:noFill/>
        </p:spPr>
        <p:txBody>
          <a:bodyPr wrap="square" lIns="91440" tIns="45720" rIns="91440" bIns="45720" anchor="t">
            <a:spAutoFit/>
          </a:bodyPr>
          <a:lstStyle/>
          <a:p>
            <a:pPr algn="ctr"/>
            <a:r>
              <a:rPr lang="en-ZA" sz="1600" dirty="0">
                <a:hlinkClick r:id="rId3"/>
              </a:rPr>
              <a:t>www.demixglobal.com</a:t>
            </a:r>
            <a:endParaRPr lang="en-ZA" sz="1600" dirty="0"/>
          </a:p>
          <a:p>
            <a:pPr algn="ctr"/>
            <a:r>
              <a:rPr lang="en-ZA" sz="1600" dirty="0">
                <a:solidFill>
                  <a:srgbClr val="000000"/>
                </a:solidFill>
                <a:latin typeface="Open Sans"/>
              </a:rPr>
              <a:t>Create</a:t>
            </a:r>
            <a:r>
              <a:rPr lang="en-ZA" sz="1600" b="0" i="0" dirty="0">
                <a:solidFill>
                  <a:srgbClr val="000000"/>
                </a:solidFill>
                <a:effectLst/>
                <a:latin typeface="Open Sans"/>
              </a:rPr>
              <a:t>| </a:t>
            </a:r>
            <a:r>
              <a:rPr lang="en-ZA" sz="1600" dirty="0">
                <a:solidFill>
                  <a:srgbClr val="000000"/>
                </a:solidFill>
                <a:latin typeface="Open Sans"/>
              </a:rPr>
              <a:t>Evolve</a:t>
            </a:r>
            <a:r>
              <a:rPr lang="en-ZA" sz="1600" b="0" i="0" dirty="0">
                <a:solidFill>
                  <a:srgbClr val="000000"/>
                </a:solidFill>
                <a:effectLst/>
                <a:latin typeface="Open Sans"/>
              </a:rPr>
              <a:t>| </a:t>
            </a:r>
            <a:r>
              <a:rPr lang="en-ZA" sz="1600" dirty="0">
                <a:solidFill>
                  <a:srgbClr val="000000"/>
                </a:solidFill>
                <a:latin typeface="Open Sans"/>
              </a:rPr>
              <a:t>Perfect</a:t>
            </a:r>
            <a:endParaRPr lang="en-ZA" sz="1600" dirty="0">
              <a:ea typeface="Calibri"/>
              <a:cs typeface="Calibri"/>
            </a:endParaRPr>
          </a:p>
        </p:txBody>
      </p:sp>
      <p:sp>
        <p:nvSpPr>
          <p:cNvPr id="9" name="TextBox 8">
            <a:extLst>
              <a:ext uri="{FF2B5EF4-FFF2-40B4-BE49-F238E27FC236}">
                <a16:creationId xmlns:a16="http://schemas.microsoft.com/office/drawing/2014/main" id="{0E56B3AA-4ADA-412B-9A45-4D5AA4F494AE}"/>
              </a:ext>
            </a:extLst>
          </p:cNvPr>
          <p:cNvSpPr txBox="1"/>
          <p:nvPr/>
        </p:nvSpPr>
        <p:spPr>
          <a:xfrm>
            <a:off x="1179784" y="2389117"/>
            <a:ext cx="2719052" cy="1200329"/>
          </a:xfrm>
          <a:prstGeom prst="rect">
            <a:avLst/>
          </a:prstGeom>
          <a:noFill/>
        </p:spPr>
        <p:txBody>
          <a:bodyPr wrap="square" rtlCol="0">
            <a:spAutoFit/>
          </a:bodyPr>
          <a:lstStyle>
            <a:defPPr>
              <a:defRPr lang="en-US"/>
            </a:defPPr>
            <a:lvl1pPr algn="ctr">
              <a:defRPr>
                <a:solidFill>
                  <a:srgbClr val="1F497D"/>
                </a:solidFill>
              </a:defRPr>
            </a:lvl1pPr>
          </a:lstStyle>
          <a:p>
            <a:r>
              <a:rPr lang="en-GB" dirty="0"/>
              <a:t>Half of all organizations fail to execute strategy effectively. Demix empowers success.</a:t>
            </a:r>
            <a:endParaRPr lang="en-ZA" dirty="0"/>
          </a:p>
        </p:txBody>
      </p:sp>
      <p:sp>
        <p:nvSpPr>
          <p:cNvPr id="10" name="TextBox 9">
            <a:extLst>
              <a:ext uri="{FF2B5EF4-FFF2-40B4-BE49-F238E27FC236}">
                <a16:creationId xmlns:a16="http://schemas.microsoft.com/office/drawing/2014/main" id="{4E369FE8-DAF2-49E0-852E-C869E262D50E}"/>
              </a:ext>
            </a:extLst>
          </p:cNvPr>
          <p:cNvSpPr txBox="1"/>
          <p:nvPr/>
        </p:nvSpPr>
        <p:spPr>
          <a:xfrm>
            <a:off x="1308059" y="4005710"/>
            <a:ext cx="2719052" cy="646331"/>
          </a:xfrm>
          <a:prstGeom prst="rect">
            <a:avLst/>
          </a:prstGeom>
          <a:noFill/>
        </p:spPr>
        <p:txBody>
          <a:bodyPr wrap="square" rtlCol="0">
            <a:spAutoFit/>
          </a:bodyPr>
          <a:lstStyle/>
          <a:p>
            <a:pPr algn="ctr"/>
            <a:r>
              <a:rPr lang="zh-CN" altLang="en-US" b="1" dirty="0">
                <a:solidFill>
                  <a:srgbClr val="FF0000"/>
                </a:solidFill>
              </a:rPr>
              <a:t>一半的组织无法有效执行战略。</a:t>
            </a:r>
            <a:r>
              <a:rPr lang="en-US" altLang="zh-CN" b="1" dirty="0">
                <a:solidFill>
                  <a:srgbClr val="FF0000"/>
                </a:solidFill>
              </a:rPr>
              <a:t>Demix </a:t>
            </a:r>
            <a:r>
              <a:rPr lang="zh-CN" altLang="en-US" b="1" dirty="0">
                <a:solidFill>
                  <a:srgbClr val="FF0000"/>
                </a:solidFill>
              </a:rPr>
              <a:t>赋能成功。</a:t>
            </a:r>
            <a:endParaRPr lang="en-ZA" b="1" dirty="0">
              <a:solidFill>
                <a:srgbClr val="FF0000"/>
              </a:solidFill>
            </a:endParaRPr>
          </a:p>
        </p:txBody>
      </p:sp>
      <p:pic>
        <p:nvPicPr>
          <p:cNvPr id="1026" name="Picture 2">
            <a:extLst>
              <a:ext uri="{FF2B5EF4-FFF2-40B4-BE49-F238E27FC236}">
                <a16:creationId xmlns:a16="http://schemas.microsoft.com/office/drawing/2014/main" id="{0072F935-8217-6CE4-4503-62D4545B07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8548" y="2200661"/>
            <a:ext cx="3260157" cy="21734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hlinkClick r:id="rId5"/>
            <a:extLst>
              <a:ext uri="{FF2B5EF4-FFF2-40B4-BE49-F238E27FC236}">
                <a16:creationId xmlns:a16="http://schemas.microsoft.com/office/drawing/2014/main" id="{9586E270-888A-1598-78F1-3370E9ADD0D1}"/>
              </a:ext>
            </a:extLst>
          </p:cNvPr>
          <p:cNvSpPr txBox="1"/>
          <p:nvPr/>
        </p:nvSpPr>
        <p:spPr>
          <a:xfrm>
            <a:off x="8189352" y="4491322"/>
            <a:ext cx="3019353" cy="369332"/>
          </a:xfrm>
          <a:prstGeom prst="rect">
            <a:avLst/>
          </a:prstGeom>
          <a:noFill/>
        </p:spPr>
        <p:txBody>
          <a:bodyPr wrap="none" rtlCol="0">
            <a:spAutoFit/>
          </a:bodyPr>
          <a:lstStyle/>
          <a:p>
            <a:r>
              <a:rPr lang="en-US" b="0" i="0" dirty="0">
                <a:solidFill>
                  <a:srgbClr val="000000"/>
                </a:solidFill>
                <a:effectLst/>
                <a:latin typeface="-apple-system"/>
                <a:hlinkClick r:id="rId5"/>
              </a:rPr>
              <a:t>Strategy Execution with CMMI</a:t>
            </a:r>
            <a:endParaRPr lang="en-US" b="0" i="0" dirty="0">
              <a:solidFill>
                <a:srgbClr val="000000"/>
              </a:solidFill>
              <a:effectLst/>
              <a:latin typeface="-apple-system"/>
            </a:endParaRPr>
          </a:p>
        </p:txBody>
      </p:sp>
    </p:spTree>
    <p:extLst>
      <p:ext uri="{BB962C8B-B14F-4D97-AF65-F5344CB8AC3E}">
        <p14:creationId xmlns:p14="http://schemas.microsoft.com/office/powerpoint/2010/main" val="35468183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438F48CD-7B73-434D-8CB1-0209E90E0D00}"/>
              </a:ext>
            </a:extLst>
          </p:cNvPr>
          <p:cNvGraphicFramePr>
            <a:graphicFrameLocks noChangeAspect="1"/>
          </p:cNvGraphicFramePr>
          <p:nvPr>
            <p:extLst>
              <p:ext uri="{D42A27DB-BD31-4B8C-83A1-F6EECF244321}">
                <p14:modId xmlns:p14="http://schemas.microsoft.com/office/powerpoint/2010/main" val="2774625938"/>
              </p:ext>
            </p:extLst>
          </p:nvPr>
        </p:nvGraphicFramePr>
        <p:xfrm>
          <a:off x="1066800" y="2062163"/>
          <a:ext cx="9059863" cy="1820862"/>
        </p:xfrm>
        <a:graphic>
          <a:graphicData uri="http://schemas.openxmlformats.org/presentationml/2006/ole">
            <mc:AlternateContent xmlns:mc="http://schemas.openxmlformats.org/markup-compatibility/2006">
              <mc:Choice xmlns:v="urn:schemas-microsoft-com:vml" Requires="v">
                <p:oleObj name="Macro-Enabled Worksheet" r:id="rId2" imgW="9060215" imgH="1821172" progId="Excel.SheetMacroEnabled.12">
                  <p:link updateAutomatic="1"/>
                </p:oleObj>
              </mc:Choice>
              <mc:Fallback>
                <p:oleObj name="Macro-Enabled Worksheet" r:id="rId2" imgW="9060215" imgH="1821172" progId="Excel.SheetMacroEnabled.12">
                  <p:link updateAutomatic="1"/>
                  <p:pic>
                    <p:nvPicPr>
                      <p:cNvPr id="4" name="Object 3">
                        <a:extLst>
                          <a:ext uri="{FF2B5EF4-FFF2-40B4-BE49-F238E27FC236}">
                            <a16:creationId xmlns:a16="http://schemas.microsoft.com/office/drawing/2014/main" id="{438F48CD-7B73-434D-8CB1-0209E90E0D00}"/>
                          </a:ext>
                        </a:extLst>
                      </p:cNvPr>
                      <p:cNvPicPr/>
                      <p:nvPr/>
                    </p:nvPicPr>
                    <p:blipFill>
                      <a:blip r:embed="rId3"/>
                      <a:stretch>
                        <a:fillRect/>
                      </a:stretch>
                    </p:blipFill>
                    <p:spPr>
                      <a:xfrm>
                        <a:off x="1066800" y="2062163"/>
                        <a:ext cx="9059863" cy="1820862"/>
                      </a:xfrm>
                      <a:prstGeom prst="rect">
                        <a:avLst/>
                      </a:prstGeom>
                    </p:spPr>
                  </p:pic>
                </p:oleObj>
              </mc:Fallback>
            </mc:AlternateContent>
          </a:graphicData>
        </a:graphic>
      </p:graphicFrame>
      <p:sp>
        <p:nvSpPr>
          <p:cNvPr id="2" name="Title 1"/>
          <p:cNvSpPr>
            <a:spLocks noGrp="1"/>
          </p:cNvSpPr>
          <p:nvPr>
            <p:ph type="title"/>
          </p:nvPr>
        </p:nvSpPr>
        <p:spPr>
          <a:xfrm>
            <a:off x="703243" y="749147"/>
            <a:ext cx="8153400" cy="935265"/>
          </a:xfrm>
        </p:spPr>
        <p:txBody>
          <a:bodyPr/>
          <a:lstStyle/>
          <a:p>
            <a:r>
              <a:rPr lang="en-ZA" dirty="0"/>
              <a:t>Next steps</a:t>
            </a:r>
          </a:p>
        </p:txBody>
      </p:sp>
    </p:spTree>
    <p:extLst>
      <p:ext uri="{BB962C8B-B14F-4D97-AF65-F5344CB8AC3E}">
        <p14:creationId xmlns:p14="http://schemas.microsoft.com/office/powerpoint/2010/main" val="25926829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69704-CCDD-47E9-9932-964965E91D94}"/>
              </a:ext>
            </a:extLst>
          </p:cNvPr>
          <p:cNvSpPr>
            <a:spLocks noGrp="1"/>
          </p:cNvSpPr>
          <p:nvPr>
            <p:ph idx="1"/>
          </p:nvPr>
        </p:nvSpPr>
        <p:spPr/>
        <p:txBody>
          <a:bodyPr/>
          <a:lstStyle/>
          <a:p>
            <a:r>
              <a:rPr lang="en-ZA" dirty="0"/>
              <a:t>CERTIFICATE</a:t>
            </a:r>
          </a:p>
        </p:txBody>
      </p:sp>
    </p:spTree>
    <p:extLst>
      <p:ext uri="{BB962C8B-B14F-4D97-AF65-F5344CB8AC3E}">
        <p14:creationId xmlns:p14="http://schemas.microsoft.com/office/powerpoint/2010/main" val="1028804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8621ed04baf9bb831d48409b5d3151d6">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140f437a681dba5a8fcdfdbc513fc392"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B49826-D5EE-4D24-B649-7C3A19B527D2}">
  <ds:schemaRefs>
    <ds:schemaRef ds:uri="http://schemas.microsoft.com/sharepoint/v3/contenttype/forms"/>
  </ds:schemaRefs>
</ds:datastoreItem>
</file>

<file path=customXml/itemProps2.xml><?xml version="1.0" encoding="utf-8"?>
<ds:datastoreItem xmlns:ds="http://schemas.openxmlformats.org/officeDocument/2006/customXml" ds:itemID="{5F07B0D7-F930-4230-933E-ABA84959494E}">
  <ds:schemaRefs>
    <ds:schemaRef ds:uri="http://purl.org/dc/dcmitype/"/>
    <ds:schemaRef ds:uri="http://schemas.microsoft.com/office/2006/metadata/properties"/>
    <ds:schemaRef ds:uri="72e3a154-4955-46c3-9573-e9dec3e1f195"/>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ec500478-62e0-46fc-87f1-cfa988e486b4"/>
    <ds:schemaRef ds:uri="http://www.w3.org/XML/1998/namespace"/>
    <ds:schemaRef ds:uri="25bcabcf-d275-4206-9fb1-2f2d419cd22b"/>
  </ds:schemaRefs>
</ds:datastoreItem>
</file>

<file path=customXml/itemProps3.xml><?xml version="1.0" encoding="utf-8"?>
<ds:datastoreItem xmlns:ds="http://schemas.openxmlformats.org/officeDocument/2006/customXml" ds:itemID="{1CB1B812-7093-4921-96EC-FBADACC38198}"/>
</file>

<file path=docProps/app.xml><?xml version="1.0" encoding="utf-8"?>
<Properties xmlns="http://schemas.openxmlformats.org/officeDocument/2006/extended-properties" xmlns:vt="http://schemas.openxmlformats.org/officeDocument/2006/docPropsVTypes">
  <TotalTime>1122</TotalTime>
  <Words>4565</Words>
  <Application>Microsoft Office PowerPoint</Application>
  <PresentationFormat>Widescreen</PresentationFormat>
  <Paragraphs>293</Paragraphs>
  <Slides>53</Slides>
  <Notes>15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Links</vt:lpstr>
      </vt:variant>
      <vt:variant>
        <vt:i4>19</vt:i4>
      </vt:variant>
      <vt:variant>
        <vt:lpstr>Slide Titles</vt:lpstr>
      </vt:variant>
      <vt:variant>
        <vt:i4>53</vt:i4>
      </vt:variant>
    </vt:vector>
  </HeadingPairs>
  <TitlesOfParts>
    <vt:vector size="85" baseType="lpstr">
      <vt:lpstr>DengXian</vt:lpstr>
      <vt:lpstr>DengXian Light</vt:lpstr>
      <vt:lpstr>ＭＳ Ｐゴシック</vt:lpstr>
      <vt:lpstr>宋体</vt:lpstr>
      <vt:lpstr>宋体</vt:lpstr>
      <vt:lpstr>-apple-system</vt:lpstr>
      <vt:lpstr>Arial</vt:lpstr>
      <vt:lpstr>Calibri</vt:lpstr>
      <vt:lpstr>Calibri Light</vt:lpstr>
      <vt:lpstr>Gotham A</vt:lpstr>
      <vt:lpstr>Open Sans</vt:lpstr>
      <vt:lpstr>Söhne</vt:lpstr>
      <vt:lpstr>Office Theme</vt:lpstr>
      <vt:lpstr>file:///G:\2024-05-04to05-10%20(A5)%20C384400%20NASA\00_Data_Reference.xlsm!pptxCover!R4C2:R13C2</vt:lpstr>
      <vt:lpstr>file:///G:\2024-05-04to05-10%20(A5)%20C384400%20NASA\00_Data_Reference.xlsm!pptxCover!R15C2:R17C2</vt:lpstr>
      <vt:lpstr>file:///G:\2024-05-04to05-10%20(A5)%20C384400%20NASA\00_Data_Reference.xlsm!pptxCover!R22C2</vt:lpstr>
      <vt:lpstr>file:///G:\2024-05-04to05-10%20(A5)%20C384400%20NASA\00_Data_Reference.xlsm!pptxLink1!R1C1:R7C2</vt:lpstr>
      <vt:lpstr>file:///G:\2024-05-04to05-10%20(A5)%20C384400%20NASA\00_Data_Reference.xlsm!pptxLink1!R10C1:R18C2</vt:lpstr>
      <vt:lpstr>file:///G:\2024-05-04to05-10%20(A5)%20C384400%20NASA\00_Data_Reference.xlsm!pptxLink2!R1C1:R4C1</vt:lpstr>
      <vt:lpstr>file:///G:\2024-05-04to05-10%20(A5)%20C384400%20NASA\00_Data_Reference.xlsm!pptxLink1!R20C1:R31C2</vt:lpstr>
      <vt:lpstr>file:///G:\2024-05-04to05-10%20(A5)%20C384400%20NASA\00_Data_Reference.xlsm!pptxLink3!R2C1:R24C9</vt:lpstr>
      <vt:lpstr>file:///G:\2024-05-04to05-10%20(A5)%20C384400%20NASA\00_Data_Reference.xlsm!pptxLink2!R30C1:R35C1</vt:lpstr>
      <vt:lpstr>file:///G:\2024-05-04to05-10%20(A5)%20C384400%20NASA\00_Data_Reference.xlsm!pptxLink4!R10C1:R27C20</vt:lpstr>
      <vt:lpstr>file:///G:\2024-05-04to05-10%20(A5)%20C384400%20NASA\00_Data_Reference.xlsm!pptxLink5!R1C1:R11C5</vt:lpstr>
      <vt:lpstr>file:///G:\2024-05-04to05-10%20(A5)%20C384400%20NASA\00_Data_Reference.xlsm!pptxLink5!R15C1:R21C5</vt:lpstr>
      <vt:lpstr>file:///G:\2024-05-04to05-10%20(A5)%20C384400%20NASA\00_Data_Reference.xlsm!pptxLink1!R9C4</vt:lpstr>
      <vt:lpstr>file:///G:\2024-05-04to05-10%20(A5)%20C384400%20NASA\00_Data_Reference.xlsm!pptxLink1!R9C4</vt:lpstr>
      <vt:lpstr>file:///G:\2024-05-04to05-10%20(A5)%20C384400%20NASA\00_Data_Reference.xlsm!pptxLink6!R2C2:R13C5</vt:lpstr>
      <vt:lpstr>file:///G:\2024-05-04to05-10%20(A5)%20C384400%20NASA\00_Data_Reference.xlsm!pptxLink7!R2C2:R16C4</vt:lpstr>
      <vt:lpstr>file:///G:\2024-05-04to05-10%20(A5)%20C384400%20NASA\00_Data_Reference.xlsm!pptxLink7!R18C2:R32C4</vt:lpstr>
      <vt:lpstr>file:///G:\2024-05-04to05-10%20(A5)%20C384400%20NASA\00_Data_Reference.xlsm!pptxCover!R23C7</vt:lpstr>
      <vt:lpstr>file:///G:\2024-05-04to05-10%20(A5)%20C384400%20NASA\00_Data_Reference.xlsm!pptxCover!R26C2:R33C4</vt:lpstr>
      <vt:lpstr>PowerPoint Presentation</vt:lpstr>
      <vt:lpstr>PowerPoint Presentation</vt:lpstr>
      <vt:lpstr>Agenda 议程  </vt:lpstr>
      <vt:lpstr>Appraisal Overview  评估概述</vt:lpstr>
      <vt:lpstr>Appraisal Overview</vt:lpstr>
      <vt:lpstr>Appraisal Overview</vt:lpstr>
      <vt:lpstr>Business and Appraisal Objectives</vt:lpstr>
      <vt:lpstr>Appraisal Principles</vt:lpstr>
      <vt:lpstr>Virtual appraisals – Code of Conduct</vt:lpstr>
      <vt:lpstr>Appraisal Team and Support Personnel</vt:lpstr>
      <vt:lpstr>Appraisal Scope – Benchmark Model View</vt:lpstr>
      <vt:lpstr>Appraisal Scope – Organizational Scope</vt:lpstr>
      <vt:lpstr>Appraisal Scope – Organizational Sample</vt:lpstr>
      <vt:lpstr>Appraisal Scope – Organizational Sample </vt:lpstr>
      <vt:lpstr>Appraisal Scope – Organizational Sample</vt:lpstr>
      <vt:lpstr>Findings Definitions – Required Categories</vt:lpstr>
      <vt:lpstr>PowerPoint Presentation</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Performance Report 性能报告  </vt:lpstr>
      <vt:lpstr>Ratings 評級</vt:lpstr>
      <vt:lpstr>Ratings for</vt:lpstr>
      <vt:lpstr>Ratings for</vt:lpstr>
      <vt:lpstr>Congratulations!</vt:lpstr>
      <vt:lpstr>Appraisal Team Affirmations – Signature Page</vt:lpstr>
      <vt:lpstr>Annexures 附加展示</vt:lpstr>
      <vt:lpstr>Non model findings</vt:lpstr>
      <vt:lpstr>Non model findings</vt:lpstr>
      <vt:lpstr>Findings Definitions – Optional Findings Categories</vt:lpstr>
      <vt:lpstr>Improvement Opportunities</vt:lpstr>
      <vt:lpstr>Improvement Opportunities - continued</vt:lpstr>
      <vt:lpstr>Re-appraisal</vt:lpstr>
      <vt:lpstr>DEMIX™</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Pieter van Zyl</dc:creator>
  <cp:lastModifiedBy>Melanie Spies</cp:lastModifiedBy>
  <cp:revision>110</cp:revision>
  <cp:lastPrinted>2020-11-23T18:22:15Z</cp:lastPrinted>
  <dcterms:created xsi:type="dcterms:W3CDTF">2020-11-22T06:57:57Z</dcterms:created>
  <dcterms:modified xsi:type="dcterms:W3CDTF">2025-09-15T05:02:58Z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MediaServiceImageTags">
    <vt:lpwstr/>
  </property>
</Properties>
</file>