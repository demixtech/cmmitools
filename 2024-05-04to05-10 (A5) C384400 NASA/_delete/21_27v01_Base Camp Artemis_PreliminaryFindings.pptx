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5"/>
  </p:notesMasterIdLst>
  <p:handoutMasterIdLst>
    <p:handoutMasterId r:id="rId36"/>
  </p:handoutMasterIdLst>
  <p:sldIdLst>
    <p:sldId id="256" r:id="rId5"/>
    <p:sldId id="1546" r:id="rId6"/>
    <p:sldId id="493" r:id="rId7"/>
    <p:sldId id="439" r:id="rId8"/>
    <p:sldId id="923" r:id="rId9"/>
    <p:sldId id="1026" r:id="rId10"/>
    <p:sldId id="1543" r:id="rId11"/>
    <p:sldId id="926" r:id="rId12"/>
    <p:sldId id="1548" r:id="rId13"/>
    <p:sldId id="887" r:id="rId14"/>
    <p:sldId id="888" r:id="rId15"/>
    <p:sldId id="889" r:id="rId16"/>
    <p:sldId id="890" r:id="rId17"/>
    <p:sldId id="891" r:id="rId18"/>
    <p:sldId id="892" r:id="rId19"/>
    <p:sldId id="894" r:id="rId20"/>
    <p:sldId id="895" r:id="rId21"/>
    <p:sldId id="896" r:id="rId22"/>
    <p:sldId id="897" r:id="rId23"/>
    <p:sldId id="898" r:id="rId24"/>
    <p:sldId id="899" r:id="rId25"/>
    <p:sldId id="900" r:id="rId26"/>
    <p:sldId id="901" r:id="rId27"/>
    <p:sldId id="902" r:id="rId28"/>
    <p:sldId id="903" r:id="rId29"/>
    <p:sldId id="904" r:id="rId30"/>
    <p:sldId id="906" r:id="rId31"/>
    <p:sldId id="907" r:id="rId32"/>
    <p:sldId id="298" r:id="rId33"/>
    <p:sldId id="15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2" userDrawn="1">
          <p15:clr>
            <a:srgbClr val="A4A3A4"/>
          </p15:clr>
        </p15:guide>
        <p15:guide id="2" pos="665"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leen Harrison" initials="KH" lastIdx="5" clrIdx="0">
    <p:extLst>
      <p:ext uri="{19B8F6BF-5375-455C-9EA6-DF929625EA0E}">
        <p15:presenceInfo xmlns:p15="http://schemas.microsoft.com/office/powerpoint/2012/main" userId="S::kharrison@cmmiinstitute.com::066fb363-8edf-4a5b-8ebc-c72612b5523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210" autoAdjust="0"/>
    <p:restoredTop sz="98018" autoAdjust="0"/>
  </p:normalViewPr>
  <p:slideViewPr>
    <p:cSldViewPr snapToGrid="0">
      <p:cViewPr varScale="1">
        <p:scale>
          <a:sx n="116" d="100"/>
          <a:sy n="116" d="100"/>
        </p:scale>
        <p:origin x="528" y="108"/>
      </p:cViewPr>
      <p:guideLst>
        <p:guide orient="horz" pos="572"/>
        <p:guide pos="665"/>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viewProps" Target="viewProps.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emf"/><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FD12530-4A8B-41BC-A28E-0663BC57347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DCBDF21-21FA-4508-B148-E15B854EE3C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19E496-E8FF-4856-B08F-DBE14D18B236}" type="datetimeFigureOut">
              <a:rPr lang="en-US" smtClean="0"/>
              <a:t>8/11/2024</a:t>
            </a:fld>
            <a:endParaRPr lang="en-US"/>
          </a:p>
        </p:txBody>
      </p:sp>
      <p:sp>
        <p:nvSpPr>
          <p:cNvPr id="4" name="Footer Placeholder 3">
            <a:extLst>
              <a:ext uri="{FF2B5EF4-FFF2-40B4-BE49-F238E27FC236}">
                <a16:creationId xmlns:a16="http://schemas.microsoft.com/office/drawing/2014/main" id="{9B51EC23-CDF3-4827-AE9E-C49A859BD4A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0402880-E203-4DFE-B721-9D7EB321BB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1940B20-082D-4EEF-8BA5-D9F0CCFBDE79}" type="slidenum">
              <a:rPr lang="en-US" smtClean="0"/>
              <a:t>‹#›</a:t>
            </a:fld>
            <a:endParaRPr lang="en-US"/>
          </a:p>
        </p:txBody>
      </p:sp>
    </p:spTree>
    <p:extLst>
      <p:ext uri="{BB962C8B-B14F-4D97-AF65-F5344CB8AC3E}">
        <p14:creationId xmlns:p14="http://schemas.microsoft.com/office/powerpoint/2010/main" val="30799869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572F63B-EF0F-9942-98B2-F67CC88AF236}" type="datetimeFigureOut">
              <a:rPr lang="en-US" smtClean="0"/>
              <a:t>8/11/2024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C13DA5-2DE0-6D49-B0F1-8E4B6A1CBA23}" type="slidenum">
              <a:rPr lang="en-US" smtClean="0"/>
              <a:t>‹#›</a:t>
            </a:fld>
            <a:endParaRPr lang="en-US"/>
          </a:p>
        </p:txBody>
      </p:sp>
    </p:spTree>
    <p:extLst>
      <p:ext uri="{BB962C8B-B14F-4D97-AF65-F5344CB8AC3E}">
        <p14:creationId xmlns:p14="http://schemas.microsoft.com/office/powerpoint/2010/main" val="141208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Information in this section should come from the appraisal plan. The idea here is not to duplicate the contents of the plan, but to provide a summary for the Appraisal Sponsor, and the personnel from the OU who will see these findings.</a:t>
            </a:r>
          </a:p>
          <a:p>
            <a:endParaRPr lang="en-US" dirty="0"/>
          </a:p>
          <a:p>
            <a:r>
              <a:rPr lang="en-US" dirty="0"/>
              <a:t>The ATL may add additional information to the final findings presentation, but this minimum content must be present.</a:t>
            </a:r>
          </a:p>
        </p:txBody>
      </p:sp>
      <p:sp>
        <p:nvSpPr>
          <p:cNvPr id="4" name="Slide Number Placeholder 3"/>
          <p:cNvSpPr>
            <a:spLocks noGrp="1"/>
          </p:cNvSpPr>
          <p:nvPr>
            <p:ph type="sldNum" sz="quarter" idx="10"/>
          </p:nvPr>
        </p:nvSpPr>
        <p:spPr/>
        <p:txBody>
          <a:bodyPr/>
          <a:lstStyle/>
          <a:p>
            <a:fld id="{3FC13DA5-2DE0-6D49-B0F1-8E4B6A1CBA23}" type="slidenum">
              <a:rPr lang="en-US" smtClean="0"/>
              <a:t>2</a:t>
            </a:fld>
            <a:endParaRPr lang="en-US" dirty="0"/>
          </a:p>
        </p:txBody>
      </p:sp>
    </p:spTree>
    <p:extLst>
      <p:ext uri="{BB962C8B-B14F-4D97-AF65-F5344CB8AC3E}">
        <p14:creationId xmlns:p14="http://schemas.microsoft.com/office/powerpoint/2010/main" val="33202209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a:xfrm>
            <a:off x="709613" y="4919663"/>
            <a:ext cx="5680075" cy="4025900"/>
          </a:xfrm>
          <a:prstGeom prst="rect">
            <a:avLst/>
          </a:prstGeom>
        </p:spPr>
        <p:txBody>
          <a:bodyPr/>
          <a:lstStyle/>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Introduction. Also an opportunity to talk a bit about </a:t>
            </a:r>
            <a:r>
              <a:rPr lang="en-ZA" altLang="zh-CN" dirty="0" err="1"/>
              <a:t>Demix</a:t>
            </a:r>
            <a:endParaRPr lang="en-ZA" altLang="zh-CN" dirty="0"/>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err="1"/>
              <a:t>Demix</a:t>
            </a:r>
            <a:r>
              <a:rPr lang="en-ZA" altLang="zh-CN" dirty="0"/>
              <a:t> has </a:t>
            </a:r>
            <a:r>
              <a:rPr lang="en-ZA" altLang="zh-CN" dirty="0" err="1"/>
              <a:t>LAs</a:t>
            </a:r>
            <a:r>
              <a:rPr lang="en-ZA" altLang="zh-CN" dirty="0"/>
              <a:t> from across the globe and performs appraisals around the world</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is one of the largest CMMI services providers globally</a:t>
            </a:r>
          </a:p>
          <a:p>
            <a:pPr marL="171450" marR="0" indent="-171450" algn="l" defTabSz="914400" rtl="0" eaLnBrk="0" fontAlgn="base" latinLnBrk="0" hangingPunct="0">
              <a:lnSpc>
                <a:spcPct val="89000"/>
              </a:lnSpc>
              <a:spcBef>
                <a:spcPct val="40000"/>
              </a:spcBef>
              <a:spcAft>
                <a:spcPct val="0"/>
              </a:spcAft>
              <a:buClrTx/>
              <a:buSzTx/>
              <a:buFontTx/>
              <a:buChar char="-"/>
              <a:tabLst/>
              <a:defRPr/>
            </a:pPr>
            <a:r>
              <a:rPr lang="en-ZA" altLang="zh-CN" dirty="0"/>
              <a:t>Demix also provide other citification services, such as ISO, COBIT, MAX</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a:p>
            <a:pPr marL="0" marR="0" indent="0" algn="l" defTabSz="914400" rtl="0" eaLnBrk="0" fontAlgn="base" latinLnBrk="0" hangingPunct="0">
              <a:lnSpc>
                <a:spcPct val="89000"/>
              </a:lnSpc>
              <a:spcBef>
                <a:spcPct val="40000"/>
              </a:spcBef>
              <a:spcAft>
                <a:spcPct val="0"/>
              </a:spcAft>
              <a:buClrTx/>
              <a:buSzTx/>
              <a:buFontTx/>
              <a:buNone/>
              <a:tabLst/>
              <a:defRPr/>
            </a:pPr>
            <a:r>
              <a:rPr lang="en-ZA" altLang="zh-CN" dirty="0"/>
              <a:t>It is a pleasure and honour to be here with you today. We are looking forward to work with you and your team over the coming days.</a:t>
            </a:r>
          </a:p>
          <a:p>
            <a:pPr marL="0" marR="0" indent="0" algn="l" defTabSz="914400" rtl="0" eaLnBrk="0" fontAlgn="base" latinLnBrk="0" hangingPunct="0">
              <a:lnSpc>
                <a:spcPct val="89000"/>
              </a:lnSpc>
              <a:spcBef>
                <a:spcPct val="40000"/>
              </a:spcBef>
              <a:spcAft>
                <a:spcPct val="0"/>
              </a:spcAft>
              <a:buClrTx/>
              <a:buSzTx/>
              <a:buFontTx/>
              <a:buNone/>
              <a:tabLst/>
              <a:defRPr/>
            </a:pPr>
            <a:r>
              <a:rPr lang="zh-TW" altLang="en-US" dirty="0"/>
              <a:t>早晨好。今天我很高興和榮幸來到這裡，我期待著在未來的几天里與您和您的團隊一起工作。</a:t>
            </a:r>
          </a:p>
          <a:p>
            <a:pPr marL="0" marR="0" indent="0" algn="l" defTabSz="914400" rtl="0" eaLnBrk="0" fontAlgn="base" latinLnBrk="0" hangingPunct="0">
              <a:lnSpc>
                <a:spcPct val="89000"/>
              </a:lnSpc>
              <a:spcBef>
                <a:spcPct val="40000"/>
              </a:spcBef>
              <a:spcAft>
                <a:spcPct val="0"/>
              </a:spcAft>
              <a:buClrTx/>
              <a:buSzTx/>
              <a:buFontTx/>
              <a:buNone/>
              <a:tabLst/>
              <a:defRPr/>
            </a:pPr>
            <a:endParaRPr lang="en-ZA" altLang="zh-CN" dirty="0"/>
          </a:p>
        </p:txBody>
      </p:sp>
    </p:spTree>
    <p:extLst>
      <p:ext uri="{BB962C8B-B14F-4D97-AF65-F5344CB8AC3E}">
        <p14:creationId xmlns:p14="http://schemas.microsoft.com/office/powerpoint/2010/main" val="30082958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p:sp>
      <p:sp>
        <p:nvSpPr>
          <p:cNvPr id="28675" name="Notes Placeholder 2"/>
          <p:cNvSpPr>
            <a:spLocks noGrp="1"/>
          </p:cNvSpPr>
          <p:nvPr>
            <p:ph type="body" idx="1"/>
          </p:nvPr>
        </p:nvSpPr>
        <p:spPr bwMode="auto">
          <a:xfrm>
            <a:off x="709613" y="4856163"/>
            <a:ext cx="5680075" cy="4600575"/>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8984" tIns="49492" rIns="98984" bIns="49492"/>
          <a:lstStyle/>
          <a:p>
            <a:r>
              <a:rPr lang="en-ZA" altLang="zh-CN" dirty="0"/>
              <a:t>1, what ever you share</a:t>
            </a:r>
            <a:r>
              <a:rPr lang="en-ZA" altLang="zh-CN" baseline="0" dirty="0"/>
              <a:t> is confidential with the ATM’s and </a:t>
            </a:r>
          </a:p>
          <a:p>
            <a:r>
              <a:rPr lang="en-ZA" altLang="zh-CN" baseline="0"/>
              <a:t>2</a:t>
            </a:r>
            <a:r>
              <a:rPr lang="en-ZA" altLang="zh-CN" baseline="0" dirty="0"/>
              <a:t>, non – your </a:t>
            </a:r>
            <a:r>
              <a:rPr lang="en-ZA" altLang="zh-CN" baseline="0"/>
              <a:t>name will </a:t>
            </a:r>
            <a:r>
              <a:rPr lang="en-ZA" altLang="zh-CN" baseline="0" dirty="0"/>
              <a:t>not appear in any </a:t>
            </a:r>
            <a:r>
              <a:rPr lang="en-ZA" altLang="zh-CN" baseline="0"/>
              <a:t>reports        </a:t>
            </a:r>
          </a:p>
          <a:p>
            <a:r>
              <a:rPr lang="en-ZA" altLang="zh-CN" baseline="0"/>
              <a:t>collaboratively </a:t>
            </a:r>
            <a:r>
              <a:rPr lang="en-ZA" altLang="zh-CN" baseline="0" dirty="0"/>
              <a:t>– we have representation from your side as well as ours  last at the end there are always weaknesses and from there an improvement action is always undertaken</a:t>
            </a:r>
            <a:endParaRPr lang="zh-CN" altLang="zh-CN" dirty="0"/>
          </a:p>
        </p:txBody>
      </p:sp>
    </p:spTree>
    <p:extLst>
      <p:ext uri="{BB962C8B-B14F-4D97-AF65-F5344CB8AC3E}">
        <p14:creationId xmlns:p14="http://schemas.microsoft.com/office/powerpoint/2010/main" val="2865418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FC13DA5-2DE0-6D49-B0F1-8E4B6A1CBA23}" type="slidenum">
              <a:rPr lang="en-US" smtClean="0"/>
              <a:t>5</a:t>
            </a:fld>
            <a:endParaRPr lang="en-US" dirty="0"/>
          </a:p>
        </p:txBody>
      </p:sp>
    </p:spTree>
    <p:extLst>
      <p:ext uri="{BB962C8B-B14F-4D97-AF65-F5344CB8AC3E}">
        <p14:creationId xmlns:p14="http://schemas.microsoft.com/office/powerpoint/2010/main" val="23651911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23863" y="292100"/>
            <a:ext cx="6362700" cy="3579813"/>
          </a:xfrm>
        </p:spPr>
      </p:sp>
      <p:sp>
        <p:nvSpPr>
          <p:cNvPr id="3" name="Notes Placeholder 2"/>
          <p:cNvSpPr>
            <a:spLocks noGrp="1"/>
          </p:cNvSpPr>
          <p:nvPr>
            <p:ph type="body" idx="1"/>
          </p:nvPr>
        </p:nvSpPr>
        <p:spPr>
          <a:xfrm>
            <a:off x="731194" y="4620205"/>
            <a:ext cx="5852814" cy="3780845"/>
          </a:xfrm>
          <a:prstGeom prst="rect">
            <a:avLst/>
          </a:prstGeom>
        </p:spPr>
        <p:txBody>
          <a:bodyPr/>
          <a:lstStyle/>
          <a:p>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a:defRPr sz="1100" b="1">
                <a:solidFill>
                  <a:srgbClr val="000000"/>
                </a:solidFill>
                <a:latin typeface="Arial" charset="0"/>
                <a:ea typeface="ＭＳ Ｐゴシック" charset="-128"/>
              </a:defRPr>
            </a:lvl1pPr>
            <a:lvl2pPr marL="742950" indent="-285750" defTabSz="931863">
              <a:defRPr sz="1100" b="1">
                <a:solidFill>
                  <a:srgbClr val="000000"/>
                </a:solidFill>
                <a:latin typeface="Arial" charset="0"/>
                <a:ea typeface="ＭＳ Ｐゴシック" charset="-128"/>
              </a:defRPr>
            </a:lvl2pPr>
            <a:lvl3pPr marL="1143000" indent="-228600" defTabSz="931863">
              <a:defRPr sz="1100" b="1">
                <a:solidFill>
                  <a:srgbClr val="000000"/>
                </a:solidFill>
                <a:latin typeface="Arial" charset="0"/>
                <a:ea typeface="ＭＳ Ｐゴシック" charset="-128"/>
              </a:defRPr>
            </a:lvl3pPr>
            <a:lvl4pPr marL="1600200" indent="-228600" defTabSz="931863">
              <a:defRPr sz="1100" b="1">
                <a:solidFill>
                  <a:srgbClr val="000000"/>
                </a:solidFill>
                <a:latin typeface="Arial" charset="0"/>
                <a:ea typeface="ＭＳ Ｐゴシック" charset="-128"/>
              </a:defRPr>
            </a:lvl4pPr>
            <a:lvl5pPr marL="2057400" indent="-228600" defTabSz="931863">
              <a:defRPr sz="1100" b="1">
                <a:solidFill>
                  <a:srgbClr val="000000"/>
                </a:solidFill>
                <a:latin typeface="Arial" charset="0"/>
                <a:ea typeface="ＭＳ Ｐゴシック" charset="-128"/>
              </a:defRPr>
            </a:lvl5pPr>
            <a:lvl6pPr marL="25146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6pPr>
            <a:lvl7pPr marL="29718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7pPr>
            <a:lvl8pPr marL="34290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8pPr>
            <a:lvl9pPr marL="3886200" indent="-228600" algn="ctr" defTabSz="931863" eaLnBrk="0" fontAlgn="base" hangingPunct="0">
              <a:spcBef>
                <a:spcPct val="0"/>
              </a:spcBef>
              <a:spcAft>
                <a:spcPct val="0"/>
              </a:spcAft>
              <a:defRPr sz="1100" b="1">
                <a:solidFill>
                  <a:srgbClr val="000000"/>
                </a:solidFill>
                <a:latin typeface="Arial" charset="0"/>
                <a:ea typeface="ＭＳ Ｐゴシック" charset="-128"/>
              </a:defRPr>
            </a:lvl9pPr>
          </a:lstStyle>
          <a:p>
            <a:fld id="{CE611DA0-981B-B047-981C-E490A72360DD}" type="slidenum">
              <a:rPr lang="en-US" altLang="en-US" sz="1200" b="0">
                <a:solidFill>
                  <a:schemeClr val="tx1"/>
                </a:solidFill>
              </a:rPr>
              <a:pPr/>
              <a:t>29</a:t>
            </a:fld>
            <a:endParaRPr lang="en-US" altLang="en-US" sz="1200" b="0">
              <a:solidFill>
                <a:schemeClr val="tx1"/>
              </a:solidFill>
            </a:endParaRPr>
          </a:p>
        </p:txBody>
      </p:sp>
      <p:sp>
        <p:nvSpPr>
          <p:cNvPr id="66562" name="Rectangle 2"/>
          <p:cNvSpPr>
            <a:spLocks noGrp="1" noRot="1" noChangeAspect="1" noChangeArrowheads="1" noTextEdit="1"/>
          </p:cNvSpPr>
          <p:nvPr>
            <p:ph type="sldImg"/>
          </p:nvPr>
        </p:nvSpPr>
        <p:spPr>
          <a:xfrm>
            <a:off x="1025525" y="231775"/>
            <a:ext cx="4959350" cy="2790825"/>
          </a:xfrm>
          <a:ln/>
        </p:spPr>
      </p:sp>
      <p:sp>
        <p:nvSpPr>
          <p:cNvPr id="66563" name="Rectangle 3"/>
          <p:cNvSpPr>
            <a:spLocks noGrp="1" noChangeArrowheads="1"/>
          </p:cNvSpPr>
          <p:nvPr>
            <p:ph type="body" idx="1"/>
          </p:nvPr>
        </p:nvSpPr>
        <p:spPr>
          <a:xfrm>
            <a:off x="546100" y="3098800"/>
            <a:ext cx="6075363" cy="557688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a:lstStyle/>
          <a:p>
            <a:pPr eaLnBrk="1" hangingPunct="1"/>
            <a:endParaRPr lang="en-US" altLang="en-US">
              <a:ea typeface="ＭＳ Ｐゴシック" charset="-128"/>
            </a:endParaRPr>
          </a:p>
        </p:txBody>
      </p:sp>
    </p:spTree>
    <p:extLst>
      <p:ext uri="{BB962C8B-B14F-4D97-AF65-F5344CB8AC3E}">
        <p14:creationId xmlns:p14="http://schemas.microsoft.com/office/powerpoint/2010/main" val="355928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3FC13DA5-2DE0-6D49-B0F1-8E4B6A1CBA23}" type="slidenum">
              <a:rPr lang="en-US" smtClean="0"/>
              <a:t>30</a:t>
            </a:fld>
            <a:endParaRPr lang="en-US"/>
          </a:p>
        </p:txBody>
      </p:sp>
    </p:spTree>
    <p:extLst>
      <p:ext uri="{BB962C8B-B14F-4D97-AF65-F5344CB8AC3E}">
        <p14:creationId xmlns:p14="http://schemas.microsoft.com/office/powerpoint/2010/main" val="3896035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848DBD-6861-9443-ABFC-B68F7FC4F11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C8EBE0-674E-E14C-BF5A-2277457EB9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3944488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B982D3-B5B2-604E-8894-27346F93784F}"/>
              </a:ext>
            </a:extLst>
          </p:cNvPr>
          <p:cNvSpPr>
            <a:spLocks noGrp="1"/>
          </p:cNvSpPr>
          <p:nvPr>
            <p:ph type="title"/>
          </p:nvPr>
        </p:nvSpPr>
        <p:spPr>
          <a:xfrm>
            <a:off x="955964" y="960509"/>
            <a:ext cx="10397836" cy="602284"/>
          </a:xfrm>
        </p:spPr>
        <p:txBody>
          <a:bodyPr>
            <a:normAutofit/>
          </a:bodyPr>
          <a:lstStyle>
            <a:lvl1pPr>
              <a:defRPr sz="3200" b="1">
                <a:latin typeface="+mn-lt"/>
              </a:defRPr>
            </a:lvl1pPr>
          </a:lstStyle>
          <a:p>
            <a:r>
              <a:rPr lang="en-US"/>
              <a:t>Click to edit Master title style</a:t>
            </a:r>
          </a:p>
        </p:txBody>
      </p:sp>
      <p:sp>
        <p:nvSpPr>
          <p:cNvPr id="3" name="Content Placeholder 2">
            <a:extLst>
              <a:ext uri="{FF2B5EF4-FFF2-40B4-BE49-F238E27FC236}">
                <a16:creationId xmlns:a16="http://schemas.microsoft.com/office/drawing/2014/main" id="{84CF33C6-B055-6244-B86B-3C81D067D45E}"/>
              </a:ext>
            </a:extLst>
          </p:cNvPr>
          <p:cNvSpPr>
            <a:spLocks noGrp="1"/>
          </p:cNvSpPr>
          <p:nvPr>
            <p:ph idx="1"/>
          </p:nvPr>
        </p:nvSpPr>
        <p:spPr>
          <a:xfrm>
            <a:off x="955962" y="1645919"/>
            <a:ext cx="10397837" cy="453104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0459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C0A10-6417-4845-A710-C912A19BF0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DCE0AD3-2F11-2548-A8B7-E12BBE4F451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Tree>
    <p:extLst>
      <p:ext uri="{BB962C8B-B14F-4D97-AF65-F5344CB8AC3E}">
        <p14:creationId xmlns:p14="http://schemas.microsoft.com/office/powerpoint/2010/main" val="4681512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60988F-4DD4-B34F-ACAA-8CEF3DD319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145F42-98CE-024C-AE1D-1D828A0A6DD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992D5B5-C925-D342-A0BB-7B5AC43819AC}"/>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846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0EAFD3-29DE-9349-A0DA-3033DCE90F20}"/>
              </a:ext>
            </a:extLst>
          </p:cNvPr>
          <p:cNvSpPr>
            <a:spLocks noGrp="1"/>
          </p:cNvSpPr>
          <p:nvPr>
            <p:ph type="title"/>
          </p:nvPr>
        </p:nvSpPr>
        <p:spPr>
          <a:xfrm>
            <a:off x="839788" y="866776"/>
            <a:ext cx="10515600" cy="823912"/>
          </a:xfrm>
        </p:spPr>
        <p:txBody>
          <a:bodyPr/>
          <a:lstStyle/>
          <a:p>
            <a:r>
              <a:rPr lang="en-US"/>
              <a:t>Click to edit Master title style</a:t>
            </a:r>
          </a:p>
        </p:txBody>
      </p:sp>
      <p:sp>
        <p:nvSpPr>
          <p:cNvPr id="3" name="Text Placeholder 2">
            <a:extLst>
              <a:ext uri="{FF2B5EF4-FFF2-40B4-BE49-F238E27FC236}">
                <a16:creationId xmlns:a16="http://schemas.microsoft.com/office/drawing/2014/main" id="{0076B9A2-28E2-FC4E-BB3E-D80D55842A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D988654B-5FDB-DE43-BE9E-C62E6CC2A90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CF11820-D9F0-F84A-8BA7-C696340CA1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E8A82BB8-18EA-6F4F-AC36-5A96594F654C}"/>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288292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C732-D1A0-3345-8796-9B608802EB00}"/>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483130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07339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CCDD0-C745-004E-BBC9-C79A3ABAA447}"/>
              </a:ext>
            </a:extLst>
          </p:cNvPr>
          <p:cNvSpPr>
            <a:spLocks noGrp="1"/>
          </p:cNvSpPr>
          <p:nvPr>
            <p:ph type="title"/>
          </p:nvPr>
        </p:nvSpPr>
        <p:spPr>
          <a:xfrm>
            <a:off x="839788" y="987425"/>
            <a:ext cx="3932237" cy="1069974"/>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BC535FFB-2029-4641-A69B-2EB72A22C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F37B1C-5062-C644-8590-D10E966CE539}"/>
              </a:ext>
            </a:extLst>
          </p:cNvPr>
          <p:cNvSpPr>
            <a:spLocks noGrp="1"/>
          </p:cNvSpPr>
          <p:nvPr>
            <p:ph type="body" sz="half" idx="2"/>
          </p:nvPr>
        </p:nvSpPr>
        <p:spPr>
          <a:xfrm>
            <a:off x="839788" y="2294312"/>
            <a:ext cx="3932237" cy="357467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Tree>
    <p:extLst>
      <p:ext uri="{BB962C8B-B14F-4D97-AF65-F5344CB8AC3E}">
        <p14:creationId xmlns:p14="http://schemas.microsoft.com/office/powerpoint/2010/main" val="946128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01DDE-5CF8-9147-A11B-0EFC6B8155A1}"/>
              </a:ext>
            </a:extLst>
          </p:cNvPr>
          <p:cNvSpPr>
            <a:spLocks noGrp="1"/>
          </p:cNvSpPr>
          <p:nvPr>
            <p:ph type="title"/>
          </p:nvPr>
        </p:nvSpPr>
        <p:spPr>
          <a:xfrm>
            <a:off x="839788" y="987425"/>
            <a:ext cx="3932237" cy="1069974"/>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CF5909-A9FE-7341-A8D9-1CB7D35C5C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37FC7-DD0D-6141-93DD-4C2B36A240AF}"/>
              </a:ext>
            </a:extLst>
          </p:cNvPr>
          <p:cNvSpPr>
            <a:spLocks noGrp="1"/>
          </p:cNvSpPr>
          <p:nvPr>
            <p:ph type="body" sz="half" idx="2"/>
          </p:nvPr>
        </p:nvSpPr>
        <p:spPr>
          <a:xfrm>
            <a:off x="839788" y="2302624"/>
            <a:ext cx="3932237" cy="35663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Tree>
    <p:extLst>
      <p:ext uri="{BB962C8B-B14F-4D97-AF65-F5344CB8AC3E}">
        <p14:creationId xmlns:p14="http://schemas.microsoft.com/office/powerpoint/2010/main" val="2142866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461E6-C672-9B40-B472-25BC7EE6B9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24E2238-F94B-2141-B1ED-7911EB86CD0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2302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DDCBEBA-2D10-D04A-9561-8952D30E13F7}"/>
              </a:ext>
            </a:extLst>
          </p:cNvPr>
          <p:cNvSpPr>
            <a:spLocks noGrp="1"/>
          </p:cNvSpPr>
          <p:nvPr>
            <p:ph type="title" orient="vert"/>
          </p:nvPr>
        </p:nvSpPr>
        <p:spPr>
          <a:xfrm>
            <a:off x="8724900" y="997525"/>
            <a:ext cx="2628900" cy="5179437"/>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E68D5F-AEB5-1240-BFCF-EF0B5070753E}"/>
              </a:ext>
            </a:extLst>
          </p:cNvPr>
          <p:cNvSpPr>
            <a:spLocks noGrp="1"/>
          </p:cNvSpPr>
          <p:nvPr>
            <p:ph type="body" orient="vert" idx="1"/>
          </p:nvPr>
        </p:nvSpPr>
        <p:spPr>
          <a:xfrm>
            <a:off x="838200" y="997527"/>
            <a:ext cx="7734300" cy="5179436"/>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9731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A 1st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560299" y="907750"/>
            <a:ext cx="10021824" cy="539496"/>
          </a:xfrm>
        </p:spPr>
        <p:txBody>
          <a:bodyPr>
            <a:normAutofit/>
          </a:bodyPr>
          <a:lstStyle>
            <a:lvl1pPr>
              <a:defRPr sz="3200" b="1">
                <a:latin typeface="+mn-lt"/>
              </a:defRPr>
            </a:lvl1pPr>
          </a:lstStyle>
          <a:p>
            <a:r>
              <a:rPr lang="en-US"/>
              <a:t>Click to edit Master title style</a:t>
            </a:r>
          </a:p>
        </p:txBody>
      </p:sp>
      <p:sp>
        <p:nvSpPr>
          <p:cNvPr id="10" name="Content Placeholder 2">
            <a:extLst>
              <a:ext uri="{FF2B5EF4-FFF2-40B4-BE49-F238E27FC236}">
                <a16:creationId xmlns:a16="http://schemas.microsoft.com/office/drawing/2014/main" id="{C4E75C74-DD57-384F-B628-ADA3B1727358}"/>
              </a:ext>
            </a:extLst>
          </p:cNvPr>
          <p:cNvSpPr>
            <a:spLocks noGrp="1"/>
          </p:cNvSpPr>
          <p:nvPr>
            <p:ph idx="1"/>
          </p:nvPr>
        </p:nvSpPr>
        <p:spPr>
          <a:xfrm>
            <a:off x="466344" y="1463040"/>
            <a:ext cx="11265408" cy="1572768"/>
          </a:xfrm>
        </p:spPr>
        <p:txBody>
          <a:bodyPr/>
          <a:lstStyle>
            <a:lvl3pPr marL="914400" indent="0">
              <a:buNone/>
              <a:defRPr/>
            </a:lvl3pPr>
          </a:lstStyle>
          <a:p>
            <a:pPr lvl="0"/>
            <a:r>
              <a:rPr lang="en-US"/>
              <a:t>Edit Master text styles</a:t>
            </a:r>
          </a:p>
          <a:p>
            <a:pPr lvl="1"/>
            <a:r>
              <a:rPr lang="en-US"/>
              <a:t>Second level</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2990088"/>
            <a:ext cx="11265408" cy="3097485"/>
          </a:xfrm>
        </p:spPr>
        <p:txBody>
          <a:bodyPr>
            <a:normAutofit/>
          </a:bodyPr>
          <a:lstStyle>
            <a:lvl1pPr marL="0" indent="0">
              <a:buNone/>
              <a:defRPr sz="2400" b="1"/>
            </a:lvl1pPr>
          </a:lstStyle>
          <a:p>
            <a:pPr lvl="0"/>
            <a:r>
              <a:rPr lang="en-US" sz="2400" b="1"/>
              <a:t>Strengths:</a:t>
            </a:r>
          </a:p>
          <a:p>
            <a:pPr lvl="0"/>
            <a:endParaRPr lang="en-US" sz="2400" b="1"/>
          </a:p>
          <a:p>
            <a:pPr lvl="0"/>
            <a:endParaRPr lang="en-US" sz="2400" b="1"/>
          </a:p>
          <a:p>
            <a:pPr lvl="0"/>
            <a:r>
              <a:rPr lang="en-US" sz="2400" b="1"/>
              <a:t>Weaknesses:</a:t>
            </a:r>
          </a:p>
          <a:p>
            <a:pPr lvl="0"/>
            <a:endParaRPr lang="en-US" sz="2400" b="1"/>
          </a:p>
          <a:p>
            <a:pPr lvl="0"/>
            <a:endParaRPr lang="en-US" sz="2400" b="1"/>
          </a:p>
          <a:p>
            <a:pPr lvl="0"/>
            <a:r>
              <a:rPr lang="en-US" sz="2400" b="1"/>
              <a:t>Notes:</a:t>
            </a:r>
            <a:endParaRPr lang="en-US"/>
          </a:p>
        </p:txBody>
      </p:sp>
    </p:spTree>
    <p:extLst>
      <p:ext uri="{BB962C8B-B14F-4D97-AF65-F5344CB8AC3E}">
        <p14:creationId xmlns:p14="http://schemas.microsoft.com/office/powerpoint/2010/main" val="28811268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A_Additional Info">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48C46-1EE2-E54F-AB47-9C1D0F7544F2}"/>
              </a:ext>
            </a:extLst>
          </p:cNvPr>
          <p:cNvSpPr>
            <a:spLocks noGrp="1"/>
          </p:cNvSpPr>
          <p:nvPr>
            <p:ph type="title"/>
          </p:nvPr>
        </p:nvSpPr>
        <p:spPr>
          <a:xfrm>
            <a:off x="1618488" y="916063"/>
            <a:ext cx="10021824" cy="539496"/>
          </a:xfrm>
        </p:spPr>
        <p:txBody>
          <a:bodyPr>
            <a:normAutofit/>
          </a:bodyPr>
          <a:lstStyle>
            <a:lvl1pPr>
              <a:defRPr sz="3200" b="1">
                <a:latin typeface="+mn-lt"/>
              </a:defRPr>
            </a:lvl1pPr>
          </a:lstStyle>
          <a:p>
            <a:r>
              <a:rPr lang="en-US"/>
              <a:t>Click to edit Master title style</a:t>
            </a:r>
          </a:p>
        </p:txBody>
      </p:sp>
      <p:sp>
        <p:nvSpPr>
          <p:cNvPr id="11" name="Content Placeholder 2">
            <a:extLst>
              <a:ext uri="{FF2B5EF4-FFF2-40B4-BE49-F238E27FC236}">
                <a16:creationId xmlns:a16="http://schemas.microsoft.com/office/drawing/2014/main" id="{E33530BF-B16C-334F-B4C4-FA885006ECBC}"/>
              </a:ext>
            </a:extLst>
          </p:cNvPr>
          <p:cNvSpPr>
            <a:spLocks noGrp="1"/>
          </p:cNvSpPr>
          <p:nvPr>
            <p:ph idx="13" hasCustomPrompt="1"/>
          </p:nvPr>
        </p:nvSpPr>
        <p:spPr>
          <a:xfrm>
            <a:off x="466344" y="1463040"/>
            <a:ext cx="11265408" cy="4417807"/>
          </a:xfrm>
        </p:spPr>
        <p:txBody>
          <a:bodyPr>
            <a:normAutofit/>
          </a:bodyPr>
          <a:lstStyle>
            <a:lvl1pPr marL="0" indent="0">
              <a:buNone/>
              <a:defRPr sz="2400" b="1"/>
            </a:lvl1pPr>
          </a:lstStyle>
          <a:p>
            <a:pPr lvl="0"/>
            <a:r>
              <a:rPr lang="en-US" sz="2400" b="1"/>
              <a:t>&lt;Additional Findings&gt;</a:t>
            </a:r>
            <a:endParaRPr lang="en-US"/>
          </a:p>
        </p:txBody>
      </p:sp>
    </p:spTree>
    <p:extLst>
      <p:ext uri="{BB962C8B-B14F-4D97-AF65-F5344CB8AC3E}">
        <p14:creationId xmlns:p14="http://schemas.microsoft.com/office/powerpoint/2010/main" val="19291265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958735"/>
            <a:ext cx="10363200" cy="609600"/>
          </a:xfrm>
        </p:spPr>
        <p:txBody>
          <a:bodyPr/>
          <a:lstStyle/>
          <a:p>
            <a:r>
              <a:rPr lang="en-US" dirty="0"/>
              <a:t>Click to edit Master title style</a:t>
            </a:r>
          </a:p>
        </p:txBody>
      </p:sp>
      <p:sp>
        <p:nvSpPr>
          <p:cNvPr id="3" name="Text Placeholder 2"/>
          <p:cNvSpPr>
            <a:spLocks noGrp="1"/>
          </p:cNvSpPr>
          <p:nvPr>
            <p:ph type="body" sz="half" idx="1"/>
          </p:nvPr>
        </p:nvSpPr>
        <p:spPr>
          <a:xfrm>
            <a:off x="9144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76400"/>
            <a:ext cx="5080000"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5680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microsoft.com/office/2007/relationships/hdphoto" Target="../media/hdphoto1.wdp"/><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8E2FE11-7EFA-4C7B-A5E5-4A66E770BA9E}"/>
              </a:ext>
            </a:extLst>
          </p:cNvPr>
          <p:cNvSpPr/>
          <p:nvPr userDrawn="1"/>
        </p:nvSpPr>
        <p:spPr>
          <a:xfrm>
            <a:off x="0" y="0"/>
            <a:ext cx="12192000" cy="908049"/>
          </a:xfrm>
          <a:prstGeom prst="rect">
            <a:avLst/>
          </a:prstGeom>
          <a:gradFill flip="none" rotWithShape="1">
            <a:gsLst>
              <a:gs pos="0">
                <a:srgbClr val="004D8A"/>
              </a:gs>
              <a:gs pos="100000">
                <a:schemeClr val="accent1">
                  <a:lumMod val="30000"/>
                  <a:lumOff val="70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
        <p:nvSpPr>
          <p:cNvPr id="2" name="Title Placeholder 1">
            <a:extLst>
              <a:ext uri="{FF2B5EF4-FFF2-40B4-BE49-F238E27FC236}">
                <a16:creationId xmlns:a16="http://schemas.microsoft.com/office/drawing/2014/main" id="{9A2DA56B-DFD6-9B40-BB39-797690CA823C}"/>
              </a:ext>
            </a:extLst>
          </p:cNvPr>
          <p:cNvSpPr>
            <a:spLocks noGrp="1"/>
          </p:cNvSpPr>
          <p:nvPr>
            <p:ph type="title"/>
          </p:nvPr>
        </p:nvSpPr>
        <p:spPr>
          <a:xfrm>
            <a:off x="838200" y="908049"/>
            <a:ext cx="10515600" cy="78263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F3AD0E0-2188-A543-BA66-C44F0D7242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7E3D14D-7206-614E-9BDE-7A2B1DCC82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1" name="Slide Number Placeholder 5">
            <a:extLst>
              <a:ext uri="{FF2B5EF4-FFF2-40B4-BE49-F238E27FC236}">
                <a16:creationId xmlns:a16="http://schemas.microsoft.com/office/drawing/2014/main" id="{4715B51E-F992-4C20-A31E-2C828A5DAA5F}"/>
              </a:ext>
            </a:extLst>
          </p:cNvPr>
          <p:cNvSpPr txBox="1">
            <a:spLocks/>
          </p:cNvSpPr>
          <p:nvPr userDrawn="1"/>
        </p:nvSpPr>
        <p:spPr>
          <a:xfrm>
            <a:off x="8229600" y="6403975"/>
            <a:ext cx="3735913"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tint val="75000"/>
                  </a:schemeClr>
                </a:solidFill>
                <a:effectLst/>
                <a:latin typeface="+mn-lt"/>
                <a:ea typeface="+mn-ea"/>
                <a:cs typeface="+mn-cs"/>
              </a:rPr>
              <a:t>© ISACA 2024. All Rights Reserved.​</a:t>
            </a:r>
            <a:r>
              <a:rPr lang="en-US" dirty="0"/>
              <a:t>  |  </a:t>
            </a:r>
            <a:fld id="{85F78CEA-3B00-9E49-94E0-DC9AF1E86765}" type="slidenum">
              <a:rPr lang="en-US" smtClean="0"/>
              <a:pPr/>
              <a:t>‹#›</a:t>
            </a:fld>
            <a:endParaRPr lang="en-US" dirty="0"/>
          </a:p>
        </p:txBody>
      </p:sp>
      <p:pic>
        <p:nvPicPr>
          <p:cNvPr id="12" name="Picture 11">
            <a:extLst>
              <a:ext uri="{FF2B5EF4-FFF2-40B4-BE49-F238E27FC236}">
                <a16:creationId xmlns:a16="http://schemas.microsoft.com/office/drawing/2014/main" id="{627B859E-7AE1-42C5-91B0-C99C8B2E8022}"/>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l="11295" t="26266" r="8573" b="24948"/>
          <a:stretch/>
        </p:blipFill>
        <p:spPr>
          <a:xfrm>
            <a:off x="182469" y="6358332"/>
            <a:ext cx="1371600" cy="363143"/>
          </a:xfrm>
          <a:prstGeom prst="rect">
            <a:avLst/>
          </a:prstGeom>
        </p:spPr>
      </p:pic>
      <p:pic>
        <p:nvPicPr>
          <p:cNvPr id="13" name="Picture 2">
            <a:extLst>
              <a:ext uri="{FF2B5EF4-FFF2-40B4-BE49-F238E27FC236}">
                <a16:creationId xmlns:a16="http://schemas.microsoft.com/office/drawing/2014/main" id="{4039BE4B-7FAE-4D96-AE72-33674D67ECB2}"/>
              </a:ext>
            </a:extLst>
          </p:cNvPr>
          <p:cNvPicPr>
            <a:picLocks noChangeAspect="1" noChangeArrowheads="1"/>
          </p:cNvPicPr>
          <p:nvPr userDrawn="1"/>
        </p:nvPicPr>
        <p:blipFill>
          <a:blip r:embed="rId17" cstate="print">
            <a:extLst>
              <a:ext uri="{BEBA8EAE-BF5A-486C-A8C5-ECC9F3942E4B}">
                <a14:imgProps xmlns:a14="http://schemas.microsoft.com/office/drawing/2010/main">
                  <a14:imgLayer r:embed="rId18">
                    <a14:imgEffect>
                      <a14:backgroundRemoval t="8280" b="89809" l="7505" r="89452">
                        <a14:foregroundMark x1="11765" y1="60510" x2="22110" y2="29936"/>
                        <a14:foregroundMark x1="15416" y1="18471" x2="13793" y2="61783"/>
                        <a14:foregroundMark x1="8722" y1="29936" x2="9331" y2="54140"/>
                        <a14:foregroundMark x1="7911" y1="33121" x2="9331" y2="56051"/>
                        <a14:foregroundMark x1="7505" y1="43949" x2="10345" y2="57962"/>
                        <a14:foregroundMark x1="7911" y1="51592" x2="7911" y2="51592"/>
                        <a14:foregroundMark x1="8316" y1="53503" x2="8316" y2="54140"/>
                        <a14:foregroundMark x1="9128" y1="57325" x2="9128" y2="57325"/>
                        <a14:foregroundMark x1="22718" y1="25478" x2="22718" y2="25478"/>
                        <a14:foregroundMark x1="7302" y1="76433" x2="9533" y2="75796"/>
                        <a14:foregroundMark x1="35953" y1="33121" x2="37728" y2="29936"/>
                        <a14:foregroundMark x1="47606" y1="56051" x2="47059" y2="61783"/>
                        <a14:foregroundMark x1="47667" y1="55414" x2="47606" y2="56051"/>
                        <a14:foregroundMark x1="47728" y1="54777" x2="47667" y2="55414"/>
                        <a14:foregroundMark x1="48276" y1="49045" x2="47728" y2="54777"/>
                        <a14:foregroundMark x1="56998" y1="61783" x2="67140" y2="61783"/>
                        <a14:foregroundMark x1="75254" y1="36943" x2="75254" y2="59236"/>
                        <a14:foregroundMark x1="74848" y1="25478" x2="74848" y2="25478"/>
                        <a14:foregroundMark x1="82556" y1="41401" x2="87424" y2="61783"/>
                        <a14:foregroundMark x1="58824" y1="59873" x2="58824" y2="59873"/>
                        <a14:foregroundMark x1="59026" y1="60510" x2="59026" y2="60510"/>
                        <a14:foregroundMark x1="58824" y1="61783" x2="58824" y2="61783"/>
                        <a14:foregroundMark x1="59229" y1="60510" x2="59229" y2="60510"/>
                        <a14:foregroundMark x1="59229" y1="60510" x2="59229" y2="60510"/>
                        <a14:foregroundMark x1="8316" y1="29936" x2="22515" y2="59873"/>
                        <a14:foregroundMark x1="22515" y1="59873" x2="8316" y2="29299"/>
                        <a14:foregroundMark x1="8316" y1="73885" x2="9128" y2="72611"/>
                        <a14:foregroundMark x1="30020" y1="47771" x2="30020" y2="47771"/>
                        <a14:foregroundMark x1="34280" y1="38854" x2="34280" y2="38854"/>
                        <a14:foregroundMark x1="34686" y1="44586" x2="34686" y2="44586"/>
                        <a14:foregroundMark x1="34888" y1="44586" x2="34888" y2="44586"/>
                        <a14:foregroundMark x1="34888" y1="45860" x2="34888" y2="45860"/>
                        <a14:foregroundMark x1="34888" y1="42038" x2="34888" y2="42038"/>
                        <a14:foregroundMark x1="34888" y1="32484" x2="34888" y2="32484"/>
                        <a14:foregroundMark x1="34888" y1="34395" x2="34888" y2="34395"/>
                        <a14:foregroundMark x1="34888" y1="33758" x2="34686" y2="46497"/>
                        <a14:foregroundMark x1="34686" y1="33121" x2="34888" y2="36306"/>
                        <a14:foregroundMark x1="34888" y1="45860" x2="34888" y2="47134"/>
                        <a14:foregroundMark x1="34888" y1="47771" x2="35091" y2="48408"/>
                        <a14:backgroundMark x1="47262" y1="54777" x2="47262" y2="54777"/>
                        <a14:backgroundMark x1="47870" y1="54777" x2="47870" y2="54777"/>
                        <a14:backgroundMark x1="47667" y1="55414" x2="47667" y2="55414"/>
                        <a14:backgroundMark x1="47465" y1="56051" x2="47465" y2="56051"/>
                        <a14:backgroundMark x1="59838" y1="61783" x2="59838" y2="61783"/>
                        <a14:backgroundMark x1="59635" y1="60510" x2="59635" y2="60510"/>
                        <a14:backgroundMark x1="59635" y1="61783" x2="59635" y2="61783"/>
                        <a14:backgroundMark x1="65517" y1="55414" x2="65517" y2="55414"/>
                        <a14:backgroundMark x1="65517" y1="61146" x2="65517" y2="61146"/>
                        <a14:backgroundMark x1="65517" y1="61783" x2="65517" y2="61783"/>
                        <a14:backgroundMark x1="65517" y1="61146" x2="65517" y2="61146"/>
                        <a14:backgroundMark x1="65517" y1="61783" x2="65517" y2="61783"/>
                        <a14:backgroundMark x1="65314" y1="61146" x2="65314" y2="61146"/>
                        <a14:backgroundMark x1="59432" y1="61146" x2="59432" y2="61146"/>
                        <a14:backgroundMark x1="8722" y1="71975" x2="8722" y2="71975"/>
                        <a14:backgroundMark x1="9331" y1="71975" x2="9331" y2="71975"/>
                        <a14:backgroundMark x1="9128" y1="71975" x2="9128" y2="71975"/>
                        <a14:backgroundMark x1="8114" y1="72611" x2="8114" y2="72611"/>
                        <a14:backgroundMark x1="35091" y1="48409" x2="35091" y2="50318"/>
                      </a14:backgroundRemoval>
                    </a14:imgEffect>
                  </a14:imgLayer>
                </a14:imgProps>
              </a:ext>
              <a:ext uri="{28A0092B-C50C-407E-A947-70E740481C1C}">
                <a14:useLocalDpi xmlns:a14="http://schemas.microsoft.com/office/drawing/2010/main" val="0"/>
              </a:ext>
            </a:extLst>
          </a:blip>
          <a:srcRect/>
          <a:stretch>
            <a:fillRect/>
          </a:stretch>
        </p:blipFill>
        <p:spPr bwMode="auto">
          <a:xfrm>
            <a:off x="9443258" y="21957"/>
            <a:ext cx="2748742" cy="908049"/>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
        <p:nvSpPr>
          <p:cNvPr id="14" name="TextBox 13">
            <a:extLst>
              <a:ext uri="{FF2B5EF4-FFF2-40B4-BE49-F238E27FC236}">
                <a16:creationId xmlns:a16="http://schemas.microsoft.com/office/drawing/2014/main" id="{87164027-697A-4253-8B65-BBBC5DAB0269}"/>
              </a:ext>
            </a:extLst>
          </p:cNvPr>
          <p:cNvSpPr txBox="1"/>
          <p:nvPr userDrawn="1"/>
        </p:nvSpPr>
        <p:spPr>
          <a:xfrm>
            <a:off x="10316993" y="614825"/>
            <a:ext cx="1610551" cy="261610"/>
          </a:xfrm>
          <a:prstGeom prst="rect">
            <a:avLst/>
          </a:prstGeom>
          <a:noFill/>
        </p:spPr>
        <p:txBody>
          <a:bodyPr wrap="square" rtlCol="0">
            <a:spAutoFit/>
          </a:bodyPr>
          <a:lstStyle/>
          <a:p>
            <a:r>
              <a:rPr lang="en-ZA" sz="1100" dirty="0">
                <a:solidFill>
                  <a:schemeClr val="bg1"/>
                </a:solidFill>
              </a:rPr>
              <a:t>Create | Evolve | Perfect</a:t>
            </a:r>
          </a:p>
        </p:txBody>
      </p:sp>
      <p:sp>
        <p:nvSpPr>
          <p:cNvPr id="15" name="TextBox 14">
            <a:extLst>
              <a:ext uri="{FF2B5EF4-FFF2-40B4-BE49-F238E27FC236}">
                <a16:creationId xmlns:a16="http://schemas.microsoft.com/office/drawing/2014/main" id="{1B270D06-440C-4CC1-B029-90833AC8221F}"/>
              </a:ext>
            </a:extLst>
          </p:cNvPr>
          <p:cNvSpPr txBox="1"/>
          <p:nvPr userDrawn="1"/>
        </p:nvSpPr>
        <p:spPr>
          <a:xfrm>
            <a:off x="11832867" y="533486"/>
            <a:ext cx="333925" cy="169277"/>
          </a:xfrm>
          <a:prstGeom prst="rect">
            <a:avLst/>
          </a:prstGeom>
          <a:noFill/>
        </p:spPr>
        <p:txBody>
          <a:bodyPr wrap="square" rtlCol="0">
            <a:spAutoFit/>
          </a:bodyPr>
          <a:lstStyle/>
          <a:p>
            <a:r>
              <a:rPr lang="en-ZA" sz="500" b="1" dirty="0">
                <a:solidFill>
                  <a:schemeClr val="bg1"/>
                </a:solidFill>
              </a:rPr>
              <a:t>TM</a:t>
            </a:r>
          </a:p>
        </p:txBody>
      </p:sp>
    </p:spTree>
    <p:extLst>
      <p:ext uri="{BB962C8B-B14F-4D97-AF65-F5344CB8AC3E}">
        <p14:creationId xmlns:p14="http://schemas.microsoft.com/office/powerpoint/2010/main" val="991517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emf"/><Relationship Id="rId3" Type="http://schemas.openxmlformats.org/officeDocument/2006/relationships/oleObject" Target="file:///G:\2024-05-04to05-10%20(A5)%20C384400%20NASA\00_Data_Reference.xlsm!pptxCover!R4C2:R12C2" TargetMode="External"/><Relationship Id="rId7" Type="http://schemas.openxmlformats.org/officeDocument/2006/relationships/oleObject" Target="file:///G:\2024-05-04to05-10%20(A5)%20C384400%20NASA\00_Data_Reference.xlsm!pptxCover!R21C2" TargetMode="External"/><Relationship Id="rId2" Type="http://schemas.openxmlformats.org/officeDocument/2006/relationships/slideLayout" Target="../slideLayouts/slideLayout1.xml"/><Relationship Id="rId1" Type="http://schemas.openxmlformats.org/officeDocument/2006/relationships/vmlDrawing" Target="../drawings/vmlDrawing1.vml"/><Relationship Id="rId6" Type="http://schemas.openxmlformats.org/officeDocument/2006/relationships/image" Target="../media/image4.emf"/><Relationship Id="rId5" Type="http://schemas.openxmlformats.org/officeDocument/2006/relationships/oleObject" Target="file:///G:\2024-05-04to05-10%20(A5)%20C384400%20NASA\00_Data_Reference.xlsm!pptxCover!R15C2:R17C2" TargetMode="Externa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3" Type="http://schemas.openxmlformats.org/officeDocument/2006/relationships/image" Target="../media/image16.png"/><Relationship Id="rId18" Type="http://schemas.openxmlformats.org/officeDocument/2006/relationships/image" Target="../media/image21.jpeg"/><Relationship Id="rId26" Type="http://schemas.openxmlformats.org/officeDocument/2006/relationships/image" Target="../media/image29.png"/><Relationship Id="rId3" Type="http://schemas.openxmlformats.org/officeDocument/2006/relationships/image" Target="../media/image6.png"/><Relationship Id="rId21" Type="http://schemas.openxmlformats.org/officeDocument/2006/relationships/image" Target="../media/image24.gif"/><Relationship Id="rId7" Type="http://schemas.openxmlformats.org/officeDocument/2006/relationships/image" Target="../media/image10.jpeg"/><Relationship Id="rId12" Type="http://schemas.openxmlformats.org/officeDocument/2006/relationships/image" Target="../media/image15.png"/><Relationship Id="rId17" Type="http://schemas.openxmlformats.org/officeDocument/2006/relationships/image" Target="../media/image20.gif"/><Relationship Id="rId25" Type="http://schemas.openxmlformats.org/officeDocument/2006/relationships/image" Target="../media/image28.png"/><Relationship Id="rId33" Type="http://schemas.openxmlformats.org/officeDocument/2006/relationships/image" Target="../media/image36.png"/><Relationship Id="rId2" Type="http://schemas.openxmlformats.org/officeDocument/2006/relationships/notesSlide" Target="../notesSlides/notesSlide2.xml"/><Relationship Id="rId16" Type="http://schemas.openxmlformats.org/officeDocument/2006/relationships/image" Target="../media/image19.png"/><Relationship Id="rId20" Type="http://schemas.openxmlformats.org/officeDocument/2006/relationships/image" Target="../media/image23.png"/><Relationship Id="rId29"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9.jpeg"/><Relationship Id="rId11" Type="http://schemas.openxmlformats.org/officeDocument/2006/relationships/image" Target="../media/image14.jpg"/><Relationship Id="rId24" Type="http://schemas.openxmlformats.org/officeDocument/2006/relationships/image" Target="../media/image27.png"/><Relationship Id="rId32" Type="http://schemas.openxmlformats.org/officeDocument/2006/relationships/image" Target="../media/image35.png"/><Relationship Id="rId5" Type="http://schemas.openxmlformats.org/officeDocument/2006/relationships/image" Target="../media/image8.png"/><Relationship Id="rId15" Type="http://schemas.openxmlformats.org/officeDocument/2006/relationships/image" Target="../media/image18.png"/><Relationship Id="rId23" Type="http://schemas.openxmlformats.org/officeDocument/2006/relationships/image" Target="../media/image26.png"/><Relationship Id="rId28" Type="http://schemas.openxmlformats.org/officeDocument/2006/relationships/image" Target="../media/image31.png"/><Relationship Id="rId10" Type="http://schemas.openxmlformats.org/officeDocument/2006/relationships/image" Target="../media/image13.jpg"/><Relationship Id="rId19" Type="http://schemas.openxmlformats.org/officeDocument/2006/relationships/image" Target="../media/image22.png"/><Relationship Id="rId31" Type="http://schemas.openxmlformats.org/officeDocument/2006/relationships/image" Target="../media/image34.png"/><Relationship Id="rId4" Type="http://schemas.openxmlformats.org/officeDocument/2006/relationships/image" Target="../media/image7.jpeg"/><Relationship Id="rId9" Type="http://schemas.openxmlformats.org/officeDocument/2006/relationships/image" Target="../media/image12.svg"/><Relationship Id="rId14" Type="http://schemas.openxmlformats.org/officeDocument/2006/relationships/image" Target="../media/image17.png"/><Relationship Id="rId22" Type="http://schemas.openxmlformats.org/officeDocument/2006/relationships/image" Target="../media/image25.png"/><Relationship Id="rId27" Type="http://schemas.openxmlformats.org/officeDocument/2006/relationships/image" Target="../media/image30.png"/><Relationship Id="rId30" Type="http://schemas.openxmlformats.org/officeDocument/2006/relationships/image" Target="../media/image33.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8.svg"/></Relationships>
</file>

<file path=ppt/slides/_rels/slide30.xml.rels><?xml version="1.0" encoding="UTF-8" standalone="yes"?>
<Relationships xmlns="http://schemas.openxmlformats.org/package/2006/relationships"><Relationship Id="rId3" Type="http://schemas.openxmlformats.org/officeDocument/2006/relationships/hyperlink" Target="http://www.demix.org/tools"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760CCB3-17E5-4DE9-9235-B3AD912C038A}"/>
              </a:ext>
            </a:extLst>
          </p:cNvPr>
          <p:cNvSpPr txBox="1">
            <a:spLocks/>
          </p:cNvSpPr>
          <p:nvPr/>
        </p:nvSpPr>
        <p:spPr>
          <a:xfrm>
            <a:off x="1524000" y="922975"/>
            <a:ext cx="9144000" cy="89894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4800"/>
              <a:t>Preliminary Findings</a:t>
            </a:r>
            <a:endParaRPr lang="en-US" sz="4800" dirty="0"/>
          </a:p>
        </p:txBody>
      </p:sp>
      <p:graphicFrame>
        <p:nvGraphicFramePr>
          <p:cNvPr id="9" name="Object 8">
            <a:extLst>
              <a:ext uri="{FF2B5EF4-FFF2-40B4-BE49-F238E27FC236}">
                <a16:creationId xmlns:a16="http://schemas.microsoft.com/office/drawing/2014/main" id="{336609E4-9291-48F4-B53A-32D535DF0715}"/>
              </a:ext>
            </a:extLst>
          </p:cNvPr>
          <p:cNvGraphicFramePr>
            <a:graphicFrameLocks noChangeAspect="1"/>
          </p:cNvGraphicFramePr>
          <p:nvPr>
            <p:extLst>
              <p:ext uri="{D42A27DB-BD31-4B8C-83A1-F6EECF244321}">
                <p14:modId xmlns:p14="http://schemas.microsoft.com/office/powerpoint/2010/main" val="3440209513"/>
              </p:ext>
            </p:extLst>
          </p:nvPr>
        </p:nvGraphicFramePr>
        <p:xfrm>
          <a:off x="3375025" y="2052638"/>
          <a:ext cx="5440363" cy="2886075"/>
        </p:xfrm>
        <a:graphic>
          <a:graphicData uri="http://schemas.openxmlformats.org/presentationml/2006/ole">
            <mc:AlternateContent xmlns:mc="http://schemas.openxmlformats.org/markup-compatibility/2006">
              <mc:Choice xmlns:v="urn:schemas-microsoft-com:vml" Requires="v">
                <p:oleObj spid="_x0000_s1041" name="Macro-Enabled Worksheet" r:id="rId3" imgW="5196769" imgH="2918310" progId="Excel.SheetMacroEnabled.12">
                  <p:link updateAutomatic="1"/>
                </p:oleObj>
              </mc:Choice>
              <mc:Fallback>
                <p:oleObj name="Macro-Enabled Worksheet" r:id="rId3" imgW="5196769" imgH="2918310" progId="Excel.SheetMacroEnabled.12">
                  <p:link updateAutomatic="1"/>
                  <p:pic>
                    <p:nvPicPr>
                      <p:cNvPr id="9" name="Object 8">
                        <a:extLst>
                          <a:ext uri="{FF2B5EF4-FFF2-40B4-BE49-F238E27FC236}">
                            <a16:creationId xmlns:a16="http://schemas.microsoft.com/office/drawing/2014/main" id="{336609E4-9291-48F4-B53A-32D535DF0715}"/>
                          </a:ext>
                        </a:extLst>
                      </p:cNvPr>
                      <p:cNvPicPr/>
                      <p:nvPr/>
                    </p:nvPicPr>
                    <p:blipFill>
                      <a:blip r:embed="rId4"/>
                      <a:stretch>
                        <a:fillRect/>
                      </a:stretch>
                    </p:blipFill>
                    <p:spPr>
                      <a:xfrm>
                        <a:off x="3375025" y="2052638"/>
                        <a:ext cx="5440363" cy="2886075"/>
                      </a:xfrm>
                      <a:prstGeom prst="rect">
                        <a:avLst/>
                      </a:prstGeom>
                    </p:spPr>
                  </p:pic>
                </p:oleObj>
              </mc:Fallback>
            </mc:AlternateContent>
          </a:graphicData>
        </a:graphic>
      </p:graphicFrame>
      <p:graphicFrame>
        <p:nvGraphicFramePr>
          <p:cNvPr id="11" name="Object 10">
            <a:extLst>
              <a:ext uri="{FF2B5EF4-FFF2-40B4-BE49-F238E27FC236}">
                <a16:creationId xmlns:a16="http://schemas.microsoft.com/office/drawing/2014/main" id="{6376B0D6-A6B1-4DF8-BDB4-D2848D89586A}"/>
              </a:ext>
            </a:extLst>
          </p:cNvPr>
          <p:cNvGraphicFramePr>
            <a:graphicFrameLocks noChangeAspect="1"/>
          </p:cNvGraphicFramePr>
          <p:nvPr>
            <p:extLst>
              <p:ext uri="{D42A27DB-BD31-4B8C-83A1-F6EECF244321}">
                <p14:modId xmlns:p14="http://schemas.microsoft.com/office/powerpoint/2010/main" val="3680777322"/>
              </p:ext>
            </p:extLst>
          </p:nvPr>
        </p:nvGraphicFramePr>
        <p:xfrm>
          <a:off x="3375025" y="5383213"/>
          <a:ext cx="5440363" cy="661987"/>
        </p:xfrm>
        <a:graphic>
          <a:graphicData uri="http://schemas.openxmlformats.org/presentationml/2006/ole">
            <mc:AlternateContent xmlns:mc="http://schemas.openxmlformats.org/markup-compatibility/2006">
              <mc:Choice xmlns:v="urn:schemas-microsoft-com:vml" Requires="v">
                <p:oleObj spid="_x0000_s1042" name="Macro-Enabled Worksheet" r:id="rId5" imgW="5196769" imgH="670734" progId="Excel.SheetMacroEnabled.12">
                  <p:link updateAutomatic="1"/>
                </p:oleObj>
              </mc:Choice>
              <mc:Fallback>
                <p:oleObj name="Macro-Enabled Worksheet" r:id="rId5" imgW="5196769" imgH="670734" progId="Excel.SheetMacroEnabled.12">
                  <p:link updateAutomatic="1"/>
                  <p:pic>
                    <p:nvPicPr>
                      <p:cNvPr id="11" name="Object 10">
                        <a:extLst>
                          <a:ext uri="{FF2B5EF4-FFF2-40B4-BE49-F238E27FC236}">
                            <a16:creationId xmlns:a16="http://schemas.microsoft.com/office/drawing/2014/main" id="{6376B0D6-A6B1-4DF8-BDB4-D2848D89586A}"/>
                          </a:ext>
                        </a:extLst>
                      </p:cNvPr>
                      <p:cNvPicPr/>
                      <p:nvPr/>
                    </p:nvPicPr>
                    <p:blipFill>
                      <a:blip r:embed="rId6"/>
                      <a:stretch>
                        <a:fillRect/>
                      </a:stretch>
                    </p:blipFill>
                    <p:spPr>
                      <a:xfrm>
                        <a:off x="3375025" y="5383213"/>
                        <a:ext cx="5440363" cy="661987"/>
                      </a:xfrm>
                      <a:prstGeom prst="rect">
                        <a:avLst/>
                      </a:prstGeom>
                    </p:spPr>
                  </p:pic>
                </p:oleObj>
              </mc:Fallback>
            </mc:AlternateContent>
          </a:graphicData>
        </a:graphic>
      </p:graphicFrame>
      <p:graphicFrame>
        <p:nvGraphicFramePr>
          <p:cNvPr id="2" name="Object 1">
            <a:extLst>
              <a:ext uri="{FF2B5EF4-FFF2-40B4-BE49-F238E27FC236}">
                <a16:creationId xmlns:a16="http://schemas.microsoft.com/office/drawing/2014/main" id="{7D6EF492-3AD5-420C-95A3-EF7381239FB7}"/>
              </a:ext>
            </a:extLst>
          </p:cNvPr>
          <p:cNvGraphicFramePr>
            <a:graphicFrameLocks noChangeAspect="1"/>
          </p:cNvGraphicFramePr>
          <p:nvPr>
            <p:extLst>
              <p:ext uri="{D42A27DB-BD31-4B8C-83A1-F6EECF244321}">
                <p14:modId xmlns:p14="http://schemas.microsoft.com/office/powerpoint/2010/main" val="3672307671"/>
              </p:ext>
            </p:extLst>
          </p:nvPr>
        </p:nvGraphicFramePr>
        <p:xfrm>
          <a:off x="3497263" y="5108575"/>
          <a:ext cx="5197475" cy="274638"/>
        </p:xfrm>
        <a:graphic>
          <a:graphicData uri="http://schemas.openxmlformats.org/presentationml/2006/ole">
            <mc:AlternateContent xmlns:mc="http://schemas.openxmlformats.org/markup-compatibility/2006">
              <mc:Choice xmlns:v="urn:schemas-microsoft-com:vml" Requires="v">
                <p:oleObj spid="_x0000_s1043" name="Macro-Enabled Worksheet" r:id="rId7" imgW="5196769" imgH="274178" progId="Excel.SheetMacroEnabled.12">
                  <p:link updateAutomatic="1"/>
                </p:oleObj>
              </mc:Choice>
              <mc:Fallback>
                <p:oleObj name="Macro-Enabled Worksheet" r:id="rId7" imgW="5196769" imgH="274178" progId="Excel.SheetMacroEnabled.12">
                  <p:link updateAutomatic="1"/>
                  <p:pic>
                    <p:nvPicPr>
                      <p:cNvPr id="2" name="Object 1">
                        <a:extLst>
                          <a:ext uri="{FF2B5EF4-FFF2-40B4-BE49-F238E27FC236}">
                            <a16:creationId xmlns:a16="http://schemas.microsoft.com/office/drawing/2014/main" id="{7D6EF492-3AD5-420C-95A3-EF7381239FB7}"/>
                          </a:ext>
                        </a:extLst>
                      </p:cNvPr>
                      <p:cNvPicPr/>
                      <p:nvPr/>
                    </p:nvPicPr>
                    <p:blipFill>
                      <a:blip r:embed="rId8"/>
                      <a:stretch>
                        <a:fillRect/>
                      </a:stretch>
                    </p:blipFill>
                    <p:spPr>
                      <a:xfrm>
                        <a:off x="3497263" y="5108575"/>
                        <a:ext cx="5197475" cy="274638"/>
                      </a:xfrm>
                      <a:prstGeom prst="rect">
                        <a:avLst/>
                      </a:prstGeom>
                    </p:spPr>
                  </p:pic>
                </p:oleObj>
              </mc:Fallback>
            </mc:AlternateContent>
          </a:graphicData>
        </a:graphic>
      </p:graphicFrame>
    </p:spTree>
    <p:extLst>
      <p:ext uri="{BB962C8B-B14F-4D97-AF65-F5344CB8AC3E}">
        <p14:creationId xmlns:p14="http://schemas.microsoft.com/office/powerpoint/2010/main" val="26586255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A629AD6-E198-3A47-A696-9DF21F27875F}"/>
              </a:ext>
            </a:extLst>
          </p:cNvPr>
          <p:cNvSpPr>
            <a:spLocks noGrp="1"/>
          </p:cNvSpPr>
          <p:nvPr>
            <p:ph type="title"/>
          </p:nvPr>
        </p:nvSpPr>
        <p:spPr/>
        <p:txBody>
          <a:bodyPr/>
          <a:lstStyle/>
          <a:p>
            <a:r>
              <a:rPr lang="en-US" b="1" dirty="0">
                <a:latin typeface="+mn-lt"/>
              </a:rPr>
              <a:t>Appraisal Overview </a:t>
            </a:r>
            <a:br>
              <a:rPr lang="en-US" b="1" dirty="0">
                <a:latin typeface="+mn-lt"/>
              </a:rPr>
            </a:br>
            <a:r>
              <a:rPr lang="zh-CN" altLang="en-US" sz="6000" b="1" dirty="0">
                <a:solidFill>
                  <a:srgbClr val="1F497D"/>
                </a:solidFill>
                <a:latin typeface="+mn-ea"/>
                <a:ea typeface="+mn-ea"/>
              </a:rPr>
              <a:t>评估概述</a:t>
            </a:r>
            <a:endParaRPr lang="en-US" b="1" dirty="0">
              <a:solidFill>
                <a:srgbClr val="1F497D"/>
              </a:solidFill>
              <a:latin typeface="+mn-lt"/>
            </a:endParaRPr>
          </a:p>
        </p:txBody>
      </p:sp>
    </p:spTree>
    <p:extLst>
      <p:ext uri="{BB962C8B-B14F-4D97-AF65-F5344CB8AC3E}">
        <p14:creationId xmlns:p14="http://schemas.microsoft.com/office/powerpoint/2010/main" val="39383222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33BC500A-BFD5-4AA6-A547-A5D9086C048B}"/>
              </a:ext>
            </a:extLst>
          </p:cNvPr>
          <p:cNvPicPr>
            <a:picLocks noChangeAspect="1"/>
          </p:cNvPicPr>
          <p:nvPr/>
        </p:nvPicPr>
        <p:blipFill>
          <a:blip r:embed="rId3"/>
          <a:stretch>
            <a:fillRect/>
          </a:stretch>
        </p:blipFill>
        <p:spPr>
          <a:xfrm>
            <a:off x="5770018" y="5136108"/>
            <a:ext cx="2294990" cy="547267"/>
          </a:xfrm>
          <a:prstGeom prst="rect">
            <a:avLst/>
          </a:prstGeom>
        </p:spPr>
      </p:pic>
      <p:pic>
        <p:nvPicPr>
          <p:cNvPr id="28" name="Picture 27">
            <a:extLst>
              <a:ext uri="{FF2B5EF4-FFF2-40B4-BE49-F238E27FC236}">
                <a16:creationId xmlns:a16="http://schemas.microsoft.com/office/drawing/2014/main" id="{A6954CA7-005C-4F39-92CE-D8155080ED4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23824" y="4999368"/>
            <a:ext cx="728200" cy="810578"/>
          </a:xfrm>
          <a:prstGeom prst="rect">
            <a:avLst/>
          </a:prstGeom>
        </p:spPr>
      </p:pic>
      <p:pic>
        <p:nvPicPr>
          <p:cNvPr id="32" name="Picture 31" descr="A close up of a sign&#10;&#10;Description automatically generated">
            <a:extLst>
              <a:ext uri="{FF2B5EF4-FFF2-40B4-BE49-F238E27FC236}">
                <a16:creationId xmlns:a16="http://schemas.microsoft.com/office/drawing/2014/main" id="{3E788F89-59DA-4112-8599-0FCF45176EB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15851" y="5011695"/>
            <a:ext cx="812573" cy="785927"/>
          </a:xfrm>
          <a:prstGeom prst="rect">
            <a:avLst/>
          </a:prstGeom>
        </p:spPr>
      </p:pic>
      <p:pic>
        <p:nvPicPr>
          <p:cNvPr id="33" name="Picture 32">
            <a:extLst>
              <a:ext uri="{FF2B5EF4-FFF2-40B4-BE49-F238E27FC236}">
                <a16:creationId xmlns:a16="http://schemas.microsoft.com/office/drawing/2014/main" id="{81B2B80C-7265-40EB-97CE-CE0C4FE7D99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7030" t="2007" r="14562" b="-2007"/>
          <a:stretch/>
        </p:blipFill>
        <p:spPr>
          <a:xfrm>
            <a:off x="9478501" y="4999368"/>
            <a:ext cx="1116817" cy="810578"/>
          </a:xfrm>
          <a:prstGeom prst="rect">
            <a:avLst/>
          </a:prstGeom>
        </p:spPr>
      </p:pic>
      <p:grpSp>
        <p:nvGrpSpPr>
          <p:cNvPr id="34" name="Group 33">
            <a:extLst>
              <a:ext uri="{FF2B5EF4-FFF2-40B4-BE49-F238E27FC236}">
                <a16:creationId xmlns:a16="http://schemas.microsoft.com/office/drawing/2014/main" id="{EEBEE5F4-012C-410B-AC0D-D34E631EDC0C}"/>
              </a:ext>
            </a:extLst>
          </p:cNvPr>
          <p:cNvGrpSpPr/>
          <p:nvPr/>
        </p:nvGrpSpPr>
        <p:grpSpPr>
          <a:xfrm>
            <a:off x="10669668" y="5099783"/>
            <a:ext cx="846120" cy="609751"/>
            <a:chOff x="152400" y="4012035"/>
            <a:chExt cx="1986438" cy="1179745"/>
          </a:xfrm>
        </p:grpSpPr>
        <p:pic>
          <p:nvPicPr>
            <p:cNvPr id="35" name="Picture 34">
              <a:extLst>
                <a:ext uri="{FF2B5EF4-FFF2-40B4-BE49-F238E27FC236}">
                  <a16:creationId xmlns:a16="http://schemas.microsoft.com/office/drawing/2014/main" id="{C02AEB9D-8841-45F7-8CAB-1B38968DF35C}"/>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t="21920" b="21052"/>
            <a:stretch/>
          </p:blipFill>
          <p:spPr>
            <a:xfrm>
              <a:off x="152400" y="4058960"/>
              <a:ext cx="1986438" cy="1132820"/>
            </a:xfrm>
            <a:prstGeom prst="rect">
              <a:avLst/>
            </a:prstGeom>
          </p:spPr>
        </p:pic>
        <p:grpSp>
          <p:nvGrpSpPr>
            <p:cNvPr id="36" name="Group 35">
              <a:extLst>
                <a:ext uri="{FF2B5EF4-FFF2-40B4-BE49-F238E27FC236}">
                  <a16:creationId xmlns:a16="http://schemas.microsoft.com/office/drawing/2014/main" id="{FD9B4C94-FB3C-43D3-BABE-98A6FFD0C43F}"/>
                </a:ext>
              </a:extLst>
            </p:cNvPr>
            <p:cNvGrpSpPr/>
            <p:nvPr/>
          </p:nvGrpSpPr>
          <p:grpSpPr>
            <a:xfrm>
              <a:off x="252395" y="4012035"/>
              <a:ext cx="1756513" cy="441334"/>
              <a:chOff x="3505200" y="5861931"/>
              <a:chExt cx="1754272" cy="584757"/>
            </a:xfrm>
          </p:grpSpPr>
          <p:sp>
            <p:nvSpPr>
              <p:cNvPr id="37" name="Rectangle 36">
                <a:extLst>
                  <a:ext uri="{FF2B5EF4-FFF2-40B4-BE49-F238E27FC236}">
                    <a16:creationId xmlns:a16="http://schemas.microsoft.com/office/drawing/2014/main" id="{648A3EA6-FBEC-43F7-A250-298AFED49EDC}"/>
                  </a:ext>
                </a:extLst>
              </p:cNvPr>
              <p:cNvSpPr/>
              <p:nvPr/>
            </p:nvSpPr>
            <p:spPr>
              <a:xfrm>
                <a:off x="3505200" y="5861931"/>
                <a:ext cx="1754272" cy="5847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a:p>
            </p:txBody>
          </p:sp>
          <p:pic>
            <p:nvPicPr>
              <p:cNvPr id="38" name="Graphic 37">
                <a:extLst>
                  <a:ext uri="{FF2B5EF4-FFF2-40B4-BE49-F238E27FC236}">
                    <a16:creationId xmlns:a16="http://schemas.microsoft.com/office/drawing/2014/main" id="{638D3C24-2693-4B6E-8918-A946A332AB6C}"/>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505200" y="5861931"/>
                <a:ext cx="1754272" cy="584757"/>
              </a:xfrm>
              <a:prstGeom prst="rect">
                <a:avLst/>
              </a:prstGeom>
            </p:spPr>
          </p:pic>
        </p:grpSp>
      </p:grpSp>
      <p:pic>
        <p:nvPicPr>
          <p:cNvPr id="39" name="Picture 38" descr="A picture containing clipart&#10;&#10;Description automatically generated">
            <a:extLst>
              <a:ext uri="{FF2B5EF4-FFF2-40B4-BE49-F238E27FC236}">
                <a16:creationId xmlns:a16="http://schemas.microsoft.com/office/drawing/2014/main" id="{528DADE8-D1C4-46AD-8EA1-39B725B1FB4D}"/>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137517" y="5036857"/>
            <a:ext cx="1266632" cy="735603"/>
          </a:xfrm>
          <a:prstGeom prst="rect">
            <a:avLst/>
          </a:prstGeom>
        </p:spPr>
      </p:pic>
      <p:pic>
        <p:nvPicPr>
          <p:cNvPr id="40" name="Picture 39">
            <a:extLst>
              <a:ext uri="{FF2B5EF4-FFF2-40B4-BE49-F238E27FC236}">
                <a16:creationId xmlns:a16="http://schemas.microsoft.com/office/drawing/2014/main" id="{B30F9EC6-7007-442F-9B14-472D791273E4}"/>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526375" y="5036857"/>
            <a:ext cx="728200" cy="735603"/>
          </a:xfrm>
          <a:prstGeom prst="rect">
            <a:avLst/>
          </a:prstGeom>
        </p:spPr>
      </p:pic>
      <p:pic>
        <p:nvPicPr>
          <p:cNvPr id="41" name="Picture 40">
            <a:extLst>
              <a:ext uri="{FF2B5EF4-FFF2-40B4-BE49-F238E27FC236}">
                <a16:creationId xmlns:a16="http://schemas.microsoft.com/office/drawing/2014/main" id="{4FC067E0-B1E2-4ABB-954D-E36139045FC8}"/>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02774" y="5148463"/>
            <a:ext cx="592894" cy="512391"/>
          </a:xfrm>
          <a:prstGeom prst="rect">
            <a:avLst/>
          </a:prstGeom>
        </p:spPr>
      </p:pic>
      <p:pic>
        <p:nvPicPr>
          <p:cNvPr id="42" name="Picture 41">
            <a:extLst>
              <a:ext uri="{FF2B5EF4-FFF2-40B4-BE49-F238E27FC236}">
                <a16:creationId xmlns:a16="http://schemas.microsoft.com/office/drawing/2014/main" id="{DA8C5C63-6380-45A7-84FE-5E6876A17586}"/>
              </a:ext>
            </a:extLst>
          </p:cNvPr>
          <p:cNvPicPr>
            <a:picLocks noChangeAspect="1"/>
          </p:cNvPicPr>
          <p:nvPr/>
        </p:nvPicPr>
        <p:blipFill>
          <a:blip r:embed="rId13"/>
          <a:stretch>
            <a:fillRect/>
          </a:stretch>
        </p:blipFill>
        <p:spPr>
          <a:xfrm>
            <a:off x="979285" y="5054186"/>
            <a:ext cx="670188" cy="700942"/>
          </a:xfrm>
          <a:prstGeom prst="rect">
            <a:avLst/>
          </a:prstGeom>
        </p:spPr>
      </p:pic>
      <p:pic>
        <p:nvPicPr>
          <p:cNvPr id="43" name="Picture 42" descr="A close up of a logo&#10;&#10;Description automatically generated">
            <a:extLst>
              <a:ext uri="{FF2B5EF4-FFF2-40B4-BE49-F238E27FC236}">
                <a16:creationId xmlns:a16="http://schemas.microsoft.com/office/drawing/2014/main" id="{194C16C1-AB6D-486E-B218-635DBF4B8FAC}"/>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3328927" y="4983314"/>
            <a:ext cx="812573" cy="842689"/>
          </a:xfrm>
          <a:prstGeom prst="rect">
            <a:avLst/>
          </a:prstGeom>
        </p:spPr>
      </p:pic>
      <p:pic>
        <p:nvPicPr>
          <p:cNvPr id="30" name="Picture 2" descr="http://eurasiangroup.org/clones/photos/photo3/Flag_China.gif">
            <a:extLst>
              <a:ext uri="{FF2B5EF4-FFF2-40B4-BE49-F238E27FC236}">
                <a16:creationId xmlns:a16="http://schemas.microsoft.com/office/drawing/2014/main" id="{0DB3A38A-CE0C-488A-B87F-37FFDD2E1D86}"/>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015579" y="1038146"/>
            <a:ext cx="1080000" cy="643046"/>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4" name="Picture 4" descr="https://www.cia.gov/library/publications/the-world-factbook/graphics/flags/large/sf-lgflag.gif">
            <a:extLst>
              <a:ext uri="{FF2B5EF4-FFF2-40B4-BE49-F238E27FC236}">
                <a16:creationId xmlns:a16="http://schemas.microsoft.com/office/drawing/2014/main" id="{5804FC85-67E1-4C1D-A768-A4E046E7F9EC}"/>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5340863" y="2641935"/>
            <a:ext cx="1080000" cy="706364"/>
          </a:xfrm>
          <a:prstGeom prst="rect">
            <a:avLst/>
          </a:prstGeom>
          <a:noFill/>
          <a:ln w="9525">
            <a:solidFill>
              <a:schemeClr val="bg1"/>
            </a:solidFill>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5" name="Picture 2" descr="http://www.diabetesmine.com/wp-content/uploads/2011/02/spain-flag.gif">
            <a:extLst>
              <a:ext uri="{FF2B5EF4-FFF2-40B4-BE49-F238E27FC236}">
                <a16:creationId xmlns:a16="http://schemas.microsoft.com/office/drawing/2014/main" id="{5D685488-5751-4610-AE1F-6A7C4BE390AF}"/>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689618" y="1849451"/>
            <a:ext cx="1080000" cy="644357"/>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6" name="Picture 12" descr="http://1.bp.blogspot.com/-dCG_ru9E2jY/Twy2lX1A4MI/AAAAAAABCVQ/sk5d4dhnIhM/s1600/Switzerland_Flag.jpg">
            <a:extLst>
              <a:ext uri="{FF2B5EF4-FFF2-40B4-BE49-F238E27FC236}">
                <a16:creationId xmlns:a16="http://schemas.microsoft.com/office/drawing/2014/main" id="{1CCB6A1E-9C8F-4CF7-8854-7EAED2AC6848}"/>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4025456" y="1844427"/>
            <a:ext cx="1080000" cy="64961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47" name="Picture 8">
            <a:extLst>
              <a:ext uri="{FF2B5EF4-FFF2-40B4-BE49-F238E27FC236}">
                <a16:creationId xmlns:a16="http://schemas.microsoft.com/office/drawing/2014/main" id="{906DB6B8-FB70-49A9-90A8-CE08CF7A3FCC}"/>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8000111" y="2655335"/>
            <a:ext cx="1080000" cy="695098"/>
          </a:xfrm>
          <a:prstGeom prst="rect">
            <a:avLst/>
          </a:prstGeom>
          <a:noFill/>
          <a:ln w="12700" cap="flat" cmpd="sng">
            <a:solidFill>
              <a:schemeClr val="bg1"/>
            </a:solidFill>
            <a:prstDash val="solid"/>
            <a:miter lim="800000"/>
            <a:headEnd type="none" w="sm" len="sm"/>
            <a:tailEnd type="none" w="sm" len="sm"/>
          </a:ln>
          <a:effectLst>
            <a:outerShdw blurRad="50800" dist="38100" dir="8100000" algn="tr"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48" name="Picture 47">
            <a:extLst>
              <a:ext uri="{FF2B5EF4-FFF2-40B4-BE49-F238E27FC236}">
                <a16:creationId xmlns:a16="http://schemas.microsoft.com/office/drawing/2014/main" id="{829E41C9-1208-4F5B-9B72-C350895017BC}"/>
              </a:ext>
            </a:extLst>
          </p:cNvPr>
          <p:cNvPicPr>
            <a:picLocks noChangeAspect="1"/>
          </p:cNvPicPr>
          <p:nvPr/>
        </p:nvPicPr>
        <p:blipFill>
          <a:blip r:embed="rId20"/>
          <a:stretch>
            <a:fillRect/>
          </a:stretch>
        </p:blipFill>
        <p:spPr>
          <a:xfrm>
            <a:off x="8000113" y="1041906"/>
            <a:ext cx="1080000" cy="629853"/>
          </a:xfrm>
          <a:prstGeom prst="rect">
            <a:avLst/>
          </a:prstGeom>
          <a:ln>
            <a:solidFill>
              <a:schemeClr val="bg1"/>
            </a:solidFill>
          </a:ln>
          <a:effectLst>
            <a:outerShdw blurRad="50800" dist="38100" dir="8100000" algn="tr" rotWithShape="0">
              <a:prstClr val="black">
                <a:alpha val="40000"/>
              </a:prstClr>
            </a:outerShdw>
          </a:effectLst>
        </p:spPr>
      </p:pic>
      <p:pic>
        <p:nvPicPr>
          <p:cNvPr id="49" name="Picture 48" descr="http://www.onlinenewspapers.com/images/germany.gif">
            <a:extLst>
              <a:ext uri="{FF2B5EF4-FFF2-40B4-BE49-F238E27FC236}">
                <a16:creationId xmlns:a16="http://schemas.microsoft.com/office/drawing/2014/main" id="{3F300468-6315-4AAF-9348-32BCBBA8F5D3}"/>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43757" y="1038146"/>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7722CF4D-7FE1-45B8-81FB-B3A16FBB595C}"/>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2687402"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51" name="Picture 50" descr="A close up of a logo&#10;&#10;Description automatically generated">
            <a:extLst>
              <a:ext uri="{FF2B5EF4-FFF2-40B4-BE49-F238E27FC236}">
                <a16:creationId xmlns:a16="http://schemas.microsoft.com/office/drawing/2014/main" id="{71E22DBF-B29C-4402-8AEA-178EA3063525}"/>
              </a:ext>
            </a:extLst>
          </p:cNvPr>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9339663" y="1054688"/>
            <a:ext cx="1080000" cy="635560"/>
          </a:xfrm>
          <a:prstGeom prst="rect">
            <a:avLst/>
          </a:prstGeom>
          <a:ln>
            <a:solidFill>
              <a:schemeClr val="bg1"/>
            </a:solidFill>
          </a:ln>
          <a:effectLst>
            <a:outerShdw blurRad="50800" dist="38100" dir="8100000" algn="tr" rotWithShape="0">
              <a:prstClr val="black">
                <a:alpha val="40000"/>
              </a:prstClr>
            </a:outerShdw>
          </a:effectLst>
        </p:spPr>
      </p:pic>
      <p:pic>
        <p:nvPicPr>
          <p:cNvPr id="53" name="Picture 52">
            <a:extLst>
              <a:ext uri="{FF2B5EF4-FFF2-40B4-BE49-F238E27FC236}">
                <a16:creationId xmlns:a16="http://schemas.microsoft.com/office/drawing/2014/main" id="{D9C0948D-3FA9-4C7F-8D52-47741C98F9D4}"/>
              </a:ext>
            </a:extLst>
          </p:cNvPr>
          <p:cNvPicPr>
            <a:picLocks noChangeAspect="1"/>
          </p:cNvPicPr>
          <p:nvPr/>
        </p:nvPicPr>
        <p:blipFill>
          <a:blip r:embed="rId24"/>
          <a:stretch>
            <a:fillRect/>
          </a:stretch>
        </p:blipFill>
        <p:spPr>
          <a:xfrm>
            <a:off x="2687402" y="2651707"/>
            <a:ext cx="1080000" cy="706365"/>
          </a:xfrm>
          <a:prstGeom prst="rect">
            <a:avLst/>
          </a:prstGeom>
          <a:ln>
            <a:solidFill>
              <a:schemeClr val="bg1"/>
            </a:solidFill>
          </a:ln>
          <a:effectLst>
            <a:outerShdw blurRad="50800" dist="38100" dir="8100000" algn="tr" rotWithShape="0">
              <a:prstClr val="black">
                <a:alpha val="40000"/>
              </a:prstClr>
            </a:outerShdw>
          </a:effectLst>
        </p:spPr>
      </p:pic>
      <p:pic>
        <p:nvPicPr>
          <p:cNvPr id="54" name="Picture 2" descr="Flag of the United Arab Emirates.svg">
            <a:extLst>
              <a:ext uri="{FF2B5EF4-FFF2-40B4-BE49-F238E27FC236}">
                <a16:creationId xmlns:a16="http://schemas.microsoft.com/office/drawing/2014/main" id="{F3617B43-1542-4F3C-956C-3E408F634F03}"/>
              </a:ext>
            </a:extLst>
          </p:cNvPr>
          <p:cNvPicPr>
            <a:picLocks noChangeAspect="1" noChangeArrowheads="1"/>
          </p:cNvPicPr>
          <p:nvPr/>
        </p:nvPicPr>
        <p:blipFill>
          <a:blip r:embed="rId25" cstate="print">
            <a:extLst>
              <a:ext uri="{28A0092B-C50C-407E-A947-70E740481C1C}">
                <a14:useLocalDpi xmlns:a14="http://schemas.microsoft.com/office/drawing/2010/main" val="0"/>
              </a:ext>
            </a:extLst>
          </a:blip>
          <a:srcRect/>
          <a:stretch>
            <a:fillRect/>
          </a:stretch>
        </p:blipFill>
        <p:spPr bwMode="auto">
          <a:xfrm>
            <a:off x="5343756" y="1839721"/>
            <a:ext cx="1080000" cy="643045"/>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64" name="Picture 2" descr="India - Wikipedia">
            <a:extLst>
              <a:ext uri="{FF2B5EF4-FFF2-40B4-BE49-F238E27FC236}">
                <a16:creationId xmlns:a16="http://schemas.microsoft.com/office/drawing/2014/main" id="{2850122E-32F6-40C4-AEC8-C4B0EC346A75}"/>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683311" y="2644070"/>
            <a:ext cx="1080000" cy="706364"/>
          </a:xfrm>
          <a:prstGeom prst="rect">
            <a:avLst/>
          </a:prstGeom>
          <a:noFill/>
          <a:ln>
            <a:solidFill>
              <a:schemeClr val="bg1"/>
            </a:solidFill>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1FEF7BC6-DE2A-1BA8-D162-418AA6F248B4}"/>
              </a:ext>
            </a:extLst>
          </p:cNvPr>
          <p:cNvPicPr>
            <a:picLocks noChangeAspect="1"/>
          </p:cNvPicPr>
          <p:nvPr/>
        </p:nvPicPr>
        <p:blipFill>
          <a:blip r:embed="rId27"/>
          <a:stretch>
            <a:fillRect/>
          </a:stretch>
        </p:blipFill>
        <p:spPr>
          <a:xfrm>
            <a:off x="1353377" y="1047201"/>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4" name="Picture 3">
            <a:extLst>
              <a:ext uri="{FF2B5EF4-FFF2-40B4-BE49-F238E27FC236}">
                <a16:creationId xmlns:a16="http://schemas.microsoft.com/office/drawing/2014/main" id="{FE91D709-B59F-05B8-0708-2944651EA14F}"/>
              </a:ext>
            </a:extLst>
          </p:cNvPr>
          <p:cNvPicPr>
            <a:picLocks noChangeAspect="1"/>
          </p:cNvPicPr>
          <p:nvPr/>
        </p:nvPicPr>
        <p:blipFill>
          <a:blip r:embed="rId28"/>
          <a:stretch>
            <a:fillRect/>
          </a:stretch>
        </p:blipFill>
        <p:spPr>
          <a:xfrm>
            <a:off x="1362529" y="1870870"/>
            <a:ext cx="1080000" cy="644357"/>
          </a:xfrm>
          <a:prstGeom prst="rect">
            <a:avLst/>
          </a:prstGeom>
          <a:ln>
            <a:solidFill>
              <a:schemeClr val="bg1"/>
            </a:solidFill>
          </a:ln>
          <a:effectLst>
            <a:outerShdw blurRad="50800" dist="38100" dir="8100000" algn="tr" rotWithShape="0">
              <a:prstClr val="black">
                <a:alpha val="40000"/>
              </a:prstClr>
            </a:outerShdw>
          </a:effectLst>
        </p:spPr>
      </p:pic>
      <p:pic>
        <p:nvPicPr>
          <p:cNvPr id="5" name="Picture 4">
            <a:extLst>
              <a:ext uri="{FF2B5EF4-FFF2-40B4-BE49-F238E27FC236}">
                <a16:creationId xmlns:a16="http://schemas.microsoft.com/office/drawing/2014/main" id="{BD5B9EE7-D463-5A58-9C5D-FBEAF1BD6F1D}"/>
              </a:ext>
            </a:extLst>
          </p:cNvPr>
          <p:cNvPicPr>
            <a:picLocks noChangeAspect="1"/>
          </p:cNvPicPr>
          <p:nvPr/>
        </p:nvPicPr>
        <p:blipFill>
          <a:blip r:embed="rId29"/>
          <a:stretch>
            <a:fillRect/>
          </a:stretch>
        </p:blipFill>
        <p:spPr>
          <a:xfrm>
            <a:off x="9339663"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6" name="Picture 5">
            <a:extLst>
              <a:ext uri="{FF2B5EF4-FFF2-40B4-BE49-F238E27FC236}">
                <a16:creationId xmlns:a16="http://schemas.microsoft.com/office/drawing/2014/main" id="{0B6B6DC8-AFD9-1013-CFA4-A5009EC830EB}"/>
              </a:ext>
            </a:extLst>
          </p:cNvPr>
          <p:cNvPicPr>
            <a:picLocks noChangeAspect="1"/>
          </p:cNvPicPr>
          <p:nvPr/>
        </p:nvPicPr>
        <p:blipFill>
          <a:blip r:embed="rId30"/>
          <a:stretch>
            <a:fillRect/>
          </a:stretch>
        </p:blipFill>
        <p:spPr>
          <a:xfrm>
            <a:off x="8000111" y="1849629"/>
            <a:ext cx="1080000" cy="643046"/>
          </a:xfrm>
          <a:prstGeom prst="rect">
            <a:avLst/>
          </a:prstGeom>
          <a:ln>
            <a:solidFill>
              <a:schemeClr val="bg1"/>
            </a:solidFill>
          </a:ln>
          <a:effectLst>
            <a:outerShdw blurRad="50800" dist="38100" dir="8100000" algn="tr" rotWithShape="0">
              <a:prstClr val="black">
                <a:alpha val="40000"/>
              </a:prstClr>
            </a:outerShdw>
          </a:effectLst>
        </p:spPr>
      </p:pic>
      <p:pic>
        <p:nvPicPr>
          <p:cNvPr id="2" name="Picture 1">
            <a:extLst>
              <a:ext uri="{FF2B5EF4-FFF2-40B4-BE49-F238E27FC236}">
                <a16:creationId xmlns:a16="http://schemas.microsoft.com/office/drawing/2014/main" id="{61D91F97-81EF-55DD-1241-7E663D88BFFB}"/>
              </a:ext>
            </a:extLst>
          </p:cNvPr>
          <p:cNvPicPr>
            <a:picLocks noChangeAspect="1"/>
          </p:cNvPicPr>
          <p:nvPr/>
        </p:nvPicPr>
        <p:blipFill rotWithShape="1">
          <a:blip r:embed="rId31"/>
          <a:srcRect b="6395"/>
          <a:stretch/>
        </p:blipFill>
        <p:spPr>
          <a:xfrm>
            <a:off x="6694728" y="1040336"/>
            <a:ext cx="1080000" cy="656775"/>
          </a:xfrm>
          <a:prstGeom prst="rect">
            <a:avLst/>
          </a:prstGeom>
          <a:ln w="9525">
            <a:solidFill>
              <a:schemeClr val="bg1"/>
            </a:solidFill>
          </a:ln>
          <a:effectLst>
            <a:outerShdw blurRad="50800" dist="38100" dir="8100000" algn="tr" rotWithShape="0">
              <a:prstClr val="black">
                <a:alpha val="40000"/>
              </a:prstClr>
            </a:outerShdw>
          </a:effectLst>
        </p:spPr>
      </p:pic>
      <p:pic>
        <p:nvPicPr>
          <p:cNvPr id="7" name="Picture 6">
            <a:extLst>
              <a:ext uri="{FF2B5EF4-FFF2-40B4-BE49-F238E27FC236}">
                <a16:creationId xmlns:a16="http://schemas.microsoft.com/office/drawing/2014/main" id="{CA4F9AAA-F25B-7B38-EE7D-9D1B63F7470E}"/>
              </a:ext>
            </a:extLst>
          </p:cNvPr>
          <p:cNvPicPr>
            <a:picLocks noChangeAspect="1"/>
          </p:cNvPicPr>
          <p:nvPr/>
        </p:nvPicPr>
        <p:blipFill>
          <a:blip r:embed="rId32"/>
          <a:stretch>
            <a:fillRect/>
          </a:stretch>
        </p:blipFill>
        <p:spPr>
          <a:xfrm>
            <a:off x="4025456" y="2644070"/>
            <a:ext cx="1080000" cy="706364"/>
          </a:xfrm>
          <a:prstGeom prst="rect">
            <a:avLst/>
          </a:prstGeom>
          <a:ln w="9525">
            <a:solidFill>
              <a:schemeClr val="bg1"/>
            </a:solidFill>
          </a:ln>
          <a:effectLst>
            <a:outerShdw blurRad="50800" dist="38100" dir="8100000" algn="tr" rotWithShape="0">
              <a:prstClr val="black">
                <a:alpha val="40000"/>
              </a:prstClr>
            </a:outerShdw>
          </a:effectLst>
        </p:spPr>
      </p:pic>
      <p:pic>
        <p:nvPicPr>
          <p:cNvPr id="8" name="Picture 7">
            <a:extLst>
              <a:ext uri="{FF2B5EF4-FFF2-40B4-BE49-F238E27FC236}">
                <a16:creationId xmlns:a16="http://schemas.microsoft.com/office/drawing/2014/main" id="{835A4E54-8846-BE30-E77E-8EA0B4841703}"/>
              </a:ext>
            </a:extLst>
          </p:cNvPr>
          <p:cNvPicPr>
            <a:picLocks noChangeAspect="1"/>
          </p:cNvPicPr>
          <p:nvPr/>
        </p:nvPicPr>
        <p:blipFill>
          <a:blip r:embed="rId33"/>
          <a:stretch>
            <a:fillRect/>
          </a:stretch>
        </p:blipFill>
        <p:spPr>
          <a:xfrm>
            <a:off x="6683311" y="1839722"/>
            <a:ext cx="1080000" cy="656775"/>
          </a:xfrm>
          <a:prstGeom prst="rect">
            <a:avLst/>
          </a:prstGeom>
          <a:ln w="9525">
            <a:solidFill>
              <a:schemeClr val="bg1"/>
            </a:solidFill>
          </a:ln>
          <a:effectLst>
            <a:outerShdw blurRad="50800" dist="38100" dir="8100000" algn="tr" rotWithShape="0">
              <a:prstClr val="black">
                <a:alpha val="40000"/>
              </a:prstClr>
            </a:outerShdw>
          </a:effectLst>
        </p:spPr>
      </p:pic>
      <p:sp>
        <p:nvSpPr>
          <p:cNvPr id="9" name="TextBox 4">
            <a:extLst>
              <a:ext uri="{FF2B5EF4-FFF2-40B4-BE49-F238E27FC236}">
                <a16:creationId xmlns:a16="http://schemas.microsoft.com/office/drawing/2014/main" id="{CB425F2D-C583-0A76-4E83-380A21373754}"/>
              </a:ext>
            </a:extLst>
          </p:cNvPr>
          <p:cNvSpPr txBox="1">
            <a:spLocks noChangeArrowheads="1"/>
          </p:cNvSpPr>
          <p:nvPr/>
        </p:nvSpPr>
        <p:spPr bwMode="auto">
          <a:xfrm>
            <a:off x="2057399" y="3725464"/>
            <a:ext cx="807720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400">
                <a:solidFill>
                  <a:schemeClr val="tx1"/>
                </a:solidFill>
                <a:latin typeface="Times New Roman" pitchFamily="18" charset="0"/>
              </a:defRPr>
            </a:lvl1pPr>
            <a:lvl2pPr marL="742950" indent="-285750" eaLnBrk="0" hangingPunct="0">
              <a:defRPr sz="2400">
                <a:solidFill>
                  <a:schemeClr val="tx1"/>
                </a:solidFill>
                <a:latin typeface="Times New Roman" pitchFamily="18" charset="0"/>
              </a:defRPr>
            </a:lvl2pPr>
            <a:lvl3pPr marL="1143000" indent="-228600" eaLnBrk="0" hangingPunct="0">
              <a:defRPr sz="2400">
                <a:solidFill>
                  <a:schemeClr val="tx1"/>
                </a:solidFill>
                <a:latin typeface="Times New Roman" pitchFamily="18" charset="0"/>
              </a:defRPr>
            </a:lvl3pPr>
            <a:lvl4pPr marL="1600200" indent="-228600" eaLnBrk="0" hangingPunct="0">
              <a:defRPr sz="2400">
                <a:solidFill>
                  <a:schemeClr val="tx1"/>
                </a:solidFill>
                <a:latin typeface="Times New Roman" pitchFamily="18" charset="0"/>
              </a:defRPr>
            </a:lvl4pPr>
            <a:lvl5pPr marL="2057400" indent="-228600" eaLnBrk="0" hangingPunct="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lgn="ctr" eaLnBrk="1" hangingPunct="1"/>
            <a:r>
              <a:rPr lang="en-GB" altLang="zh-CN" sz="2000" dirty="0">
                <a:latin typeface="+mn-lt"/>
              </a:rPr>
              <a:t>It has been a pleasure working with you. </a:t>
            </a:r>
          </a:p>
          <a:p>
            <a:pPr algn="ctr" eaLnBrk="1" hangingPunct="1"/>
            <a:r>
              <a:rPr lang="en-GB" altLang="zh-CN" sz="2000" dirty="0">
                <a:latin typeface="+mn-lt"/>
              </a:rPr>
              <a:t>We look forward to present the preliminary findings for your validation.</a:t>
            </a:r>
          </a:p>
          <a:p>
            <a:pPr algn="ctr" eaLnBrk="1" hangingPunct="1"/>
            <a:r>
              <a:rPr lang="zh-CN" altLang="en-US" sz="2000" dirty="0">
                <a:solidFill>
                  <a:srgbClr val="1F497D"/>
                </a:solidFill>
                <a:latin typeface="宋体" panose="02010600030101010101" pitchFamily="2" charset="-122"/>
                <a:ea typeface="宋体" panose="02010600030101010101" pitchFamily="2" charset="-122"/>
              </a:rPr>
              <a:t>很荣幸这段时间与您共事，现在向您展示初步结果，供您确认</a:t>
            </a:r>
          </a:p>
        </p:txBody>
      </p:sp>
      <p:sp>
        <p:nvSpPr>
          <p:cNvPr id="52" name="TextBox 51">
            <a:extLst>
              <a:ext uri="{FF2B5EF4-FFF2-40B4-BE49-F238E27FC236}">
                <a16:creationId xmlns:a16="http://schemas.microsoft.com/office/drawing/2014/main" id="{382945E9-2F57-4420-BA56-8960D3908F35}"/>
              </a:ext>
            </a:extLst>
          </p:cNvPr>
          <p:cNvSpPr txBox="1"/>
          <p:nvPr/>
        </p:nvSpPr>
        <p:spPr>
          <a:xfrm>
            <a:off x="10628572" y="1054688"/>
            <a:ext cx="1356866" cy="738664"/>
          </a:xfrm>
          <a:prstGeom prst="rect">
            <a:avLst/>
          </a:prstGeom>
          <a:noFill/>
          <a:ln>
            <a:solidFill>
              <a:srgbClr val="FF0000"/>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400" dirty="0">
                <a:solidFill>
                  <a:srgbClr val="FF0000"/>
                </a:solidFill>
              </a:rPr>
              <a:t>Registered PRC trademark</a:t>
            </a:r>
          </a:p>
          <a:p>
            <a:pPr algn="ctr"/>
            <a:r>
              <a:rPr lang="en-US" sz="1400" dirty="0">
                <a:solidFill>
                  <a:srgbClr val="FF0000"/>
                </a:solidFill>
              </a:rPr>
              <a:t>21050449</a:t>
            </a:r>
          </a:p>
        </p:txBody>
      </p:sp>
    </p:spTree>
    <p:extLst>
      <p:ext uri="{BB962C8B-B14F-4D97-AF65-F5344CB8AC3E}">
        <p14:creationId xmlns:p14="http://schemas.microsoft.com/office/powerpoint/2010/main" val="28600539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984020" y="995024"/>
            <a:ext cx="7772400" cy="609600"/>
          </a:xfrm>
          <a:noFill/>
        </p:spPr>
        <p:txBody>
          <a:bodyPr vert="horz" wrap="none" lIns="90488" tIns="44450" rIns="90488" bIns="44450" rtlCol="0" anchor="ctr">
            <a:normAutofit/>
          </a:bodyPr>
          <a:lstStyle/>
          <a:p>
            <a:pPr algn="l" eaLnBrk="1" hangingPunct="1">
              <a:lnSpc>
                <a:spcPct val="85000"/>
              </a:lnSpc>
            </a:pPr>
            <a:r>
              <a:rPr lang="en-US" altLang="zh-CN" dirty="0">
                <a:latin typeface="Arial" charset="0"/>
              </a:rPr>
              <a:t>Appraisal Principles</a:t>
            </a:r>
          </a:p>
        </p:txBody>
      </p:sp>
      <p:sp>
        <p:nvSpPr>
          <p:cNvPr id="6147" name="Rectangle 3"/>
          <p:cNvSpPr>
            <a:spLocks noGrp="1" noChangeArrowheads="1"/>
          </p:cNvSpPr>
          <p:nvPr>
            <p:ph idx="1"/>
          </p:nvPr>
        </p:nvSpPr>
        <p:spPr>
          <a:xfrm>
            <a:off x="1055688" y="1848439"/>
            <a:ext cx="7772400" cy="3809248"/>
          </a:xfrm>
        </p:spPr>
        <p:txBody>
          <a:bodyPr vert="horz" lIns="63500" tIns="25400" rIns="63500" bIns="25400" rtlCol="0">
            <a:spAutoFit/>
          </a:bodyPr>
          <a:lstStyle/>
          <a:p>
            <a:r>
              <a:rPr lang="en-ZA" sz="1800" dirty="0">
                <a:solidFill>
                  <a:srgbClr val="000000"/>
                </a:solidFill>
                <a:effectLst/>
                <a:latin typeface="Arial" panose="020B0604020202020204" pitchFamily="34" charset="0"/>
                <a:ea typeface="Calibri" panose="020F0502020204030204" pitchFamily="34" charset="0"/>
              </a:rPr>
              <a:t>Start with a process framework</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以一个过程框架作为开始</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Observe strict confidentiality and non-attribution</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严格遵循保密性和不归因性</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Involve senior management as appraisal sponsor</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把高层作为评估发起人</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Approach appraisal collaboratively to the extent possible</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评估需要协调合作进行</a:t>
            </a:r>
            <a:endParaRPr lang="en-ZA" sz="1800" dirty="0">
              <a:solidFill>
                <a:srgbClr val="1F497D"/>
              </a:solidFill>
              <a:latin typeface="宋体" panose="02010600030101010101" pitchFamily="2" charset="-122"/>
              <a:ea typeface="宋体" panose="02010600030101010101" pitchFamily="2" charset="-122"/>
            </a:endParaRPr>
          </a:p>
          <a:p>
            <a:r>
              <a:rPr lang="en-ZA" sz="1800" dirty="0">
                <a:solidFill>
                  <a:srgbClr val="000000"/>
                </a:solidFill>
                <a:effectLst/>
                <a:latin typeface="Arial" panose="020B0604020202020204" pitchFamily="34" charset="0"/>
                <a:ea typeface="Calibri" panose="020F0502020204030204" pitchFamily="34" charset="0"/>
              </a:rPr>
              <a:t>Focus on action</a:t>
            </a:r>
            <a:endParaRPr lang="en-ZA" sz="1800" dirty="0">
              <a:effectLst/>
              <a:latin typeface="Calibri" panose="020F0502020204030204" pitchFamily="34" charset="0"/>
              <a:ea typeface="Calibri" panose="020F0502020204030204" pitchFamily="34" charset="0"/>
            </a:endParaRPr>
          </a:p>
          <a:p>
            <a:r>
              <a:rPr lang="en-ZA" sz="1800" dirty="0" err="1">
                <a:solidFill>
                  <a:srgbClr val="1F497D"/>
                </a:solidFill>
                <a:latin typeface="宋体" panose="02010600030101010101" pitchFamily="2" charset="-122"/>
                <a:ea typeface="宋体" panose="02010600030101010101" pitchFamily="2" charset="-122"/>
              </a:rPr>
              <a:t>关注行动</a:t>
            </a:r>
            <a:endParaRPr lang="en-ZA" sz="1800" dirty="0">
              <a:solidFill>
                <a:srgbClr val="1F497D"/>
              </a:solidFill>
              <a:latin typeface="宋体" panose="02010600030101010101" pitchFamily="2" charset="-122"/>
              <a:ea typeface="宋体"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0AFB86F-F314-2808-D124-99FF9729F446}"/>
              </a:ext>
            </a:extLst>
          </p:cNvPr>
          <p:cNvPicPr>
            <a:picLocks noChangeAspect="1"/>
          </p:cNvPicPr>
          <p:nvPr/>
        </p:nvPicPr>
        <p:blipFill>
          <a:blip r:embed="rId3"/>
          <a:srcRect/>
          <a:stretch/>
        </p:blipFill>
        <p:spPr>
          <a:xfrm>
            <a:off x="1575811" y="1295264"/>
            <a:ext cx="9040378" cy="4632289"/>
          </a:xfrm>
          <a:prstGeom prst="rect">
            <a:avLst/>
          </a:prstGeom>
        </p:spPr>
      </p:pic>
      <p:sp>
        <p:nvSpPr>
          <p:cNvPr id="2" name="Title 3">
            <a:extLst>
              <a:ext uri="{FF2B5EF4-FFF2-40B4-BE49-F238E27FC236}">
                <a16:creationId xmlns:a16="http://schemas.microsoft.com/office/drawing/2014/main" id="{E4158602-CE03-D865-8B96-7884DB0F17A7}"/>
              </a:ext>
            </a:extLst>
          </p:cNvPr>
          <p:cNvSpPr txBox="1">
            <a:spLocks/>
          </p:cNvSpPr>
          <p:nvPr/>
        </p:nvSpPr>
        <p:spPr>
          <a:xfrm>
            <a:off x="838200" y="365126"/>
            <a:ext cx="10515600" cy="602284"/>
          </a:xfrm>
          <a:prstGeom prst="rect">
            <a:avLst/>
          </a:prstGeom>
        </p:spPr>
        <p:txBody>
          <a:bodyPr>
            <a:normAutofit fontScale="92500" lnSpcReduction="20000"/>
          </a:bodyPr>
          <a:lstStyle>
            <a:lvl1pPr algn="l" defTabSz="914400" rtl="0" eaLnBrk="1" latinLnBrk="0" hangingPunct="1">
              <a:lnSpc>
                <a:spcPct val="90000"/>
              </a:lnSpc>
              <a:spcBef>
                <a:spcPct val="0"/>
              </a:spcBef>
              <a:buNone/>
              <a:defRPr sz="4400" kern="1200">
                <a:solidFill>
                  <a:srgbClr val="1E2C5B"/>
                </a:solidFill>
                <a:latin typeface="+mj-lt"/>
                <a:ea typeface="+mj-ea"/>
                <a:cs typeface="+mj-cs"/>
              </a:defRPr>
            </a:lvl1pPr>
          </a:lstStyle>
          <a:p>
            <a:r>
              <a:rPr lang="en-US" altLang="en-US" sz="3500" b="1" dirty="0">
                <a:latin typeface="+mn-lt"/>
                <a:ea typeface="ＭＳ Ｐゴシック" charset="-128"/>
              </a:rPr>
              <a:t>CMMI</a:t>
            </a:r>
            <a:r>
              <a:rPr lang="en-US" altLang="en-US" dirty="0">
                <a:ea typeface="ＭＳ Ｐゴシック" charset="-128"/>
              </a:rPr>
              <a:t> </a:t>
            </a:r>
            <a:r>
              <a:rPr lang="en-US" altLang="en-US" sz="3500" b="1" dirty="0">
                <a:latin typeface="+mn-lt"/>
                <a:ea typeface="ＭＳ Ｐゴシック" charset="-128"/>
              </a:rPr>
              <a:t>Appraisal Process – Appraisal Phases</a:t>
            </a:r>
          </a:p>
        </p:txBody>
      </p:sp>
      <p:sp>
        <p:nvSpPr>
          <p:cNvPr id="4" name="Rectangle 3">
            <a:extLst>
              <a:ext uri="{FF2B5EF4-FFF2-40B4-BE49-F238E27FC236}">
                <a16:creationId xmlns:a16="http://schemas.microsoft.com/office/drawing/2014/main" id="{49BEEC40-A488-4359-91B1-DFB6493F931D}"/>
              </a:ext>
            </a:extLst>
          </p:cNvPr>
          <p:cNvSpPr/>
          <p:nvPr/>
        </p:nvSpPr>
        <p:spPr>
          <a:xfrm>
            <a:off x="4370615" y="3841323"/>
            <a:ext cx="1371600" cy="96394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ZA" dirty="0"/>
          </a:p>
        </p:txBody>
      </p:sp>
    </p:spTree>
    <p:extLst>
      <p:ext uri="{BB962C8B-B14F-4D97-AF65-F5344CB8AC3E}">
        <p14:creationId xmlns:p14="http://schemas.microsoft.com/office/powerpoint/2010/main" val="3113447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ZA" dirty="0"/>
              <a:t>About Preliminary Findings</a:t>
            </a:r>
          </a:p>
        </p:txBody>
      </p:sp>
      <p:sp>
        <p:nvSpPr>
          <p:cNvPr id="3" name="Content Placeholder 2"/>
          <p:cNvSpPr>
            <a:spLocks noGrp="1"/>
          </p:cNvSpPr>
          <p:nvPr>
            <p:ph idx="1"/>
          </p:nvPr>
        </p:nvSpPr>
        <p:spPr/>
        <p:txBody>
          <a:bodyPr>
            <a:normAutofit/>
          </a:bodyPr>
          <a:lstStyle/>
          <a:p>
            <a:r>
              <a:rPr lang="en-ZA" sz="1800" dirty="0"/>
              <a:t>These are the preliminary findings. They are not the final findings. We encourage you to provide feedback on what is presented.</a:t>
            </a:r>
            <a:br>
              <a:rPr lang="en-ZA" sz="1800" dirty="0"/>
            </a:br>
            <a:r>
              <a:rPr lang="ja-JP" altLang="en-US" sz="1800" dirty="0">
                <a:solidFill>
                  <a:srgbClr val="1F497D"/>
                </a:solidFill>
                <a:latin typeface="宋体" panose="02010600030101010101" pitchFamily="2" charset="-122"/>
                <a:ea typeface="宋体" panose="02010600030101010101" pitchFamily="2" charset="-122"/>
              </a:rPr>
              <a:t>我们现在所进行的是初步发现，还没有到最终发布阶段，</a:t>
            </a:r>
            <a:r>
              <a:rPr lang="zh-CN" altLang="ja-JP" sz="1800" dirty="0">
                <a:solidFill>
                  <a:srgbClr val="1F497D"/>
                </a:solidFill>
                <a:latin typeface="宋体" panose="02010600030101010101" pitchFamily="2" charset="-122"/>
                <a:ea typeface="宋体" panose="02010600030101010101" pitchFamily="2" charset="-122"/>
              </a:rPr>
              <a:t>欢迎你们对</a:t>
            </a:r>
            <a:r>
              <a:rPr lang="ja-JP" altLang="en-US" sz="1800" dirty="0">
                <a:solidFill>
                  <a:srgbClr val="1F497D"/>
                </a:solidFill>
                <a:latin typeface="宋体" panose="02010600030101010101" pitchFamily="2" charset="-122"/>
                <a:ea typeface="宋体" panose="02010600030101010101" pitchFamily="2" charset="-122"/>
              </a:rPr>
              <a:t>发现</a:t>
            </a:r>
            <a:r>
              <a:rPr lang="zh-CN" altLang="ja-JP" sz="1800" dirty="0">
                <a:solidFill>
                  <a:srgbClr val="1F497D"/>
                </a:solidFill>
                <a:latin typeface="宋体" panose="02010600030101010101" pitchFamily="2" charset="-122"/>
                <a:ea typeface="宋体" panose="02010600030101010101" pitchFamily="2" charset="-122"/>
              </a:rPr>
              <a:t>结果</a:t>
            </a:r>
            <a:r>
              <a:rPr lang="ja-JP" altLang="en-US" sz="1800" dirty="0">
                <a:solidFill>
                  <a:srgbClr val="1F497D"/>
                </a:solidFill>
                <a:latin typeface="宋体" panose="02010600030101010101" pitchFamily="2" charset="-122"/>
                <a:ea typeface="宋体" panose="02010600030101010101" pitchFamily="2" charset="-122"/>
              </a:rPr>
              <a:t>提供反馈</a:t>
            </a:r>
          </a:p>
          <a:p>
            <a:r>
              <a:rPr lang="en-ZA" sz="1800" dirty="0"/>
              <a:t>It is recommended that the presenter reads the findings verbatim.</a:t>
            </a:r>
            <a:br>
              <a:rPr lang="en-ZA" sz="1800" dirty="0"/>
            </a:br>
            <a:r>
              <a:rPr lang="zh-CN" altLang="en-US" sz="1800">
                <a:solidFill>
                  <a:srgbClr val="1F497D"/>
                </a:solidFill>
                <a:latin typeface="宋体" panose="02010600030101010101" pitchFamily="2" charset="-122"/>
                <a:ea typeface="宋体" panose="02010600030101010101" pitchFamily="2" charset="-122"/>
              </a:rPr>
              <a:t>建议演讲者逐字逐句子表达调查发现的内容</a:t>
            </a:r>
          </a:p>
          <a:p>
            <a:r>
              <a:rPr lang="en-ZA" sz="1800"/>
              <a:t>The </a:t>
            </a:r>
            <a:r>
              <a:rPr lang="en-ZA" sz="1800" dirty="0"/>
              <a:t>appraisal team CANNOT commit to making changes, we will collect your input and evaluate it after the presentation.</a:t>
            </a:r>
            <a:br>
              <a:rPr lang="en-ZA" sz="1800" dirty="0"/>
            </a:br>
            <a:r>
              <a:rPr lang="ja-JP" altLang="en-US" sz="1800" dirty="0">
                <a:solidFill>
                  <a:srgbClr val="1F497D"/>
                </a:solidFill>
                <a:latin typeface="宋体" panose="02010600030101010101" pitchFamily="2" charset="-122"/>
                <a:ea typeface="宋体" panose="02010600030101010101" pitchFamily="2" charset="-122"/>
              </a:rPr>
              <a:t>评估小组成员不能</a:t>
            </a:r>
            <a:r>
              <a:rPr lang="zh-CN" altLang="ja-JP" sz="1800" dirty="0">
                <a:solidFill>
                  <a:srgbClr val="1F497D"/>
                </a:solidFill>
                <a:latin typeface="宋体" panose="02010600030101010101" pitchFamily="2" charset="-122"/>
                <a:ea typeface="宋体" panose="02010600030101010101" pitchFamily="2" charset="-122"/>
              </a:rPr>
              <a:t>向你们</a:t>
            </a:r>
            <a:r>
              <a:rPr lang="ja-JP" altLang="en-US" sz="1800" dirty="0">
                <a:solidFill>
                  <a:srgbClr val="1F497D"/>
                </a:solidFill>
                <a:latin typeface="宋体" panose="02010600030101010101" pitchFamily="2" charset="-122"/>
                <a:ea typeface="宋体" panose="02010600030101010101" pitchFamily="2" charset="-122"/>
              </a:rPr>
              <a:t>承诺对发现进行修改，我们会把你们的反馈记录下来</a:t>
            </a:r>
          </a:p>
          <a:p>
            <a:r>
              <a:rPr lang="en-ZA" sz="1800" dirty="0"/>
              <a:t>Confidentiality and non-attribution remain in effect.</a:t>
            </a:r>
            <a:br>
              <a:rPr lang="en-ZA" sz="1800" dirty="0"/>
            </a:br>
            <a:r>
              <a:rPr lang="ja-JP" altLang="en-US" sz="1800" dirty="0">
                <a:solidFill>
                  <a:srgbClr val="1F497D"/>
                </a:solidFill>
                <a:latin typeface="宋体" panose="02010600030101010101" pitchFamily="2" charset="-122"/>
                <a:ea typeface="宋体" panose="02010600030101010101" pitchFamily="2" charset="-122"/>
              </a:rPr>
              <a:t>保密原则和</a:t>
            </a:r>
            <a:r>
              <a:rPr lang="zh-CN" altLang="ja-JP" sz="1800" dirty="0">
                <a:solidFill>
                  <a:srgbClr val="1F497D"/>
                </a:solidFill>
                <a:latin typeface="宋体" panose="02010600030101010101" pitchFamily="2" charset="-122"/>
                <a:ea typeface="宋体" panose="02010600030101010101" pitchFamily="2" charset="-122"/>
              </a:rPr>
              <a:t>非归因</a:t>
            </a:r>
            <a:r>
              <a:rPr lang="ja-JP" altLang="en-US" sz="1800" dirty="0">
                <a:solidFill>
                  <a:srgbClr val="1F497D"/>
                </a:solidFill>
                <a:latin typeface="宋体" panose="02010600030101010101" pitchFamily="2" charset="-122"/>
                <a:ea typeface="宋体" panose="02010600030101010101" pitchFamily="2" charset="-122"/>
              </a:rPr>
              <a:t>原则依然有效</a:t>
            </a:r>
          </a:p>
          <a:p>
            <a:r>
              <a:rPr lang="en-ZA" sz="1800" dirty="0"/>
              <a:t>Strengths are only noted if they are significant strengths.</a:t>
            </a:r>
            <a:br>
              <a:rPr lang="en-ZA" sz="1800" dirty="0"/>
            </a:br>
            <a:r>
              <a:rPr lang="ja-JP" altLang="en-US" sz="1800" dirty="0">
                <a:solidFill>
                  <a:srgbClr val="1F497D"/>
                </a:solidFill>
                <a:latin typeface="宋体" panose="02010600030101010101" pitchFamily="2" charset="-122"/>
                <a:ea typeface="宋体" panose="02010600030101010101" pitchFamily="2" charset="-122"/>
              </a:rPr>
              <a:t>只有发现特别</a:t>
            </a:r>
            <a:r>
              <a:rPr lang="zh-CN" altLang="ja-JP" sz="1800" dirty="0">
                <a:solidFill>
                  <a:srgbClr val="1F497D"/>
                </a:solidFill>
                <a:latin typeface="宋体" panose="02010600030101010101" pitchFamily="2" charset="-122"/>
                <a:ea typeface="宋体" panose="02010600030101010101" pitchFamily="2" charset="-122"/>
              </a:rPr>
              <a:t>明显</a:t>
            </a:r>
            <a:r>
              <a:rPr lang="ja-JP" altLang="en-US" sz="1800" dirty="0">
                <a:solidFill>
                  <a:srgbClr val="1F497D"/>
                </a:solidFill>
                <a:latin typeface="宋体" panose="02010600030101010101" pitchFamily="2" charset="-122"/>
                <a:ea typeface="宋体" panose="02010600030101010101" pitchFamily="2" charset="-122"/>
              </a:rPr>
              <a:t>的强项时才会反映出来</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38F63-43DB-4D03-99F8-9DDEC68E764C}"/>
              </a:ext>
            </a:extLst>
          </p:cNvPr>
          <p:cNvSpPr>
            <a:spLocks noGrp="1"/>
          </p:cNvSpPr>
          <p:nvPr>
            <p:ph type="title"/>
          </p:nvPr>
        </p:nvSpPr>
        <p:spPr/>
        <p:txBody>
          <a:bodyPr/>
          <a:lstStyle/>
          <a:p>
            <a:r>
              <a:rPr lang="en-ZA" dirty="0"/>
              <a:t>Virtual appraisals – code of conduct</a:t>
            </a:r>
          </a:p>
        </p:txBody>
      </p:sp>
      <p:sp>
        <p:nvSpPr>
          <p:cNvPr id="3" name="Content Placeholder 2">
            <a:extLst>
              <a:ext uri="{FF2B5EF4-FFF2-40B4-BE49-F238E27FC236}">
                <a16:creationId xmlns:a16="http://schemas.microsoft.com/office/drawing/2014/main" id="{C7FF612D-EFDE-4142-8FD5-20FE5144DB43}"/>
              </a:ext>
            </a:extLst>
          </p:cNvPr>
          <p:cNvSpPr>
            <a:spLocks noGrp="1"/>
          </p:cNvSpPr>
          <p:nvPr>
            <p:ph idx="1"/>
          </p:nvPr>
        </p:nvSpPr>
        <p:spPr>
          <a:xfrm>
            <a:off x="1055688" y="1562793"/>
            <a:ext cx="10397837" cy="4531043"/>
          </a:xfrm>
        </p:spPr>
        <p:txBody>
          <a:bodyPr>
            <a:noAutofit/>
          </a:bodyPr>
          <a:lstStyle/>
          <a:p>
            <a:pPr marL="0" indent="0">
              <a:spcBef>
                <a:spcPts val="300"/>
              </a:spcBef>
              <a:buNone/>
            </a:pPr>
            <a:r>
              <a:rPr lang="en-GB" sz="1600" dirty="0"/>
              <a:t>When virtual interviews are planned for the appraisal, then virtual face-to-face (</a:t>
            </a:r>
            <a:r>
              <a:rPr lang="en-GB" sz="1600" dirty="0" err="1"/>
              <a:t>F2F</a:t>
            </a:r>
            <a:r>
              <a:rPr lang="en-GB" sz="1600" dirty="0"/>
              <a:t>) interviews are required to confirm the following:</a:t>
            </a:r>
          </a:p>
          <a:p>
            <a:pPr>
              <a:spcBef>
                <a:spcPts val="300"/>
              </a:spcBef>
            </a:pPr>
            <a:r>
              <a:rPr lang="en-GB" sz="1600" dirty="0"/>
              <a:t>Verifying interviewees are on camera</a:t>
            </a:r>
          </a:p>
          <a:p>
            <a:pPr>
              <a:spcBef>
                <a:spcPts val="300"/>
              </a:spcBef>
            </a:pPr>
            <a:r>
              <a:rPr lang="en-GB" sz="1600" dirty="0"/>
              <a:t>Verifying ATM identities and maximizing their participation</a:t>
            </a:r>
          </a:p>
          <a:p>
            <a:pPr>
              <a:spcBef>
                <a:spcPts val="300"/>
              </a:spcBef>
            </a:pPr>
            <a:r>
              <a:rPr lang="en-GB" sz="1600" dirty="0"/>
              <a:t>Verifying appraisal participant identities, e.g., interviewees, Appraisal Sponsor</a:t>
            </a:r>
          </a:p>
          <a:p>
            <a:pPr>
              <a:spcBef>
                <a:spcPts val="300"/>
              </a:spcBef>
            </a:pPr>
            <a:r>
              <a:rPr lang="en-GB" sz="1600" dirty="0"/>
              <a:t>Verifying only planned appraisal participants are present</a:t>
            </a:r>
          </a:p>
          <a:p>
            <a:pPr>
              <a:spcBef>
                <a:spcPts val="300"/>
              </a:spcBef>
            </a:pPr>
            <a:r>
              <a:rPr lang="en-GB" sz="1600" dirty="0"/>
              <a:t>Verifying that non-attribution and confidentiality rules are being followed, e.g., no other participants are present, physical setting is appropriate</a:t>
            </a:r>
          </a:p>
          <a:p>
            <a:pPr>
              <a:spcBef>
                <a:spcPts val="300"/>
              </a:spcBef>
            </a:pPr>
            <a:r>
              <a:rPr lang="en-GB" sz="1600" dirty="0"/>
              <a:t>Monitoring non-verbal communication and appraisal participant engagement</a:t>
            </a:r>
          </a:p>
          <a:p>
            <a:pPr marL="0" indent="0">
              <a:spcBef>
                <a:spcPts val="300"/>
              </a:spcBef>
              <a:buNone/>
            </a:pPr>
            <a:endParaRPr lang="en-ZA" sz="1600" dirty="0"/>
          </a:p>
          <a:p>
            <a:pPr marL="0" indent="0">
              <a:spcBef>
                <a:spcPts val="300"/>
              </a:spcBef>
              <a:buNone/>
            </a:pPr>
            <a:r>
              <a:rPr lang="zh-CN" altLang="en-US" sz="1600" dirty="0">
                <a:solidFill>
                  <a:srgbClr val="1F497D"/>
                </a:solidFill>
              </a:rPr>
              <a:t>当计划进行虚拟面试以进行评估时，需要进行虚拟面对面（</a:t>
            </a:r>
            <a:r>
              <a:rPr lang="en-US" altLang="zh-CN" sz="1600" dirty="0" err="1">
                <a:solidFill>
                  <a:srgbClr val="1F497D"/>
                </a:solidFill>
              </a:rPr>
              <a:t>F2F</a:t>
            </a:r>
            <a:r>
              <a:rPr lang="zh-CN" altLang="en-US" sz="1600" dirty="0">
                <a:solidFill>
                  <a:srgbClr val="1F497D"/>
                </a:solidFill>
              </a:rPr>
              <a:t>）面试以确认以下内容：</a:t>
            </a:r>
          </a:p>
          <a:p>
            <a:pPr>
              <a:spcBef>
                <a:spcPts val="300"/>
              </a:spcBef>
            </a:pPr>
            <a:r>
              <a:rPr lang="zh-CN" altLang="en-US" sz="1600" dirty="0">
                <a:solidFill>
                  <a:srgbClr val="1F497D"/>
                </a:solidFill>
              </a:rPr>
              <a:t>确认受访者在镜头前</a:t>
            </a:r>
          </a:p>
          <a:p>
            <a:pPr>
              <a:spcBef>
                <a:spcPts val="300"/>
              </a:spcBef>
            </a:pPr>
            <a:r>
              <a:rPr lang="zh-CN" altLang="en-US" sz="1600" dirty="0">
                <a:solidFill>
                  <a:srgbClr val="1F497D"/>
                </a:solidFill>
              </a:rPr>
              <a:t>核实</a:t>
            </a:r>
            <a:r>
              <a:rPr lang="en-US" altLang="zh-CN" sz="1600" dirty="0">
                <a:solidFill>
                  <a:srgbClr val="1F497D"/>
                </a:solidFill>
              </a:rPr>
              <a:t>ATM</a:t>
            </a:r>
            <a:r>
              <a:rPr lang="zh-CN" altLang="en-US" sz="1600" dirty="0">
                <a:solidFill>
                  <a:srgbClr val="1F497D"/>
                </a:solidFill>
              </a:rPr>
              <a:t>身份并最大化他们的参与</a:t>
            </a:r>
          </a:p>
          <a:p>
            <a:pPr>
              <a:spcBef>
                <a:spcPts val="300"/>
              </a:spcBef>
            </a:pPr>
            <a:r>
              <a:rPr lang="zh-CN" altLang="en-US" sz="1600" dirty="0">
                <a:solidFill>
                  <a:srgbClr val="1F497D"/>
                </a:solidFill>
              </a:rPr>
              <a:t>核实评估参与者身份，例如，受访者，评估发起人</a:t>
            </a:r>
          </a:p>
          <a:p>
            <a:pPr>
              <a:spcBef>
                <a:spcPts val="300"/>
              </a:spcBef>
            </a:pPr>
            <a:r>
              <a:rPr lang="zh-CN" altLang="en-US" sz="1600" dirty="0">
                <a:solidFill>
                  <a:srgbClr val="1F497D"/>
                </a:solidFill>
              </a:rPr>
              <a:t>确认只有计划中的评估参与者在场</a:t>
            </a:r>
          </a:p>
          <a:p>
            <a:pPr>
              <a:spcBef>
                <a:spcPts val="300"/>
              </a:spcBef>
            </a:pPr>
            <a:r>
              <a:rPr lang="zh-CN" altLang="en-US" sz="1600" dirty="0">
                <a:solidFill>
                  <a:srgbClr val="1F497D"/>
                </a:solidFill>
              </a:rPr>
              <a:t>确认遵守了非归因和保密规则，例如，没有其他参与者在场，物理环境适当</a:t>
            </a:r>
          </a:p>
          <a:p>
            <a:pPr>
              <a:spcBef>
                <a:spcPts val="300"/>
              </a:spcBef>
            </a:pPr>
            <a:r>
              <a:rPr lang="zh-CN" altLang="en-US" sz="1600" dirty="0">
                <a:solidFill>
                  <a:srgbClr val="1F497D"/>
                </a:solidFill>
              </a:rPr>
              <a:t>监控非语言交流和评估参与者的参与情况</a:t>
            </a:r>
            <a:endParaRPr lang="en-ZA" sz="1600" dirty="0">
              <a:solidFill>
                <a:srgbClr val="1F497D"/>
              </a:solidFill>
            </a:endParaRPr>
          </a:p>
        </p:txBody>
      </p:sp>
    </p:spTree>
    <p:extLst>
      <p:ext uri="{BB962C8B-B14F-4D97-AF65-F5344CB8AC3E}">
        <p14:creationId xmlns:p14="http://schemas.microsoft.com/office/powerpoint/2010/main" val="29572264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DC47C9-2410-0F46-A0CE-9498896DE8D4}"/>
              </a:ext>
            </a:extLst>
          </p:cNvPr>
          <p:cNvSpPr>
            <a:spLocks noGrp="1"/>
          </p:cNvSpPr>
          <p:nvPr>
            <p:ph type="title"/>
          </p:nvPr>
        </p:nvSpPr>
        <p:spPr/>
        <p:txBody>
          <a:bodyPr/>
          <a:lstStyle/>
          <a:p>
            <a:r>
              <a:rPr lang="en-US" dirty="0"/>
              <a:t>Findings Definitions – Required Categories</a:t>
            </a:r>
          </a:p>
        </p:txBody>
      </p:sp>
      <p:sp>
        <p:nvSpPr>
          <p:cNvPr id="3" name="Content Placeholder 2">
            <a:extLst>
              <a:ext uri="{FF2B5EF4-FFF2-40B4-BE49-F238E27FC236}">
                <a16:creationId xmlns:a16="http://schemas.microsoft.com/office/drawing/2014/main" id="{065982AE-496D-8E4C-B62D-137BEFC39377}"/>
              </a:ext>
            </a:extLst>
          </p:cNvPr>
          <p:cNvSpPr>
            <a:spLocks noGrp="1"/>
          </p:cNvSpPr>
          <p:nvPr>
            <p:ph idx="1"/>
          </p:nvPr>
        </p:nvSpPr>
        <p:spPr>
          <a:xfrm>
            <a:off x="955962" y="1645919"/>
            <a:ext cx="10397837" cy="4646726"/>
          </a:xfrm>
        </p:spPr>
        <p:txBody>
          <a:bodyPr>
            <a:normAutofit/>
          </a:bodyPr>
          <a:lstStyle/>
          <a:p>
            <a:pPr lvl="0"/>
            <a:r>
              <a:rPr lang="en-US" sz="1800" dirty="0"/>
              <a:t>Required Findings Categories:</a:t>
            </a:r>
          </a:p>
          <a:p>
            <a:pPr lvl="1"/>
            <a:r>
              <a:rPr lang="en-US" sz="1600" u="sng" dirty="0"/>
              <a:t>Weaknesses</a:t>
            </a:r>
            <a:r>
              <a:rPr lang="en-US" sz="1600" dirty="0"/>
              <a:t> - A type of preliminary or final finding, which is an ineffective, or lack of implementation of one or more processes that meet the intent and value of a practice based on verified objective evidence, and applicable across the project(s) and organizational support functions or Organizational Unit as a whole. This is realized either by a) the process itself does not address a CMMI practice requirement, or b) the project(s) or organizational support functions are not following their process that IS compliant with the intent and value of the applicable CMMI practice.</a:t>
            </a:r>
            <a:endParaRPr lang="en-US" sz="1600" b="1" dirty="0"/>
          </a:p>
          <a:p>
            <a:pPr lvl="1"/>
            <a:endParaRPr lang="en-US" sz="1600" dirty="0"/>
          </a:p>
          <a:p>
            <a:pPr lvl="1"/>
            <a:r>
              <a:rPr lang="en-US" sz="1600" u="sng" dirty="0"/>
              <a:t>Strengths</a:t>
            </a:r>
            <a:r>
              <a:rPr lang="en-US" sz="1600" dirty="0"/>
              <a:t> - A type of preliminary or final finding, which is an exemplary or noteworthy implementation of a process that meets the intent and value of a CMMI model practice.</a:t>
            </a:r>
            <a:endParaRPr lang="en-US" sz="1600" b="1" dirty="0"/>
          </a:p>
          <a:p>
            <a:r>
              <a:rPr lang="zh-CN" altLang="en-US" sz="1600" dirty="0">
                <a:solidFill>
                  <a:srgbClr val="1F497D"/>
                </a:solidFill>
              </a:rPr>
              <a:t>所需结果类别：</a:t>
            </a:r>
          </a:p>
          <a:p>
            <a:pPr lvl="1"/>
            <a:r>
              <a:rPr lang="zh-CN" altLang="en-US" sz="1400" dirty="0">
                <a:solidFill>
                  <a:srgbClr val="1F497D"/>
                </a:solidFill>
              </a:rPr>
              <a:t>弱项</a:t>
            </a:r>
            <a:r>
              <a:rPr lang="en-US" altLang="zh-CN" sz="1400" dirty="0">
                <a:solidFill>
                  <a:srgbClr val="1F497D"/>
                </a:solidFill>
              </a:rPr>
              <a:t>——</a:t>
            </a:r>
            <a:r>
              <a:rPr lang="zh-CN" altLang="en-US" sz="1400" dirty="0">
                <a:solidFill>
                  <a:srgbClr val="1F497D"/>
                </a:solidFill>
              </a:rPr>
              <a:t>一种初步或最终的发现，是指一个或多个过程实施无效或缺乏实施，这些过程基于已验证的客观证据，符合实践的意图和价值，适用于整个项目和组织支持职能组或组织单元。这可以通过以下两种方式实现：</a:t>
            </a:r>
            <a:r>
              <a:rPr lang="en-US" altLang="zh-CN" sz="1400" dirty="0">
                <a:solidFill>
                  <a:srgbClr val="1F497D"/>
                </a:solidFill>
              </a:rPr>
              <a:t>a</a:t>
            </a:r>
            <a:r>
              <a:rPr lang="zh-CN" altLang="en-US" sz="1400" dirty="0">
                <a:solidFill>
                  <a:srgbClr val="1F497D"/>
                </a:solidFill>
              </a:rPr>
              <a:t>）过程本身没有满足</a:t>
            </a:r>
            <a:r>
              <a:rPr lang="en-US" altLang="zh-CN" sz="1400" dirty="0">
                <a:solidFill>
                  <a:srgbClr val="1F497D"/>
                </a:solidFill>
              </a:rPr>
              <a:t>CMMI</a:t>
            </a:r>
            <a:r>
              <a:rPr lang="zh-CN" altLang="en-US" sz="1400" dirty="0">
                <a:solidFill>
                  <a:srgbClr val="1F497D"/>
                </a:solidFill>
              </a:rPr>
              <a:t>实践需求，或者</a:t>
            </a:r>
            <a:r>
              <a:rPr lang="en-US" altLang="zh-CN" sz="1400" dirty="0">
                <a:solidFill>
                  <a:srgbClr val="1F497D"/>
                </a:solidFill>
              </a:rPr>
              <a:t>b</a:t>
            </a:r>
            <a:r>
              <a:rPr lang="zh-CN" altLang="en-US" sz="1400" dirty="0">
                <a:solidFill>
                  <a:srgbClr val="1F497D"/>
                </a:solidFill>
              </a:rPr>
              <a:t>）项目或组织支持职能组没有遵循符合适用</a:t>
            </a:r>
            <a:r>
              <a:rPr lang="en-US" altLang="zh-CN" sz="1400" dirty="0">
                <a:solidFill>
                  <a:srgbClr val="1F497D"/>
                </a:solidFill>
              </a:rPr>
              <a:t>CMMI</a:t>
            </a:r>
            <a:r>
              <a:rPr lang="zh-CN" altLang="en-US" sz="1400" dirty="0">
                <a:solidFill>
                  <a:srgbClr val="1F497D"/>
                </a:solidFill>
              </a:rPr>
              <a:t>实践意图和价值的过程。</a:t>
            </a:r>
            <a:endParaRPr lang="en-ZA" altLang="zh-CN" sz="1400" dirty="0">
              <a:solidFill>
                <a:srgbClr val="1F497D"/>
              </a:solidFill>
            </a:endParaRPr>
          </a:p>
          <a:p>
            <a:pPr lvl="1"/>
            <a:r>
              <a:rPr lang="zh-CN" altLang="en-US" sz="1400" dirty="0">
                <a:solidFill>
                  <a:srgbClr val="1F497D"/>
                </a:solidFill>
              </a:rPr>
              <a:t>强项</a:t>
            </a:r>
            <a:r>
              <a:rPr lang="en-US" altLang="zh-CN" sz="1400" dirty="0">
                <a:solidFill>
                  <a:srgbClr val="1F497D"/>
                </a:solidFill>
              </a:rPr>
              <a:t>——</a:t>
            </a:r>
            <a:r>
              <a:rPr lang="zh-CN" altLang="en-US" sz="1400" dirty="0">
                <a:solidFill>
                  <a:srgbClr val="1F497D"/>
                </a:solidFill>
              </a:rPr>
              <a:t>一种初步或最终的发现，是一个模范性或值得注意的过程实现，其符合</a:t>
            </a:r>
            <a:r>
              <a:rPr lang="en-US" altLang="zh-CN" sz="1400" dirty="0">
                <a:solidFill>
                  <a:srgbClr val="1F497D"/>
                </a:solidFill>
              </a:rPr>
              <a:t>CMMI</a:t>
            </a:r>
            <a:r>
              <a:rPr lang="zh-CN" altLang="en-US" sz="1400" dirty="0">
                <a:solidFill>
                  <a:srgbClr val="1F497D"/>
                </a:solidFill>
              </a:rPr>
              <a:t>模型实践的意图和价值。</a:t>
            </a:r>
          </a:p>
        </p:txBody>
      </p:sp>
    </p:spTree>
    <p:extLst>
      <p:ext uri="{BB962C8B-B14F-4D97-AF65-F5344CB8AC3E}">
        <p14:creationId xmlns:p14="http://schemas.microsoft.com/office/powerpoint/2010/main" val="7231582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73C0C2-AEE9-C443-A1B0-65B4A813A18A}"/>
              </a:ext>
            </a:extLst>
          </p:cNvPr>
          <p:cNvSpPr>
            <a:spLocks noGrp="1"/>
          </p:cNvSpPr>
          <p:nvPr>
            <p:ph type="title"/>
          </p:nvPr>
        </p:nvSpPr>
        <p:spPr/>
        <p:txBody>
          <a:bodyPr/>
          <a:lstStyle/>
          <a:p>
            <a:r>
              <a:rPr lang="en-US" b="1" dirty="0">
                <a:latin typeface="+mn-lt"/>
              </a:rPr>
              <a:t>Practice Area Findings</a:t>
            </a:r>
            <a:br>
              <a:rPr lang="en-US" b="1" dirty="0">
                <a:latin typeface="+mn-lt"/>
              </a:rPr>
            </a:br>
            <a:r>
              <a:rPr lang="zh-CN" altLang="en-US" sz="6000" b="1" dirty="0">
                <a:solidFill>
                  <a:srgbClr val="1F497D"/>
                </a:solidFill>
                <a:latin typeface="+mn-lt"/>
              </a:rPr>
              <a:t>实践域发现</a:t>
            </a:r>
            <a:endParaRPr lang="en-US" b="1" dirty="0">
              <a:solidFill>
                <a:srgbClr val="1F497D"/>
              </a:solidFill>
              <a:latin typeface="+mn-lt"/>
            </a:endParaRPr>
          </a:p>
        </p:txBody>
      </p:sp>
    </p:spTree>
    <p:extLst>
      <p:ext uri="{BB962C8B-B14F-4D97-AF65-F5344CB8AC3E}">
        <p14:creationId xmlns:p14="http://schemas.microsoft.com/office/powerpoint/2010/main" val="1002676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2FB12-F514-854C-B510-58EFF32120DB}"/>
              </a:ext>
            </a:extLst>
          </p:cNvPr>
          <p:cNvSpPr>
            <a:spLocks noGrp="1"/>
          </p:cNvSpPr>
          <p:nvPr>
            <p:ph type="title"/>
          </p:nvPr>
        </p:nvSpPr>
        <p:spPr>
          <a:xfrm>
            <a:off x="1709928" y="965640"/>
            <a:ext cx="10021824" cy="539496"/>
          </a:xfrm>
        </p:spPr>
        <p:txBody>
          <a:bodyPr>
            <a:normAutofit/>
          </a:bodyPr>
          <a:lstStyle/>
          <a:p>
            <a:r>
              <a:rPr lang="en-US" sz="2800" dirty="0"/>
              <a:t>Causal Analysis and Resolution (CAR) </a:t>
            </a:r>
            <a:r>
              <a:rPr lang="zh-CN" altLang="en-US" sz="2800" dirty="0">
                <a:solidFill>
                  <a:schemeClr val="accent1">
                    <a:lumMod val="75000"/>
                  </a:schemeClr>
                </a:solidFill>
              </a:rPr>
              <a:t>原因分析与解决</a:t>
            </a:r>
            <a:endParaRPr lang="en-US" sz="2800" dirty="0">
              <a:solidFill>
                <a:schemeClr val="accent1">
                  <a:lumMod val="75000"/>
                </a:schemeClr>
              </a:solidFill>
            </a:endParaRPr>
          </a:p>
        </p:txBody>
      </p:sp>
      <p:sp>
        <p:nvSpPr>
          <p:cNvPr id="3" name="Content Placeholder 2">
            <a:extLst>
              <a:ext uri="{FF2B5EF4-FFF2-40B4-BE49-F238E27FC236}">
                <a16:creationId xmlns:a16="http://schemas.microsoft.com/office/drawing/2014/main" id="{FD22BCE7-6CE6-6F44-A06D-0ED3A68264D7}"/>
              </a:ext>
            </a:extLst>
          </p:cNvPr>
          <p:cNvSpPr>
            <a:spLocks noGrp="1"/>
          </p:cNvSpPr>
          <p:nvPr>
            <p:ph idx="4294967295"/>
          </p:nvPr>
        </p:nvSpPr>
        <p:spPr>
          <a:xfrm>
            <a:off x="470149" y="1435400"/>
            <a:ext cx="11265408" cy="1572768"/>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Identifies causes of selected outcomes and takes action to either prevent recurrence of undesirable outcomes or ensure recurrence 	of positive outcomes.</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确定所选结果的原因，并采取行动防止不良结果的再次发生或确保积极结果的再次出现</a:t>
            </a:r>
            <a:r>
              <a:rPr lang="zh-CN" altLang="en-US" sz="1400" b="0" i="0" dirty="0">
                <a:solidFill>
                  <a:srgbClr val="0D0D0D"/>
                </a:solidFill>
                <a:effectLst/>
                <a:highlight>
                  <a:srgbClr val="FFFFFF"/>
                </a:highlight>
                <a:latin typeface="Söhne"/>
              </a:rPr>
              <a:t>。</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Addresses causes of issues, eliminating rework and directly improving quality and productivity.</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解决问题的根源，消除返工，直接提高质量和生产力。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4" name="Content Placeholder 3">
            <a:extLst>
              <a:ext uri="{FF2B5EF4-FFF2-40B4-BE49-F238E27FC236}">
                <a16:creationId xmlns:a16="http://schemas.microsoft.com/office/drawing/2014/main" id="{17174A4B-0169-F64D-A513-9179A27A7170}"/>
              </a:ext>
            </a:extLst>
          </p:cNvPr>
          <p:cNvSpPr>
            <a:spLocks noGrp="1"/>
          </p:cNvSpPr>
          <p:nvPr>
            <p:ph idx="13"/>
          </p:nvPr>
        </p:nvSpPr>
        <p:spPr>
          <a:xfrm>
            <a:off x="466344" y="3051602"/>
            <a:ext cx="11265408" cy="3097485"/>
          </a:xfrm>
        </p:spPr>
        <p:txBody>
          <a:bodyPr>
            <a:noAutofit/>
          </a:bodyPr>
          <a:lstStyle/>
          <a:p>
            <a:pPr marL="0" indent="0">
              <a:buNone/>
            </a:pPr>
            <a:r>
              <a:rPr lang="en-US" sz="1800" b="1" dirty="0"/>
              <a:t>Strengths </a:t>
            </a:r>
            <a:r>
              <a:rPr lang="ja-JP" altLang="en-US" sz="1800" b="1" dirty="0">
                <a:solidFill>
                  <a:srgbClr val="1F497D"/>
                </a:solidFill>
                <a:latin typeface="DengXian" panose="02010600030101010101" pitchFamily="2" charset="-122"/>
                <a:ea typeface="DengXian" panose="02010600030101010101" pitchFamily="2" charset="-122"/>
              </a:rPr>
              <a:t>强项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pPr marL="0" indent="0">
              <a:buNone/>
            </a:pPr>
            <a:r>
              <a:rPr lang="en-US" sz="1800" b="1"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b="1"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pic>
        <p:nvPicPr>
          <p:cNvPr id="5" name="Picture 4">
            <a:extLst>
              <a:ext uri="{FF2B5EF4-FFF2-40B4-BE49-F238E27FC236}">
                <a16:creationId xmlns:a16="http://schemas.microsoft.com/office/drawing/2014/main" id="{5D5C89D8-0B55-544B-AD0F-183601DA7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149" y="331667"/>
            <a:ext cx="828675" cy="1009650"/>
          </a:xfrm>
          <a:prstGeom prst="rect">
            <a:avLst/>
          </a:prstGeom>
        </p:spPr>
      </p:pic>
    </p:spTree>
    <p:extLst>
      <p:ext uri="{BB962C8B-B14F-4D97-AF65-F5344CB8AC3E}">
        <p14:creationId xmlns:p14="http://schemas.microsoft.com/office/powerpoint/2010/main" val="268292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C94052-D3D2-1D46-9E1A-87C7462F1125}"/>
              </a:ext>
            </a:extLst>
          </p:cNvPr>
          <p:cNvSpPr>
            <a:spLocks noGrp="1"/>
          </p:cNvSpPr>
          <p:nvPr>
            <p:ph type="title"/>
          </p:nvPr>
        </p:nvSpPr>
        <p:spPr>
          <a:xfrm>
            <a:off x="1500949" y="906860"/>
            <a:ext cx="10021824" cy="539496"/>
          </a:xfrm>
        </p:spPr>
        <p:txBody>
          <a:bodyPr>
            <a:normAutofit/>
          </a:bodyPr>
          <a:lstStyle/>
          <a:p>
            <a:r>
              <a:rPr lang="en-US" sz="2800" dirty="0"/>
              <a:t>Configuration Management (CM) </a:t>
            </a:r>
            <a:r>
              <a:rPr lang="ja-JP" altLang="en-US" sz="2800" dirty="0">
                <a:solidFill>
                  <a:schemeClr val="accent1">
                    <a:lumMod val="75000"/>
                  </a:schemeClr>
                </a:solidFill>
              </a:rPr>
              <a:t>配置管理</a:t>
            </a:r>
            <a:endParaRPr lang="en-US" sz="2800" dirty="0">
              <a:solidFill>
                <a:schemeClr val="accent1">
                  <a:lumMod val="75000"/>
                </a:schemeClr>
              </a:solidFill>
            </a:endParaRPr>
          </a:p>
        </p:txBody>
      </p:sp>
      <p:sp>
        <p:nvSpPr>
          <p:cNvPr id="5" name="Content Placeholder 4">
            <a:extLst>
              <a:ext uri="{FF2B5EF4-FFF2-40B4-BE49-F238E27FC236}">
                <a16:creationId xmlns:a16="http://schemas.microsoft.com/office/drawing/2014/main" id="{F7851FC6-ACD6-F341-AD7C-83127EFB5A77}"/>
              </a:ext>
            </a:extLst>
          </p:cNvPr>
          <p:cNvSpPr>
            <a:spLocks noGrp="1"/>
          </p:cNvSpPr>
          <p:nvPr>
            <p:ph idx="4294967295"/>
          </p:nvPr>
        </p:nvSpPr>
        <p:spPr>
          <a:xfrm>
            <a:off x="466344" y="1446356"/>
            <a:ext cx="11265408" cy="1388315"/>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Manages the integrity of work products using configuration identification, version control, change control, and audits.</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通过配置识别、版本控制、变更控制和审计来管理工作产品的完整性。</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Reduces loss of work and increases the ability to deliver the correct version of the solution to the customer.</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rPr>
              <a:t>减少工作丢失并提高向客户交付正确版本解决方案的能力。</a:t>
            </a:r>
            <a:endParaRPr lang="en-US" sz="1400" dirty="0">
              <a:solidFill>
                <a:srgbClr val="1F497D"/>
              </a:solidFill>
            </a:endParaRPr>
          </a:p>
          <a:p>
            <a:endParaRPr lang="en-US" sz="1400" dirty="0"/>
          </a:p>
        </p:txBody>
      </p:sp>
      <p:pic>
        <p:nvPicPr>
          <p:cNvPr id="7" name="Picture 6">
            <a:extLst>
              <a:ext uri="{FF2B5EF4-FFF2-40B4-BE49-F238E27FC236}">
                <a16:creationId xmlns:a16="http://schemas.microsoft.com/office/drawing/2014/main" id="{B6B8940F-F466-0C49-BA8F-759D5D68A1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10" name="Content Placeholder 3">
            <a:extLst>
              <a:ext uri="{FF2B5EF4-FFF2-40B4-BE49-F238E27FC236}">
                <a16:creationId xmlns:a16="http://schemas.microsoft.com/office/drawing/2014/main" id="{82FD0B6A-7BC7-4091-9C57-AC948DA85ED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212394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0D6E7E7-3A78-5E44-89F9-527E3CD983D7}"/>
              </a:ext>
            </a:extLst>
          </p:cNvPr>
          <p:cNvSpPr>
            <a:spLocks noGrp="1"/>
          </p:cNvSpPr>
          <p:nvPr>
            <p:ph type="title"/>
          </p:nvPr>
        </p:nvSpPr>
        <p:spPr>
          <a:xfrm>
            <a:off x="1500949" y="926038"/>
            <a:ext cx="10021824" cy="539496"/>
          </a:xfrm>
        </p:spPr>
        <p:txBody>
          <a:bodyPr>
            <a:normAutofit/>
          </a:bodyPr>
          <a:lstStyle/>
          <a:p>
            <a:r>
              <a:rPr lang="en-US" sz="2800" dirty="0"/>
              <a:t>Decision Analysis and Resolution (DAR) </a:t>
            </a:r>
            <a:r>
              <a:rPr lang="zh-CN" altLang="en-US" sz="2800" dirty="0">
                <a:solidFill>
                  <a:srgbClr val="1F497D"/>
                </a:solidFill>
              </a:rPr>
              <a:t>决策分析与解决</a:t>
            </a:r>
            <a:endParaRPr lang="en-US" sz="2800" dirty="0">
              <a:solidFill>
                <a:srgbClr val="1F497D"/>
              </a:solidFill>
            </a:endParaRPr>
          </a:p>
        </p:txBody>
      </p:sp>
      <p:sp>
        <p:nvSpPr>
          <p:cNvPr id="5" name="Content Placeholder 4">
            <a:extLst>
              <a:ext uri="{FF2B5EF4-FFF2-40B4-BE49-F238E27FC236}">
                <a16:creationId xmlns:a16="http://schemas.microsoft.com/office/drawing/2014/main" id="{D651944C-A577-BE40-86BE-7F08B25152B1}"/>
              </a:ext>
            </a:extLst>
          </p:cNvPr>
          <p:cNvSpPr>
            <a:spLocks noGrp="1"/>
          </p:cNvSpPr>
          <p:nvPr>
            <p:ph idx="4294967295"/>
          </p:nvPr>
        </p:nvSpPr>
        <p:spPr>
          <a:xfrm>
            <a:off x="460248" y="1465534"/>
            <a:ext cx="11265408" cy="1222262"/>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Makes and records decisions using a recorded process that </a:t>
            </a:r>
            <a:r>
              <a:rPr lang="en-GB" sz="1400" b="0" i="0" dirty="0" err="1">
                <a:solidFill>
                  <a:srgbClr val="505050"/>
                </a:solidFill>
                <a:effectLst/>
                <a:highlight>
                  <a:srgbClr val="FFFFFF"/>
                </a:highlight>
                <a:latin typeface="Gotham A"/>
              </a:rPr>
              <a:t>analyzes</a:t>
            </a:r>
            <a:r>
              <a:rPr lang="en-GB" sz="1400" b="0" i="0" dirty="0">
                <a:solidFill>
                  <a:srgbClr val="505050"/>
                </a:solidFill>
                <a:effectLst/>
                <a:highlight>
                  <a:srgbClr val="FFFFFF"/>
                </a:highlight>
                <a:latin typeface="Gotham A"/>
              </a:rPr>
              <a:t> alternatives.</a:t>
            </a:r>
            <a:r>
              <a:rPr lang="en-US" sz="1400" dirty="0"/>
              <a:t>	</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使用记录的流程来分析备选方案，并做出和记录决策。</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objectivity of decision-making and the probability of selecting the optimal solution.</a:t>
            </a:r>
            <a:r>
              <a:rPr lang="en-US" sz="1400" b="0" i="0" dirty="0">
                <a:solidFill>
                  <a:srgbClr val="505050"/>
                </a:solidFill>
                <a:effectLst/>
                <a:highlight>
                  <a:srgbClr val="FFFFFF"/>
                </a:highlight>
                <a:latin typeface="Gotham A"/>
              </a:rPr>
              <a:t> </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提高决策的客观性和选择最佳解决方案的可能性。</a:t>
            </a:r>
          </a:p>
          <a:p>
            <a:endParaRPr lang="en-US" sz="1400" dirty="0"/>
          </a:p>
          <a:p>
            <a:endParaRPr lang="en-US" sz="1400" dirty="0"/>
          </a:p>
        </p:txBody>
      </p:sp>
      <p:pic>
        <p:nvPicPr>
          <p:cNvPr id="7" name="Picture 6">
            <a:extLst>
              <a:ext uri="{FF2B5EF4-FFF2-40B4-BE49-F238E27FC236}">
                <a16:creationId xmlns:a16="http://schemas.microsoft.com/office/drawing/2014/main" id="{63AE4084-C272-D348-A954-332D73CB79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9184"/>
            <a:ext cx="828675" cy="1009650"/>
          </a:xfrm>
          <a:prstGeom prst="rect">
            <a:avLst/>
          </a:prstGeom>
        </p:spPr>
      </p:pic>
      <p:sp>
        <p:nvSpPr>
          <p:cNvPr id="8" name="Content Placeholder 3">
            <a:extLst>
              <a:ext uri="{FF2B5EF4-FFF2-40B4-BE49-F238E27FC236}">
                <a16:creationId xmlns:a16="http://schemas.microsoft.com/office/drawing/2014/main" id="{0C29C336-857B-42AC-A784-32E0EB287EFC}"/>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01728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4C635E-FEFA-084F-A1B2-00A355DFF58D}"/>
              </a:ext>
            </a:extLst>
          </p:cNvPr>
          <p:cNvSpPr>
            <a:spLocks noGrp="1"/>
          </p:cNvSpPr>
          <p:nvPr>
            <p:ph type="title"/>
          </p:nvPr>
        </p:nvSpPr>
        <p:spPr>
          <a:xfrm>
            <a:off x="1691829" y="878863"/>
            <a:ext cx="10021824" cy="539496"/>
          </a:xfrm>
        </p:spPr>
        <p:txBody>
          <a:bodyPr>
            <a:normAutofit/>
          </a:bodyPr>
          <a:lstStyle/>
          <a:p>
            <a:r>
              <a:rPr lang="en-US" sz="2800" dirty="0"/>
              <a:t>Estimating (EST) </a:t>
            </a:r>
            <a:r>
              <a:rPr lang="ja-JP" altLang="en-US" sz="2800" dirty="0">
                <a:solidFill>
                  <a:srgbClr val="1F497D"/>
                </a:solidFill>
              </a:rPr>
              <a:t>估算</a:t>
            </a:r>
            <a:endParaRPr lang="en-US" sz="2800" dirty="0">
              <a:solidFill>
                <a:srgbClr val="1F497D"/>
              </a:solidFill>
            </a:endParaRPr>
          </a:p>
        </p:txBody>
      </p:sp>
      <p:sp>
        <p:nvSpPr>
          <p:cNvPr id="5" name="Content Placeholder 4">
            <a:extLst>
              <a:ext uri="{FF2B5EF4-FFF2-40B4-BE49-F238E27FC236}">
                <a16:creationId xmlns:a16="http://schemas.microsoft.com/office/drawing/2014/main" id="{F0D27AE0-E333-B84C-AA56-4473247CD36D}"/>
              </a:ext>
            </a:extLst>
          </p:cNvPr>
          <p:cNvSpPr>
            <a:spLocks noGrp="1"/>
          </p:cNvSpPr>
          <p:nvPr>
            <p:ph idx="4294967295"/>
          </p:nvPr>
        </p:nvSpPr>
        <p:spPr>
          <a:xfrm>
            <a:off x="463296" y="1388121"/>
            <a:ext cx="11265408" cy="15727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Estimates the size, effort, duration, and cost of the work and resources needed to develop, acquire, or deliver the solution.</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估算开发、获取或交付解决方案所需的工作和资源的规模、努力、持续时间和成本。</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Provides a basis for making commitments, planning, and reducing uncertainty, which allows for early corrective actions and increases 	the likelihood of meeting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为做出承诺、规划和减少不确定性提供基础，从而允许及早采取纠正措施，并提高实现目标的可能性。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D564BB67-B6E2-EA42-8FD0-E0FE585544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29184"/>
            <a:ext cx="1381125" cy="1028700"/>
          </a:xfrm>
          <a:prstGeom prst="rect">
            <a:avLst/>
          </a:prstGeom>
        </p:spPr>
      </p:pic>
      <p:sp>
        <p:nvSpPr>
          <p:cNvPr id="8" name="Content Placeholder 3">
            <a:extLst>
              <a:ext uri="{FF2B5EF4-FFF2-40B4-BE49-F238E27FC236}">
                <a16:creationId xmlns:a16="http://schemas.microsoft.com/office/drawing/2014/main" id="{5CACA4C3-CBEF-489E-BB7B-72D841E2651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1131137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5370A8-0C29-9E4D-B098-2E01281B6260}"/>
              </a:ext>
            </a:extLst>
          </p:cNvPr>
          <p:cNvSpPr>
            <a:spLocks noGrp="1"/>
          </p:cNvSpPr>
          <p:nvPr>
            <p:ph type="title"/>
          </p:nvPr>
        </p:nvSpPr>
        <p:spPr>
          <a:xfrm>
            <a:off x="1673352" y="896112"/>
            <a:ext cx="10021824" cy="539496"/>
          </a:xfrm>
        </p:spPr>
        <p:txBody>
          <a:bodyPr>
            <a:normAutofit/>
          </a:bodyPr>
          <a:lstStyle/>
          <a:p>
            <a:r>
              <a:rPr lang="en-US" sz="2800" dirty="0"/>
              <a:t>Governance (GOV) </a:t>
            </a:r>
            <a:r>
              <a:rPr lang="ja-JP" altLang="en-US" sz="2800" dirty="0">
                <a:solidFill>
                  <a:srgbClr val="1F497D"/>
                </a:solidFill>
              </a:rPr>
              <a:t>管治</a:t>
            </a:r>
            <a:endParaRPr lang="en-US" sz="2800" dirty="0">
              <a:solidFill>
                <a:srgbClr val="1F497D"/>
              </a:solidFill>
            </a:endParaRPr>
          </a:p>
        </p:txBody>
      </p:sp>
      <p:sp>
        <p:nvSpPr>
          <p:cNvPr id="5" name="Content Placeholder 4">
            <a:extLst>
              <a:ext uri="{FF2B5EF4-FFF2-40B4-BE49-F238E27FC236}">
                <a16:creationId xmlns:a16="http://schemas.microsoft.com/office/drawing/2014/main" id="{C7447B46-1B43-2341-808A-5B2FCADE4031}"/>
              </a:ext>
            </a:extLst>
          </p:cNvPr>
          <p:cNvSpPr>
            <a:spLocks noGrp="1"/>
          </p:cNvSpPr>
          <p:nvPr>
            <p:ph idx="4294967295"/>
          </p:nvPr>
        </p:nvSpPr>
        <p:spPr>
          <a:xfrm>
            <a:off x="463296" y="1435608"/>
            <a:ext cx="11265408" cy="1523312"/>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guidance to senior management on their role in the sponsorship and governance of performance, processes, and related 	activities.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为高级管理层提供关于其在绩效、流程及相关活动的赞助和治理中的角色的指导。</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Minimizes the cost of process implementation, increases the likelihood of meeting objectives, and verifies that the implemented 	processes support and contribute to the success of the business.</a:t>
            </a:r>
            <a:br>
              <a:rPr lang="en-US" sz="1400" dirty="0">
                <a:solidFill>
                  <a:srgbClr val="505050"/>
                </a:solidFill>
                <a:highlight>
                  <a:srgbClr val="FFFFFF"/>
                </a:highlight>
                <a:latin typeface="Gotham A"/>
              </a:rPr>
            </a:br>
            <a:r>
              <a:rPr lang="en-US" sz="1400" dirty="0">
                <a:solidFill>
                  <a:srgbClr val="505050"/>
                </a:solidFill>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减少流程实施成本，提高实现目标的可能性，并验证已实施的流程支持并促进业务成功。</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Content Placeholder 3">
            <a:extLst>
              <a:ext uri="{FF2B5EF4-FFF2-40B4-BE49-F238E27FC236}">
                <a16:creationId xmlns:a16="http://schemas.microsoft.com/office/drawing/2014/main" id="{9F514497-C5FD-2445-A499-822C31FAC2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07008" cy="1207008"/>
          </a:xfrm>
          <a:prstGeom prst="rect">
            <a:avLst/>
          </a:prstGeom>
        </p:spPr>
      </p:pic>
      <p:sp>
        <p:nvSpPr>
          <p:cNvPr id="8" name="Content Placeholder 3">
            <a:extLst>
              <a:ext uri="{FF2B5EF4-FFF2-40B4-BE49-F238E27FC236}">
                <a16:creationId xmlns:a16="http://schemas.microsoft.com/office/drawing/2014/main" id="{6816CC65-C45A-49BD-920B-AFA52DAAB2A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791697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EC4B8E7-E430-0B48-A30F-0DC56283ECC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228600"/>
            <a:ext cx="1215390" cy="1207008"/>
          </a:xfrm>
          <a:prstGeom prst="rect">
            <a:avLst/>
          </a:prstGeom>
        </p:spPr>
      </p:pic>
      <p:sp>
        <p:nvSpPr>
          <p:cNvPr id="3" name="Title 2">
            <a:extLst>
              <a:ext uri="{FF2B5EF4-FFF2-40B4-BE49-F238E27FC236}">
                <a16:creationId xmlns:a16="http://schemas.microsoft.com/office/drawing/2014/main" id="{DC8BCBD2-BB96-4EFA-B4BA-DD959BC15EBD}"/>
              </a:ext>
            </a:extLst>
          </p:cNvPr>
          <p:cNvSpPr>
            <a:spLocks noGrp="1"/>
          </p:cNvSpPr>
          <p:nvPr>
            <p:ph type="title"/>
          </p:nvPr>
        </p:nvSpPr>
        <p:spPr>
          <a:xfrm>
            <a:off x="1681734" y="907750"/>
            <a:ext cx="10021824" cy="539496"/>
          </a:xfrm>
        </p:spPr>
        <p:txBody>
          <a:bodyPr>
            <a:normAutofit/>
          </a:bodyPr>
          <a:lstStyle/>
          <a:p>
            <a:r>
              <a:rPr lang="en-US" sz="2800" dirty="0"/>
              <a:t>Implementation Infrastructure (II) </a:t>
            </a:r>
            <a:r>
              <a:rPr lang="zh-CN" altLang="en-US" sz="2800" dirty="0">
                <a:solidFill>
                  <a:srgbClr val="1F497D"/>
                </a:solidFill>
              </a:rPr>
              <a:t>实施基础条件</a:t>
            </a:r>
            <a:endParaRPr lang="en-ZA" sz="2800" dirty="0">
              <a:solidFill>
                <a:srgbClr val="1F497D"/>
              </a:solidFill>
            </a:endParaRPr>
          </a:p>
        </p:txBody>
      </p:sp>
      <p:sp>
        <p:nvSpPr>
          <p:cNvPr id="10" name="Content Placeholder 5">
            <a:extLst>
              <a:ext uri="{FF2B5EF4-FFF2-40B4-BE49-F238E27FC236}">
                <a16:creationId xmlns:a16="http://schemas.microsoft.com/office/drawing/2014/main" id="{9045050B-D4DF-4E82-A4C1-CE0EBE15B30E}"/>
              </a:ext>
            </a:extLst>
          </p:cNvPr>
          <p:cNvSpPr txBox="1">
            <a:spLocks/>
          </p:cNvSpPr>
          <p:nvPr/>
        </p:nvSpPr>
        <p:spPr>
          <a:xfrm>
            <a:off x="463296" y="1447246"/>
            <a:ext cx="11265408" cy="120700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	Intent: </a:t>
            </a:r>
            <a:r>
              <a:rPr lang="en-GB" sz="1400" b="0" i="0" dirty="0">
                <a:solidFill>
                  <a:srgbClr val="505050"/>
                </a:solidFill>
                <a:effectLst/>
                <a:highlight>
                  <a:srgbClr val="FFFFFF"/>
                </a:highlight>
                <a:latin typeface="Gotham A"/>
              </a:rPr>
              <a:t>Ensures that the processes and assets important to an organization’s performance are habitually and persistently followed, used, and</a:t>
            </a:r>
            <a:r>
              <a:rPr lang="en-GB" sz="1400" dirty="0">
                <a:solidFill>
                  <a:srgbClr val="505050"/>
                </a:solidFill>
                <a:highlight>
                  <a:srgbClr val="FFFFFF"/>
                </a:highlight>
                <a:latin typeface="Gotham A"/>
              </a:rPr>
              <a:t> 	</a:t>
            </a:r>
            <a:r>
              <a:rPr lang="en-GB" sz="1400" b="0" i="0" dirty="0">
                <a:solidFill>
                  <a:srgbClr val="505050"/>
                </a:solidFill>
                <a:effectLst/>
                <a:highlight>
                  <a:srgbClr val="FFFFFF"/>
                </a:highlight>
                <a:latin typeface="Gotham A"/>
              </a:rPr>
              <a:t>improved. </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确保对组织绩效重要的流程和资产得到习惯性和持久的遵循、使用和改进。</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Sustains the ability to consistently achieve goals and objectives efficiently and effectively.</a:t>
            </a:r>
            <a:br>
              <a:rPr lang="en-GB" sz="1400" b="0" i="0" dirty="0">
                <a:solidFill>
                  <a:srgbClr val="505050"/>
                </a:solidFill>
                <a:effectLst/>
                <a:highlight>
                  <a:srgbClr val="FFFFFF"/>
                </a:highlight>
                <a:latin typeface="Gotham A"/>
              </a:rPr>
            </a:br>
            <a:r>
              <a:rPr lang="en-GB"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维持高效且有效地持续实现目标和任务的能力。</a:t>
            </a:r>
            <a:endParaRPr lang="en-US" sz="1400" dirty="0">
              <a:solidFill>
                <a:srgbClr val="1F497D"/>
              </a:solidFill>
              <a:latin typeface="DengXian" panose="02010600030101010101" pitchFamily="2" charset="-122"/>
              <a:ea typeface="DengXian" panose="02010600030101010101" pitchFamily="2" charset="-122"/>
            </a:endParaRPr>
          </a:p>
          <a:p>
            <a:endParaRPr lang="en-US" sz="1400" dirty="0"/>
          </a:p>
        </p:txBody>
      </p:sp>
      <p:sp>
        <p:nvSpPr>
          <p:cNvPr id="9" name="Content Placeholder 3">
            <a:extLst>
              <a:ext uri="{FF2B5EF4-FFF2-40B4-BE49-F238E27FC236}">
                <a16:creationId xmlns:a16="http://schemas.microsoft.com/office/drawing/2014/main" id="{11E67682-00B4-4BBF-BF79-4BBA281832A2}"/>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6991193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1D917CA8-C953-3D41-BB4D-AE90DA4944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704" y="310896"/>
            <a:ext cx="1352550" cy="1028700"/>
          </a:xfrm>
          <a:prstGeom prst="rect">
            <a:avLst/>
          </a:prstGeom>
        </p:spPr>
      </p:pic>
      <p:sp>
        <p:nvSpPr>
          <p:cNvPr id="3" name="Title 2">
            <a:extLst>
              <a:ext uri="{FF2B5EF4-FFF2-40B4-BE49-F238E27FC236}">
                <a16:creationId xmlns:a16="http://schemas.microsoft.com/office/drawing/2014/main" id="{729B6FBD-CD48-43B2-99F2-DBC6C3011C1E}"/>
              </a:ext>
            </a:extLst>
          </p:cNvPr>
          <p:cNvSpPr>
            <a:spLocks noGrp="1"/>
          </p:cNvSpPr>
          <p:nvPr>
            <p:ph type="title"/>
          </p:nvPr>
        </p:nvSpPr>
        <p:spPr>
          <a:xfrm>
            <a:off x="1663254" y="923544"/>
            <a:ext cx="10320997" cy="539496"/>
          </a:xfrm>
        </p:spPr>
        <p:txBody>
          <a:bodyPr>
            <a:noAutofit/>
          </a:bodyPr>
          <a:lstStyle/>
          <a:p>
            <a:r>
              <a:rPr lang="en-US" sz="2800" dirty="0"/>
              <a:t>Managing Performance and Measurement (</a:t>
            </a:r>
            <a:r>
              <a:rPr lang="en-US" sz="2800" dirty="0" err="1"/>
              <a:t>MPM</a:t>
            </a:r>
            <a:r>
              <a:rPr lang="en-US" sz="2800" dirty="0"/>
              <a:t>) </a:t>
            </a:r>
            <a:r>
              <a:rPr lang="zh-CN" altLang="en-US" sz="2800" dirty="0">
                <a:solidFill>
                  <a:srgbClr val="1F497D"/>
                </a:solidFill>
              </a:rPr>
              <a:t>管理绩效与度量</a:t>
            </a:r>
            <a:endParaRPr lang="en-ZA" sz="2800" dirty="0">
              <a:solidFill>
                <a:srgbClr val="1F497D"/>
              </a:solidFill>
            </a:endParaRPr>
          </a:p>
        </p:txBody>
      </p:sp>
      <p:sp>
        <p:nvSpPr>
          <p:cNvPr id="12" name="Content Placeholder 7">
            <a:extLst>
              <a:ext uri="{FF2B5EF4-FFF2-40B4-BE49-F238E27FC236}">
                <a16:creationId xmlns:a16="http://schemas.microsoft.com/office/drawing/2014/main" id="{1ED947F3-5626-4DC5-883B-9F149E032369}"/>
              </a:ext>
            </a:extLst>
          </p:cNvPr>
          <p:cNvSpPr txBox="1">
            <a:spLocks/>
          </p:cNvSpPr>
          <p:nvPr/>
        </p:nvSpPr>
        <p:spPr>
          <a:xfrm>
            <a:off x="463296" y="1463040"/>
            <a:ext cx="11265408" cy="141939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400" b="1" dirty="0"/>
              <a:t>	Intent: </a:t>
            </a:r>
            <a:r>
              <a:rPr lang="en-GB" sz="1400" b="0" i="0" dirty="0">
                <a:solidFill>
                  <a:srgbClr val="505050"/>
                </a:solidFill>
                <a:effectLst/>
                <a:highlight>
                  <a:srgbClr val="FFFFFF"/>
                </a:highlight>
                <a:latin typeface="Gotham A"/>
              </a:rPr>
              <a:t>Manages performance using measurement and analysis to achieve business objectives.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使用测量和分析来管理绩效，以实现业务目标。</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Maximizes business return on investment by focusing management and improvement efforts on cost, schedule, and quality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通过将管理和改进工作集中在成本、进度和质量绩效上，最大化业务投资回报。</a:t>
            </a:r>
          </a:p>
        </p:txBody>
      </p:sp>
      <p:sp>
        <p:nvSpPr>
          <p:cNvPr id="8" name="Content Placeholder 3">
            <a:extLst>
              <a:ext uri="{FF2B5EF4-FFF2-40B4-BE49-F238E27FC236}">
                <a16:creationId xmlns:a16="http://schemas.microsoft.com/office/drawing/2014/main" id="{AD359478-7EA2-4394-AC0C-E3B891310A8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5782735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D5C0589-D524-8C48-B3B9-B5BA8350A22C}"/>
              </a:ext>
            </a:extLst>
          </p:cNvPr>
          <p:cNvSpPr>
            <a:spLocks noGrp="1"/>
          </p:cNvSpPr>
          <p:nvPr>
            <p:ph type="title"/>
          </p:nvPr>
        </p:nvSpPr>
        <p:spPr>
          <a:xfrm>
            <a:off x="1692021" y="903763"/>
            <a:ext cx="10021824" cy="539496"/>
          </a:xfrm>
        </p:spPr>
        <p:txBody>
          <a:bodyPr>
            <a:normAutofit/>
          </a:bodyPr>
          <a:lstStyle/>
          <a:p>
            <a:r>
              <a:rPr lang="en-US" sz="2800" dirty="0"/>
              <a:t>Monitor and Control (MC) </a:t>
            </a:r>
            <a:r>
              <a:rPr lang="zh-CN" altLang="en-US" sz="2800" dirty="0">
                <a:solidFill>
                  <a:srgbClr val="1F497D"/>
                </a:solidFill>
              </a:rPr>
              <a:t>控制与监督</a:t>
            </a:r>
            <a:endParaRPr lang="en-US" sz="2000" dirty="0">
              <a:solidFill>
                <a:srgbClr val="1F497D"/>
              </a:solidFill>
            </a:endParaRPr>
          </a:p>
        </p:txBody>
      </p:sp>
      <p:sp>
        <p:nvSpPr>
          <p:cNvPr id="5" name="Content Placeholder 4">
            <a:extLst>
              <a:ext uri="{FF2B5EF4-FFF2-40B4-BE49-F238E27FC236}">
                <a16:creationId xmlns:a16="http://schemas.microsoft.com/office/drawing/2014/main" id="{CB786E03-BE8A-F746-8A22-456740951822}"/>
              </a:ext>
            </a:extLst>
          </p:cNvPr>
          <p:cNvSpPr>
            <a:spLocks noGrp="1"/>
          </p:cNvSpPr>
          <p:nvPr>
            <p:ph idx="4294967295"/>
          </p:nvPr>
        </p:nvSpPr>
        <p:spPr>
          <a:xfrm>
            <a:off x="231648" y="1443259"/>
            <a:ext cx="11728704" cy="1522968"/>
          </a:xfrm>
        </p:spPr>
        <p:txBody>
          <a:bodyPr>
            <a:noAutofit/>
          </a:bodyPr>
          <a:lstStyle/>
          <a:p>
            <a:pPr marL="0" indent="0">
              <a:buNone/>
            </a:pPr>
            <a:r>
              <a:rPr lang="en-US" sz="1400" b="1" dirty="0"/>
              <a:t>	Intent: </a:t>
            </a:r>
            <a:r>
              <a:rPr lang="en-GB" sz="1400" b="0" i="0" dirty="0">
                <a:solidFill>
                  <a:srgbClr val="505050"/>
                </a:solidFill>
                <a:effectLst/>
                <a:highlight>
                  <a:srgbClr val="FFFFFF"/>
                </a:highlight>
                <a:latin typeface="Gotham A"/>
              </a:rPr>
              <a:t>Provides an understanding of the project progress so appropriate corrective actions can be taken when performance deviates significantly 	from plans.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提供对项目进展的理解，以便在绩效与计划明显偏离时采取适当的纠正措施。</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Increases the probability of meeting objectives by taking early actions to adjust for significant performance deviations.</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通过及早采取行动调整重大绩效偏差，增加实现目标的可能性。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6B859F02-E316-0F49-87DC-CBED7541344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8" name="Content Placeholder 3">
            <a:extLst>
              <a:ext uri="{FF2B5EF4-FFF2-40B4-BE49-F238E27FC236}">
                <a16:creationId xmlns:a16="http://schemas.microsoft.com/office/drawing/2014/main" id="{893FA88A-18FE-4C39-948B-AAA77B320F7E}"/>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9469110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6C4BC60-EF81-EB4C-A665-87F237A1A07B}"/>
              </a:ext>
            </a:extLst>
          </p:cNvPr>
          <p:cNvSpPr>
            <a:spLocks noGrp="1"/>
          </p:cNvSpPr>
          <p:nvPr>
            <p:ph type="title"/>
          </p:nvPr>
        </p:nvSpPr>
        <p:spPr>
          <a:xfrm>
            <a:off x="1618488" y="916548"/>
            <a:ext cx="10021824" cy="539496"/>
          </a:xfrm>
        </p:spPr>
        <p:txBody>
          <a:bodyPr>
            <a:normAutofit/>
          </a:bodyPr>
          <a:lstStyle/>
          <a:p>
            <a:r>
              <a:rPr lang="en-US" sz="2800" dirty="0"/>
              <a:t>Organizational Training (OT) </a:t>
            </a:r>
            <a:r>
              <a:rPr lang="ja-JP" altLang="en-US" sz="2800" dirty="0">
                <a:solidFill>
                  <a:srgbClr val="1F497D"/>
                </a:solidFill>
                <a:latin typeface="DengXian Light" panose="02010600030101010101" pitchFamily="2" charset="-122"/>
                <a:ea typeface="DengXian Light" panose="02010600030101010101" pitchFamily="2" charset="-122"/>
              </a:rPr>
              <a:t>组织级培训</a:t>
            </a:r>
            <a:endParaRPr lang="en-US" sz="2800" dirty="0">
              <a:solidFill>
                <a:srgbClr val="1F497D"/>
              </a:solidFill>
            </a:endParaRPr>
          </a:p>
        </p:txBody>
      </p:sp>
      <p:sp>
        <p:nvSpPr>
          <p:cNvPr id="5" name="Content Placeholder 4">
            <a:extLst>
              <a:ext uri="{FF2B5EF4-FFF2-40B4-BE49-F238E27FC236}">
                <a16:creationId xmlns:a16="http://schemas.microsoft.com/office/drawing/2014/main" id="{D45684F9-A7D1-9546-96B3-5A91CC5E5FE2}"/>
              </a:ext>
            </a:extLst>
          </p:cNvPr>
          <p:cNvSpPr>
            <a:spLocks noGrp="1"/>
          </p:cNvSpPr>
          <p:nvPr>
            <p:ph idx="4294967295"/>
          </p:nvPr>
        </p:nvSpPr>
        <p:spPr>
          <a:xfrm>
            <a:off x="466344" y="1456044"/>
            <a:ext cx="11265408" cy="1191670"/>
          </a:xfrm>
        </p:spPr>
        <p:txBody>
          <a:bodyPr>
            <a:normAutofit/>
          </a:bodyPr>
          <a:lstStyle/>
          <a:p>
            <a:pPr marL="0" indent="0">
              <a:buNone/>
            </a:pPr>
            <a:r>
              <a:rPr lang="en-US" sz="1400" b="1" dirty="0"/>
              <a:t>	Intent: </a:t>
            </a:r>
            <a:r>
              <a:rPr lang="en-GB" sz="1400" b="0" i="0" dirty="0">
                <a:solidFill>
                  <a:srgbClr val="505050"/>
                </a:solidFill>
                <a:effectLst/>
                <a:highlight>
                  <a:srgbClr val="FFFFFF"/>
                </a:highlight>
                <a:latin typeface="Gotham A"/>
              </a:rPr>
              <a:t>Develops the skills and knowledge of personnel so they perform their roles efficiently and effectively.</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培养人员的技能和知识，使他们能够高效、有效地完成自己的角色。</a:t>
            </a:r>
            <a:r>
              <a:rPr lang="en-US" sz="1400" b="1" dirty="0"/>
              <a:t>	</a:t>
            </a:r>
          </a:p>
          <a:p>
            <a:pPr marL="0" indent="0">
              <a:buNone/>
            </a:pPr>
            <a:r>
              <a:rPr lang="en-US" sz="1400" b="1" dirty="0"/>
              <a:t>	Value:</a:t>
            </a:r>
            <a:r>
              <a:rPr lang="en-US" sz="1400" dirty="0"/>
              <a:t> </a:t>
            </a:r>
            <a:r>
              <a:rPr lang="en-GB" sz="1400" b="0" i="0" dirty="0">
                <a:solidFill>
                  <a:srgbClr val="505050"/>
                </a:solidFill>
                <a:effectLst/>
                <a:highlight>
                  <a:srgbClr val="FFFFFF"/>
                </a:highlight>
                <a:latin typeface="Gotham A"/>
              </a:rPr>
              <a:t>Enhances individuals' skills and knowledge to improve organizational work performance.</a:t>
            </a:r>
            <a:br>
              <a:rPr lang="en-US" sz="1400" b="0" i="0" dirty="0">
                <a:solidFill>
                  <a:srgbClr val="505050"/>
                </a:solidFill>
                <a:effectLst/>
                <a:highlight>
                  <a:srgbClr val="FFFFFF"/>
                </a:highlight>
                <a:latin typeface="Gotham A"/>
              </a:rPr>
            </a:br>
            <a:r>
              <a:rPr lang="en-US" sz="1400" b="0" i="0" dirty="0">
                <a:solidFill>
                  <a:srgbClr val="505050"/>
                </a:solidFill>
                <a:effectLst/>
                <a:highlight>
                  <a:srgbClr val="FFFFFF"/>
                </a:highlight>
                <a:latin typeface="Gotham A"/>
              </a:rPr>
              <a:t>	</a:t>
            </a:r>
            <a:r>
              <a:rPr lang="zh-CN" altLang="en-US" sz="1400" dirty="0">
                <a:solidFill>
                  <a:srgbClr val="1F497D"/>
                </a:solidFill>
                <a:latin typeface="DengXian" panose="02010600030101010101" pitchFamily="2" charset="-122"/>
                <a:ea typeface="DengXian" panose="02010600030101010101" pitchFamily="2" charset="-122"/>
              </a:rPr>
              <a:t>提升个人的技能和知识，以改善组织的工作绩效。</a:t>
            </a:r>
            <a:endParaRPr lang="en-US" sz="1400" dirty="0">
              <a:solidFill>
                <a:srgbClr val="1F497D"/>
              </a:solidFill>
              <a:latin typeface="DengXian" panose="02010600030101010101" pitchFamily="2" charset="-122"/>
              <a:ea typeface="DengXian" panose="02010600030101010101" pitchFamily="2" charset="-122"/>
            </a:endParaRPr>
          </a:p>
        </p:txBody>
      </p:sp>
      <p:pic>
        <p:nvPicPr>
          <p:cNvPr id="7" name="Picture 6">
            <a:extLst>
              <a:ext uri="{FF2B5EF4-FFF2-40B4-BE49-F238E27FC236}">
                <a16:creationId xmlns:a16="http://schemas.microsoft.com/office/drawing/2014/main" id="{794B23BD-7F77-0348-8E21-4C5522D314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338" y="237744"/>
            <a:ext cx="1200150" cy="1076325"/>
          </a:xfrm>
          <a:prstGeom prst="rect">
            <a:avLst/>
          </a:prstGeom>
        </p:spPr>
      </p:pic>
      <p:sp>
        <p:nvSpPr>
          <p:cNvPr id="8" name="Content Placeholder 3">
            <a:extLst>
              <a:ext uri="{FF2B5EF4-FFF2-40B4-BE49-F238E27FC236}">
                <a16:creationId xmlns:a16="http://schemas.microsoft.com/office/drawing/2014/main" id="{8A731301-3CCC-4F02-AC81-BE245599CC65}"/>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96288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8AE9ED4-B81C-E643-B0FB-82AA3CD0D245}"/>
              </a:ext>
            </a:extLst>
          </p:cNvPr>
          <p:cNvSpPr>
            <a:spLocks noGrp="1"/>
          </p:cNvSpPr>
          <p:nvPr>
            <p:ph type="title"/>
          </p:nvPr>
        </p:nvSpPr>
        <p:spPr>
          <a:xfrm>
            <a:off x="1736746" y="907750"/>
            <a:ext cx="10021824" cy="539496"/>
          </a:xfrm>
        </p:spPr>
        <p:txBody>
          <a:bodyPr>
            <a:normAutofit/>
          </a:bodyPr>
          <a:lstStyle/>
          <a:p>
            <a:r>
              <a:rPr lang="en-US" sz="2800" dirty="0"/>
              <a:t>Peer Reviews (PR) </a:t>
            </a:r>
            <a:r>
              <a:rPr lang="ja-JP" altLang="en-US" sz="2800" dirty="0">
                <a:solidFill>
                  <a:srgbClr val="1F497D"/>
                </a:solidFill>
                <a:latin typeface="DengXian Light" panose="02010600030101010101" pitchFamily="2" charset="-122"/>
                <a:ea typeface="DengXian Light" panose="02010600030101010101" pitchFamily="2" charset="-122"/>
              </a:rPr>
              <a:t>同行评审</a:t>
            </a:r>
            <a:endParaRPr lang="en-US" sz="2800" dirty="0">
              <a:solidFill>
                <a:srgbClr val="1F497D"/>
              </a:solidFill>
            </a:endParaRPr>
          </a:p>
        </p:txBody>
      </p:sp>
      <p:pic>
        <p:nvPicPr>
          <p:cNvPr id="7" name="Picture 6">
            <a:extLst>
              <a:ext uri="{FF2B5EF4-FFF2-40B4-BE49-F238E27FC236}">
                <a16:creationId xmlns:a16="http://schemas.microsoft.com/office/drawing/2014/main" id="{1A54BFAC-FF60-1E4C-8144-8651057084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extBox 7">
            <a:extLst>
              <a:ext uri="{FF2B5EF4-FFF2-40B4-BE49-F238E27FC236}">
                <a16:creationId xmlns:a16="http://schemas.microsoft.com/office/drawing/2014/main" id="{48A0ADB3-2913-A34C-998D-46F2649F32A7}"/>
              </a:ext>
            </a:extLst>
          </p:cNvPr>
          <p:cNvSpPr txBox="1"/>
          <p:nvPr/>
        </p:nvSpPr>
        <p:spPr>
          <a:xfrm>
            <a:off x="405236" y="1447246"/>
            <a:ext cx="11381528" cy="1190069"/>
          </a:xfrm>
          <a:prstGeom prst="rect">
            <a:avLst/>
          </a:prstGeom>
          <a:noFill/>
        </p:spPr>
        <p:txBody>
          <a:bodyPr wrap="square" rtlCol="0">
            <a:spAutoFit/>
          </a:bodyPr>
          <a:lstStyle/>
          <a:p>
            <a:pPr>
              <a:lnSpc>
                <a:spcPct val="90000"/>
              </a:lnSpc>
              <a:spcBef>
                <a:spcPts val="1000"/>
              </a:spcBef>
            </a:pPr>
            <a:r>
              <a:rPr lang="en-US" sz="1400" b="1" dirty="0"/>
              <a:t>	Intent: </a:t>
            </a:r>
            <a:r>
              <a:rPr lang="en-GB" sz="1400" dirty="0"/>
              <a:t>Identifies and addresses process performance and work product issues through reviews by the producer's peers or Subject Matter 	Experts (SMEs).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通过由生产者的同行或专家进行的审查，识别和解决过程绩效和工作产品问题。</a:t>
            </a:r>
            <a:endParaRPr lang="en-ZA" altLang="zh-CN" sz="1400" dirty="0">
              <a:solidFill>
                <a:srgbClr val="1F497D"/>
              </a:solidFill>
              <a:latin typeface="DengXian" panose="02010600030101010101" pitchFamily="2" charset="-122"/>
              <a:ea typeface="DengXian" panose="02010600030101010101" pitchFamily="2" charset="-122"/>
            </a:endParaRPr>
          </a:p>
          <a:p>
            <a:pPr>
              <a:lnSpc>
                <a:spcPct val="90000"/>
              </a:lnSpc>
              <a:spcBef>
                <a:spcPts val="1000"/>
              </a:spcBef>
            </a:pPr>
            <a:r>
              <a:rPr lang="en-ZA" sz="1400" b="1" dirty="0">
                <a:solidFill>
                  <a:srgbClr val="1F497D"/>
                </a:solidFill>
                <a:latin typeface="DengXian" panose="02010600030101010101" pitchFamily="2" charset="-122"/>
                <a:ea typeface="DengXian" panose="02010600030101010101" pitchFamily="2" charset="-122"/>
              </a:rPr>
              <a:t>	</a:t>
            </a:r>
            <a:r>
              <a:rPr lang="en-US" sz="1400" b="1" dirty="0"/>
              <a:t>Value:</a:t>
            </a:r>
            <a:r>
              <a:rPr lang="en-US" sz="1400" dirty="0"/>
              <a:t> </a:t>
            </a:r>
            <a:r>
              <a:rPr lang="en-GB" sz="1400" dirty="0"/>
              <a:t>Reduces cost and rework by uncovering issues or defects early.</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通过及早发现问题或缺陷，降低成本和返工。</a:t>
            </a:r>
            <a:endParaRPr lang="en-US" sz="1400" dirty="0">
              <a:solidFill>
                <a:srgbClr val="1F497D"/>
              </a:solidFill>
              <a:latin typeface="DengXian" panose="02010600030101010101" pitchFamily="2" charset="-122"/>
              <a:ea typeface="DengXian" panose="02010600030101010101" pitchFamily="2" charset="-122"/>
            </a:endParaRPr>
          </a:p>
        </p:txBody>
      </p:sp>
      <p:sp>
        <p:nvSpPr>
          <p:cNvPr id="9" name="Content Placeholder 3">
            <a:extLst>
              <a:ext uri="{FF2B5EF4-FFF2-40B4-BE49-F238E27FC236}">
                <a16:creationId xmlns:a16="http://schemas.microsoft.com/office/drawing/2014/main" id="{6700B825-4B23-41CB-B6E9-8CBDBB9E433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1809989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1946A40-B0D3-7F42-92B3-A8F1BDFD81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29184"/>
            <a:ext cx="1381125" cy="1028700"/>
          </a:xfrm>
          <a:prstGeom prst="rect">
            <a:avLst/>
          </a:prstGeom>
        </p:spPr>
      </p:pic>
      <p:sp>
        <p:nvSpPr>
          <p:cNvPr id="9" name="Content Placeholder 8">
            <a:extLst>
              <a:ext uri="{FF2B5EF4-FFF2-40B4-BE49-F238E27FC236}">
                <a16:creationId xmlns:a16="http://schemas.microsoft.com/office/drawing/2014/main" id="{8EEFC331-18F4-8A46-A869-BA52963D8CE8}"/>
              </a:ext>
            </a:extLst>
          </p:cNvPr>
          <p:cNvSpPr txBox="1">
            <a:spLocks noGrp="1"/>
          </p:cNvSpPr>
          <p:nvPr>
            <p:ph idx="4294967295"/>
          </p:nvPr>
        </p:nvSpPr>
        <p:spPr>
          <a:xfrm>
            <a:off x="466344" y="1408368"/>
            <a:ext cx="11265408" cy="996170"/>
          </a:xfrm>
          <a:prstGeom prst="rect">
            <a:avLst/>
          </a:prstGeom>
          <a:noFill/>
        </p:spPr>
        <p:txBody>
          <a:bodyPr wrap="square" rtlCol="0">
            <a:spAutoFit/>
          </a:bodyPr>
          <a:lstStyle/>
          <a:p>
            <a:pPr marL="0" indent="0">
              <a:buNone/>
            </a:pPr>
            <a:r>
              <a:rPr lang="en-US" sz="1400" b="1" dirty="0"/>
              <a:t>	Intent: </a:t>
            </a:r>
            <a:r>
              <a:rPr lang="en-GB" sz="1400" dirty="0"/>
              <a:t>Develop plans to describe what is needed to accomplish the work within the standards and constraints of the organization.</a:t>
            </a:r>
            <a:br>
              <a:rPr lang="en-US" sz="1400" dirty="0">
                <a:effectLst/>
              </a:rPr>
            </a:br>
            <a:r>
              <a:rPr lang="en-US" sz="1400" dirty="0">
                <a:effectLst/>
              </a:rPr>
              <a:t>	</a:t>
            </a:r>
            <a:r>
              <a:rPr lang="zh-CN" altLang="en-US" sz="1400" dirty="0">
                <a:solidFill>
                  <a:srgbClr val="1F497D"/>
                </a:solidFill>
                <a:latin typeface="DengXian" panose="02010600030101010101" pitchFamily="2" charset="-122"/>
                <a:ea typeface="DengXian" panose="02010600030101010101" pitchFamily="2" charset="-122"/>
              </a:rPr>
              <a:t>制定计划，描述在组织的标准和限制条件下完成工作所需的内容。</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Optimizes cost, functionality, and quality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优化成本、功能和质量，增加实现目标的可能性。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Title 7">
            <a:extLst>
              <a:ext uri="{FF2B5EF4-FFF2-40B4-BE49-F238E27FC236}">
                <a16:creationId xmlns:a16="http://schemas.microsoft.com/office/drawing/2014/main" id="{3ADF6F91-5E76-4848-81D9-6C12BBE07647}"/>
              </a:ext>
            </a:extLst>
          </p:cNvPr>
          <p:cNvSpPr txBox="1">
            <a:spLocks noGrp="1"/>
          </p:cNvSpPr>
          <p:nvPr>
            <p:ph type="title"/>
          </p:nvPr>
        </p:nvSpPr>
        <p:spPr>
          <a:xfrm>
            <a:off x="1692021" y="877753"/>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Planning (PLAN) </a:t>
            </a:r>
            <a:r>
              <a:rPr lang="ja-JP" altLang="en-US" dirty="0">
                <a:solidFill>
                  <a:srgbClr val="1F497D"/>
                </a:solidFill>
                <a:latin typeface="DengXian Light" panose="02010600030101010101" pitchFamily="2" charset="-122"/>
                <a:ea typeface="DengXian Light" panose="02010600030101010101" pitchFamily="2" charset="-122"/>
              </a:rPr>
              <a:t>策划</a:t>
            </a:r>
            <a:endParaRPr lang="en-US" dirty="0">
              <a:solidFill>
                <a:srgbClr val="1F497D"/>
              </a:solidFill>
            </a:endParaRPr>
          </a:p>
        </p:txBody>
      </p:sp>
      <p:sp>
        <p:nvSpPr>
          <p:cNvPr id="11" name="Content Placeholder 3">
            <a:extLst>
              <a:ext uri="{FF2B5EF4-FFF2-40B4-BE49-F238E27FC236}">
                <a16:creationId xmlns:a16="http://schemas.microsoft.com/office/drawing/2014/main" id="{3A60A1DC-6440-4AEB-BD14-7BFF58BA7603}"/>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4090337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5AE3B20-2D39-3C46-BD9A-23D957F99C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52550" cy="1028700"/>
          </a:xfrm>
          <a:prstGeom prst="rect">
            <a:avLst/>
          </a:prstGeom>
        </p:spPr>
      </p:pic>
      <p:sp>
        <p:nvSpPr>
          <p:cNvPr id="9" name="Title 7">
            <a:extLst>
              <a:ext uri="{FF2B5EF4-FFF2-40B4-BE49-F238E27FC236}">
                <a16:creationId xmlns:a16="http://schemas.microsoft.com/office/drawing/2014/main" id="{D0AECBCD-8363-284B-BB51-55AF3D65C681}"/>
              </a:ext>
            </a:extLst>
          </p:cNvPr>
          <p:cNvSpPr txBox="1">
            <a:spLocks noGrp="1"/>
          </p:cNvSpPr>
          <p:nvPr>
            <p:ph type="title"/>
          </p:nvPr>
        </p:nvSpPr>
        <p:spPr>
          <a:xfrm>
            <a:off x="1663446" y="859465"/>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Asset Development (PAD) </a:t>
            </a:r>
            <a:r>
              <a:rPr lang="zh-CN" altLang="en-US" dirty="0">
                <a:solidFill>
                  <a:srgbClr val="1F497D"/>
                </a:solidFill>
                <a:latin typeface="+mj-ea"/>
                <a:ea typeface="+mj-ea"/>
              </a:rPr>
              <a:t>过程资产开发</a:t>
            </a:r>
            <a:endParaRPr lang="en-US" dirty="0">
              <a:solidFill>
                <a:srgbClr val="1F497D"/>
              </a:solidFill>
            </a:endParaRPr>
          </a:p>
        </p:txBody>
      </p:sp>
      <p:sp>
        <p:nvSpPr>
          <p:cNvPr id="10" name="Content Placeholder 9">
            <a:extLst>
              <a:ext uri="{FF2B5EF4-FFF2-40B4-BE49-F238E27FC236}">
                <a16:creationId xmlns:a16="http://schemas.microsoft.com/office/drawing/2014/main" id="{518A46D4-BE00-814E-8A9B-BD69C49159B9}"/>
              </a:ext>
            </a:extLst>
          </p:cNvPr>
          <p:cNvSpPr txBox="1">
            <a:spLocks noGrp="1"/>
          </p:cNvSpPr>
          <p:nvPr>
            <p:ph idx="4294967295"/>
          </p:nvPr>
        </p:nvSpPr>
        <p:spPr>
          <a:xfrm>
            <a:off x="463296" y="1339596"/>
            <a:ext cx="11265408" cy="996170"/>
          </a:xfrm>
          <a:prstGeom prst="rect">
            <a:avLst/>
          </a:prstGeom>
          <a:noFill/>
        </p:spPr>
        <p:txBody>
          <a:bodyPr wrap="square" rtlCol="0">
            <a:spAutoFit/>
          </a:bodyPr>
          <a:lstStyle/>
          <a:p>
            <a:pPr marL="0" indent="0">
              <a:buNone/>
            </a:pPr>
            <a:r>
              <a:rPr lang="en-US" sz="1400" b="1" dirty="0"/>
              <a:t>	Intent: </a:t>
            </a:r>
            <a:r>
              <a:rPr lang="en-GB" sz="1400" dirty="0"/>
              <a:t>Develops the process assets necessary to perform the work and keeps them updated.</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开发完成工作所需的流程资产，并保持其更新。</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capability to understand and repeat successful performance.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提供理解和重复成功绩效的能力。</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4F9F7155-69C5-47DF-B4F8-7A9C296B71B4}"/>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7723397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C61F88B-A93B-E44F-A278-9F680C286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896" y="310896"/>
            <a:ext cx="1381125" cy="1050433"/>
          </a:xfrm>
          <a:prstGeom prst="rect">
            <a:avLst/>
          </a:prstGeom>
        </p:spPr>
      </p:pic>
      <p:sp>
        <p:nvSpPr>
          <p:cNvPr id="9" name="Title 7">
            <a:extLst>
              <a:ext uri="{FF2B5EF4-FFF2-40B4-BE49-F238E27FC236}">
                <a16:creationId xmlns:a16="http://schemas.microsoft.com/office/drawing/2014/main" id="{2A97733B-5B53-6D4F-B3A6-238856A5C58A}"/>
              </a:ext>
            </a:extLst>
          </p:cNvPr>
          <p:cNvSpPr txBox="1">
            <a:spLocks noGrp="1"/>
          </p:cNvSpPr>
          <p:nvPr>
            <p:ph type="title"/>
          </p:nvPr>
        </p:nvSpPr>
        <p:spPr>
          <a:xfrm>
            <a:off x="1692021" y="88119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Management (PCM) </a:t>
            </a:r>
            <a:r>
              <a:rPr lang="ja-JP" altLang="en-US" dirty="0">
                <a:solidFill>
                  <a:srgbClr val="1F497D"/>
                </a:solidFill>
                <a:latin typeface="DengXian Light" panose="02010600030101010101" pitchFamily="2" charset="-122"/>
                <a:ea typeface="DengXian Light" panose="02010600030101010101" pitchFamily="2" charset="-122"/>
              </a:rPr>
              <a:t>过程管理</a:t>
            </a:r>
            <a:endParaRPr lang="en-US" dirty="0">
              <a:solidFill>
                <a:srgbClr val="1F497D"/>
              </a:solidFill>
            </a:endParaRPr>
          </a:p>
        </p:txBody>
      </p:sp>
      <p:sp>
        <p:nvSpPr>
          <p:cNvPr id="10" name="Content Placeholder 9">
            <a:extLst>
              <a:ext uri="{FF2B5EF4-FFF2-40B4-BE49-F238E27FC236}">
                <a16:creationId xmlns:a16="http://schemas.microsoft.com/office/drawing/2014/main" id="{95A440E3-2399-234F-BAE5-CFDCD8133EE3}"/>
              </a:ext>
            </a:extLst>
          </p:cNvPr>
          <p:cNvSpPr txBox="1">
            <a:spLocks noGrp="1"/>
          </p:cNvSpPr>
          <p:nvPr>
            <p:ph idx="4294967295"/>
          </p:nvPr>
        </p:nvSpPr>
        <p:spPr>
          <a:xfrm>
            <a:off x="290641" y="1361329"/>
            <a:ext cx="11610717" cy="1383969"/>
          </a:xfrm>
          <a:prstGeom prst="rect">
            <a:avLst/>
          </a:prstGeom>
          <a:noFill/>
        </p:spPr>
        <p:txBody>
          <a:bodyPr wrap="square" rtlCol="0">
            <a:spAutoFit/>
          </a:bodyPr>
          <a:lstStyle/>
          <a:p>
            <a:pPr marL="0" indent="0">
              <a:buNone/>
            </a:pPr>
            <a:r>
              <a:rPr lang="en-US" sz="1400" b="1" dirty="0"/>
              <a:t>	Intent: </a:t>
            </a:r>
            <a:r>
              <a:rPr lang="en-GB" sz="1400" dirty="0"/>
              <a:t>Manages and implements the continuous performance improvement of processes and infrastructure to meet business 	objectives by 	identifying and implementing the most beneficial process improvements and making performance results visible, accessible, and sustainable.</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通过识别和实施最有益的流程改进，并使绩效结果可见、可访问和可持续，管理和实施流程和基础设施</a:t>
            </a:r>
            <a:r>
              <a:rPr lang="en-GB"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的持续绩效改进，以实现业</a:t>
            </a:r>
            <a:r>
              <a:rPr lang="en-ZA" altLang="zh-CN" sz="1400" dirty="0">
                <a:solidFill>
                  <a:srgbClr val="1F497D"/>
                </a:solidFill>
                <a:latin typeface="DengXian" panose="02010600030101010101" pitchFamily="2" charset="-122"/>
                <a:ea typeface="DengXian" panose="02010600030101010101" pitchFamily="2" charset="-122"/>
              </a:rPr>
              <a:t>	</a:t>
            </a:r>
            <a:r>
              <a:rPr lang="zh-CN" altLang="en-US" sz="1400" dirty="0">
                <a:solidFill>
                  <a:srgbClr val="1F497D"/>
                </a:solidFill>
                <a:latin typeface="DengXian" panose="02010600030101010101" pitchFamily="2" charset="-122"/>
                <a:ea typeface="DengXian" panose="02010600030101010101" pitchFamily="2" charset="-122"/>
              </a:rPr>
              <a:t>务目标</a:t>
            </a:r>
            <a:endParaRPr lang="en-ZA"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Ensures that processes, infrastructure, and their improvement contribute to successfully meeting business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确保流程、基础设施及其改进对成功实现业务目标起到贡献。</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BA79F4AB-08BE-F452-D988-77913BD35438}"/>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7587618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7A46A86D-420C-994B-BB9A-87E1DC9BC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90625" cy="1019175"/>
          </a:xfrm>
          <a:prstGeom prst="rect">
            <a:avLst/>
          </a:prstGeom>
        </p:spPr>
      </p:pic>
      <p:sp>
        <p:nvSpPr>
          <p:cNvPr id="8" name="Title 7">
            <a:extLst>
              <a:ext uri="{FF2B5EF4-FFF2-40B4-BE49-F238E27FC236}">
                <a16:creationId xmlns:a16="http://schemas.microsoft.com/office/drawing/2014/main" id="{7DC3611C-0E7E-5845-A472-220CD96F0A64}"/>
              </a:ext>
            </a:extLst>
          </p:cNvPr>
          <p:cNvSpPr txBox="1">
            <a:spLocks noGrp="1"/>
          </p:cNvSpPr>
          <p:nvPr>
            <p:ph type="title"/>
          </p:nvPr>
        </p:nvSpPr>
        <p:spPr>
          <a:xfrm>
            <a:off x="1656969" y="893309"/>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Process Quality Assurance (PQA) </a:t>
            </a:r>
            <a:r>
              <a:rPr lang="zh-CN" altLang="en-US" dirty="0">
                <a:solidFill>
                  <a:srgbClr val="1F497D"/>
                </a:solidFill>
                <a:latin typeface="+mj-ea"/>
                <a:ea typeface="+mj-ea"/>
              </a:rPr>
              <a:t>过程质量保证</a:t>
            </a:r>
            <a:endParaRPr lang="en-US" dirty="0">
              <a:solidFill>
                <a:srgbClr val="1F497D"/>
              </a:solidFill>
            </a:endParaRPr>
          </a:p>
        </p:txBody>
      </p:sp>
      <p:sp>
        <p:nvSpPr>
          <p:cNvPr id="9" name="Content Placeholder 8">
            <a:extLst>
              <a:ext uri="{FF2B5EF4-FFF2-40B4-BE49-F238E27FC236}">
                <a16:creationId xmlns:a16="http://schemas.microsoft.com/office/drawing/2014/main" id="{E5E65591-E634-B04A-BC24-D549AAFDA061}"/>
              </a:ext>
            </a:extLst>
          </p:cNvPr>
          <p:cNvSpPr txBox="1">
            <a:spLocks noGrp="1"/>
          </p:cNvSpPr>
          <p:nvPr>
            <p:ph idx="4294967295"/>
          </p:nvPr>
        </p:nvSpPr>
        <p:spPr>
          <a:xfrm>
            <a:off x="275702" y="1373440"/>
            <a:ext cx="11640595" cy="996170"/>
          </a:xfrm>
          <a:prstGeom prst="rect">
            <a:avLst/>
          </a:prstGeom>
          <a:noFill/>
        </p:spPr>
        <p:txBody>
          <a:bodyPr wrap="square" rtlCol="0">
            <a:spAutoFit/>
          </a:bodyPr>
          <a:lstStyle/>
          <a:p>
            <a:pPr marL="0" indent="0">
              <a:buNone/>
            </a:pPr>
            <a:r>
              <a:rPr lang="en-US" sz="1400" b="1" dirty="0"/>
              <a:t>	Intent: </a:t>
            </a:r>
            <a:r>
              <a:rPr lang="en-GB" sz="1400" dirty="0"/>
              <a:t>Verifies and enables improvement of the quality of the processes performed and resulting work products.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验证并促进所执行的流程和最终工作产品的质量改进。</a:t>
            </a:r>
            <a:r>
              <a:rPr lang="en-US" sz="1400" b="1" dirty="0"/>
              <a:t>	</a:t>
            </a:r>
          </a:p>
          <a:p>
            <a:pPr marL="0" indent="0">
              <a:buNone/>
            </a:pPr>
            <a:r>
              <a:rPr lang="en-US" sz="1400" b="1" dirty="0"/>
              <a:t>	Value:</a:t>
            </a:r>
            <a:r>
              <a:rPr lang="en-US" sz="1400" dirty="0"/>
              <a:t> </a:t>
            </a:r>
            <a:r>
              <a:rPr lang="en-GB" sz="1400" dirty="0"/>
              <a:t>Increases the consistent use and improvement of the processes to maximize business benefit and customer satisfaction.</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增加对流程的一贯使用和改进，以最大化业务效益和客户满意度。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6417183C-1A1D-479B-97E4-9A18F85309F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33576851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8150284-8292-8D49-BC36-D75E9DDA27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A30BB0C4-F057-5045-890F-0F9D4FAAAC7B}"/>
              </a:ext>
            </a:extLst>
          </p:cNvPr>
          <p:cNvSpPr txBox="1">
            <a:spLocks noGrp="1"/>
          </p:cNvSpPr>
          <p:nvPr>
            <p:ph type="title"/>
          </p:nvPr>
        </p:nvSpPr>
        <p:spPr>
          <a:xfrm>
            <a:off x="1618107" y="90882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Product Integration (PI) </a:t>
            </a:r>
            <a:r>
              <a:rPr lang="ja-JP" altLang="en-US" dirty="0">
                <a:solidFill>
                  <a:srgbClr val="1F497D"/>
                </a:solidFill>
                <a:latin typeface="DengXian Light" panose="02010600030101010101" pitchFamily="2" charset="-122"/>
                <a:ea typeface="DengXian Light" panose="02010600030101010101" pitchFamily="2" charset="-122"/>
              </a:rPr>
              <a:t>产品集成</a:t>
            </a:r>
            <a:endParaRPr lang="en-US" dirty="0">
              <a:solidFill>
                <a:srgbClr val="1F497D"/>
              </a:solidFill>
            </a:endParaRPr>
          </a:p>
        </p:txBody>
      </p:sp>
      <p:sp>
        <p:nvSpPr>
          <p:cNvPr id="9" name="Content Placeholder 8">
            <a:extLst>
              <a:ext uri="{FF2B5EF4-FFF2-40B4-BE49-F238E27FC236}">
                <a16:creationId xmlns:a16="http://schemas.microsoft.com/office/drawing/2014/main" id="{65C865DC-106D-8D40-B690-9000D793161A}"/>
              </a:ext>
            </a:extLst>
          </p:cNvPr>
          <p:cNvSpPr txBox="1">
            <a:spLocks noGrp="1"/>
          </p:cNvSpPr>
          <p:nvPr>
            <p:ph idx="4294967295"/>
          </p:nvPr>
        </p:nvSpPr>
        <p:spPr>
          <a:xfrm>
            <a:off x="300473" y="1388959"/>
            <a:ext cx="11591053" cy="996170"/>
          </a:xfrm>
          <a:prstGeom prst="rect">
            <a:avLst/>
          </a:prstGeom>
          <a:noFill/>
        </p:spPr>
        <p:txBody>
          <a:bodyPr wrap="square" rtlCol="0">
            <a:spAutoFit/>
          </a:bodyPr>
          <a:lstStyle/>
          <a:p>
            <a:pPr marL="0" indent="0">
              <a:buNone/>
            </a:pPr>
            <a:r>
              <a:rPr lang="en-US" sz="1400" b="1" dirty="0"/>
              <a:t>	Intent: </a:t>
            </a:r>
            <a:r>
              <a:rPr lang="en-GB" sz="1400" dirty="0"/>
              <a:t>Integrates and delivers the solution that addresses functionality, performance,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整合并交付解决方案，满足功能、性能和质量要求。</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customers' satisfaction by giving them a solution that meets or exceeds their functionality and quality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通过为客户提供满足或超出其功能和质量要求的解决方案，提高客户满意度。</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7153C72C-E5D1-438B-B38F-AEC07EF70B4B}"/>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8946695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25BD358-13C0-704B-AF4F-E0C810DD2F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3464" y="350520"/>
            <a:ext cx="1190625" cy="1028700"/>
          </a:xfrm>
          <a:prstGeom prst="rect">
            <a:avLst/>
          </a:prstGeom>
        </p:spPr>
      </p:pic>
      <p:sp>
        <p:nvSpPr>
          <p:cNvPr id="8" name="Title 7">
            <a:extLst>
              <a:ext uri="{FF2B5EF4-FFF2-40B4-BE49-F238E27FC236}">
                <a16:creationId xmlns:a16="http://schemas.microsoft.com/office/drawing/2014/main" id="{FA76391E-56A4-1D46-8B16-6C6198C4AD7F}"/>
              </a:ext>
            </a:extLst>
          </p:cNvPr>
          <p:cNvSpPr txBox="1">
            <a:spLocks noGrp="1"/>
          </p:cNvSpPr>
          <p:nvPr>
            <p:ph type="title"/>
          </p:nvPr>
        </p:nvSpPr>
        <p:spPr>
          <a:xfrm>
            <a:off x="1474089" y="899089"/>
            <a:ext cx="11243825"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Requirements Development and Management (RDM) </a:t>
            </a:r>
            <a:r>
              <a:rPr lang="zh-CN" altLang="en-US" dirty="0">
                <a:solidFill>
                  <a:srgbClr val="1F497D"/>
                </a:solidFill>
                <a:latin typeface="+mj-ea"/>
                <a:ea typeface="+mj-ea"/>
              </a:rPr>
              <a:t>需求开发与管理</a:t>
            </a:r>
            <a:endParaRPr lang="en-US" dirty="0">
              <a:solidFill>
                <a:srgbClr val="1F497D"/>
              </a:solidFill>
            </a:endParaRPr>
          </a:p>
        </p:txBody>
      </p:sp>
      <p:sp>
        <p:nvSpPr>
          <p:cNvPr id="9" name="Content Placeholder 8">
            <a:extLst>
              <a:ext uri="{FF2B5EF4-FFF2-40B4-BE49-F238E27FC236}">
                <a16:creationId xmlns:a16="http://schemas.microsoft.com/office/drawing/2014/main" id="{28877B3D-5089-C64D-BC81-EDE247A11522}"/>
              </a:ext>
            </a:extLst>
          </p:cNvPr>
          <p:cNvSpPr txBox="1">
            <a:spLocks noGrp="1"/>
          </p:cNvSpPr>
          <p:nvPr>
            <p:ph idx="4294967295"/>
          </p:nvPr>
        </p:nvSpPr>
        <p:spPr>
          <a:xfrm>
            <a:off x="283464" y="1379220"/>
            <a:ext cx="11591052" cy="996170"/>
          </a:xfrm>
          <a:prstGeom prst="rect">
            <a:avLst/>
          </a:prstGeom>
          <a:noFill/>
        </p:spPr>
        <p:txBody>
          <a:bodyPr wrap="square" rtlCol="0">
            <a:spAutoFit/>
          </a:bodyPr>
          <a:lstStyle/>
          <a:p>
            <a:pPr marL="0" indent="0">
              <a:buNone/>
            </a:pPr>
            <a:r>
              <a:rPr lang="en-US" sz="1400" b="1" dirty="0"/>
              <a:t>	Intent: </a:t>
            </a:r>
            <a:r>
              <a:rPr lang="en-GB" sz="1400" dirty="0"/>
              <a:t>Elicits requirements, confirms common understanding by stakeholders, and aligns requirements, plans, and work products.</a:t>
            </a:r>
            <a:br>
              <a:rPr lang="en-US" sz="1400" dirty="0"/>
            </a:br>
            <a:r>
              <a:rPr lang="en-US" sz="1400" dirty="0"/>
              <a:t>	</a:t>
            </a:r>
            <a:r>
              <a:rPr lang="zh-CN" altLang="en-US" sz="1400" dirty="0">
                <a:solidFill>
                  <a:srgbClr val="1F497D"/>
                </a:solidFill>
              </a:rPr>
              <a:t>引发需求，通过利益相关者确认共同理解，并将需求、计划和工作产品对齐。</a:t>
            </a:r>
            <a:r>
              <a:rPr lang="en-US" sz="1400" b="1" dirty="0"/>
              <a:t>	</a:t>
            </a:r>
          </a:p>
          <a:p>
            <a:pPr marL="0" indent="0">
              <a:buNone/>
            </a:pPr>
            <a:r>
              <a:rPr lang="en-US" sz="1400" b="1" dirty="0"/>
              <a:t>	Value:</a:t>
            </a:r>
            <a:r>
              <a:rPr lang="en-US" sz="1400" dirty="0"/>
              <a:t> </a:t>
            </a:r>
            <a:r>
              <a:rPr lang="en-GB" sz="1400" dirty="0"/>
              <a:t>Increases likelihood that the solution meets or exceeds customer expectations and needs.</a:t>
            </a:r>
            <a:br>
              <a:rPr lang="en-US" sz="1400" dirty="0"/>
            </a:br>
            <a:r>
              <a:rPr lang="en-US" sz="1400" dirty="0"/>
              <a:t>	</a:t>
            </a:r>
            <a:r>
              <a:rPr lang="zh-CN" altLang="en-US" sz="1400" dirty="0">
                <a:solidFill>
                  <a:srgbClr val="1F497D"/>
                </a:solidFill>
              </a:rPr>
              <a:t>增加解决方案满足或超出客户期望和需求的可能性。</a:t>
            </a:r>
            <a:endParaRPr lang="en-US" sz="1400" dirty="0">
              <a:solidFill>
                <a:srgbClr val="1F497D"/>
              </a:solidFill>
            </a:endParaRPr>
          </a:p>
        </p:txBody>
      </p:sp>
      <p:sp>
        <p:nvSpPr>
          <p:cNvPr id="11" name="Content Placeholder 3">
            <a:extLst>
              <a:ext uri="{FF2B5EF4-FFF2-40B4-BE49-F238E27FC236}">
                <a16:creationId xmlns:a16="http://schemas.microsoft.com/office/drawing/2014/main" id="{52858F2E-4CB5-4A8C-AB8A-89A0749509B7}"/>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13832326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720B7C4-5A9A-BB42-9F2B-CEC437533E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472" y="347472"/>
            <a:ext cx="1381125" cy="990600"/>
          </a:xfrm>
          <a:prstGeom prst="rect">
            <a:avLst/>
          </a:prstGeom>
        </p:spPr>
      </p:pic>
      <p:sp>
        <p:nvSpPr>
          <p:cNvPr id="8" name="Title 7">
            <a:extLst>
              <a:ext uri="{FF2B5EF4-FFF2-40B4-BE49-F238E27FC236}">
                <a16:creationId xmlns:a16="http://schemas.microsoft.com/office/drawing/2014/main" id="{9F0BE44C-B62C-734E-8D2C-364C3DC4D8F0}"/>
              </a:ext>
            </a:extLst>
          </p:cNvPr>
          <p:cNvSpPr txBox="1">
            <a:spLocks noGrp="1"/>
          </p:cNvSpPr>
          <p:nvPr>
            <p:ph type="title"/>
          </p:nvPr>
        </p:nvSpPr>
        <p:spPr>
          <a:xfrm>
            <a:off x="1679171" y="866717"/>
            <a:ext cx="10165357"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Risk and Opportunity Management (</a:t>
            </a:r>
            <a:r>
              <a:rPr lang="en-US" dirty="0" err="1"/>
              <a:t>RSK</a:t>
            </a:r>
            <a:r>
              <a:rPr lang="en-US" dirty="0"/>
              <a:t>) </a:t>
            </a:r>
            <a:r>
              <a:rPr lang="zh-CN" altLang="en-US" dirty="0">
                <a:solidFill>
                  <a:srgbClr val="1F497D"/>
                </a:solidFill>
                <a:latin typeface="+mj-ea"/>
                <a:ea typeface="+mj-ea"/>
              </a:rPr>
              <a:t>风险与机会管理</a:t>
            </a:r>
            <a:endParaRPr lang="en-US" dirty="0">
              <a:solidFill>
                <a:srgbClr val="1F497D"/>
              </a:solidFill>
            </a:endParaRPr>
          </a:p>
        </p:txBody>
      </p:sp>
      <p:sp>
        <p:nvSpPr>
          <p:cNvPr id="9" name="Content Placeholder 8">
            <a:extLst>
              <a:ext uri="{FF2B5EF4-FFF2-40B4-BE49-F238E27FC236}">
                <a16:creationId xmlns:a16="http://schemas.microsoft.com/office/drawing/2014/main" id="{0D163350-A59C-2947-9EEB-6C00A4F19521}"/>
              </a:ext>
            </a:extLst>
          </p:cNvPr>
          <p:cNvSpPr txBox="1">
            <a:spLocks noGrp="1"/>
          </p:cNvSpPr>
          <p:nvPr>
            <p:ph idx="4294967295"/>
          </p:nvPr>
        </p:nvSpPr>
        <p:spPr>
          <a:xfrm>
            <a:off x="463296" y="1338072"/>
            <a:ext cx="11265408" cy="996170"/>
          </a:xfrm>
          <a:prstGeom prst="rect">
            <a:avLst/>
          </a:prstGeom>
          <a:noFill/>
        </p:spPr>
        <p:txBody>
          <a:bodyPr wrap="square" rtlCol="0">
            <a:spAutoFit/>
          </a:bodyPr>
          <a:lstStyle/>
          <a:p>
            <a:pPr marL="0" indent="0">
              <a:buNone/>
            </a:pPr>
            <a:r>
              <a:rPr lang="en-US" sz="1400" b="1" dirty="0"/>
              <a:t>	Intent: </a:t>
            </a:r>
            <a:r>
              <a:rPr lang="en-GB" sz="1400" dirty="0"/>
              <a:t>Identifies, records, </a:t>
            </a:r>
            <a:r>
              <a:rPr lang="en-GB" sz="1400" dirty="0" err="1"/>
              <a:t>analyzes</a:t>
            </a:r>
            <a:r>
              <a:rPr lang="en-GB" sz="1400" dirty="0"/>
              <a:t>, and manages potential risks or opportunities.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识别、记录、分析和管理潜在的风险或机遇。 </a:t>
            </a:r>
            <a:r>
              <a:rPr lang="en-US" sz="1400" b="1" dirty="0"/>
              <a:t>	</a:t>
            </a:r>
          </a:p>
          <a:p>
            <a:pPr marL="0" indent="0">
              <a:buNone/>
            </a:pPr>
            <a:r>
              <a:rPr lang="en-US" sz="1400" b="1" dirty="0"/>
              <a:t>	Value:</a:t>
            </a:r>
            <a:r>
              <a:rPr lang="en-US" sz="1400" dirty="0"/>
              <a:t> </a:t>
            </a:r>
            <a:r>
              <a:rPr lang="en-GB" sz="1400" dirty="0"/>
              <a:t>Mitigates adverse impacts or capitalizes on positive impacts to increase the likelihood of meeting objectives.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减轻不利影响或利用积极影响，增加实现目标的可能性。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11" name="Content Placeholder 3">
            <a:extLst>
              <a:ext uri="{FF2B5EF4-FFF2-40B4-BE49-F238E27FC236}">
                <a16:creationId xmlns:a16="http://schemas.microsoft.com/office/drawing/2014/main" id="{EC92CF95-B838-45DF-A813-F4DC0442E84A}"/>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8683762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5862143-3951-A64C-B7B7-268C11BD31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632" y="301752"/>
            <a:ext cx="1133475" cy="1028700"/>
          </a:xfrm>
          <a:prstGeom prst="rect">
            <a:avLst/>
          </a:prstGeom>
        </p:spPr>
      </p:pic>
      <p:sp>
        <p:nvSpPr>
          <p:cNvPr id="8" name="Title 7">
            <a:extLst>
              <a:ext uri="{FF2B5EF4-FFF2-40B4-BE49-F238E27FC236}">
                <a16:creationId xmlns:a16="http://schemas.microsoft.com/office/drawing/2014/main" id="{2D19D3C6-51DC-3041-B3EC-E426F6CAF279}"/>
              </a:ext>
            </a:extLst>
          </p:cNvPr>
          <p:cNvSpPr txBox="1">
            <a:spLocks noGrp="1"/>
          </p:cNvSpPr>
          <p:nvPr>
            <p:ph type="title"/>
          </p:nvPr>
        </p:nvSpPr>
        <p:spPr>
          <a:xfrm>
            <a:off x="1618107" y="902834"/>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Technical Solution (TS) </a:t>
            </a:r>
            <a:r>
              <a:rPr lang="zh-CN" altLang="en-US" dirty="0">
                <a:solidFill>
                  <a:srgbClr val="1F497D"/>
                </a:solidFill>
                <a:latin typeface="+mj-ea"/>
                <a:ea typeface="+mj-ea"/>
              </a:rPr>
              <a:t>技术解决方案</a:t>
            </a:r>
            <a:endParaRPr lang="en-US" dirty="0">
              <a:solidFill>
                <a:srgbClr val="1F497D"/>
              </a:solidFill>
            </a:endParaRPr>
          </a:p>
        </p:txBody>
      </p:sp>
      <p:sp>
        <p:nvSpPr>
          <p:cNvPr id="9" name="Content Placeholder 8">
            <a:extLst>
              <a:ext uri="{FF2B5EF4-FFF2-40B4-BE49-F238E27FC236}">
                <a16:creationId xmlns:a16="http://schemas.microsoft.com/office/drawing/2014/main" id="{6666E3A6-0A9E-BC46-9A3F-12B3D08BB749}"/>
              </a:ext>
            </a:extLst>
          </p:cNvPr>
          <p:cNvSpPr txBox="1">
            <a:spLocks noGrp="1"/>
          </p:cNvSpPr>
          <p:nvPr>
            <p:ph idx="4294967295"/>
          </p:nvPr>
        </p:nvSpPr>
        <p:spPr>
          <a:xfrm>
            <a:off x="463296" y="1382965"/>
            <a:ext cx="11265408" cy="996170"/>
          </a:xfrm>
          <a:prstGeom prst="rect">
            <a:avLst/>
          </a:prstGeom>
          <a:noFill/>
        </p:spPr>
        <p:txBody>
          <a:bodyPr wrap="square" rtlCol="0">
            <a:spAutoFit/>
          </a:bodyPr>
          <a:lstStyle/>
          <a:p>
            <a:pPr marL="0" indent="0">
              <a:buNone/>
            </a:pPr>
            <a:r>
              <a:rPr lang="en-US" sz="1400" b="1" dirty="0"/>
              <a:t>	Intent: </a:t>
            </a:r>
            <a:r>
              <a:rPr lang="en-GB" sz="1400" dirty="0"/>
              <a:t>Designs and builds solutions that meet requirements.</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设计并构建满足要求的解决方案。</a:t>
            </a:r>
            <a:endParaRPr lang="en-US" altLang="zh-CN" sz="1400"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Provides a cost-effective design and solution that meets customer requirements and reduces rework.</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提供符合客户要求并减少返工的成本效益设计和解决方案。</a:t>
            </a:r>
            <a:endParaRPr lang="en-US" sz="1400" dirty="0">
              <a:solidFill>
                <a:srgbClr val="1F497D"/>
              </a:solidFill>
              <a:latin typeface="DengXian" panose="02010600030101010101" pitchFamily="2" charset="-122"/>
              <a:ea typeface="DengXian" panose="02010600030101010101" pitchFamily="2" charset="-122"/>
            </a:endParaRPr>
          </a:p>
        </p:txBody>
      </p:sp>
      <p:sp>
        <p:nvSpPr>
          <p:cNvPr id="10" name="Content Placeholder 3">
            <a:extLst>
              <a:ext uri="{FF2B5EF4-FFF2-40B4-BE49-F238E27FC236}">
                <a16:creationId xmlns:a16="http://schemas.microsoft.com/office/drawing/2014/main" id="{26C68265-BF15-4E56-945E-A154256403BD}"/>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41647493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51B57D4-F6F7-8D4C-92DD-C8E3374CDC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44" y="320040"/>
            <a:ext cx="1181100" cy="1019175"/>
          </a:xfrm>
          <a:prstGeom prst="rect">
            <a:avLst/>
          </a:prstGeom>
        </p:spPr>
      </p:pic>
      <p:sp>
        <p:nvSpPr>
          <p:cNvPr id="8" name="Title 7">
            <a:extLst>
              <a:ext uri="{FF2B5EF4-FFF2-40B4-BE49-F238E27FC236}">
                <a16:creationId xmlns:a16="http://schemas.microsoft.com/office/drawing/2014/main" id="{6B445EF2-3845-7D4E-9686-FCE75374D5DB}"/>
              </a:ext>
            </a:extLst>
          </p:cNvPr>
          <p:cNvSpPr txBox="1">
            <a:spLocks noGrp="1"/>
          </p:cNvSpPr>
          <p:nvPr>
            <p:ph type="title"/>
          </p:nvPr>
        </p:nvSpPr>
        <p:spPr>
          <a:xfrm>
            <a:off x="1647444" y="928288"/>
            <a:ext cx="10021824" cy="480131"/>
          </a:xfrm>
          <a:prstGeom prst="rect">
            <a:avLst/>
          </a:prstGeom>
          <a:noFill/>
        </p:spPr>
        <p:txBody>
          <a:bodyPr wrap="square" rtlCol="0" anchor="ctr">
            <a:spAutoFit/>
          </a:bodyPr>
          <a:lstStyle>
            <a:lvl1pPr algn="l" defTabSz="1371600" rtl="0" eaLnBrk="1" latinLnBrk="0" hangingPunct="1">
              <a:lnSpc>
                <a:spcPct val="90000"/>
              </a:lnSpc>
              <a:spcBef>
                <a:spcPct val="0"/>
              </a:spcBef>
              <a:buNone/>
              <a:defRPr lang="uk-UA" sz="2800" b="1" kern="1200" dirty="0">
                <a:solidFill>
                  <a:schemeClr val="tx1"/>
                </a:solidFill>
                <a:latin typeface="Calibri" charset="0"/>
                <a:ea typeface="Calibri" charset="0"/>
                <a:cs typeface="Calibri" charset="0"/>
              </a:defRPr>
            </a:lvl1pPr>
          </a:lstStyle>
          <a:p>
            <a:r>
              <a:rPr lang="en-US" dirty="0"/>
              <a:t>Verification and Validation (VV) </a:t>
            </a:r>
            <a:r>
              <a:rPr lang="ja-JP" altLang="en-US" dirty="0">
                <a:solidFill>
                  <a:srgbClr val="1F497D"/>
                </a:solidFill>
                <a:latin typeface="DengXian Light" panose="02010600030101010101" pitchFamily="2" charset="-122"/>
                <a:ea typeface="DengXian Light" panose="02010600030101010101" pitchFamily="2" charset="-122"/>
              </a:rPr>
              <a:t>验证与确认</a:t>
            </a:r>
            <a:endParaRPr lang="en-US" dirty="0">
              <a:solidFill>
                <a:srgbClr val="1F497D"/>
              </a:solidFill>
            </a:endParaRPr>
          </a:p>
        </p:txBody>
      </p:sp>
      <p:sp>
        <p:nvSpPr>
          <p:cNvPr id="9" name="Content Placeholder 8">
            <a:extLst>
              <a:ext uri="{FF2B5EF4-FFF2-40B4-BE49-F238E27FC236}">
                <a16:creationId xmlns:a16="http://schemas.microsoft.com/office/drawing/2014/main" id="{DFA55996-6786-F34A-A68D-AC5A9F594E73}"/>
              </a:ext>
            </a:extLst>
          </p:cNvPr>
          <p:cNvSpPr txBox="1">
            <a:spLocks noGrp="1"/>
          </p:cNvSpPr>
          <p:nvPr>
            <p:ph idx="4294967295"/>
          </p:nvPr>
        </p:nvSpPr>
        <p:spPr>
          <a:xfrm>
            <a:off x="460248" y="1408419"/>
            <a:ext cx="11265408" cy="1190069"/>
          </a:xfrm>
          <a:prstGeom prst="rect">
            <a:avLst/>
          </a:prstGeom>
          <a:noFill/>
        </p:spPr>
        <p:txBody>
          <a:bodyPr wrap="square" rtlCol="0">
            <a:spAutoFit/>
          </a:bodyPr>
          <a:lstStyle/>
          <a:p>
            <a:pPr marL="0" indent="0">
              <a:buNone/>
            </a:pPr>
            <a:r>
              <a:rPr lang="en-US" sz="1400" b="1" dirty="0"/>
              <a:t>	Intent: </a:t>
            </a:r>
            <a:r>
              <a:rPr lang="en-GB" sz="1400" dirty="0"/>
              <a:t>Confirms selected solutions and components meet their requirements, and demonstrates selected solutions and components </a:t>
            </a:r>
            <a:r>
              <a:rPr lang="en-GB" sz="1400" dirty="0" err="1"/>
              <a:t>fulfill</a:t>
            </a:r>
            <a:r>
              <a:rPr lang="en-GB" sz="1400" dirty="0"/>
              <a:t> 	their intended use in their target environment.</a:t>
            </a:r>
            <a:br>
              <a:rPr lang="en-US" sz="1400" dirty="0"/>
            </a:br>
            <a:r>
              <a:rPr lang="zh-CN" altLang="en-US" sz="1400" b="0" i="0" dirty="0">
                <a:solidFill>
                  <a:srgbClr val="0D0D0D"/>
                </a:solidFill>
                <a:effectLst/>
                <a:highlight>
                  <a:srgbClr val="FFFFFF"/>
                </a:highlight>
                <a:latin typeface="Söhne"/>
              </a:rPr>
              <a:t> </a:t>
            </a:r>
            <a:r>
              <a:rPr lang="en-ZA" altLang="zh-CN" sz="1400" b="0" i="0" dirty="0">
                <a:solidFill>
                  <a:srgbClr val="0D0D0D"/>
                </a:solidFill>
                <a:effectLst/>
                <a:highlight>
                  <a:srgbClr val="FFFFFF"/>
                </a:highlight>
                <a:latin typeface="Söhne"/>
              </a:rPr>
              <a:t>	</a:t>
            </a:r>
            <a:r>
              <a:rPr lang="zh-CN" altLang="en-US" sz="1400" dirty="0">
                <a:solidFill>
                  <a:srgbClr val="1F497D"/>
                </a:solidFill>
                <a:latin typeface="DengXian" panose="02010600030101010101" pitchFamily="2" charset="-122"/>
                <a:ea typeface="DengXian" panose="02010600030101010101" pitchFamily="2" charset="-122"/>
              </a:rPr>
              <a:t>确认所选解决方案和组件符合其要求，并展示所选解决方案和组件在其目标环境中履行其预期用途。 </a:t>
            </a:r>
            <a:endParaRPr lang="en-US" altLang="zh-CN" sz="1400" b="1" dirty="0">
              <a:solidFill>
                <a:srgbClr val="1F497D"/>
              </a:solidFill>
              <a:latin typeface="DengXian" panose="02010600030101010101" pitchFamily="2" charset="-122"/>
              <a:ea typeface="DengXian" panose="02010600030101010101" pitchFamily="2" charset="-122"/>
            </a:endParaRPr>
          </a:p>
          <a:p>
            <a:pPr marL="0" indent="0">
              <a:buNone/>
            </a:pPr>
            <a:r>
              <a:rPr lang="en-US" sz="1400" b="1" dirty="0"/>
              <a:t>	Value:</a:t>
            </a:r>
            <a:r>
              <a:rPr lang="en-US" sz="1400" dirty="0"/>
              <a:t> </a:t>
            </a:r>
            <a:r>
              <a:rPr lang="en-GB" sz="1400" dirty="0"/>
              <a:t>Increases the likelihood that the solution will satisfy the customer.</a:t>
            </a:r>
            <a:br>
              <a:rPr lang="en-US" sz="1400" dirty="0"/>
            </a:br>
            <a:r>
              <a:rPr lang="en-US" sz="1400" dirty="0"/>
              <a:t>	</a:t>
            </a:r>
            <a:r>
              <a:rPr lang="zh-CN" altLang="en-US" sz="1400" dirty="0">
                <a:solidFill>
                  <a:srgbClr val="1F497D"/>
                </a:solidFill>
                <a:latin typeface="DengXian" panose="02010600030101010101" pitchFamily="2" charset="-122"/>
                <a:ea typeface="DengXian" panose="02010600030101010101" pitchFamily="2" charset="-122"/>
              </a:rPr>
              <a:t>增加解决方案能够满足客户的可能性。</a:t>
            </a:r>
            <a:endParaRPr lang="en-US" sz="1400" dirty="0">
              <a:solidFill>
                <a:srgbClr val="1F497D"/>
              </a:solidFill>
              <a:latin typeface="DengXian" panose="02010600030101010101" pitchFamily="2" charset="-122"/>
              <a:ea typeface="DengXian" panose="02010600030101010101" pitchFamily="2" charset="-122"/>
            </a:endParaRPr>
          </a:p>
        </p:txBody>
      </p:sp>
      <p:sp>
        <p:nvSpPr>
          <p:cNvPr id="2" name="Content Placeholder 3">
            <a:extLst>
              <a:ext uri="{FF2B5EF4-FFF2-40B4-BE49-F238E27FC236}">
                <a16:creationId xmlns:a16="http://schemas.microsoft.com/office/drawing/2014/main" id="{C9D1CE2B-8543-D342-ECCE-6C01C053D7C1}"/>
              </a:ext>
            </a:extLst>
          </p:cNvPr>
          <p:cNvSpPr txBox="1">
            <a:spLocks/>
          </p:cNvSpPr>
          <p:nvPr/>
        </p:nvSpPr>
        <p:spPr>
          <a:xfrm>
            <a:off x="466344" y="3051602"/>
            <a:ext cx="11265408" cy="3097485"/>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t>Strengths </a:t>
            </a:r>
            <a:r>
              <a:rPr lang="ja-JP" altLang="en-US" sz="1800" dirty="0">
                <a:solidFill>
                  <a:srgbClr val="1F497D"/>
                </a:solidFill>
                <a:latin typeface="DengXian" panose="02010600030101010101" pitchFamily="2" charset="-122"/>
                <a:ea typeface="DengXian" panose="02010600030101010101" pitchFamily="2" charset="-122"/>
              </a:rPr>
              <a:t>强项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latin typeface="DengXian" panose="02010600030101010101" pitchFamily="2" charset="-122"/>
                <a:ea typeface="DengXian" panose="02010600030101010101" pitchFamily="2" charset="-122"/>
              </a:rPr>
              <a:t>没有</a:t>
            </a:r>
            <a:endParaRPr lang="en-US" sz="1800" b="0" dirty="0">
              <a:solidFill>
                <a:srgbClr val="1F497D"/>
              </a:solidFill>
              <a:latin typeface="DengXian" panose="02010600030101010101" pitchFamily="2" charset="-122"/>
              <a:ea typeface="DengXian" panose="02010600030101010101" pitchFamily="2" charset="-122"/>
            </a:endParaRPr>
          </a:p>
          <a:p>
            <a:endParaRPr lang="en-US" sz="1800" b="0" dirty="0"/>
          </a:p>
          <a:p>
            <a:r>
              <a:rPr lang="en-US" sz="1800" dirty="0"/>
              <a:t>Weaknesses </a:t>
            </a:r>
            <a:r>
              <a:rPr lang="zh-CN" altLang="en-US" sz="1800" dirty="0">
                <a:solidFill>
                  <a:srgbClr val="1F497D"/>
                </a:solidFill>
                <a:latin typeface="DengXian" panose="02010600030101010101" pitchFamily="2" charset="-122"/>
                <a:ea typeface="DengXian" panose="02010600030101010101" pitchFamily="2" charset="-122"/>
              </a:rPr>
              <a:t>弱项</a:t>
            </a:r>
            <a:r>
              <a:rPr lang="en-US" altLang="ja-JP" sz="1800" dirty="0"/>
              <a:t>:</a:t>
            </a:r>
            <a:endParaRPr lang="en-US" sz="1800" dirty="0"/>
          </a:p>
          <a:p>
            <a:pPr marL="342900" indent="-342900">
              <a:buFont typeface="Arial" panose="020B0604020202020204" pitchFamily="34" charset="0"/>
              <a:buChar char="•"/>
            </a:pPr>
            <a:r>
              <a:rPr lang="en-US" sz="1800" b="0" dirty="0"/>
              <a:t>None </a:t>
            </a:r>
            <a:br>
              <a:rPr lang="en-US" sz="1800" b="0" dirty="0"/>
            </a:br>
            <a:r>
              <a:rPr lang="ja-JP" altLang="en-US" sz="1800" b="0" dirty="0">
                <a:solidFill>
                  <a:srgbClr val="1F497D"/>
                </a:solidFill>
              </a:rPr>
              <a:t>没有</a:t>
            </a:r>
            <a:endParaRPr lang="en-US" sz="1800" b="0" dirty="0">
              <a:solidFill>
                <a:srgbClr val="1F497D"/>
              </a:solidFill>
            </a:endParaRPr>
          </a:p>
        </p:txBody>
      </p:sp>
    </p:spTree>
    <p:extLst>
      <p:ext uri="{BB962C8B-B14F-4D97-AF65-F5344CB8AC3E}">
        <p14:creationId xmlns:p14="http://schemas.microsoft.com/office/powerpoint/2010/main" val="23183273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538" name="Picture 5"/>
          <p:cNvPicPr>
            <a:picLocks noChangeAspect="1" noChangeArrowheads="1"/>
          </p:cNvPicPr>
          <p:nvPr/>
        </p:nvPicPr>
        <p:blipFill>
          <a:blip r:embed="rId3">
            <a:extLst>
              <a:ext uri="{96DAC541-7B7A-43D3-8B79-37D633B846F1}">
                <asvg:svgBlip xmlns:asvg="http://schemas.microsoft.com/office/drawing/2016/SVG/main" r:embed="rId4"/>
              </a:ext>
            </a:extLst>
          </a:blip>
          <a:srcRect/>
          <a:stretch/>
        </p:blipFill>
        <p:spPr bwMode="auto">
          <a:xfrm>
            <a:off x="3382510" y="1113693"/>
            <a:ext cx="5154613" cy="5154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0767265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ED6D-359B-4DB9-A138-F6149B35A537}"/>
              </a:ext>
            </a:extLst>
          </p:cNvPr>
          <p:cNvSpPr>
            <a:spLocks noGrp="1"/>
          </p:cNvSpPr>
          <p:nvPr>
            <p:ph type="title"/>
          </p:nvPr>
        </p:nvSpPr>
        <p:spPr/>
        <p:txBody>
          <a:bodyPr/>
          <a:lstStyle/>
          <a:p>
            <a:r>
              <a:rPr lang="en-ZA" dirty="0"/>
              <a:t>Notice</a:t>
            </a:r>
          </a:p>
        </p:txBody>
      </p:sp>
      <p:sp>
        <p:nvSpPr>
          <p:cNvPr id="3" name="Content Placeholder 2">
            <a:extLst>
              <a:ext uri="{FF2B5EF4-FFF2-40B4-BE49-F238E27FC236}">
                <a16:creationId xmlns:a16="http://schemas.microsoft.com/office/drawing/2014/main" id="{7F18C33A-3F28-4A57-89CE-6D34B3F734A0}"/>
              </a:ext>
            </a:extLst>
          </p:cNvPr>
          <p:cNvSpPr>
            <a:spLocks noGrp="1"/>
          </p:cNvSpPr>
          <p:nvPr>
            <p:ph idx="1"/>
          </p:nvPr>
        </p:nvSpPr>
        <p:spPr/>
        <p:txBody>
          <a:bodyPr>
            <a:normAutofit/>
          </a:bodyPr>
          <a:lstStyle/>
          <a:p>
            <a:r>
              <a:rPr lang="en-US" sz="2000" dirty="0"/>
              <a:t>This pptx has embedded links to </a:t>
            </a:r>
            <a:r>
              <a:rPr lang="en-US" sz="2000" dirty="0" err="1"/>
              <a:t>00_Data_Reference.xlsm</a:t>
            </a:r>
            <a:endParaRPr lang="en-US" sz="2000" dirty="0"/>
          </a:p>
          <a:p>
            <a:r>
              <a:rPr lang="en-US" sz="2000" dirty="0"/>
              <a:t>The latest information and version of the Benchmark Appraiser Support Environment (BASE) can be accessed at </a:t>
            </a:r>
            <a:r>
              <a:rPr lang="en-US" sz="2000" dirty="0" err="1">
                <a:hlinkClick r:id="rId3"/>
              </a:rPr>
              <a:t>www.demix.org</a:t>
            </a:r>
            <a:r>
              <a:rPr lang="en-US" sz="2000" dirty="0">
                <a:hlinkClick r:id="rId3"/>
              </a:rPr>
              <a:t>/tools</a:t>
            </a:r>
            <a:r>
              <a:rPr lang="en-US" sz="2000" dirty="0"/>
              <a:t> </a:t>
            </a:r>
          </a:p>
        </p:txBody>
      </p:sp>
    </p:spTree>
    <p:extLst>
      <p:ext uri="{BB962C8B-B14F-4D97-AF65-F5344CB8AC3E}">
        <p14:creationId xmlns:p14="http://schemas.microsoft.com/office/powerpoint/2010/main" val="41383733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ec500478-62e0-46fc-87f1-cfa988e486b4" xsi:nil="true"/>
    <lcf76f155ced4ddcb4097134ff3c332f xmlns="25bcabcf-d275-4206-9fb1-2f2d419cd22b">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041F74863103D4C9C3AA0A07291BB02" ma:contentTypeVersion="18" ma:contentTypeDescription="Create a new document." ma:contentTypeScope="" ma:versionID="acfac7a7740a1b2d1a4bdbff0c117f3f">
  <xsd:schema xmlns:xsd="http://www.w3.org/2001/XMLSchema" xmlns:xs="http://www.w3.org/2001/XMLSchema" xmlns:p="http://schemas.microsoft.com/office/2006/metadata/properties" xmlns:ns2="25bcabcf-d275-4206-9fb1-2f2d419cd22b" xmlns:ns3="ec500478-62e0-46fc-87f1-cfa988e486b4" targetNamespace="http://schemas.microsoft.com/office/2006/metadata/properties" ma:root="true" ma:fieldsID="f1327b100fd5e593709bdd676db08f29" ns2:_="" ns3:_="">
    <xsd:import namespace="25bcabcf-d275-4206-9fb1-2f2d419cd22b"/>
    <xsd:import namespace="ec500478-62e0-46fc-87f1-cfa988e486b4"/>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2:lcf76f155ced4ddcb4097134ff3c332f" minOccurs="0"/>
                <xsd:element ref="ns3:TaxCatchAll"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5bcabcf-d275-4206-9fb1-2f2d419cd22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Location" ma:index="19" nillable="true" ma:displayName="Location" ma:internalName="MediaServiceLocation"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f35f27a-c890-4130-b78e-bbe546ff31bf" ma:termSetId="09814cd3-568e-fe90-9814-8d621ff8fb84" ma:anchorId="fba54fb3-c3e1-fe81-a776-ca4b69148c4d" ma:open="true" ma:isKeyword="false">
      <xsd:complexType>
        <xsd:sequence>
          <xsd:element ref="pc:Terms" minOccurs="0" maxOccurs="1"/>
        </xsd:sequence>
      </xsd:complex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c500478-62e0-46fc-87f1-cfa988e486b4"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516b899e-718a-4501-bed1-5bdbb6269459}" ma:internalName="TaxCatchAll" ma:showField="CatchAllData" ma:web="ec500478-62e0-46fc-87f1-cfa988e486b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8B49826-D5EE-4D24-B649-7C3A19B527D2}">
  <ds:schemaRefs>
    <ds:schemaRef ds:uri="http://schemas.microsoft.com/sharepoint/v3/contenttype/forms"/>
  </ds:schemaRefs>
</ds:datastoreItem>
</file>

<file path=customXml/itemProps2.xml><?xml version="1.0" encoding="utf-8"?>
<ds:datastoreItem xmlns:ds="http://schemas.openxmlformats.org/officeDocument/2006/customXml" ds:itemID="{5F07B0D7-F930-4230-933E-ABA84959494E}">
  <ds:schemaRefs>
    <ds:schemaRef ds:uri="http://purl.org/dc/elements/1.1/"/>
    <ds:schemaRef ds:uri="http://www.w3.org/XML/1998/namespace"/>
    <ds:schemaRef ds:uri="http://schemas.openxmlformats.org/package/2006/metadata/core-properties"/>
    <ds:schemaRef ds:uri="72e3a154-4955-46c3-9573-e9dec3e1f195"/>
    <ds:schemaRef ds:uri="http://schemas.microsoft.com/office/2006/metadata/properties"/>
    <ds:schemaRef ds:uri="http://schemas.microsoft.com/office/infopath/2007/PartnerControls"/>
    <ds:schemaRef ds:uri="http://schemas.microsoft.com/office/2006/documentManagement/types"/>
    <ds:schemaRef ds:uri="ec500478-62e0-46fc-87f1-cfa988e486b4"/>
    <ds:schemaRef ds:uri="http://purl.org/dc/dcmitype/"/>
    <ds:schemaRef ds:uri="http://purl.org/dc/terms/"/>
  </ds:schemaRefs>
</ds:datastoreItem>
</file>

<file path=customXml/itemProps3.xml><?xml version="1.0" encoding="utf-8"?>
<ds:datastoreItem xmlns:ds="http://schemas.openxmlformats.org/officeDocument/2006/customXml" ds:itemID="{72E66E4F-D7A7-4759-B8C6-8BBB5E2FC959}"/>
</file>

<file path=docProps/app.xml><?xml version="1.0" encoding="utf-8"?>
<Properties xmlns="http://schemas.openxmlformats.org/officeDocument/2006/extended-properties" xmlns:vt="http://schemas.openxmlformats.org/officeDocument/2006/docPropsVTypes">
  <TotalTime>806</TotalTime>
  <Words>3654</Words>
  <Application>Microsoft Office PowerPoint</Application>
  <PresentationFormat>Widescreen</PresentationFormat>
  <Paragraphs>222</Paragraphs>
  <Slides>30</Slides>
  <Notes>7</Notes>
  <HiddenSlides>1</HiddenSlides>
  <MMClips>0</MMClips>
  <ScaleCrop>false</ScaleCrop>
  <HeadingPairs>
    <vt:vector size="8" baseType="variant">
      <vt:variant>
        <vt:lpstr>Fonts Used</vt:lpstr>
      </vt:variant>
      <vt:variant>
        <vt:i4>10</vt:i4>
      </vt:variant>
      <vt:variant>
        <vt:lpstr>Theme</vt:lpstr>
      </vt:variant>
      <vt:variant>
        <vt:i4>1</vt:i4>
      </vt:variant>
      <vt:variant>
        <vt:lpstr>Links</vt:lpstr>
      </vt:variant>
      <vt:variant>
        <vt:i4>3</vt:i4>
      </vt:variant>
      <vt:variant>
        <vt:lpstr>Slide Titles</vt:lpstr>
      </vt:variant>
      <vt:variant>
        <vt:i4>30</vt:i4>
      </vt:variant>
    </vt:vector>
  </HeadingPairs>
  <TitlesOfParts>
    <vt:vector size="44" baseType="lpstr">
      <vt:lpstr>DengXian</vt:lpstr>
      <vt:lpstr>DengXian</vt:lpstr>
      <vt:lpstr>DengXian Light</vt:lpstr>
      <vt:lpstr>DengXian Light</vt:lpstr>
      <vt:lpstr>宋体</vt:lpstr>
      <vt:lpstr>Arial</vt:lpstr>
      <vt:lpstr>Calibri</vt:lpstr>
      <vt:lpstr>Calibri Light</vt:lpstr>
      <vt:lpstr>Gotham A</vt:lpstr>
      <vt:lpstr>Söhne</vt:lpstr>
      <vt:lpstr>Office Theme</vt:lpstr>
      <vt:lpstr>file:///G:\2024-05-04to05-10%20(A5)%20C384400%20NASA\00_Data_Reference.xlsm!pptxCover!R4C2:R12C2</vt:lpstr>
      <vt:lpstr>file:///G:\2024-05-04to05-10%20(A5)%20C384400%20NASA\00_Data_Reference.xlsm!pptxCover!R15C2:R17C2</vt:lpstr>
      <vt:lpstr>file:///G:\2024-05-04to05-10%20(A5)%20C384400%20NASA\00_Data_Reference.xlsm!pptxCover!R21C2</vt:lpstr>
      <vt:lpstr>PowerPoint Presentation</vt:lpstr>
      <vt:lpstr>Appraisal Overview  评估概述</vt:lpstr>
      <vt:lpstr>PowerPoint Presentation</vt:lpstr>
      <vt:lpstr>Appraisal Principles</vt:lpstr>
      <vt:lpstr>PowerPoint Presentation</vt:lpstr>
      <vt:lpstr>About Preliminary Findings</vt:lpstr>
      <vt:lpstr>Virtual appraisals – code of conduct</vt:lpstr>
      <vt:lpstr>Findings Definitions – Required Categories</vt:lpstr>
      <vt:lpstr>Practice Area Findings 实践域发现</vt:lpstr>
      <vt:lpstr>Causal Analysis and Resolution (CAR) 原因分析与解决</vt:lpstr>
      <vt:lpstr>Configuration Management (CM) 配置管理</vt:lpstr>
      <vt:lpstr>Decision Analysis and Resolution (DAR) 决策分析与解决</vt:lpstr>
      <vt:lpstr>Estimating (EST) 估算</vt:lpstr>
      <vt:lpstr>Governance (GOV) 管治</vt:lpstr>
      <vt:lpstr>Implementation Infrastructure (II) 实施基础条件</vt:lpstr>
      <vt:lpstr>Managing Performance and Measurement (MPM) 管理绩效与度量</vt:lpstr>
      <vt:lpstr>Monitor and Control (MC) 控制与监督</vt:lpstr>
      <vt:lpstr>Organizational Training (OT) 组织级培训</vt:lpstr>
      <vt:lpstr>Peer Reviews (PR) 同行评审</vt:lpstr>
      <vt:lpstr>Planning (PLAN) 策划</vt:lpstr>
      <vt:lpstr>Process Asset Development (PAD) 过程资产开发</vt:lpstr>
      <vt:lpstr>Process Management (PCM) 过程管理</vt:lpstr>
      <vt:lpstr>Process Quality Assurance (PQA) 过程质量保证</vt:lpstr>
      <vt:lpstr>Product Integration (PI) 产品集成</vt:lpstr>
      <vt:lpstr>Requirements Development and Management (RDM) 需求开发与管理</vt:lpstr>
      <vt:lpstr>Risk and Opportunity Management (RSK) 风险与机会管理</vt:lpstr>
      <vt:lpstr>Technical Solution (TS) 技术解决方案</vt:lpstr>
      <vt:lpstr>Verification and Validation (VV) 验证与确认</vt:lpstr>
      <vt:lpstr>PowerPoint Presentation</vt:lpstr>
      <vt:lpstr>Notice</vt:lpstr>
    </vt:vector>
  </TitlesOfParts>
  <Company>ISACA-CMMI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MDD-Toolkit-Appraisal Final Findings Template</dc:title>
  <dc:creator>ISACA-CMMI</dc:creator>
  <cp:lastModifiedBy>Pieter van Zyl</cp:lastModifiedBy>
  <cp:revision>97</cp:revision>
  <dcterms:created xsi:type="dcterms:W3CDTF">2018-03-14T12:19:45Z</dcterms:created>
  <dcterms:modified xsi:type="dcterms:W3CDTF">2024-08-11T07:55:42Z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0x010100F041F74863103D4C9C3AA0A07291BB02</vt:lpwstr>
  </property>
  <property fmtid="{D5CDD505-2E9C-101B-9397-08002B2CF9AE}" pid="3" name="xd_Signature">
    <vt:bool>false</vt:bool>
  </property>
  <property fmtid="{D5CDD505-2E9C-101B-9397-08002B2CF9AE}" pid="4" name="xd_ProgID">
    <vt:lpwstr/>
  </property>
  <property fmtid="{D5CDD505-2E9C-101B-9397-08002B2CF9AE}" pid="5" name="TemplateUrl">
    <vt:lpwstr/>
  </property>
  <property fmtid="{D5CDD505-2E9C-101B-9397-08002B2CF9AE}" pid="6" name="ComplianceAssetId">
    <vt:lpwstr/>
  </property>
  <property fmtid="{D5CDD505-2E9C-101B-9397-08002B2CF9AE}" pid="7" name="AuthorIds_UIVersion_3601">
    <vt:lpwstr>40</vt:lpwstr>
  </property>
  <property fmtid="{D5CDD505-2E9C-101B-9397-08002B2CF9AE}" pid="8" name="_ShortcutWebId">
    <vt:lpwstr/>
  </property>
  <property fmtid="{D5CDD505-2E9C-101B-9397-08002B2CF9AE}" pid="9" name="_ShortcutUniqueId">
    <vt:lpwstr/>
  </property>
  <property fmtid="{D5CDD505-2E9C-101B-9397-08002B2CF9AE}" pid="10" name="_ShortcutSiteId">
    <vt:lpwstr/>
  </property>
  <property fmtid="{D5CDD505-2E9C-101B-9397-08002B2CF9AE}" pid="11" name="Class">
    <vt:lpwstr/>
  </property>
  <property fmtid="{D5CDD505-2E9C-101B-9397-08002B2CF9AE}" pid="12" name="Model Component">
    <vt:lpwstr/>
  </property>
  <property fmtid="{D5CDD505-2E9C-101B-9397-08002B2CF9AE}" pid="13" name="_ShortcutUrl">
    <vt:lpwstr/>
  </property>
  <property fmtid="{D5CDD505-2E9C-101B-9397-08002B2CF9AE}" pid="14" name="Class Component">
    <vt:lpwstr/>
  </property>
</Properties>
</file>