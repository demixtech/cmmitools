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493" r:id="rId6"/>
    <p:sldId id="1547" r:id="rId7"/>
    <p:sldId id="1549" r:id="rId8"/>
    <p:sldId id="270" r:id="rId9"/>
    <p:sldId id="928" r:id="rId10"/>
    <p:sldId id="913" r:id="rId11"/>
    <p:sldId id="1550" r:id="rId12"/>
    <p:sldId id="1543" r:id="rId13"/>
    <p:sldId id="310" r:id="rId14"/>
    <p:sldId id="1513" r:id="rId15"/>
    <p:sldId id="914" r:id="rId16"/>
    <p:sldId id="915" r:id="rId17"/>
    <p:sldId id="1506" r:id="rId18"/>
    <p:sldId id="1507" r:id="rId19"/>
    <p:sldId id="923" r:id="rId20"/>
    <p:sldId id="919" r:id="rId21"/>
    <p:sldId id="1552" r:id="rId22"/>
    <p:sldId id="1514" r:id="rId23"/>
    <p:sldId id="483" r:id="rId24"/>
    <p:sldId id="298" r:id="rId25"/>
    <p:sldId id="151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 autoAdjust="0"/>
    <p:restoredTop sz="92593" autoAdjust="0"/>
  </p:normalViewPr>
  <p:slideViewPr>
    <p:cSldViewPr snapToGrid="0">
      <p:cViewPr varScale="1">
        <p:scale>
          <a:sx n="73" d="100"/>
          <a:sy n="73" d="100"/>
        </p:scale>
        <p:origin x="1248" y="58"/>
      </p:cViewPr>
      <p:guideLst>
        <p:guide orient="horz" pos="572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Make sure the version of the model is correct when this slide is built. Replace the bold, italicized </a:t>
            </a:r>
            <a:r>
              <a:rPr lang="en-US" b="1" i="1"/>
              <a:t>x</a:t>
            </a:r>
            <a:r>
              <a:rPr lang="en-US" b="0" i="0"/>
              <a:t> with the correct version number.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ATL can show the chart from the generated random sample, but there must be a description of the sampled projects and their selected CA/PA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practice, enter the OU-Level characterization (FM, LM, PM, DM, NY). The chart will set a color.</a:t>
            </a:r>
          </a:p>
          <a:p>
            <a:endParaRPr lang="en-US"/>
          </a:p>
          <a:p>
            <a:r>
              <a:rPr lang="en-US"/>
              <a:t>Based on the characterizations of all practices in each practice level, set the Practice Level rating to “S” (Satisfied) or “U” (Unsatisfied).</a:t>
            </a:r>
          </a:p>
          <a:p>
            <a:endParaRPr lang="en-US"/>
          </a:p>
          <a:p>
            <a:r>
              <a:rPr lang="en-US"/>
              <a:t>The PA Rating is the Highest Practice Level at which all practices for it, and all lower Practice Levels, are Satisfied.</a:t>
            </a:r>
          </a:p>
          <a:p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details, see the MDD, Activity 2.3.2 Determine Practice Group Ratings, and Activity </a:t>
            </a:r>
            <a:r>
              <a:rPr lang="en-US" b="0"/>
              <a:t>2.3.3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Practice Area and Maturity Level or Capability Level Profile Rating.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2B81C3-8382-4113-BAD0-010A13E4D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0C077D-8819-4F9D-8722-D73A05643AA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2024.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71D06-6ED0-464B-BBB6-E62FF3A17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C3F22-7FA0-47B5-A977-F0D9B341A6A5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DCE-B80F-4E81-9623-EF0D27922F8E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file:///G:\2024-05-04to05-10 (A5) C384400 NASA\00_Data_Reference.xlsm!pptxCover!R4C2:R12C2" TargetMode="External"/><Relationship Id="rId7" Type="http://schemas.openxmlformats.org/officeDocument/2006/relationships/oleObject" Target="file:///G:\2024-05-04to05-10 (A5) C384400 NASA\00_Data_Reference.xlsm!pptxCover!R20C2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file:///G:\2024-05-04to05-10 (A5) C384400 NASA\00_Data_Reference.xlsm!pptxCover!R15C2:R17C2" TargetMode="Externa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jpe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gif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gif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jpeg"/><Relationship Id="rId9" Type="http://schemas.openxmlformats.org/officeDocument/2006/relationships/image" Target="../media/image1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8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8.emf"/><Relationship Id="rId4" Type="http://schemas.openxmlformats.org/officeDocument/2006/relationships/oleObject" Target="file:///G:\2024-05-04to05-10 (A5) C384400 NASA\00_Data_Reference.xlsm!pptxLink1!R1C1:R7C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9.emf"/><Relationship Id="rId4" Type="http://schemas.openxmlformats.org/officeDocument/2006/relationships/oleObject" Target="file:///G:\2024-05-04to05-10 (A5) C384400 NASA\00_Data_Reference.xlsm!pptxLink1!R10C1:R18C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0.emf"/><Relationship Id="rId4" Type="http://schemas.openxmlformats.org/officeDocument/2006/relationships/oleObject" Target="file:///G:\2024-05-04to05-10 (A5) C384400 NASA\00_Data_Reference.xlsm!pptxLink2!R1C1:R4C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1.emf"/><Relationship Id="rId4" Type="http://schemas.openxmlformats.org/officeDocument/2006/relationships/oleObject" Target="file:///G:\2024-05-04to05-10 (A5) C384400 NASA\00_Data_Reference.xlsm!pptxLink1!R20C1:R31C2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2.emf"/><Relationship Id="rId4" Type="http://schemas.openxmlformats.org/officeDocument/2006/relationships/oleObject" Target="file:///G:\2024-05-04to05-10 (A5) C384400 NASA\00_Data_Reference.xlsm!pptxLink3!R2C1:R24C9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3.emf"/><Relationship Id="rId4" Type="http://schemas.openxmlformats.org/officeDocument/2006/relationships/oleObject" Target="file:///G:\2024-05-04to05-10 (A5) C384400 NASA\00_Data_Reference.xlsm!pptxLink1!R6C1:R7C2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4.emf"/><Relationship Id="rId4" Type="http://schemas.openxmlformats.org/officeDocument/2006/relationships/oleObject" Target="file:///G:\2024-05-04to05-10 (A5) C384400 NASA\00_Data_Reference.xlsm!pptxLink4!R10C1:R27C20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 (A5) C384400 NASA\00_Data_Reference.xlsm!pptxLink5!R1C1:R11C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 (A5) C384400 NASA\00_Data_Reference.xlsm!pptxLink5!R15C1:R21C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file:///G:\2024-05-04to05-10 (A5) C384400 NASA\00_Data_Reference.xlsm!pptxLink1!R8C4" TargetMode="External"/><Relationship Id="rId5" Type="http://schemas.openxmlformats.org/officeDocument/2006/relationships/image" Target="../media/image48.emf"/><Relationship Id="rId4" Type="http://schemas.openxmlformats.org/officeDocument/2006/relationships/oleObject" Target="file:///G:\2024-05-04to05-10 (A5) C384400 NASA\00_Data_Reference.xlsm!OULC!R50C2:R89C22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 (A5) C384400 NASA\00_Data_Reference.xlsm!pptxLink1!R33C1:R40C2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elete/Schedule.pdf" TargetMode="External"/><Relationship Id="rId2" Type="http://schemas.openxmlformats.org/officeDocument/2006/relationships/hyperlink" Target="99_vf01_Schedule.pdf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mix.org/too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Opening Briefing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885730"/>
              </p:ext>
            </p:extLst>
          </p:nvPr>
        </p:nvGraphicFramePr>
        <p:xfrm>
          <a:off x="3375025" y="2052638"/>
          <a:ext cx="5440363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Macro-Enabled Worksheet" r:id="rId3" imgW="5196769" imgH="2918310" progId="Excel.SheetMacroEnabled.12">
                  <p:link updateAutomatic="1"/>
                </p:oleObj>
              </mc:Choice>
              <mc:Fallback>
                <p:oleObj name="Macro-Enabled Worksheet" r:id="rId3" imgW="5196769" imgH="291831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5025" y="2052638"/>
                        <a:ext cx="5440363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61898"/>
              </p:ext>
            </p:extLst>
          </p:nvPr>
        </p:nvGraphicFramePr>
        <p:xfrm>
          <a:off x="3497263" y="5378450"/>
          <a:ext cx="51974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Macro-Enabled Worksheet" r:id="rId5" imgW="5196769" imgH="670734" progId="Excel.SheetMacroEnabled.12">
                  <p:link updateAutomatic="1"/>
                </p:oleObj>
              </mc:Choice>
              <mc:Fallback>
                <p:oleObj name="Macro-Enabled Worksheet" r:id="rId5" imgW="5196769" imgH="67073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7263" y="5378450"/>
                        <a:ext cx="519747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536454-AD5B-4F94-8339-31EA3769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605245"/>
              </p:ext>
            </p:extLst>
          </p:nvPr>
        </p:nvGraphicFramePr>
        <p:xfrm>
          <a:off x="3497263" y="5168900"/>
          <a:ext cx="51974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Macro-Enabled Worksheet" r:id="rId7" imgW="5196769" imgH="274178" progId="Excel.SheetMacroEnabled.12">
                  <p:link updateAutomatic="1"/>
                </p:oleObj>
              </mc:Choice>
              <mc:Fallback>
                <p:oleObj name="Macro-Enabled Worksheet" r:id="rId7" imgW="5196769" imgH="27417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7263" y="5168900"/>
                        <a:ext cx="5197475" cy="27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3BC500A-BFD5-4AA6-A547-A5D9086C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018" y="5136108"/>
            <a:ext cx="2294990" cy="547267"/>
          </a:xfrm>
          <a:prstGeom prst="rect">
            <a:avLst/>
          </a:prstGeom>
        </p:spPr>
      </p:pic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2057399" y="3550122"/>
            <a:ext cx="8077201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ZA" altLang="zh-CN" sz="1800" dirty="0">
                <a:latin typeface="+mn-lt"/>
              </a:rPr>
              <a:t>It is a pleasure and an honour to be here with you today. We are looking forward to working with you and your team over the coming days.</a:t>
            </a:r>
          </a:p>
          <a:p>
            <a:pPr algn="ctr" eaLnBrk="1" hangingPunct="1"/>
            <a:r>
              <a:rPr lang="zh-TW" altLang="en-US" sz="200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今天我很高興和榮幸來到這裡，我期待著在未來的几天里與您和您的團隊一起工作。</a:t>
            </a:r>
            <a:endParaRPr lang="en-ZA" altLang="zh-CN" sz="20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954CA7-005C-4F39-92CE-D8155080ED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824" y="4999368"/>
            <a:ext cx="728200" cy="810578"/>
          </a:xfrm>
          <a:prstGeom prst="rect">
            <a:avLst/>
          </a:prstGeom>
        </p:spPr>
      </p:pic>
      <p:pic>
        <p:nvPicPr>
          <p:cNvPr id="32" name="Picture 31" descr="A close up of a sign&#10;&#10;Description automatically generated">
            <a:extLst>
              <a:ext uri="{FF2B5EF4-FFF2-40B4-BE49-F238E27FC236}">
                <a16:creationId xmlns:a16="http://schemas.microsoft.com/office/drawing/2014/main" id="{3E788F89-59DA-4112-8599-0FCF45176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851" y="5011695"/>
            <a:ext cx="812573" cy="7859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B2B80C-7265-40EB-97CE-CE0C4FE7D9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0" t="2007" r="14562" b="-2007"/>
          <a:stretch/>
        </p:blipFill>
        <p:spPr>
          <a:xfrm>
            <a:off x="9478501" y="4999368"/>
            <a:ext cx="1116817" cy="81057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EBEE5F4-012C-410B-AC0D-D34E631EDC0C}"/>
              </a:ext>
            </a:extLst>
          </p:cNvPr>
          <p:cNvGrpSpPr/>
          <p:nvPr/>
        </p:nvGrpSpPr>
        <p:grpSpPr>
          <a:xfrm>
            <a:off x="10669668" y="5099783"/>
            <a:ext cx="846120" cy="609751"/>
            <a:chOff x="152400" y="4012035"/>
            <a:chExt cx="1986438" cy="117974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2AEB9D-8841-45F7-8CAB-1B38968DF3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920" b="21052"/>
            <a:stretch/>
          </p:blipFill>
          <p:spPr>
            <a:xfrm>
              <a:off x="152400" y="4058960"/>
              <a:ext cx="1986438" cy="1132820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D9B4C94-FB3C-43D3-BABE-98A6FFD0C43F}"/>
                </a:ext>
              </a:extLst>
            </p:cNvPr>
            <p:cNvGrpSpPr/>
            <p:nvPr/>
          </p:nvGrpSpPr>
          <p:grpSpPr>
            <a:xfrm>
              <a:off x="252395" y="4012035"/>
              <a:ext cx="1756513" cy="441334"/>
              <a:chOff x="3505200" y="5861931"/>
              <a:chExt cx="1754272" cy="58475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8A3EA6-FBEC-43F7-A250-298AFED49EDC}"/>
                  </a:ext>
                </a:extLst>
              </p:cNvPr>
              <p:cNvSpPr/>
              <p:nvPr/>
            </p:nvSpPr>
            <p:spPr>
              <a:xfrm>
                <a:off x="3505200" y="5861931"/>
                <a:ext cx="1754272" cy="5847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pic>
            <p:nvPicPr>
              <p:cNvPr id="38" name="Graphic 37">
                <a:extLst>
                  <a:ext uri="{FF2B5EF4-FFF2-40B4-BE49-F238E27FC236}">
                    <a16:creationId xmlns:a16="http://schemas.microsoft.com/office/drawing/2014/main" id="{638D3C24-2693-4B6E-8918-A946A332A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505200" y="5861931"/>
                <a:ext cx="1754272" cy="584757"/>
              </a:xfrm>
              <a:prstGeom prst="rect">
                <a:avLst/>
              </a:prstGeom>
            </p:spPr>
          </p:pic>
        </p:grpSp>
      </p:grpSp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17" y="5036857"/>
            <a:ext cx="1266632" cy="73560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30F9EC6-7007-442F-9B14-472D791273E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375" y="5036857"/>
            <a:ext cx="728200" cy="7356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FC067E0-B1E2-4ABB-954D-E36139045FC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774" y="5148463"/>
            <a:ext cx="592894" cy="51239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A8C5C63-6380-45A7-84FE-5E6876A175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85" y="5054186"/>
            <a:ext cx="670188" cy="700942"/>
          </a:xfrm>
          <a:prstGeom prst="rect">
            <a:avLst/>
          </a:prstGeom>
        </p:spPr>
      </p:pic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194C16C1-AB6D-486E-B218-635DBF4B8F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27" y="4983314"/>
            <a:ext cx="812573" cy="842689"/>
          </a:xfrm>
          <a:prstGeom prst="rect">
            <a:avLst/>
          </a:prstGeom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0053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DEMIXIUM™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465481" y="1878295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97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Demixium™ Copyright </a:t>
            </a:r>
            <a:r>
              <a:rPr lang="en-ZA" dirty="0" err="1"/>
              <a:t>Demix</a:t>
            </a:r>
            <a:r>
              <a:rPr lang="en-ZA" dirty="0"/>
              <a:t> 2021-2024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777670" y="5844796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www.demixium.com</a:t>
            </a:r>
            <a:endParaRPr lang="en-ZA" sz="1600" dirty="0"/>
          </a:p>
          <a:p>
            <a:pPr algn="ctr"/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Knowledge 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Performance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 | Results</a:t>
            </a:r>
            <a:r>
              <a:rPr lang="en-ZA" sz="1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308059" y="2606819"/>
            <a:ext cx="2719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Demixium is a collection of best practices to assess an organisation across a variety of domains and best practice models. It is available for free use under the MIT free use license agreement.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7821539" y="3022317"/>
            <a:ext cx="2719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1F497D"/>
                </a:solidFill>
              </a:rPr>
              <a:t>Demixium </a:t>
            </a:r>
            <a:r>
              <a:rPr lang="zh-CN" altLang="en-US" dirty="0">
                <a:solidFill>
                  <a:srgbClr val="1F497D"/>
                </a:solidFill>
              </a:rPr>
              <a:t>是一组最佳实践的集合，用于跨各种领域和最佳实践模型评估组织。 它可根据 </a:t>
            </a:r>
            <a:r>
              <a:rPr lang="en-US" altLang="zh-CN" dirty="0">
                <a:solidFill>
                  <a:srgbClr val="1F497D"/>
                </a:solidFill>
              </a:rPr>
              <a:t>MIT </a:t>
            </a:r>
            <a:r>
              <a:rPr lang="zh-CN" altLang="en-US" dirty="0">
                <a:solidFill>
                  <a:srgbClr val="1F497D"/>
                </a:solidFill>
              </a:rPr>
              <a:t>免费使用许可协议免费使用。</a:t>
            </a:r>
            <a:endParaRPr lang="en-ZA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D9062E2-4292-411C-8888-3870D8C3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083095"/>
              </p:ext>
            </p:extLst>
          </p:nvPr>
        </p:nvGraphicFramePr>
        <p:xfrm>
          <a:off x="1030288" y="2095500"/>
          <a:ext cx="84836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Macro-Enabled Worksheet" r:id="rId4" imgW="8244911" imgH="1432718" progId="Excel.SheetMacroEnabled.12">
                  <p:link updateAutomatic="1"/>
                </p:oleObj>
              </mc:Choice>
              <mc:Fallback>
                <p:oleObj name="Macro-Enabled Worksheet" r:id="rId4" imgW="8244911" imgH="143271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0288" y="2095500"/>
                        <a:ext cx="8483600" cy="151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2D3759-24A7-42E2-82DB-6309FF00C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25279"/>
              </p:ext>
            </p:extLst>
          </p:nvPr>
        </p:nvGraphicFramePr>
        <p:xfrm>
          <a:off x="1189038" y="2009775"/>
          <a:ext cx="848201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Macro-Enabled Worksheet" r:id="rId4" imgW="8244911" imgH="1584944" progId="Excel.SheetMacroEnabled.12">
                  <p:link updateAutomatic="1"/>
                </p:oleObj>
              </mc:Choice>
              <mc:Fallback>
                <p:oleObj name="Macro-Enabled Worksheet" r:id="rId4" imgW="8244911" imgH="158494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9038" y="2009775"/>
                        <a:ext cx="8482012" cy="171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Business and Appraisal Objectives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1738B5-23C6-457B-BB18-AD965FCE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163602"/>
              </p:ext>
            </p:extLst>
          </p:nvPr>
        </p:nvGraphicFramePr>
        <p:xfrm>
          <a:off x="1103313" y="1790919"/>
          <a:ext cx="7643812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Macro-Enabled Worksheet" r:id="rId4" imgW="7437262" imgH="1394342" progId="Excel.SheetMacroEnabled.12">
                  <p:link updateAutomatic="1"/>
                </p:oleObj>
              </mc:Choice>
              <mc:Fallback>
                <p:oleObj name="Macro-Enabled Worksheet" r:id="rId4" imgW="7437262" imgH="139434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3313" y="1790919"/>
                        <a:ext cx="7643812" cy="137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B14951-7702-4C0F-B6A6-21391A66B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029463"/>
              </p:ext>
            </p:extLst>
          </p:nvPr>
        </p:nvGraphicFramePr>
        <p:xfrm>
          <a:off x="1033463" y="1936750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Macro-Enabled Worksheet" r:id="rId4" imgW="8244911" imgH="2110701" progId="Excel.SheetMacroEnabled.12">
                  <p:link updateAutomatic="1"/>
                </p:oleObj>
              </mc:Choice>
              <mc:Fallback>
                <p:oleObj name="Macro-Enabled Worksheet" r:id="rId4" imgW="8244911" imgH="2110701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3463" y="1936750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>
          <a:xfrm>
            <a:off x="1055688" y="892263"/>
            <a:ext cx="10397836" cy="60228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Benchmark Model View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46B053-1B94-4E5C-BCF3-2B2E652C7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992395"/>
              </p:ext>
            </p:extLst>
          </p:nvPr>
        </p:nvGraphicFramePr>
        <p:xfrm>
          <a:off x="1217613" y="1585913"/>
          <a:ext cx="8277225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Macro-Enabled Worksheet" r:id="rId4" imgW="9928683" imgH="5463516" progId="Excel.SheetMacroEnabled.12">
                  <p:link updateAutomatic="1"/>
                </p:oleObj>
              </mc:Choice>
              <mc:Fallback>
                <p:oleObj name="Macro-Enabled Worksheet" r:id="rId4" imgW="9928683" imgH="546351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7613" y="1585913"/>
                        <a:ext cx="8277225" cy="443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3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Scope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1E92499-A6AA-4251-A074-798371D4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898879"/>
              </p:ext>
            </p:extLst>
          </p:nvPr>
        </p:nvGraphicFramePr>
        <p:xfrm>
          <a:off x="1250950" y="2544763"/>
          <a:ext cx="84836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Macro-Enabled Worksheet" r:id="rId4" imgW="8244911" imgH="358179" progId="Excel.SheetMacroEnabled.12">
                  <p:link updateAutomatic="1"/>
                </p:oleObj>
              </mc:Choice>
              <mc:Fallback>
                <p:oleObj name="Macro-Enabled Worksheet" r:id="rId4" imgW="8244911" imgH="35817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0950" y="2544763"/>
                        <a:ext cx="8483600" cy="38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Sample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1A5A95-7C57-4184-BE79-BFD78ABD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608831"/>
              </p:ext>
            </p:extLst>
          </p:nvPr>
        </p:nvGraphicFramePr>
        <p:xfrm>
          <a:off x="1384300" y="2100263"/>
          <a:ext cx="9217025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Macro-Enabled Worksheet" r:id="rId4" imgW="13403403" imgH="4008199" progId="Excel.SheetMacroEnabled.12">
                  <p:link updateAutomatic="1"/>
                </p:oleObj>
              </mc:Choice>
              <mc:Fallback>
                <p:oleObj name="Macro-Enabled Worksheet" r:id="rId4" imgW="13403403" imgH="400819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84300" y="2100263"/>
                        <a:ext cx="9217025" cy="266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73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6564A6-5108-42B5-A49B-FB8D3BA28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618834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Macro-Enabled Worksheet" r:id="rId3" imgW="11186302" imgH="3474767" progId="Excel.SheetMacroEnabled.12">
                  <p:link updateAutomatic="1"/>
                </p:oleObj>
              </mc:Choice>
              <mc:Fallback>
                <p:oleObj name="Macro-Enabled Worksheet" r:id="rId3" imgW="11186302" imgH="3474767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43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EE0D9B-0FA4-4BC3-A0BF-07768E78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409798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Macro-Enabled Worksheet" r:id="rId3" imgW="11186302" imgH="3474767" progId="Excel.SheetMacroEnabled.12">
                  <p:link updateAutomatic="1"/>
                </p:oleObj>
              </mc:Choice>
              <mc:Fallback>
                <p:oleObj name="Macro-Enabled Worksheet" r:id="rId3" imgW="11186302" imgH="3474767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0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DEF144-708A-4FEC-9EEA-C59932602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13411"/>
              </p:ext>
            </p:extLst>
          </p:nvPr>
        </p:nvGraphicFramePr>
        <p:xfrm>
          <a:off x="1109663" y="1454150"/>
          <a:ext cx="6737350" cy="439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name="Macro-Enabled Worksheet" r:id="rId4" imgW="12489003" imgH="9060235" progId="Excel.SheetMacroEnabled.12">
                  <p:link updateAutomatic="1"/>
                </p:oleObj>
              </mc:Choice>
              <mc:Fallback>
                <p:oleObj name="Macro-Enabled Worksheet" r:id="rId4" imgW="12489003" imgH="9060235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9663" y="1454150"/>
                        <a:ext cx="6737350" cy="439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9C5D04-9640-3B48-820B-127523AD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28" y="233529"/>
            <a:ext cx="10515600" cy="602284"/>
          </a:xfrm>
        </p:spPr>
        <p:txBody>
          <a:bodyPr/>
          <a:lstStyle/>
          <a:p>
            <a:r>
              <a:rPr lang="en-US" dirty="0"/>
              <a:t>Ratings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894F-6E9F-4254-B365-2F77C95564B1}"/>
              </a:ext>
            </a:extLst>
          </p:cNvPr>
          <p:cNvSpPr/>
          <p:nvPr/>
        </p:nvSpPr>
        <p:spPr>
          <a:xfrm rot="19278004">
            <a:off x="6788537" y="4560584"/>
            <a:ext cx="293061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EXAMPLE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263901-0FC3-47D8-A1D7-1F48982B2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827685"/>
              </p:ext>
            </p:extLst>
          </p:nvPr>
        </p:nvGraphicFramePr>
        <p:xfrm>
          <a:off x="882650" y="942975"/>
          <a:ext cx="3424238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Macro-Enabled Worksheet" r:id="rId6" imgW="3330117" imgH="7675" progId="Excel.SheetMacroEnabled.12">
                  <p:link updateAutomatic="1"/>
                </p:oleObj>
              </mc:Choice>
              <mc:Fallback>
                <p:oleObj name="Macro-Enabled Worksheet" r:id="rId6" imgW="3330117" imgH="7675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2650" y="942975"/>
                        <a:ext cx="3424238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A9BF04E-9042-4397-8AD5-790E790EB2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1360" y="2020570"/>
            <a:ext cx="1723565" cy="21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Required Findings Categories:</a:t>
            </a:r>
          </a:p>
          <a:p>
            <a:pPr lvl="1"/>
            <a:r>
              <a:rPr lang="en-US" sz="2100" u="sng" dirty="0"/>
              <a:t>Weaknesses</a:t>
            </a:r>
            <a:r>
              <a:rPr lang="en-US" sz="2100" dirty="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2100" b="1" dirty="0"/>
          </a:p>
          <a:p>
            <a:pPr lvl="1"/>
            <a:endParaRPr lang="en-US" sz="2100" dirty="0"/>
          </a:p>
          <a:p>
            <a:pPr lvl="1"/>
            <a:r>
              <a:rPr lang="en-US" sz="2100" u="sng" dirty="0"/>
              <a:t>Strengths</a:t>
            </a:r>
            <a:r>
              <a:rPr lang="en-US" sz="2100" dirty="0"/>
              <a:t> - A type of preliminary or final finding, which is an exemplary or noteworthy implementation of a process that meets the intent and value of a CMMI model practice.</a:t>
            </a:r>
            <a:endParaRPr lang="en-US" sz="2100" b="1" dirty="0"/>
          </a:p>
          <a:p>
            <a:r>
              <a:rPr lang="zh-CN" altLang="en-US" sz="2400" dirty="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弱项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2100" dirty="0">
                <a:solidFill>
                  <a:srgbClr val="1F497D"/>
                </a:solidFill>
              </a:rPr>
              <a:t>a</a:t>
            </a:r>
            <a:r>
              <a:rPr lang="zh-CN" altLang="en-US" sz="2100" dirty="0">
                <a:solidFill>
                  <a:srgbClr val="1F497D"/>
                </a:solidFill>
              </a:rPr>
              <a:t>）过程本身没有满足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实践需求，或者</a:t>
            </a:r>
            <a:r>
              <a:rPr lang="en-US" altLang="zh-CN" sz="2100" dirty="0">
                <a:solidFill>
                  <a:srgbClr val="1F497D"/>
                </a:solidFill>
              </a:rPr>
              <a:t>b</a:t>
            </a:r>
            <a:r>
              <a:rPr lang="zh-CN" altLang="en-US" sz="2100" dirty="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实践意图和价值的过程。</a:t>
            </a:r>
            <a:endParaRPr lang="en-ZA" altLang="zh-CN" sz="2100" dirty="0">
              <a:solidFill>
                <a:srgbClr val="1F497D"/>
              </a:solidFill>
            </a:endParaRP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强项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模型实践的意图和价值。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14371"/>
            <a:ext cx="10397836" cy="602284"/>
          </a:xfrm>
        </p:spPr>
        <p:txBody>
          <a:bodyPr/>
          <a:lstStyle/>
          <a:p>
            <a:r>
              <a:rPr lang="en-US" dirty="0"/>
              <a:t>Appraisal Outputs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A6108F-A3D4-45BE-B8CA-9186C4E63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028959"/>
              </p:ext>
            </p:extLst>
          </p:nvPr>
        </p:nvGraphicFramePr>
        <p:xfrm>
          <a:off x="1006475" y="1606550"/>
          <a:ext cx="824547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Macro-Enabled Worksheet" r:id="rId3" imgW="8244911" imgH="2819384" progId="Excel.SheetMacroEnabled.12">
                  <p:link updateAutomatic="1"/>
                </p:oleObj>
              </mc:Choice>
              <mc:Fallback>
                <p:oleObj name="Macro-Enabled Worksheet" r:id="rId3" imgW="8244911" imgH="281938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6475" y="1606550"/>
                        <a:ext cx="824547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4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hlinkClick r:id="rId2" action="ppaction://hlinkfile"/>
              </a:rPr>
              <a:t>Appraisal Schedule</a:t>
            </a:r>
            <a:endParaRPr lang="en-ZA" dirty="0">
              <a:hlinkClick r:id="rId3" action="ppaction://hlinkfile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7940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621809" y="1669312"/>
            <a:ext cx="4069207" cy="406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ED6D-359B-4DB9-A138-F6149B35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C33A-3F28-4A57-89CE-6D34B3F7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pptx has embedded links to </a:t>
            </a:r>
            <a:r>
              <a:rPr lang="en-US" sz="2000" dirty="0" err="1"/>
              <a:t>00_Data_Reference.xlsm</a:t>
            </a:r>
            <a:endParaRPr lang="en-US" sz="2000" dirty="0"/>
          </a:p>
          <a:p>
            <a:r>
              <a:rPr lang="en-US" sz="2000" dirty="0"/>
              <a:t>The latest information and version of the Benchmark Appraiser Support Environment (BASE) can be accessed at </a:t>
            </a:r>
            <a:r>
              <a:rPr lang="en-US" sz="2000" dirty="0" err="1">
                <a:hlinkClick r:id="rId2"/>
              </a:rPr>
              <a:t>www.demix.org</a:t>
            </a:r>
            <a:r>
              <a:rPr lang="en-US" sz="2000" dirty="0">
                <a:hlinkClick r:id="rId2"/>
              </a:rPr>
              <a:t>/tools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70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07B0D7-F930-4230-933E-ABA84959494E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ec500478-62e0-46fc-87f1-cfa988e486b4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72e3a154-4955-46c3-9573-e9dec3e1f195"/>
  </ds:schemaRefs>
</ds:datastoreItem>
</file>

<file path=customXml/itemProps2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B843C2-711D-4AC2-892E-5A53A5EFED2B}"/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1339</Words>
  <Application>Microsoft Office PowerPoint</Application>
  <PresentationFormat>Widescreen</PresentationFormat>
  <Paragraphs>93</Paragraphs>
  <Slides>22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Links</vt:lpstr>
      </vt:variant>
      <vt:variant>
        <vt:i4>15</vt:i4>
      </vt:variant>
      <vt:variant>
        <vt:lpstr>Slide Titles</vt:lpstr>
      </vt:variant>
      <vt:variant>
        <vt:i4>22</vt:i4>
      </vt:variant>
    </vt:vector>
  </HeadingPairs>
  <TitlesOfParts>
    <vt:vector size="44" baseType="lpstr">
      <vt:lpstr>等线</vt:lpstr>
      <vt:lpstr>宋体</vt:lpstr>
      <vt:lpstr>Arial</vt:lpstr>
      <vt:lpstr>Calibri</vt:lpstr>
      <vt:lpstr>Calibri Light</vt:lpstr>
      <vt:lpstr>Open Sans</vt:lpstr>
      <vt:lpstr>Office Theme</vt:lpstr>
      <vt:lpstr>G:\2024-05-04to05-10 (A5) C384400 NASA\00_Data_Reference.xlsm!pptxCover!R4C2:R12C2</vt:lpstr>
      <vt:lpstr>G:\2024-05-04to05-10 (A5) C384400 NASA\00_Data_Reference.xlsm!pptxCover!R15C2:R17C2</vt:lpstr>
      <vt:lpstr>G:\2024-05-04to05-10 (A5) C384400 NASA\00_Data_Reference.xlsm!pptxCover!R20C2</vt:lpstr>
      <vt:lpstr>G:\2024-05-04to05-10 (A5) C384400 NASA\00_Data_Reference.xlsm!pptxLink1!R1C1:R7C2</vt:lpstr>
      <vt:lpstr>G:\2024-05-04to05-10 (A5) C384400 NASA\00_Data_Reference.xlsm!pptxLink1!R10C1:R18C2</vt:lpstr>
      <vt:lpstr>G:\2024-05-04to05-10 (A5) C384400 NASA\00_Data_Reference.xlsm!pptxLink2!R1C1:R4C1</vt:lpstr>
      <vt:lpstr>G:\2024-05-04to05-10 (A5) C384400 NASA\00_Data_Reference.xlsm!pptxLink1!R20C1:R31C2</vt:lpstr>
      <vt:lpstr>G:\2024-05-04to05-10 (A5) C384400 NASA\00_Data_Reference.xlsm!pptxLink3!R2C1:R24C9</vt:lpstr>
      <vt:lpstr>G:\2024-05-04to05-10 (A5) C384400 NASA\00_Data_Reference.xlsm!pptxLink1!R6C1:R7C2</vt:lpstr>
      <vt:lpstr>G:\2024-05-04to05-10 (A5) C384400 NASA\00_Data_Reference.xlsm!pptxLink4!R10C1:R27C20</vt:lpstr>
      <vt:lpstr>G:\2024-05-04to05-10 (A5) C384400 NASA\00_Data_Reference.xlsm!pptxLink5!R1C1:R11C5</vt:lpstr>
      <vt:lpstr>G:\2024-05-04to05-10 (A5) C384400 NASA\00_Data_Reference.xlsm!pptxLink5!R15C1:R21C5</vt:lpstr>
      <vt:lpstr>G:\2024-05-04to05-10 (A5) C384400 NASA\00_Data_Reference.xlsm!OULC!R50C2:R89C22</vt:lpstr>
      <vt:lpstr>G:\2024-05-04to05-10 (A5) C384400 NASA\00_Data_Reference.xlsm!pptxLink1!R8C4</vt:lpstr>
      <vt:lpstr>G:\2024-05-04to05-10 (A5) C384400 NASA\00_Data_Reference.xlsm!pptxLink1!R33C1:R40C2</vt:lpstr>
      <vt:lpstr>PowerPoint Presentation</vt:lpstr>
      <vt:lpstr>PowerPoint Presentation</vt:lpstr>
      <vt:lpstr>DEMIXIUM™</vt:lpstr>
      <vt:lpstr>Appraisal Overview  评估概述</vt:lpstr>
      <vt:lpstr>Appraisal Overview</vt:lpstr>
      <vt:lpstr>Appraisal Overview</vt:lpstr>
      <vt:lpstr>Business and Appraisal Objectives</vt:lpstr>
      <vt:lpstr>Appraisal Principles</vt:lpstr>
      <vt:lpstr>Virtual appraisals – code of conduct</vt:lpstr>
      <vt:lpstr>Appraisal Team and Support Personnel</vt:lpstr>
      <vt:lpstr>Appraisal Scope – Benchmark Model View</vt:lpstr>
      <vt:lpstr>Appraisal Scope – Organizational Scope</vt:lpstr>
      <vt:lpstr>Appraisal Scope – Organizational Sample</vt:lpstr>
      <vt:lpstr>Appraisal Scope – Organizational Sample </vt:lpstr>
      <vt:lpstr>Appraisal Scope – Organizational Sample</vt:lpstr>
      <vt:lpstr>PowerPoint Presentation</vt:lpstr>
      <vt:lpstr>Ratings for</vt:lpstr>
      <vt:lpstr>Findings Definitions – Required Categories</vt:lpstr>
      <vt:lpstr>Appraisal Outputs</vt:lpstr>
      <vt:lpstr>Appraisal Schedule</vt:lpstr>
      <vt:lpstr>PowerPoint Presentation</vt:lpstr>
      <vt:lpstr>Notice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Pieter van Zyl</cp:lastModifiedBy>
  <cp:revision>94</cp:revision>
  <dcterms:created xsi:type="dcterms:W3CDTF">2018-03-14T12:19:45Z</dcterms:created>
  <dcterms:modified xsi:type="dcterms:W3CDTF">2024-06-23T07:51:26Z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</Properties>
</file>